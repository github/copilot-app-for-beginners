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01 starts with a practical question: why use a desktop app if you already use Copilot in an editor or terminal? Then it tours the main navigation, compares chats with project sessions, and covers modes, models, and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chapter has 3 parts: Why use the app, Tour the app, Sessions, modes, and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 the why. The editor and terminal are great for work next to the code you already have open. The app focuses on the supervision loop around agent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problems show up when you supervise agent work from an editor or terminal alone. Two agent tasks can blur together in one folder and branch. The plan, diff, tests, and PR live in different tools. A quick question and a real change feel the same until files start changing. Plan steps and checks scroll away in a long chat. And you retype the same prompts every week. The app answers each one. It does not replace your editor.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not have to choose one tool. Keep VS Code, Visual Studio, JetBrains, or your usual editor for deep editing. Use the app as a single desktop control center to run and review agent work. From the app, you can open the same project in VS Code any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2: a quick tour of the interface.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is the landing view, where you start a chat or a project session and choose a mode and model. Pull requests and Issues list the GitHub work that involves you. Automations holds recurring agent tasks. Customize is where you manage skills, MCP servers, plugins, extensions, and canvases, which Chapters 04 to 06 cover. More, then Edit sidebar, chooses which views appear; this course uses all of them. Below are Projects, and a Chats row after your first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Pull requests view lists GitHub pull requests that involve you. Tabs such as Authored by me and Review requests filter the list, and the All repositories picker narrows it to one repository. Open a PR to read its checks and comments, or start a session to work on it. The Issues view works the same way, with tabs such as Assigned to me and Created by me. You can start a session from an issue or create a new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Automations view shows templates that run manually, daily, weekly, or from events, locally or in the cloud. Chapter 07 covers automations. Settings opens from the gear icon at the bottom of the sidebar. Sessions holds app-wide instructions and branch naming. Model providers add your own models and keys; they do not replace the model picker. Voice dictation is optional and turns speech into editable prompt text. Projects holds per-project settings. You do not need to change anything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3: sessions, modes, and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quick questions just need a fast answer. Some takes need close direction. Some need the arrangement charted out first. The app works the same way: first you choose the kind of session, then a mode for how closely you direct the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Try both. Select the plus next to Projects, then Chat, and confirm the project picker shows Chat. Ask when to use each session type. No branch or worktree is created. Then return to the project session from Chapter 00 and ask for a tour of the Book App. The full prompt in the chapter also asks for technologies, data flow, tests, and a reading order. The Chapter 00 session used Current checkout on purpose. The app remembers that choice, so you will switch back to New worktree in Chapter 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Interactive is step-by-step collaboration. Plan creates a plan before executing. Autopilot is end-to-end execution without interruption. The mode menu also has Tool permissions: Always ask asks before each tool, Approve all runs tools without asking, and Assisted asks only when a tool request fails an AI safety check. Check this setting so you know when to expect approval requests.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control is below the prompt box, next to the mode selector. It shows Auto or a model name. Open it to find Model, Effort, and Context window; if the Auto switch is on, these are hidden. A larger context window helps long sessions but uses more AI credits. For a tour or short explanation, keep the defaults. For a hard bug or multi-file change, consider a stronger model and higher effort; it does not guarantee a correct answer. Try it in Interactive mode with the filterBooks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features save time in the prompt box. If a response does not work for you, select Retry below it and pick a different model, reasoning effort, or context window. You do not retype the prompt. Press Ctrl+R, or Cmd+R on macOS, to open your prompt history across all sessions. Search it and select a prompt to reuse it. Voice dictation is on by default. It turns speech into prompt text that you can edit before you send it. You can change the microphone and transcription model in Settings, Voice dictation, and the operating system must allow microphone access.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chapter. Keep the model and effort defaults for simple tasks. Next, Chapter 02 solves the shared working copy problem with isolated worktree sessions and focused context with @, #, and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github.com/github/copilot-app-for-beginners/tree/main/01-tour-the-app" TargetMode="External"/><Relationship Id="rId5" Type="http://schemas.openxmlformats.org/officeDocument/2006/relationships/hyperlink" Target="https://github.com/github/copilot-app-for-beginners/tree/main/01-tour-the-app" TargetMode="External"/><Relationship Id="rId1" Type="http://schemas.openxmlformats.org/officeDocument/2006/relationships/image" Target="../media/image-1-1.jpg"/><Relationship Id="rId2" Type="http://schemas.openxmlformats.org/officeDocument/2006/relationships/image" Target="../media/image-1-2.png"/><Relationship Id="rId4" Type="http://schemas.openxmlformats.org/officeDocument/2006/relationships/image" Target="../media/image-1-3.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3" Type="http://schemas.openxmlformats.org/officeDocument/2006/relationships/hyperlink" Target="https://github.com/github/copilot-app-for-beginners/tree/main/01-tour-the-app" TargetMode="External"/><Relationship Id="rId1" Type="http://schemas.openxmlformats.org/officeDocument/2006/relationships/image" Target="../media/image-2-1.png"/><Relationship Id="rId2" Type="http://schemas.openxmlformats.org/officeDocument/2006/relationships/image" Target="../media/image-2-2.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3" Type="http://schemas.openxmlformats.org/officeDocument/2006/relationships/hyperlink" Target="https://github.com/github/copilot-app-for-beginners/tree/main/01-tour-the-app" TargetMode="External"/><Relationship Id="rId1" Type="http://schemas.openxmlformats.org/officeDocument/2006/relationships/image" Target="../media/image-3-1.png"/><Relationship Id="rId2" Type="http://schemas.openxmlformats.org/officeDocument/2006/relationships/image" Target="../media/image-3-2.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3" Type="http://schemas.openxmlformats.org/officeDocument/2006/relationships/hyperlink" Target="https://github.com/github/copilot-app-for-beginners/tree/main/01-tour-the-app" TargetMode="External"/><Relationship Id="rId1" Type="http://schemas.openxmlformats.org/officeDocument/2006/relationships/image" Target="../media/image-4-1.png"/><Relationship Id="rId2" Type="http://schemas.openxmlformats.org/officeDocument/2006/relationships/image" Target="../media/image-4-2.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3" Type="http://schemas.openxmlformats.org/officeDocument/2006/relationships/hyperlink" Target="https://github.com/github/copilot-app-for-beginners/tree/main/01-tour-the-app" TargetMode="External"/><Relationship Id="rId1" Type="http://schemas.openxmlformats.org/officeDocument/2006/relationships/image" Target="../media/image-5-1.png"/><Relationship Id="rId2" Type="http://schemas.openxmlformats.org/officeDocument/2006/relationships/image" Target="../media/image-5-2.png"/><Relationship Id="rId4" Type="http://schemas.openxmlformats.org/officeDocument/2006/relationships/image" Target="../media/image-5-3.jpg"/><Relationship Id="rId5" Type="http://schemas.openxmlformats.org/officeDocument/2006/relationships/image" Target="../media/image-5-4.png"/><Relationship Id="rId6" Type="http://schemas.openxmlformats.org/officeDocument/2006/relationships/image" Target="../media/image-5-5.png"/><Relationship Id="rId7" Type="http://schemas.openxmlformats.org/officeDocument/2006/relationships/image" Target="../media/image-5-6.png"/><Relationship Id="rId8" Type="http://schemas.openxmlformats.org/officeDocument/2006/relationships/slideLayout" Target="../slideLayouts/slideLayout1.xml"/><Relationship Id="rId9"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hyperlink" Target="https://github.com/github/copilot-app-for-beginners/tree/main/01-tour-the-app" TargetMode="External"/><Relationship Id="rId1" Type="http://schemas.openxmlformats.org/officeDocument/2006/relationships/image" Target="../media/image-6-1.png"/><Relationship Id="rId2" Type="http://schemas.openxmlformats.org/officeDocument/2006/relationships/image" Target="../media/image-6-2.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3" Type="http://schemas.openxmlformats.org/officeDocument/2006/relationships/hyperlink" Target="https://github.com/github/copilot-app-for-beginners/tree/main/01-tour-the-app" TargetMode="External"/><Relationship Id="rId1" Type="http://schemas.openxmlformats.org/officeDocument/2006/relationships/image" Target="../media/image-7-1.png"/><Relationship Id="rId2" Type="http://schemas.openxmlformats.org/officeDocument/2006/relationships/image" Target="../media/image-7-2.png"/><Relationship Id="rId4" Type="http://schemas.openxmlformats.org/officeDocument/2006/relationships/image" Target="../media/image-7-3.png"/><Relationship Id="rId5" Type="http://schemas.openxmlformats.org/officeDocument/2006/relationships/image" Target="../media/image-7-4.png"/><Relationship Id="rId6" Type="http://schemas.openxmlformats.org/officeDocument/2006/relationships/image" Target="../media/image-7-5.png"/><Relationship Id="rId7" Type="http://schemas.openxmlformats.org/officeDocument/2006/relationships/image" Target="../media/image-7-6.png"/><Relationship Id="rId8" Type="http://schemas.openxmlformats.org/officeDocument/2006/relationships/image" Target="../media/image-7-7.png"/><Relationship Id="rId9" Type="http://schemas.openxmlformats.org/officeDocument/2006/relationships/image" Target="../media/image-7-8.png"/><Relationship Id="rId10" Type="http://schemas.openxmlformats.org/officeDocument/2006/relationships/slideLayout" Target="../slideLayouts/slideLayout1.xml"/><Relationship Id="rId11"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hyperlink" Target="https://github.com/github/copilot-app-for-beginners/tree/main/01-tour-the-app" TargetMode="External"/><Relationship Id="rId1" Type="http://schemas.openxmlformats.org/officeDocument/2006/relationships/image" Target="../media/image-8-1.png"/><Relationship Id="rId2" Type="http://schemas.openxmlformats.org/officeDocument/2006/relationships/image" Target="../media/image-8-2.png"/><Relationship Id="rId4" Type="http://schemas.openxmlformats.org/officeDocument/2006/relationships/image" Target="../media/image-8-3.png"/><Relationship Id="rId5" Type="http://schemas.openxmlformats.org/officeDocument/2006/relationships/image" Target="../media/image-8-4.png"/><Relationship Id="rId6" Type="http://schemas.openxmlformats.org/officeDocument/2006/relationships/image" Target="../media/image-8-5.png"/><Relationship Id="rId7" Type="http://schemas.openxmlformats.org/officeDocument/2006/relationships/image" Target="../media/image-8-6.png"/><Relationship Id="rId8" Type="http://schemas.openxmlformats.org/officeDocument/2006/relationships/slideLayout" Target="../slideLayouts/slideLayout1.xml"/><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hyperlink" Target="https://github.com/github/copilot-app-for-beginners/tree/main/01-tour-the-app" TargetMode="External"/><Relationship Id="rId1" Type="http://schemas.openxmlformats.org/officeDocument/2006/relationships/image" Target="../media/image-9-1.png"/><Relationship Id="rId2" Type="http://schemas.openxmlformats.org/officeDocument/2006/relationships/image" Target="../media/image-9-2.png"/><Relationship Id="rId4" Type="http://schemas.openxmlformats.org/officeDocument/2006/relationships/image" Target="../media/image-9-3.png"/><Relationship Id="rId5" Type="http://schemas.openxmlformats.org/officeDocument/2006/relationships/image" Target="../media/image-9-4.png"/><Relationship Id="rId6" Type="http://schemas.openxmlformats.org/officeDocument/2006/relationships/image" Target="../media/image-9-5.pn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hyperlink" Target="https://github.com/github/copilot-app-for-beginners/tree/main/01-tour-the-app" TargetMode="External"/><Relationship Id="rId1" Type="http://schemas.openxmlformats.org/officeDocument/2006/relationships/image" Target="../media/image-10-1.png"/><Relationship Id="rId2" Type="http://schemas.openxmlformats.org/officeDocument/2006/relationships/image" Target="../media/image-10-2.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https://github.com/github/copilot-app-for-beginners/tree/main/01-tour-the-app" TargetMode="External"/><Relationship Id="rId1" Type="http://schemas.openxmlformats.org/officeDocument/2006/relationships/image" Target="../media/image-11-1.png"/><Relationship Id="rId2" Type="http://schemas.openxmlformats.org/officeDocument/2006/relationships/image" Target="../media/image-11-2.png"/><Relationship Id="rId4" Type="http://schemas.openxmlformats.org/officeDocument/2006/relationships/image" Target="../media/image-11-3.jpg"/><Relationship Id="rId5" Type="http://schemas.openxmlformats.org/officeDocument/2006/relationships/image" Target="../media/image-11-4.png"/><Relationship Id="rId6" Type="http://schemas.openxmlformats.org/officeDocument/2006/relationships/image" Target="../media/image-11-5.png"/><Relationship Id="rId7" Type="http://schemas.openxmlformats.org/officeDocument/2006/relationships/image" Target="../media/image-11-6.png"/><Relationship Id="rId8" Type="http://schemas.openxmlformats.org/officeDocument/2006/relationships/image" Target="../media/image-11-7.png"/><Relationship Id="rId9" Type="http://schemas.openxmlformats.org/officeDocument/2006/relationships/slideLayout" Target="../slideLayouts/slideLayout1.xml"/><Relationship Id="rId10"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3" Type="http://schemas.openxmlformats.org/officeDocument/2006/relationships/hyperlink" Target="https://github.com/github/copilot-app-for-beginners/tree/main/01-tour-the-app" TargetMode="External"/><Relationship Id="rId1" Type="http://schemas.openxmlformats.org/officeDocument/2006/relationships/image" Target="../media/image-12-1.png"/><Relationship Id="rId2" Type="http://schemas.openxmlformats.org/officeDocument/2006/relationships/image" Target="../media/image-12-2.png"/><Relationship Id="rId4" Type="http://schemas.openxmlformats.org/officeDocument/2006/relationships/image" Target="../media/image-12-3.png"/><Relationship Id="rId5" Type="http://schemas.openxmlformats.org/officeDocument/2006/relationships/image" Target="../media/image-12-4.png"/><Relationship Id="rId6" Type="http://schemas.openxmlformats.org/officeDocument/2006/relationships/image" Target="../media/image-12-5.png"/><Relationship Id="rId7" Type="http://schemas.openxmlformats.org/officeDocument/2006/relationships/image" Target="../media/image-12-6.png"/><Relationship Id="rId8" Type="http://schemas.openxmlformats.org/officeDocument/2006/relationships/slideLayout" Target="../slideLayouts/slideLayout1.xml"/><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3" Type="http://schemas.openxmlformats.org/officeDocument/2006/relationships/hyperlink" Target="https://github.com/github/copilot-app-for-beginners/tree/main/01-tour-the-app" TargetMode="External"/><Relationship Id="rId1" Type="http://schemas.openxmlformats.org/officeDocument/2006/relationships/image" Target="../media/image-13-1.png"/><Relationship Id="rId2" Type="http://schemas.openxmlformats.org/officeDocument/2006/relationships/image" Target="../media/image-13-2.png"/><Relationship Id="rId4" Type="http://schemas.openxmlformats.org/officeDocument/2006/relationships/image" Target="../media/image-13-3.jpg"/><Relationship Id="rId5" Type="http://schemas.openxmlformats.org/officeDocument/2006/relationships/image" Target="../media/image-13-4.png"/><Relationship Id="rId6" Type="http://schemas.openxmlformats.org/officeDocument/2006/relationships/image" Target="../media/image-13-5.png"/><Relationship Id="rId7" Type="http://schemas.openxmlformats.org/officeDocument/2006/relationships/image" Target="../media/image-13-6.png"/><Relationship Id="rId8" Type="http://schemas.openxmlformats.org/officeDocument/2006/relationships/image" Target="../media/image-13-7.png"/><Relationship Id="rId9" Type="http://schemas.openxmlformats.org/officeDocument/2006/relationships/slideLayout" Target="../slideLayouts/slideLayout1.xml"/><Relationship Id="rId10"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3" Type="http://schemas.openxmlformats.org/officeDocument/2006/relationships/hyperlink" Target="https://github.com/github/copilot-app-for-beginners/tree/main/01-tour-the-app" TargetMode="External"/><Relationship Id="rId1" Type="http://schemas.openxmlformats.org/officeDocument/2006/relationships/image" Target="../media/image-14-1.png"/><Relationship Id="rId2" Type="http://schemas.openxmlformats.org/officeDocument/2006/relationships/image" Target="../media/image-14-2.png"/><Relationship Id="rId4" Type="http://schemas.openxmlformats.org/officeDocument/2006/relationships/image" Target="../media/image-14-3.png"/><Relationship Id="rId5" Type="http://schemas.openxmlformats.org/officeDocument/2006/relationships/image" Target="../media/image-14-4.png"/><Relationship Id="rId6" Type="http://schemas.openxmlformats.org/officeDocument/2006/relationships/image" Target="../media/image-14-5.png"/><Relationship Id="rId7" Type="http://schemas.openxmlformats.org/officeDocument/2006/relationships/slideLayout" Target="../slideLayouts/slideLayout1.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3" Type="http://schemas.openxmlformats.org/officeDocument/2006/relationships/hyperlink" Target="https://github.com/github/copilot-app-for-beginners/tree/main/01-tour-the-app" TargetMode="External"/><Relationship Id="rId1" Type="http://schemas.openxmlformats.org/officeDocument/2006/relationships/image" Target="../media/image-15-1.png"/><Relationship Id="rId2" Type="http://schemas.openxmlformats.org/officeDocument/2006/relationships/image" Target="../media/image-15-2.png"/><Relationship Id="rId4" Type="http://schemas.openxmlformats.org/officeDocument/2006/relationships/image" Target="../media/image-15-3.png"/><Relationship Id="rId5" Type="http://schemas.openxmlformats.org/officeDocument/2006/relationships/image" Target="../media/image-15-4.png"/><Relationship Id="rId6" Type="http://schemas.openxmlformats.org/officeDocument/2006/relationships/image" Target="../media/image-15-5.png"/><Relationship Id="rId7" Type="http://schemas.openxmlformats.org/officeDocument/2006/relationships/slideLayout" Target="../slideLayouts/slideLayout1.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3" Type="http://schemas.openxmlformats.org/officeDocument/2006/relationships/hyperlink" Target="https://github.com/github/copilot-app-for-beginners/tree/main/01-tour-the-app" TargetMode="External"/><Relationship Id="rId5" Type="http://schemas.openxmlformats.org/officeDocument/2006/relationships/hyperlink" Target="https://github.com/github/copilot-app-for-beginners/tree/main/01-tour-the-app" TargetMode="External"/><Relationship Id="rId6" Type="http://schemas.openxmlformats.org/officeDocument/2006/relationships/hyperlink" Target="https://github.com/github/copilot-app-for-beginners/tree/main/02-sessions-worktrees-context" TargetMode="External"/><Relationship Id="rId1" Type="http://schemas.openxmlformats.org/officeDocument/2006/relationships/image" Target="../media/image-16-1.png"/><Relationship Id="rId2" Type="http://schemas.openxmlformats.org/officeDocument/2006/relationships/image" Target="../media/image-16-2.png"/><Relationship Id="rId4" Type="http://schemas.openxmlformats.org/officeDocument/2006/relationships/image" Target="../media/image-16-3.png"/><Relationship Id="rId7" Type="http://schemas.openxmlformats.org/officeDocument/2006/relationships/slideLayout" Target="../slideLayouts/slideLayout1.xml"/><Relationship Id="rId8"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0" y="0"/>
            <a:ext cx="9144000" cy="5143500"/>
          </a:xfrm>
          <a:prstGeom prst="rect">
            <a:avLst/>
          </a:prstGeom>
        </p:spPr>
      </p:pic>
      <p:pic>
        <p:nvPicPr>
          <p:cNvPr id="3" name="Image 1" descr="Open this chapter on GitHub">
            <a:hlinkClick r:id="rId3" tooltip="https://github.com/github/copilot-app-for-beginners/tree/main/01-tour-the-app"/>
          </p:cNvPr>
          <p:cNvPicPr>
            <a:picLocks noChangeAspect="1"/>
          </p:cNvPicPr>
          <p:nvPr/>
        </p:nvPicPr>
        <p:blipFill>
          <a:blip r:embed="rId2"/>
          <a:stretch>
            <a:fillRect/>
          </a:stretch>
        </p:blipFill>
        <p:spPr>
          <a:xfrm>
            <a:off x="8635901" y="203150"/>
            <a:ext cx="304800" cy="304800"/>
          </a:xfrm>
          <a:prstGeom prst="rect">
            <a:avLst/>
          </a:prstGeom>
        </p:spPr>
      </p:pic>
      <p:sp>
        <p:nvSpPr>
          <p:cNvPr id="4" name="Text 0"/>
          <p:cNvSpPr/>
          <p:nvPr/>
        </p:nvSpPr>
        <p:spPr>
          <a:xfrm>
            <a:off x="1015901" y="1128713"/>
            <a:ext cx="6088279" cy="209550"/>
          </a:xfrm>
          <a:prstGeom prst="rect">
            <a:avLst/>
          </a:prstGeom>
          <a:noFill/>
          <a:ln/>
        </p:spPr>
        <p:txBody>
          <a:bodyPr wrap="square" lIns="0" tIns="0" rIns="0" bIns="0" rtlCol="0" anchor="t"/>
          <a:lstStyle/>
          <a:p>
            <a:pPr algn="l" indent="0" marL="0">
              <a:buNone/>
            </a:pPr>
            <a:r>
              <a:rPr lang="en-US" sz="1450" b="1" dirty="0">
                <a:solidFill>
                  <a:srgbClr val="1A7F37"/>
                </a:solidFill>
                <a:latin typeface="Arial" pitchFamily="34" charset="0"/>
                <a:ea typeface="Arial" pitchFamily="34" charset="-122"/>
                <a:cs typeface="Arial" pitchFamily="34" charset="-120"/>
              </a:rPr>
              <a:t>CHAPTER 01</a:t>
            </a:r>
            <a:endParaRPr lang="en-US" sz="1450" dirty="0"/>
          </a:p>
        </p:txBody>
      </p:sp>
      <p:sp>
        <p:nvSpPr>
          <p:cNvPr id="5" name="Text 1"/>
          <p:cNvSpPr/>
          <p:nvPr/>
        </p:nvSpPr>
        <p:spPr>
          <a:xfrm>
            <a:off x="1015901" y="1439763"/>
            <a:ext cx="6088279" cy="609600"/>
          </a:xfrm>
          <a:prstGeom prst="rect">
            <a:avLst/>
          </a:prstGeom>
          <a:noFill/>
          <a:ln/>
        </p:spPr>
        <p:txBody>
          <a:bodyPr wrap="square" lIns="0" tIns="0" rIns="0" bIns="0" rtlCol="0" anchor="t"/>
          <a:lstStyle/>
          <a:p>
            <a:pPr algn="l" indent="0" marL="0">
              <a:lnSpc>
                <a:spcPts val="4800"/>
              </a:lnSpc>
              <a:spcBef>
                <a:spcPts val="800"/>
              </a:spcBef>
              <a:buNone/>
            </a:pPr>
            <a:r>
              <a:rPr lang="en-US" sz="4200" b="1" dirty="0">
                <a:solidFill>
                  <a:srgbClr val="1F2328"/>
                </a:solidFill>
                <a:latin typeface="Arial" pitchFamily="34" charset="0"/>
                <a:ea typeface="Arial" pitchFamily="34" charset="-122"/>
                <a:cs typeface="Arial" pitchFamily="34" charset="-120"/>
              </a:rPr>
              <a:t>Tour the App</a:t>
            </a:r>
            <a:endParaRPr lang="en-US" sz="4200" dirty="0"/>
          </a:p>
        </p:txBody>
      </p:sp>
      <p:sp>
        <p:nvSpPr>
          <p:cNvPr id="6" name="Text 2"/>
          <p:cNvSpPr/>
          <p:nvPr/>
        </p:nvSpPr>
        <p:spPr>
          <a:xfrm>
            <a:off x="1015901" y="2277963"/>
            <a:ext cx="609600" cy="63401"/>
          </a:xfrm>
          <a:prstGeom prst="roundRect">
            <a:avLst>
              <a:gd name="adj" fmla="val 40063"/>
            </a:avLst>
          </a:prstGeom>
          <a:solidFill>
            <a:srgbClr val="1A7F37"/>
          </a:solidFill>
          <a:ln/>
        </p:spPr>
        <p:txBody>
          <a:bodyPr wrap="square" rtlCol="0" anchor="ctr"/>
          <a:lstStyle/>
          <a:p>
            <a:pPr indent="0" marL="0">
              <a:buNone/>
            </a:pPr>
            <a:endParaRPr lang="en-US" dirty="0"/>
          </a:p>
        </p:txBody>
      </p:sp>
      <p:sp>
        <p:nvSpPr>
          <p:cNvPr id="7" name="Text 3"/>
          <p:cNvSpPr/>
          <p:nvPr/>
        </p:nvSpPr>
        <p:spPr>
          <a:xfrm>
            <a:off x="1015901" y="2569964"/>
            <a:ext cx="6088279" cy="990749"/>
          </a:xfrm>
          <a:prstGeom prst="rect">
            <a:avLst/>
          </a:prstGeom>
          <a:noFill/>
          <a:ln/>
        </p:spPr>
        <p:txBody>
          <a:bodyPr wrap="square" lIns="0" tIns="0" rIns="0" bIns="0" rtlCol="0" anchor="t"/>
          <a:lstStyle/>
          <a:p>
            <a:pPr algn="l" indent="0" marL="0">
              <a:lnSpc>
                <a:spcPts val="2600"/>
              </a:lnSpc>
              <a:buNone/>
            </a:pPr>
            <a:r>
              <a:rPr lang="en-US" sz="2050" dirty="0">
                <a:solidFill>
                  <a:srgbClr val="59636E"/>
                </a:solidFill>
                <a:latin typeface="Arial" pitchFamily="34" charset="0"/>
                <a:ea typeface="Arial" pitchFamily="34" charset="-122"/>
                <a:cs typeface="Arial" pitchFamily="34" charset="-120"/>
              </a:rPr>
              <a:t>What if you could move from first prompt to pull request without piecing together context across tools?</a:t>
            </a:r>
            <a:endParaRPr lang="en-US" sz="2050" dirty="0"/>
          </a:p>
        </p:txBody>
      </p:sp>
      <p:pic>
        <p:nvPicPr>
          <p:cNvPr id="8" name="Image 2"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1015901" y="3825776"/>
            <a:ext cx="177701" cy="177701"/>
          </a:xfrm>
          <a:prstGeom prst="rect">
            <a:avLst/>
          </a:prstGeom>
        </p:spPr>
      </p:pic>
      <p:sp>
        <p:nvSpPr>
          <p:cNvPr id="9" name="Text 4"/>
          <p:cNvSpPr/>
          <p:nvPr/>
        </p:nvSpPr>
        <p:spPr>
          <a:xfrm>
            <a:off x="1282452" y="3814614"/>
            <a:ext cx="3373252" cy="200025"/>
          </a:xfrm>
          <a:prstGeom prst="rect">
            <a:avLst/>
          </a:prstGeom>
          <a:noFill/>
          <a:ln/>
        </p:spPr>
        <p:txBody>
          <a:bodyPr wrap="square" lIns="0" tIns="0" rIns="0" bIns="0" rtlCol="0" anchor="t"/>
          <a:lstStyle/>
          <a:p>
            <a:pPr algn="l" indent="0" marL="0">
              <a:buNone/>
            </a:pPr>
            <a:r>
              <a:rPr lang="en-US" sz="1350" u="sng" dirty="0">
                <a:solidFill>
                  <a:srgbClr val="0969DA"/>
                </a:solidFill>
                <a:latin typeface="Arial" pitchFamily="34" charset="0"/>
                <a:ea typeface="Arial" pitchFamily="34" charset="-122"/>
                <a:cs typeface="Arial" pitchFamily="34" charset="-120"/>
                <a:hlinkClick r:id="rId5" invalidUrl="" action="" tgtFrame="" tooltip="https://github.com/github/copilot-app-for-beginners/tree/main/01-tour-the-app" history="1" highlightClick="0" endSnd="0">
                  <a:extLst>
                    <a:ext uri="{A12FA001-AC4F-418D-AE19-62706E023703}">
                      <ahyp:hlinkClr xmlns:ahyp="http://schemas.microsoft.com/office/drawing/2018/hyperlinkcolor" val="tx"/>
                    </a:ext>
                  </a:extLst>
                </a:hlinkClick>
              </a:rPr>
              <a:t>github.com/github/copilot-app-for-beginners</a:t>
            </a:r>
            <a:endParaRPr lang="en-US" sz="13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01</a:t>
            </a:r>
            <a:endParaRPr lang="en-US" sz="1150" dirty="0"/>
          </a:p>
        </p:txBody>
      </p:sp>
      <p:pic>
        <p:nvPicPr>
          <p:cNvPr id="5" name="Image 1" descr="Open this chapter on GitHub">
            <a:hlinkClick r:id="rId3" tooltip="https://github.com/github/copilot-app-for-beginners/tree/main/01-tour-the-app"/>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CHAPTER 01</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In this chapter</a:t>
            </a:r>
            <a:endParaRPr lang="en-US" sz="2800" dirty="0"/>
          </a:p>
        </p:txBody>
      </p:sp>
      <p:sp>
        <p:nvSpPr>
          <p:cNvPr id="8" name="Text 4"/>
          <p:cNvSpPr/>
          <p:nvPr/>
        </p:nvSpPr>
        <p:spPr>
          <a:xfrm>
            <a:off x="507950" y="1279475"/>
            <a:ext cx="8127950" cy="1073200"/>
          </a:xfrm>
          <a:prstGeom prst="roundRect">
            <a:avLst>
              <a:gd name="adj" fmla="val 9467"/>
            </a:avLst>
          </a:prstGeom>
          <a:solidFill>
            <a:srgbClr val="F1F8FF"/>
          </a:solidFill>
          <a:ln/>
        </p:spPr>
        <p:txBody>
          <a:bodyPr wrap="square" rtlCol="0" anchor="ctr"/>
          <a:lstStyle/>
          <a:p>
            <a:pPr indent="0" marL="0">
              <a:buNone/>
            </a:pPr>
            <a:endParaRPr lang="en-US" dirty="0"/>
          </a:p>
        </p:txBody>
      </p:sp>
      <p:sp>
        <p:nvSpPr>
          <p:cNvPr id="9" name="Shape 5"/>
          <p:cNvSpPr/>
          <p:nvPr/>
        </p:nvSpPr>
        <p:spPr>
          <a:xfrm>
            <a:off x="507950" y="1284238"/>
            <a:ext cx="8127950" cy="0"/>
          </a:xfrm>
          <a:prstGeom prst="line">
            <a:avLst/>
          </a:prstGeom>
          <a:noFill/>
          <a:ln w="9525">
            <a:solidFill>
              <a:srgbClr val="9CD7FF"/>
            </a:solidFill>
            <a:prstDash val="solid"/>
          </a:ln>
        </p:spPr>
      </p:sp>
      <p:sp>
        <p:nvSpPr>
          <p:cNvPr id="10" name="Shape 6"/>
          <p:cNvSpPr/>
          <p:nvPr/>
        </p:nvSpPr>
        <p:spPr>
          <a:xfrm>
            <a:off x="8631138" y="1279475"/>
            <a:ext cx="0" cy="1073200"/>
          </a:xfrm>
          <a:prstGeom prst="line">
            <a:avLst/>
          </a:prstGeom>
          <a:noFill/>
          <a:ln w="9525">
            <a:solidFill>
              <a:srgbClr val="9CD7FF"/>
            </a:solidFill>
            <a:prstDash val="solid"/>
          </a:ln>
        </p:spPr>
      </p:sp>
      <p:sp>
        <p:nvSpPr>
          <p:cNvPr id="11" name="Shape 7"/>
          <p:cNvSpPr/>
          <p:nvPr/>
        </p:nvSpPr>
        <p:spPr>
          <a:xfrm>
            <a:off x="507950" y="2347912"/>
            <a:ext cx="8127950" cy="0"/>
          </a:xfrm>
          <a:prstGeom prst="line">
            <a:avLst/>
          </a:prstGeom>
          <a:noFill/>
          <a:ln w="9525">
            <a:solidFill>
              <a:srgbClr val="9CD7FF"/>
            </a:solidFill>
            <a:prstDash val="solid"/>
          </a:ln>
        </p:spPr>
      </p:sp>
      <p:sp>
        <p:nvSpPr>
          <p:cNvPr id="12" name="Shape 8"/>
          <p:cNvSpPr/>
          <p:nvPr/>
        </p:nvSpPr>
        <p:spPr>
          <a:xfrm>
            <a:off x="546050" y="1279475"/>
            <a:ext cx="0" cy="1073200"/>
          </a:xfrm>
          <a:prstGeom prst="line">
            <a:avLst/>
          </a:prstGeom>
          <a:noFill/>
          <a:ln w="76200">
            <a:solidFill>
              <a:srgbClr val="0969DA"/>
            </a:solidFill>
            <a:prstDash val="solid"/>
          </a:ln>
        </p:spPr>
      </p:sp>
      <p:sp>
        <p:nvSpPr>
          <p:cNvPr id="13" name="Text 9"/>
          <p:cNvSpPr/>
          <p:nvPr/>
        </p:nvSpPr>
        <p:spPr>
          <a:xfrm>
            <a:off x="812750" y="1601688"/>
            <a:ext cx="595833" cy="428625"/>
          </a:xfrm>
          <a:prstGeom prst="rect">
            <a:avLst/>
          </a:prstGeom>
          <a:noFill/>
          <a:ln/>
        </p:spPr>
        <p:txBody>
          <a:bodyPr wrap="square" lIns="0" tIns="0" rIns="0" bIns="0" rtlCol="0" anchor="t"/>
          <a:lstStyle/>
          <a:p>
            <a:pPr algn="l" indent="0" marL="0">
              <a:buNone/>
            </a:pPr>
            <a:r>
              <a:rPr lang="en-US" sz="3000" b="1" dirty="0">
                <a:solidFill>
                  <a:srgbClr val="0969DA"/>
                </a:solidFill>
                <a:latin typeface="Arial" pitchFamily="34" charset="0"/>
                <a:ea typeface="Arial" pitchFamily="34" charset="-122"/>
                <a:cs typeface="Arial" pitchFamily="34" charset="-120"/>
              </a:rPr>
              <a:t>01</a:t>
            </a:r>
            <a:endParaRPr lang="en-US" sz="3000" dirty="0"/>
          </a:p>
        </p:txBody>
      </p:sp>
      <p:sp>
        <p:nvSpPr>
          <p:cNvPr id="14" name="Text 10"/>
          <p:cNvSpPr/>
          <p:nvPr/>
        </p:nvSpPr>
        <p:spPr>
          <a:xfrm>
            <a:off x="1625501" y="1441400"/>
            <a:ext cx="6907721"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Why use the app</a:t>
            </a:r>
            <a:endParaRPr lang="en-US" sz="1800" dirty="0"/>
          </a:p>
        </p:txBody>
      </p:sp>
      <p:sp>
        <p:nvSpPr>
          <p:cNvPr id="15" name="Text 11"/>
          <p:cNvSpPr/>
          <p:nvPr/>
        </p:nvSpPr>
        <p:spPr>
          <a:xfrm>
            <a:off x="1625501" y="1758851"/>
            <a:ext cx="6907721" cy="431899"/>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Copilot already works next to your code. The app solves a different problem: supervising agent work end to end.</a:t>
            </a:r>
            <a:endParaRPr lang="en-US" sz="1450" dirty="0"/>
          </a:p>
        </p:txBody>
      </p:sp>
      <p:sp>
        <p:nvSpPr>
          <p:cNvPr id="16" name="Text 12"/>
          <p:cNvSpPr/>
          <p:nvPr/>
        </p:nvSpPr>
        <p:spPr>
          <a:xfrm>
            <a:off x="507950" y="2505075"/>
            <a:ext cx="8127950" cy="1073200"/>
          </a:xfrm>
          <a:prstGeom prst="roundRect">
            <a:avLst>
              <a:gd name="adj" fmla="val 9467"/>
            </a:avLst>
          </a:prstGeom>
          <a:solidFill>
            <a:srgbClr val="F8F3FF"/>
          </a:solidFill>
          <a:ln/>
        </p:spPr>
        <p:txBody>
          <a:bodyPr wrap="square" rtlCol="0" anchor="ctr"/>
          <a:lstStyle/>
          <a:p>
            <a:pPr indent="0" marL="0">
              <a:buNone/>
            </a:pPr>
            <a:endParaRPr lang="en-US" dirty="0"/>
          </a:p>
        </p:txBody>
      </p:sp>
      <p:sp>
        <p:nvSpPr>
          <p:cNvPr id="17" name="Shape 13"/>
          <p:cNvSpPr/>
          <p:nvPr/>
        </p:nvSpPr>
        <p:spPr>
          <a:xfrm>
            <a:off x="507950" y="2509838"/>
            <a:ext cx="8127950" cy="0"/>
          </a:xfrm>
          <a:prstGeom prst="line">
            <a:avLst/>
          </a:prstGeom>
          <a:noFill/>
          <a:ln w="9525">
            <a:solidFill>
              <a:srgbClr val="E0C5FF"/>
            </a:solidFill>
            <a:prstDash val="solid"/>
          </a:ln>
        </p:spPr>
      </p:sp>
      <p:sp>
        <p:nvSpPr>
          <p:cNvPr id="18" name="Shape 14"/>
          <p:cNvSpPr/>
          <p:nvPr/>
        </p:nvSpPr>
        <p:spPr>
          <a:xfrm>
            <a:off x="8631138" y="2505075"/>
            <a:ext cx="0" cy="1073200"/>
          </a:xfrm>
          <a:prstGeom prst="line">
            <a:avLst/>
          </a:prstGeom>
          <a:noFill/>
          <a:ln w="9525">
            <a:solidFill>
              <a:srgbClr val="E0C5FF"/>
            </a:solidFill>
            <a:prstDash val="solid"/>
          </a:ln>
        </p:spPr>
      </p:sp>
      <p:sp>
        <p:nvSpPr>
          <p:cNvPr id="19" name="Shape 15"/>
          <p:cNvSpPr/>
          <p:nvPr/>
        </p:nvSpPr>
        <p:spPr>
          <a:xfrm>
            <a:off x="507950" y="3573512"/>
            <a:ext cx="8127950" cy="0"/>
          </a:xfrm>
          <a:prstGeom prst="line">
            <a:avLst/>
          </a:prstGeom>
          <a:noFill/>
          <a:ln w="9525">
            <a:solidFill>
              <a:srgbClr val="E0C5FF"/>
            </a:solidFill>
            <a:prstDash val="solid"/>
          </a:ln>
        </p:spPr>
      </p:sp>
      <p:sp>
        <p:nvSpPr>
          <p:cNvPr id="20" name="Shape 16"/>
          <p:cNvSpPr/>
          <p:nvPr/>
        </p:nvSpPr>
        <p:spPr>
          <a:xfrm>
            <a:off x="546050" y="2505075"/>
            <a:ext cx="0" cy="1073200"/>
          </a:xfrm>
          <a:prstGeom prst="line">
            <a:avLst/>
          </a:prstGeom>
          <a:noFill/>
          <a:ln w="76200">
            <a:solidFill>
              <a:srgbClr val="8250DF"/>
            </a:solidFill>
            <a:prstDash val="solid"/>
          </a:ln>
        </p:spPr>
      </p:sp>
      <p:sp>
        <p:nvSpPr>
          <p:cNvPr id="21" name="Text 17"/>
          <p:cNvSpPr/>
          <p:nvPr/>
        </p:nvSpPr>
        <p:spPr>
          <a:xfrm>
            <a:off x="812750" y="2827288"/>
            <a:ext cx="595833" cy="428625"/>
          </a:xfrm>
          <a:prstGeom prst="rect">
            <a:avLst/>
          </a:prstGeom>
          <a:noFill/>
          <a:ln/>
        </p:spPr>
        <p:txBody>
          <a:bodyPr wrap="square" lIns="0" tIns="0" rIns="0" bIns="0" rtlCol="0" anchor="t"/>
          <a:lstStyle/>
          <a:p>
            <a:pPr algn="l" indent="0" marL="0">
              <a:buNone/>
            </a:pPr>
            <a:r>
              <a:rPr lang="en-US" sz="3000" b="1" dirty="0">
                <a:solidFill>
                  <a:srgbClr val="8250DF"/>
                </a:solidFill>
                <a:latin typeface="Arial" pitchFamily="34" charset="0"/>
                <a:ea typeface="Arial" pitchFamily="34" charset="-122"/>
                <a:cs typeface="Arial" pitchFamily="34" charset="-120"/>
              </a:rPr>
              <a:t>02</a:t>
            </a:r>
            <a:endParaRPr lang="en-US" sz="3000" dirty="0"/>
          </a:p>
        </p:txBody>
      </p:sp>
      <p:sp>
        <p:nvSpPr>
          <p:cNvPr id="22" name="Text 18"/>
          <p:cNvSpPr/>
          <p:nvPr/>
        </p:nvSpPr>
        <p:spPr>
          <a:xfrm>
            <a:off x="1625501" y="2667000"/>
            <a:ext cx="6907721"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Tour the app</a:t>
            </a:r>
            <a:endParaRPr lang="en-US" sz="1800" dirty="0"/>
          </a:p>
        </p:txBody>
      </p:sp>
      <p:sp>
        <p:nvSpPr>
          <p:cNvPr id="23" name="Text 19"/>
          <p:cNvSpPr/>
          <p:nvPr/>
        </p:nvSpPr>
        <p:spPr>
          <a:xfrm>
            <a:off x="1625501" y="2984450"/>
            <a:ext cx="6907721" cy="431899"/>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Learn where you start work, find GitHub items, save repeat tasks, and extend the app.</a:t>
            </a:r>
            <a:endParaRPr lang="en-US" sz="1450" dirty="0"/>
          </a:p>
        </p:txBody>
      </p:sp>
      <p:sp>
        <p:nvSpPr>
          <p:cNvPr id="24" name="Text 20"/>
          <p:cNvSpPr/>
          <p:nvPr/>
        </p:nvSpPr>
        <p:spPr>
          <a:xfrm>
            <a:off x="507950" y="3730675"/>
            <a:ext cx="8127950" cy="857250"/>
          </a:xfrm>
          <a:prstGeom prst="roundRect">
            <a:avLst>
              <a:gd name="adj" fmla="val 11852"/>
            </a:avLst>
          </a:prstGeom>
          <a:solidFill>
            <a:srgbClr val="F0FBF3"/>
          </a:solidFill>
          <a:ln/>
        </p:spPr>
        <p:txBody>
          <a:bodyPr wrap="square" rtlCol="0" anchor="ctr"/>
          <a:lstStyle/>
          <a:p>
            <a:pPr indent="0" marL="0">
              <a:buNone/>
            </a:pPr>
            <a:endParaRPr lang="en-US" dirty="0"/>
          </a:p>
        </p:txBody>
      </p:sp>
      <p:sp>
        <p:nvSpPr>
          <p:cNvPr id="25" name="Shape 21"/>
          <p:cNvSpPr/>
          <p:nvPr/>
        </p:nvSpPr>
        <p:spPr>
          <a:xfrm>
            <a:off x="507950" y="3735437"/>
            <a:ext cx="8127950" cy="0"/>
          </a:xfrm>
          <a:prstGeom prst="line">
            <a:avLst/>
          </a:prstGeom>
          <a:noFill/>
          <a:ln w="9525">
            <a:solidFill>
              <a:srgbClr val="8CE7A5"/>
            </a:solidFill>
            <a:prstDash val="solid"/>
          </a:ln>
        </p:spPr>
      </p:sp>
      <p:sp>
        <p:nvSpPr>
          <p:cNvPr id="26" name="Shape 22"/>
          <p:cNvSpPr/>
          <p:nvPr/>
        </p:nvSpPr>
        <p:spPr>
          <a:xfrm>
            <a:off x="8631138" y="3730675"/>
            <a:ext cx="0" cy="857250"/>
          </a:xfrm>
          <a:prstGeom prst="line">
            <a:avLst/>
          </a:prstGeom>
          <a:noFill/>
          <a:ln w="9525">
            <a:solidFill>
              <a:srgbClr val="8CE7A5"/>
            </a:solidFill>
            <a:prstDash val="solid"/>
          </a:ln>
        </p:spPr>
      </p:sp>
      <p:sp>
        <p:nvSpPr>
          <p:cNvPr id="27" name="Shape 23"/>
          <p:cNvSpPr/>
          <p:nvPr/>
        </p:nvSpPr>
        <p:spPr>
          <a:xfrm>
            <a:off x="507950" y="4583162"/>
            <a:ext cx="8127950" cy="0"/>
          </a:xfrm>
          <a:prstGeom prst="line">
            <a:avLst/>
          </a:prstGeom>
          <a:noFill/>
          <a:ln w="9525">
            <a:solidFill>
              <a:srgbClr val="8CE7A5"/>
            </a:solidFill>
            <a:prstDash val="solid"/>
          </a:ln>
        </p:spPr>
      </p:sp>
      <p:sp>
        <p:nvSpPr>
          <p:cNvPr id="28" name="Shape 24"/>
          <p:cNvSpPr/>
          <p:nvPr/>
        </p:nvSpPr>
        <p:spPr>
          <a:xfrm>
            <a:off x="546050" y="3730675"/>
            <a:ext cx="0" cy="857250"/>
          </a:xfrm>
          <a:prstGeom prst="line">
            <a:avLst/>
          </a:prstGeom>
          <a:noFill/>
          <a:ln w="76200">
            <a:solidFill>
              <a:srgbClr val="1A7F37"/>
            </a:solidFill>
            <a:prstDash val="solid"/>
          </a:ln>
        </p:spPr>
      </p:sp>
      <p:sp>
        <p:nvSpPr>
          <p:cNvPr id="29" name="Text 25"/>
          <p:cNvSpPr/>
          <p:nvPr/>
        </p:nvSpPr>
        <p:spPr>
          <a:xfrm>
            <a:off x="812750" y="3944987"/>
            <a:ext cx="595833" cy="428625"/>
          </a:xfrm>
          <a:prstGeom prst="rect">
            <a:avLst/>
          </a:prstGeom>
          <a:noFill/>
          <a:ln/>
        </p:spPr>
        <p:txBody>
          <a:bodyPr wrap="square" lIns="0" tIns="0" rIns="0" bIns="0" rtlCol="0" anchor="t"/>
          <a:lstStyle/>
          <a:p>
            <a:pPr algn="l" indent="0" marL="0">
              <a:buNone/>
            </a:pPr>
            <a:r>
              <a:rPr lang="en-US" sz="3000" b="1" dirty="0">
                <a:solidFill>
                  <a:srgbClr val="1A7F37"/>
                </a:solidFill>
                <a:latin typeface="Arial" pitchFamily="34" charset="0"/>
                <a:ea typeface="Arial" pitchFamily="34" charset="-122"/>
                <a:cs typeface="Arial" pitchFamily="34" charset="-120"/>
              </a:rPr>
              <a:t>03</a:t>
            </a:r>
            <a:endParaRPr lang="en-US" sz="3000" dirty="0"/>
          </a:p>
        </p:txBody>
      </p:sp>
      <p:sp>
        <p:nvSpPr>
          <p:cNvPr id="30" name="Text 26"/>
          <p:cNvSpPr/>
          <p:nvPr/>
        </p:nvSpPr>
        <p:spPr>
          <a:xfrm>
            <a:off x="1625501" y="3892600"/>
            <a:ext cx="5835524"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Sessions, modes, and models</a:t>
            </a:r>
            <a:endParaRPr lang="en-US" sz="1800" dirty="0"/>
          </a:p>
        </p:txBody>
      </p:sp>
      <p:sp>
        <p:nvSpPr>
          <p:cNvPr id="31" name="Text 27"/>
          <p:cNvSpPr/>
          <p:nvPr/>
        </p:nvSpPr>
        <p:spPr>
          <a:xfrm>
            <a:off x="1625501" y="4210050"/>
            <a:ext cx="5835524" cy="215950"/>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Pick the session type, mode, and model that fit the task in front of you.</a:t>
            </a:r>
            <a:endParaRPr lang="en-US" sz="14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1F8FF"/>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0969DA"/>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9CD7FF"/>
                </a:solidFill>
                <a:latin typeface="Arial" pitchFamily="34" charset="0"/>
                <a:ea typeface="Arial" pitchFamily="34" charset="-122"/>
                <a:cs typeface="Arial" pitchFamily="34" charset="-120"/>
              </a:rPr>
              <a:t>01</a:t>
            </a:r>
            <a:endParaRPr lang="en-US" sz="15000" dirty="0"/>
          </a:p>
        </p:txBody>
      </p:sp>
      <p:pic>
        <p:nvPicPr>
          <p:cNvPr id="5"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6"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7"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01</a:t>
            </a:r>
            <a:endParaRPr lang="en-US" sz="1150" dirty="0"/>
          </a:p>
        </p:txBody>
      </p:sp>
      <p:pic>
        <p:nvPicPr>
          <p:cNvPr id="8" name="Image 1" descr="Open this chapter on GitHub">
            <a:hlinkClick r:id="rId3" tooltip="https://github.com/github/copilot-app-for-beginners/tree/main/01-tour-the-app"/>
          </p:cNvPr>
          <p:cNvPicPr>
            <a:picLocks noChangeAspect="1"/>
          </p:cNvPicPr>
          <p:nvPr/>
        </p:nvPicPr>
        <p:blipFill>
          <a:blip r:embed="rId2"/>
          <a:stretch>
            <a:fillRect/>
          </a:stretch>
        </p:blipFill>
        <p:spPr>
          <a:xfrm>
            <a:off x="8610600" y="165050"/>
            <a:ext cx="304800" cy="304800"/>
          </a:xfrm>
          <a:prstGeom prst="rect">
            <a:avLst/>
          </a:prstGeom>
        </p:spPr>
      </p:pic>
      <p:sp>
        <p:nvSpPr>
          <p:cNvPr id="9" name="Text 5"/>
          <p:cNvSpPr/>
          <p:nvPr/>
        </p:nvSpPr>
        <p:spPr>
          <a:xfrm>
            <a:off x="711101" y="1413123"/>
            <a:ext cx="5570169" cy="209550"/>
          </a:xfrm>
          <a:prstGeom prst="rect">
            <a:avLst/>
          </a:prstGeom>
          <a:noFill/>
          <a:ln/>
        </p:spPr>
        <p:txBody>
          <a:bodyPr wrap="square" lIns="0" tIns="0" rIns="0" bIns="0" rtlCol="0" anchor="t"/>
          <a:lstStyle/>
          <a:p>
            <a:pPr algn="l" indent="0" marL="0">
              <a:buNone/>
            </a:pPr>
            <a:r>
              <a:rPr lang="en-US" sz="1450" b="1" dirty="0">
                <a:solidFill>
                  <a:srgbClr val="0969DA"/>
                </a:solidFill>
                <a:latin typeface="Arial" pitchFamily="34" charset="0"/>
                <a:ea typeface="Arial" pitchFamily="34" charset="-122"/>
                <a:cs typeface="Arial" pitchFamily="34" charset="-120"/>
              </a:rPr>
              <a:t>SECTION 1 OF 3</a:t>
            </a:r>
            <a:endParaRPr lang="en-US" sz="1450" dirty="0"/>
          </a:p>
        </p:txBody>
      </p:sp>
      <p:sp>
        <p:nvSpPr>
          <p:cNvPr id="10" name="Text 6"/>
          <p:cNvSpPr/>
          <p:nvPr/>
        </p:nvSpPr>
        <p:spPr>
          <a:xfrm>
            <a:off x="711101" y="1724174"/>
            <a:ext cx="5570169" cy="584150"/>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Why use the app</a:t>
            </a:r>
            <a:endParaRPr lang="en-US" sz="4000" dirty="0"/>
          </a:p>
        </p:txBody>
      </p:sp>
      <p:sp>
        <p:nvSpPr>
          <p:cNvPr id="11" name="Text 7"/>
          <p:cNvSpPr/>
          <p:nvPr/>
        </p:nvSpPr>
        <p:spPr>
          <a:xfrm>
            <a:off x="711101" y="2511475"/>
            <a:ext cx="609600" cy="63401"/>
          </a:xfrm>
          <a:prstGeom prst="roundRect">
            <a:avLst>
              <a:gd name="adj" fmla="val 40063"/>
            </a:avLst>
          </a:prstGeom>
          <a:solidFill>
            <a:srgbClr val="0969DA"/>
          </a:solidFill>
          <a:ln/>
        </p:spPr>
        <p:txBody>
          <a:bodyPr wrap="square" rtlCol="0" anchor="ctr"/>
          <a:lstStyle/>
          <a:p>
            <a:pPr indent="0" marL="0">
              <a:buNone/>
            </a:pPr>
            <a:endParaRPr lang="en-US" dirty="0"/>
          </a:p>
        </p:txBody>
      </p:sp>
      <p:sp>
        <p:nvSpPr>
          <p:cNvPr id="12" name="Text 8"/>
          <p:cNvSpPr/>
          <p:nvPr/>
        </p:nvSpPr>
        <p:spPr>
          <a:xfrm>
            <a:off x="711101" y="2778026"/>
            <a:ext cx="5570169" cy="952351"/>
          </a:xfrm>
          <a:prstGeom prst="rect">
            <a:avLst/>
          </a:prstGeom>
          <a:noFill/>
          <a:ln/>
        </p:spPr>
        <p:txBody>
          <a:bodyPr wrap="square" lIns="0" tIns="0" rIns="0" bIns="0" rtlCol="0" anchor="t"/>
          <a:lstStyle/>
          <a:p>
            <a:pPr algn="l" indent="0" marL="0">
              <a:lnSpc>
                <a:spcPts val="2500"/>
              </a:lnSpc>
              <a:buNone/>
            </a:pPr>
            <a:r>
              <a:rPr lang="en-US" sz="1900" dirty="0">
                <a:solidFill>
                  <a:srgbClr val="59636E"/>
                </a:solidFill>
                <a:latin typeface="Arial" pitchFamily="34" charset="0"/>
                <a:ea typeface="Arial" pitchFamily="34" charset="-122"/>
                <a:cs typeface="Arial" pitchFamily="34" charset="-120"/>
              </a:rPr>
              <a:t>Copilot already works next to your code. The app solves a different problem: supervising agent work end to end.</a:t>
            </a:r>
            <a:endParaRPr lang="en-US" sz="1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01</a:t>
            </a:r>
            <a:endParaRPr lang="en-US" sz="1150" dirty="0"/>
          </a:p>
        </p:txBody>
      </p:sp>
      <p:pic>
        <p:nvPicPr>
          <p:cNvPr id="5" name="Image 1" descr="Open this chapter on GitHub">
            <a:hlinkClick r:id="rId3" tooltip="https://github.com/github/copilot-app-for-beginners/tree/main/01-tour-the-app"/>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0969DA"/>
                </a:solidFill>
                <a:latin typeface="Arial" pitchFamily="34" charset="0"/>
                <a:ea typeface="Arial" pitchFamily="34" charset="-122"/>
                <a:cs typeface="Arial" pitchFamily="34" charset="-120"/>
              </a:rPr>
              <a:t>THE CHALLENGE</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Supervising agent work is the hard part</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When work is spread across tools, you ask "where was I?"</a:t>
            </a:r>
            <a:endParaRPr lang="en-US" sz="1650" dirty="0"/>
          </a:p>
        </p:txBody>
      </p:sp>
      <p:sp>
        <p:nvSpPr>
          <p:cNvPr id="9" name="Text 5"/>
          <p:cNvSpPr/>
          <p:nvPr/>
        </p:nvSpPr>
        <p:spPr>
          <a:xfrm>
            <a:off x="507950" y="1574750"/>
            <a:ext cx="8127950" cy="2641253"/>
          </a:xfrm>
          <a:prstGeom prst="roundRect">
            <a:avLst>
              <a:gd name="adj" fmla="val 3847"/>
            </a:avLst>
          </a:prstGeom>
          <a:solidFill>
            <a:srgbClr val="FFFFFF"/>
          </a:solidFill>
          <a:ln w="9525">
            <a:solidFill>
              <a:srgbClr val="D1D9E0"/>
            </a:solidFill>
          </a:ln>
        </p:spPr>
        <p:txBody>
          <a:bodyPr wrap="square" rtlCol="0" anchor="ctr"/>
          <a:lstStyle/>
          <a:p>
            <a:pPr indent="0" marL="0">
              <a:buNone/>
            </a:pPr>
            <a:endParaRPr lang="en-US" dirty="0"/>
          </a:p>
        </p:txBody>
      </p:sp>
      <p:sp>
        <p:nvSpPr>
          <p:cNvPr id="10" name="Text 6"/>
          <p:cNvSpPr/>
          <p:nvPr/>
        </p:nvSpPr>
        <p:spPr>
          <a:xfrm>
            <a:off x="517475" y="1584275"/>
            <a:ext cx="8108900" cy="326975"/>
          </a:xfrm>
          <a:prstGeom prst="rect">
            <a:avLst/>
          </a:prstGeom>
          <a:solidFill>
            <a:srgbClr val="DDF4FF"/>
          </a:solidFill>
          <a:ln/>
        </p:spPr>
        <p:txBody>
          <a:bodyPr wrap="square" rtlCol="0" anchor="ctr"/>
          <a:lstStyle/>
          <a:p>
            <a:pPr indent="0" marL="0">
              <a:buNone/>
            </a:pPr>
            <a:endParaRPr lang="en-US" dirty="0"/>
          </a:p>
        </p:txBody>
      </p:sp>
      <p:sp>
        <p:nvSpPr>
          <p:cNvPr id="11" name="Shape 7"/>
          <p:cNvSpPr/>
          <p:nvPr/>
        </p:nvSpPr>
        <p:spPr>
          <a:xfrm>
            <a:off x="517475" y="1906488"/>
            <a:ext cx="8108900" cy="0"/>
          </a:xfrm>
          <a:prstGeom prst="line">
            <a:avLst/>
          </a:prstGeom>
          <a:noFill/>
          <a:ln w="9525">
            <a:solidFill>
              <a:srgbClr val="9CD7FF"/>
            </a:solidFill>
            <a:prstDash val="solid"/>
          </a:ln>
        </p:spPr>
      </p:sp>
      <p:sp>
        <p:nvSpPr>
          <p:cNvPr id="12" name="Text 8"/>
          <p:cNvSpPr/>
          <p:nvPr/>
        </p:nvSpPr>
        <p:spPr>
          <a:xfrm>
            <a:off x="669875" y="1660475"/>
            <a:ext cx="1891183" cy="165050"/>
          </a:xfrm>
          <a:prstGeom prst="rect">
            <a:avLst/>
          </a:prstGeom>
          <a:noFill/>
          <a:ln/>
        </p:spPr>
        <p:txBody>
          <a:bodyPr wrap="square" lIns="0" tIns="0" rIns="0" bIns="0" rtlCol="0" anchor="t"/>
          <a:lstStyle/>
          <a:p>
            <a:pPr algn="l" indent="0" marL="0">
              <a:lnSpc>
                <a:spcPts val="1300"/>
              </a:lnSpc>
              <a:buNone/>
            </a:pPr>
            <a:r>
              <a:rPr lang="en-US" sz="1150" b="1" dirty="0">
                <a:solidFill>
                  <a:srgbClr val="0969DA"/>
                </a:solidFill>
                <a:latin typeface="Arial" pitchFamily="34" charset="0"/>
                <a:ea typeface="Arial" pitchFamily="34" charset="-122"/>
                <a:cs typeface="Arial" pitchFamily="34" charset="-120"/>
              </a:rPr>
              <a:t>CHALLENGE</a:t>
            </a:r>
            <a:endParaRPr lang="en-US" sz="1150" dirty="0"/>
          </a:p>
        </p:txBody>
      </p:sp>
      <p:sp>
        <p:nvSpPr>
          <p:cNvPr id="13" name="Text 9"/>
          <p:cNvSpPr/>
          <p:nvPr/>
        </p:nvSpPr>
        <p:spPr>
          <a:xfrm>
            <a:off x="2828776" y="1660475"/>
            <a:ext cx="5777383" cy="165050"/>
          </a:xfrm>
          <a:prstGeom prst="rect">
            <a:avLst/>
          </a:prstGeom>
          <a:noFill/>
          <a:ln/>
        </p:spPr>
        <p:txBody>
          <a:bodyPr wrap="square" lIns="0" tIns="0" rIns="0" bIns="0" rtlCol="0" anchor="t"/>
          <a:lstStyle/>
          <a:p>
            <a:pPr algn="l" indent="0" marL="0">
              <a:lnSpc>
                <a:spcPts val="1300"/>
              </a:lnSpc>
              <a:buNone/>
            </a:pPr>
            <a:r>
              <a:rPr lang="en-US" sz="1150" b="1" dirty="0">
                <a:solidFill>
                  <a:srgbClr val="0969DA"/>
                </a:solidFill>
                <a:latin typeface="Arial" pitchFamily="34" charset="0"/>
                <a:ea typeface="Arial" pitchFamily="34" charset="-122"/>
                <a:cs typeface="Arial" pitchFamily="34" charset="-120"/>
              </a:rPr>
              <a:t>WHAT THE APP ADDS</a:t>
            </a:r>
            <a:endParaRPr lang="en-US" sz="1150" dirty="0"/>
          </a:p>
        </p:txBody>
      </p:sp>
      <p:sp>
        <p:nvSpPr>
          <p:cNvPr id="14" name="Shape 10"/>
          <p:cNvSpPr/>
          <p:nvPr/>
        </p:nvSpPr>
        <p:spPr>
          <a:xfrm>
            <a:off x="517475" y="2326035"/>
            <a:ext cx="8108900" cy="0"/>
          </a:xfrm>
          <a:prstGeom prst="line">
            <a:avLst/>
          </a:prstGeom>
          <a:noFill/>
          <a:ln w="9525">
            <a:solidFill>
              <a:srgbClr val="D1D9E0"/>
            </a:solidFill>
            <a:prstDash val="solid"/>
          </a:ln>
        </p:spPr>
      </p:sp>
      <p:sp>
        <p:nvSpPr>
          <p:cNvPr id="15" name="Text 11"/>
          <p:cNvSpPr/>
          <p:nvPr/>
        </p:nvSpPr>
        <p:spPr>
          <a:xfrm>
            <a:off x="669875" y="2012752"/>
            <a:ext cx="1891183" cy="207020"/>
          </a:xfrm>
          <a:prstGeom prst="rect">
            <a:avLst/>
          </a:prstGeom>
          <a:noFill/>
          <a:ln/>
        </p:spPr>
        <p:txBody>
          <a:bodyPr wrap="square" lIns="0" tIns="0" rIns="0" bIns="0" rtlCol="0" anchor="t"/>
          <a:lstStyle/>
          <a:p>
            <a:pPr algn="l" indent="0" marL="0">
              <a:lnSpc>
                <a:spcPts val="1630"/>
              </a:lnSpc>
              <a:buNone/>
            </a:pPr>
            <a:r>
              <a:rPr lang="en-US" sz="1400" b="1" dirty="0">
                <a:solidFill>
                  <a:srgbClr val="1F2328"/>
                </a:solidFill>
                <a:latin typeface="Arial" pitchFamily="34" charset="0"/>
                <a:ea typeface="Arial" pitchFamily="34" charset="-122"/>
                <a:cs typeface="Arial" pitchFamily="34" charset="-120"/>
              </a:rPr>
              <a:t>Shared working copy</a:t>
            </a:r>
            <a:endParaRPr lang="en-US" sz="1400" dirty="0"/>
          </a:p>
        </p:txBody>
      </p:sp>
      <p:sp>
        <p:nvSpPr>
          <p:cNvPr id="16" name="Text 12"/>
          <p:cNvSpPr/>
          <p:nvPr/>
        </p:nvSpPr>
        <p:spPr>
          <a:xfrm>
            <a:off x="2828776" y="2012752"/>
            <a:ext cx="5777383" cy="207020"/>
          </a:xfrm>
          <a:prstGeom prst="rect">
            <a:avLst/>
          </a:prstGeom>
          <a:noFill/>
          <a:ln/>
        </p:spPr>
        <p:txBody>
          <a:bodyPr wrap="square" lIns="0" tIns="0" rIns="0" bIns="0" rtlCol="0" anchor="t"/>
          <a:lstStyle/>
          <a:p>
            <a:pPr algn="l" indent="0" marL="0">
              <a:lnSpc>
                <a:spcPts val="1630"/>
              </a:lnSpc>
              <a:buNone/>
            </a:pPr>
            <a:r>
              <a:rPr lang="en-US" sz="1400" dirty="0">
                <a:solidFill>
                  <a:srgbClr val="1F2328"/>
                </a:solidFill>
                <a:latin typeface="Arial" pitchFamily="34" charset="0"/>
                <a:ea typeface="Arial" pitchFamily="34" charset="-122"/>
                <a:cs typeface="Arial" pitchFamily="34" charset="-120"/>
              </a:rPr>
              <a:t>Project sessions that keep focused work separate</a:t>
            </a:r>
            <a:endParaRPr lang="en-US" sz="1400" dirty="0"/>
          </a:p>
        </p:txBody>
      </p:sp>
      <p:sp>
        <p:nvSpPr>
          <p:cNvPr id="17" name="Shape 13"/>
          <p:cNvSpPr/>
          <p:nvPr/>
        </p:nvSpPr>
        <p:spPr>
          <a:xfrm>
            <a:off x="517475" y="2745581"/>
            <a:ext cx="8108900" cy="0"/>
          </a:xfrm>
          <a:prstGeom prst="line">
            <a:avLst/>
          </a:prstGeom>
          <a:noFill/>
          <a:ln w="9525">
            <a:solidFill>
              <a:srgbClr val="D1D9E0"/>
            </a:solidFill>
            <a:prstDash val="solid"/>
          </a:ln>
        </p:spPr>
      </p:sp>
      <p:sp>
        <p:nvSpPr>
          <p:cNvPr id="18" name="Text 14"/>
          <p:cNvSpPr/>
          <p:nvPr/>
        </p:nvSpPr>
        <p:spPr>
          <a:xfrm>
            <a:off x="669875" y="2432298"/>
            <a:ext cx="1891183" cy="207020"/>
          </a:xfrm>
          <a:prstGeom prst="rect">
            <a:avLst/>
          </a:prstGeom>
          <a:noFill/>
          <a:ln/>
        </p:spPr>
        <p:txBody>
          <a:bodyPr wrap="square" lIns="0" tIns="0" rIns="0" bIns="0" rtlCol="0" anchor="t"/>
          <a:lstStyle/>
          <a:p>
            <a:pPr algn="l" indent="0" marL="0">
              <a:lnSpc>
                <a:spcPts val="1630"/>
              </a:lnSpc>
              <a:buNone/>
            </a:pPr>
            <a:r>
              <a:rPr lang="en-US" sz="1400" b="1" dirty="0">
                <a:solidFill>
                  <a:srgbClr val="1F2328"/>
                </a:solidFill>
                <a:latin typeface="Arial" pitchFamily="34" charset="0"/>
                <a:ea typeface="Arial" pitchFamily="34" charset="-122"/>
                <a:cs typeface="Arial" pitchFamily="34" charset="-120"/>
              </a:rPr>
              <a:t>Scattered evidence</a:t>
            </a:r>
            <a:endParaRPr lang="en-US" sz="1400" dirty="0"/>
          </a:p>
        </p:txBody>
      </p:sp>
      <p:sp>
        <p:nvSpPr>
          <p:cNvPr id="19" name="Text 15"/>
          <p:cNvSpPr/>
          <p:nvPr/>
        </p:nvSpPr>
        <p:spPr>
          <a:xfrm>
            <a:off x="2828776" y="2432298"/>
            <a:ext cx="5777383" cy="207020"/>
          </a:xfrm>
          <a:prstGeom prst="rect">
            <a:avLst/>
          </a:prstGeom>
          <a:noFill/>
          <a:ln/>
        </p:spPr>
        <p:txBody>
          <a:bodyPr wrap="square" lIns="0" tIns="0" rIns="0" bIns="0" rtlCol="0" anchor="t"/>
          <a:lstStyle/>
          <a:p>
            <a:pPr algn="l" indent="0" marL="0">
              <a:lnSpc>
                <a:spcPts val="1630"/>
              </a:lnSpc>
              <a:buNone/>
            </a:pPr>
            <a:r>
              <a:rPr lang="en-US" sz="1400" dirty="0">
                <a:solidFill>
                  <a:srgbClr val="1F2328"/>
                </a:solidFill>
                <a:latin typeface="Arial" pitchFamily="34" charset="0"/>
                <a:ea typeface="Arial" pitchFamily="34" charset="-122"/>
                <a:cs typeface="Arial" pitchFamily="34" charset="-120"/>
              </a:rPr>
              <a:t>Sessions, diffs, terminal, previews, and GitHub in one app</a:t>
            </a:r>
            <a:endParaRPr lang="en-US" sz="1400" dirty="0"/>
          </a:p>
        </p:txBody>
      </p:sp>
      <p:sp>
        <p:nvSpPr>
          <p:cNvPr id="20" name="Shape 16"/>
          <p:cNvSpPr/>
          <p:nvPr/>
        </p:nvSpPr>
        <p:spPr>
          <a:xfrm>
            <a:off x="517475" y="3165128"/>
            <a:ext cx="8108900" cy="0"/>
          </a:xfrm>
          <a:prstGeom prst="line">
            <a:avLst/>
          </a:prstGeom>
          <a:noFill/>
          <a:ln w="9525">
            <a:solidFill>
              <a:srgbClr val="D1D9E0"/>
            </a:solidFill>
            <a:prstDash val="solid"/>
          </a:ln>
        </p:spPr>
      </p:sp>
      <p:sp>
        <p:nvSpPr>
          <p:cNvPr id="21" name="Text 17"/>
          <p:cNvSpPr/>
          <p:nvPr/>
        </p:nvSpPr>
        <p:spPr>
          <a:xfrm>
            <a:off x="669875" y="2851845"/>
            <a:ext cx="1891183" cy="207020"/>
          </a:xfrm>
          <a:prstGeom prst="rect">
            <a:avLst/>
          </a:prstGeom>
          <a:noFill/>
          <a:ln/>
        </p:spPr>
        <p:txBody>
          <a:bodyPr wrap="square" lIns="0" tIns="0" rIns="0" bIns="0" rtlCol="0" anchor="t"/>
          <a:lstStyle/>
          <a:p>
            <a:pPr algn="l" indent="0" marL="0">
              <a:lnSpc>
                <a:spcPts val="1630"/>
              </a:lnSpc>
              <a:buNone/>
            </a:pPr>
            <a:r>
              <a:rPr lang="en-US" sz="1400" b="1" dirty="0">
                <a:solidFill>
                  <a:srgbClr val="1F2328"/>
                </a:solidFill>
                <a:latin typeface="Arial" pitchFamily="34" charset="0"/>
                <a:ea typeface="Arial" pitchFamily="34" charset="-122"/>
                <a:cs typeface="Arial" pitchFamily="34" charset="-120"/>
              </a:rPr>
              <a:t>Explore vs. change</a:t>
            </a:r>
            <a:endParaRPr lang="en-US" sz="1400" dirty="0"/>
          </a:p>
        </p:txBody>
      </p:sp>
      <p:sp>
        <p:nvSpPr>
          <p:cNvPr id="22" name="Text 18"/>
          <p:cNvSpPr/>
          <p:nvPr/>
        </p:nvSpPr>
        <p:spPr>
          <a:xfrm>
            <a:off x="2828776" y="2851845"/>
            <a:ext cx="5777383" cy="207020"/>
          </a:xfrm>
          <a:prstGeom prst="rect">
            <a:avLst/>
          </a:prstGeom>
          <a:noFill/>
          <a:ln/>
        </p:spPr>
        <p:txBody>
          <a:bodyPr wrap="square" lIns="0" tIns="0" rIns="0" bIns="0" rtlCol="0" anchor="t"/>
          <a:lstStyle/>
          <a:p>
            <a:pPr algn="l" indent="0" marL="0">
              <a:lnSpc>
                <a:spcPts val="1630"/>
              </a:lnSpc>
              <a:buNone/>
            </a:pPr>
            <a:r>
              <a:rPr lang="en-US" sz="1400" dirty="0">
                <a:solidFill>
                  <a:srgbClr val="1F2328"/>
                </a:solidFill>
                <a:latin typeface="Arial" pitchFamily="34" charset="0"/>
                <a:ea typeface="Arial" pitchFamily="34" charset="-122"/>
                <a:cs typeface="Arial" pitchFamily="34" charset="-120"/>
              </a:rPr>
              <a:t>Chats for questions, project sessions for code</a:t>
            </a:r>
            <a:endParaRPr lang="en-US" sz="1400" dirty="0"/>
          </a:p>
        </p:txBody>
      </p:sp>
      <p:sp>
        <p:nvSpPr>
          <p:cNvPr id="23" name="Shape 19"/>
          <p:cNvSpPr/>
          <p:nvPr/>
        </p:nvSpPr>
        <p:spPr>
          <a:xfrm>
            <a:off x="517475" y="3791694"/>
            <a:ext cx="8108900" cy="0"/>
          </a:xfrm>
          <a:prstGeom prst="line">
            <a:avLst/>
          </a:prstGeom>
          <a:noFill/>
          <a:ln w="9525">
            <a:solidFill>
              <a:srgbClr val="D1D9E0"/>
            </a:solidFill>
            <a:prstDash val="solid"/>
          </a:ln>
        </p:spPr>
      </p:sp>
      <p:sp>
        <p:nvSpPr>
          <p:cNvPr id="24" name="Text 20"/>
          <p:cNvSpPr/>
          <p:nvPr/>
        </p:nvSpPr>
        <p:spPr>
          <a:xfrm>
            <a:off x="669875" y="3271391"/>
            <a:ext cx="1891183" cy="414040"/>
          </a:xfrm>
          <a:prstGeom prst="rect">
            <a:avLst/>
          </a:prstGeom>
          <a:noFill/>
          <a:ln/>
        </p:spPr>
        <p:txBody>
          <a:bodyPr wrap="square" lIns="0" tIns="0" rIns="0" bIns="0" rtlCol="0" anchor="t"/>
          <a:lstStyle/>
          <a:p>
            <a:pPr algn="l" indent="0" marL="0">
              <a:lnSpc>
                <a:spcPts val="1630"/>
              </a:lnSpc>
              <a:buNone/>
            </a:pPr>
            <a:r>
              <a:rPr lang="en-US" sz="1400" b="1" dirty="0">
                <a:solidFill>
                  <a:srgbClr val="1F2328"/>
                </a:solidFill>
                <a:latin typeface="Arial" pitchFamily="34" charset="0"/>
                <a:ea typeface="Arial" pitchFamily="34" charset="-122"/>
                <a:cs typeface="Arial" pitchFamily="34" charset="-120"/>
              </a:rPr>
              <a:t>Progress buried in chat</a:t>
            </a:r>
            <a:endParaRPr lang="en-US" sz="1400" dirty="0"/>
          </a:p>
        </p:txBody>
      </p:sp>
      <p:sp>
        <p:nvSpPr>
          <p:cNvPr id="25" name="Text 21"/>
          <p:cNvSpPr/>
          <p:nvPr/>
        </p:nvSpPr>
        <p:spPr>
          <a:xfrm>
            <a:off x="2828776" y="3374827"/>
            <a:ext cx="5777383" cy="207020"/>
          </a:xfrm>
          <a:prstGeom prst="rect">
            <a:avLst/>
          </a:prstGeom>
          <a:noFill/>
          <a:ln/>
        </p:spPr>
        <p:txBody>
          <a:bodyPr wrap="square" lIns="0" tIns="0" rIns="0" bIns="0" rtlCol="0" anchor="t"/>
          <a:lstStyle/>
          <a:p>
            <a:pPr algn="l" indent="0" marL="0">
              <a:lnSpc>
                <a:spcPts val="1630"/>
              </a:lnSpc>
              <a:buNone/>
            </a:pPr>
            <a:r>
              <a:rPr lang="en-US" sz="1400" dirty="0">
                <a:solidFill>
                  <a:srgbClr val="1F2328"/>
                </a:solidFill>
                <a:latin typeface="Arial" pitchFamily="34" charset="0"/>
                <a:ea typeface="Arial" pitchFamily="34" charset="-122"/>
                <a:cs typeface="Arial" pitchFamily="34" charset="-120"/>
              </a:rPr>
              <a:t>Canvases: a shared board you and the agent update</a:t>
            </a:r>
            <a:endParaRPr lang="en-US" sz="1400" dirty="0"/>
          </a:p>
        </p:txBody>
      </p:sp>
      <p:sp>
        <p:nvSpPr>
          <p:cNvPr id="26" name="Text 22"/>
          <p:cNvSpPr/>
          <p:nvPr/>
        </p:nvSpPr>
        <p:spPr>
          <a:xfrm>
            <a:off x="669875" y="3897957"/>
            <a:ext cx="1891183" cy="207020"/>
          </a:xfrm>
          <a:prstGeom prst="rect">
            <a:avLst/>
          </a:prstGeom>
          <a:noFill/>
          <a:ln/>
        </p:spPr>
        <p:txBody>
          <a:bodyPr wrap="square" lIns="0" tIns="0" rIns="0" bIns="0" rtlCol="0" anchor="t"/>
          <a:lstStyle/>
          <a:p>
            <a:pPr algn="l" indent="0" marL="0">
              <a:lnSpc>
                <a:spcPts val="1630"/>
              </a:lnSpc>
              <a:buNone/>
            </a:pPr>
            <a:r>
              <a:rPr lang="en-US" sz="1400" b="1" dirty="0">
                <a:solidFill>
                  <a:srgbClr val="1F2328"/>
                </a:solidFill>
                <a:latin typeface="Arial" pitchFamily="34" charset="0"/>
                <a:ea typeface="Arial" pitchFamily="34" charset="-122"/>
                <a:cs typeface="Arial" pitchFamily="34" charset="-120"/>
              </a:rPr>
              <a:t>Repeat work</a:t>
            </a:r>
            <a:endParaRPr lang="en-US" sz="1400" dirty="0"/>
          </a:p>
        </p:txBody>
      </p:sp>
      <p:sp>
        <p:nvSpPr>
          <p:cNvPr id="27" name="Text 23"/>
          <p:cNvSpPr/>
          <p:nvPr/>
        </p:nvSpPr>
        <p:spPr>
          <a:xfrm>
            <a:off x="2828776" y="3897957"/>
            <a:ext cx="5777383" cy="207020"/>
          </a:xfrm>
          <a:prstGeom prst="rect">
            <a:avLst/>
          </a:prstGeom>
          <a:noFill/>
          <a:ln/>
        </p:spPr>
        <p:txBody>
          <a:bodyPr wrap="square" lIns="0" tIns="0" rIns="0" bIns="0" rtlCol="0" anchor="t"/>
          <a:lstStyle/>
          <a:p>
            <a:pPr algn="l" indent="0" marL="0">
              <a:lnSpc>
                <a:spcPts val="1630"/>
              </a:lnSpc>
              <a:buNone/>
            </a:pPr>
            <a:r>
              <a:rPr lang="en-US" sz="1400" dirty="0">
                <a:solidFill>
                  <a:srgbClr val="1F2328"/>
                </a:solidFill>
                <a:latin typeface="Arial" pitchFamily="34" charset="0"/>
                <a:ea typeface="Arial" pitchFamily="34" charset="-122"/>
                <a:cs typeface="Arial" pitchFamily="34" charset="-120"/>
              </a:rPr>
              <a:t>Automations that run on demand, on a schedule, or from events</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01</a:t>
            </a:r>
            <a:endParaRPr lang="en-US" sz="1150" dirty="0"/>
          </a:p>
        </p:txBody>
      </p:sp>
      <p:pic>
        <p:nvPicPr>
          <p:cNvPr id="5" name="Image 1" descr="Open this chapter on GitHub">
            <a:hlinkClick r:id="rId3" tooltip="https://github.com/github/copilot-app-for-beginners/tree/main/01-tour-the-app"/>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0969DA"/>
                </a:solidFill>
                <a:latin typeface="Arial" pitchFamily="34" charset="0"/>
                <a:ea typeface="Arial" pitchFamily="34" charset="-122"/>
                <a:cs typeface="Arial" pitchFamily="34" charset="-120"/>
              </a:rPr>
              <a:t>WHERE THE APP FITS</a:t>
            </a:r>
            <a:endParaRPr lang="en-US" sz="1250" dirty="0"/>
          </a:p>
        </p:txBody>
      </p:sp>
      <p:sp>
        <p:nvSpPr>
          <p:cNvPr id="7" name="Text 3"/>
          <p:cNvSpPr/>
          <p:nvPr/>
        </p:nvSpPr>
        <p:spPr>
          <a:xfrm>
            <a:off x="507950" y="622250"/>
            <a:ext cx="8161020" cy="8382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Keep your editor. Switch when the job changes.</a:t>
            </a:r>
            <a:endParaRPr lang="en-US" sz="2800" dirty="0"/>
          </a:p>
        </p:txBody>
      </p:sp>
      <p:sp>
        <p:nvSpPr>
          <p:cNvPr id="8" name="Text 4"/>
          <p:cNvSpPr/>
          <p:nvPr/>
        </p:nvSpPr>
        <p:spPr>
          <a:xfrm>
            <a:off x="511076" y="1463576"/>
            <a:ext cx="4057650" cy="2736800"/>
          </a:xfrm>
          <a:prstGeom prst="roundRect">
            <a:avLst>
              <a:gd name="adj" fmla="val 2784"/>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9" name="Image 2" descr="Editor versus GitHub Copilot app">    </p:cNvPr>
          <p:cNvPicPr>
            <a:picLocks noChangeAspect="1"/>
          </p:cNvPicPr>
          <p:nvPr/>
        </p:nvPicPr>
        <p:blipFill>
          <a:blip r:embed="rId4"/>
          <a:stretch>
            <a:fillRect/>
          </a:stretch>
        </p:blipFill>
        <p:spPr>
          <a:xfrm>
            <a:off x="558701" y="1511201"/>
            <a:ext cx="3962400" cy="2641550"/>
          </a:xfrm>
          <a:prstGeom prst="rect">
            <a:avLst/>
          </a:prstGeom>
        </p:spPr>
      </p:pic>
      <p:sp>
        <p:nvSpPr>
          <p:cNvPr id="10" name="Text 5"/>
          <p:cNvSpPr/>
          <p:nvPr/>
        </p:nvSpPr>
        <p:spPr>
          <a:xfrm>
            <a:off x="4825752" y="1432173"/>
            <a:ext cx="3810149" cy="724942"/>
          </a:xfrm>
          <a:prstGeom prst="roundRect">
            <a:avLst>
              <a:gd name="adj" fmla="val 17519"/>
            </a:avLst>
          </a:prstGeom>
          <a:solidFill>
            <a:srgbClr val="FFFFFF"/>
          </a:solidFill>
          <a:ln w="9525">
            <a:solidFill>
              <a:srgbClr val="9CD7FF"/>
            </a:solidFill>
          </a:ln>
        </p:spPr>
        <p:txBody>
          <a:bodyPr wrap="square" rtlCol="0" anchor="ctr"/>
          <a:lstStyle/>
          <a:p>
            <a:pPr indent="0" marL="0">
              <a:buNone/>
            </a:pPr>
            <a:endParaRPr lang="en-US" dirty="0"/>
          </a:p>
        </p:txBody>
      </p:sp>
      <p:sp>
        <p:nvSpPr>
          <p:cNvPr id="11" name="Text 6"/>
          <p:cNvSpPr/>
          <p:nvPr/>
        </p:nvSpPr>
        <p:spPr>
          <a:xfrm>
            <a:off x="4987677" y="1604070"/>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12" name="Image 3"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5070277" y="1686669"/>
            <a:ext cx="215801" cy="215801"/>
          </a:xfrm>
          <a:prstGeom prst="rect">
            <a:avLst/>
          </a:prstGeom>
        </p:spPr>
      </p:pic>
      <p:sp>
        <p:nvSpPr>
          <p:cNvPr id="13" name="Text 7"/>
          <p:cNvSpPr/>
          <p:nvPr/>
        </p:nvSpPr>
        <p:spPr>
          <a:xfrm>
            <a:off x="5521077" y="1568648"/>
            <a:ext cx="2518440"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Stay in your editor</a:t>
            </a:r>
            <a:endParaRPr lang="en-US" sz="1550" dirty="0"/>
          </a:p>
        </p:txBody>
      </p:sp>
      <p:sp>
        <p:nvSpPr>
          <p:cNvPr id="14" name="Text 8"/>
          <p:cNvSpPr/>
          <p:nvPr/>
        </p:nvSpPr>
        <p:spPr>
          <a:xfrm>
            <a:off x="5521077" y="1822549"/>
            <a:ext cx="2518440"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For deep editing and debugging.</a:t>
            </a:r>
            <a:endParaRPr lang="en-US" sz="1350" dirty="0"/>
          </a:p>
        </p:txBody>
      </p:sp>
      <p:sp>
        <p:nvSpPr>
          <p:cNvPr id="15" name="Text 9"/>
          <p:cNvSpPr/>
          <p:nvPr/>
        </p:nvSpPr>
        <p:spPr>
          <a:xfrm>
            <a:off x="4825752" y="2334816"/>
            <a:ext cx="3810149" cy="923032"/>
          </a:xfrm>
          <a:prstGeom prst="roundRect">
            <a:avLst>
              <a:gd name="adj" fmla="val 13759"/>
            </a:avLst>
          </a:prstGeom>
          <a:solidFill>
            <a:srgbClr val="FFFFFF"/>
          </a:solidFill>
          <a:ln w="9525">
            <a:solidFill>
              <a:srgbClr val="E0C5FF"/>
            </a:solidFill>
          </a:ln>
        </p:spPr>
        <p:txBody>
          <a:bodyPr wrap="square" rtlCol="0" anchor="ctr"/>
          <a:lstStyle/>
          <a:p>
            <a:pPr indent="0" marL="0">
              <a:buNone/>
            </a:pPr>
            <a:endParaRPr lang="en-US" dirty="0"/>
          </a:p>
        </p:txBody>
      </p:sp>
      <p:sp>
        <p:nvSpPr>
          <p:cNvPr id="16" name="Text 10"/>
          <p:cNvSpPr/>
          <p:nvPr/>
        </p:nvSpPr>
        <p:spPr>
          <a:xfrm>
            <a:off x="4987677" y="2605832"/>
            <a:ext cx="381000" cy="381000"/>
          </a:xfrm>
          <a:prstGeom prst="roundRect">
            <a:avLst>
              <a:gd name="adj" fmla="val 23333"/>
            </a:avLst>
          </a:prstGeom>
          <a:solidFill>
            <a:srgbClr val="FBEFFF"/>
          </a:solidFill>
          <a:ln/>
        </p:spPr>
        <p:txBody>
          <a:bodyPr wrap="square" rtlCol="0" anchor="ctr"/>
          <a:lstStyle/>
          <a:p>
            <a:pPr indent="0" marL="0">
              <a:buNone/>
            </a:pPr>
            <a:endParaRPr lang="en-US" dirty="0"/>
          </a:p>
        </p:txBody>
      </p:sp>
      <p:pic>
        <p:nvPicPr>
          <p:cNvPr id="17" name="Image 4"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5070277" y="2688431"/>
            <a:ext cx="215801" cy="215801"/>
          </a:xfrm>
          <a:prstGeom prst="rect">
            <a:avLst/>
          </a:prstGeom>
        </p:spPr>
      </p:pic>
      <p:sp>
        <p:nvSpPr>
          <p:cNvPr id="18" name="Text 11"/>
          <p:cNvSpPr/>
          <p:nvPr/>
        </p:nvSpPr>
        <p:spPr>
          <a:xfrm>
            <a:off x="5521077" y="2471291"/>
            <a:ext cx="3011957"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Open the app to supervise</a:t>
            </a:r>
            <a:endParaRPr lang="en-US" sz="1550" dirty="0"/>
          </a:p>
        </p:txBody>
      </p:sp>
      <p:sp>
        <p:nvSpPr>
          <p:cNvPr id="19" name="Text 12"/>
          <p:cNvSpPr/>
          <p:nvPr/>
        </p:nvSpPr>
        <p:spPr>
          <a:xfrm>
            <a:off x="5521077" y="2725192"/>
            <a:ext cx="3011957" cy="39618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Run sessions, review changes, ship PRs.</a:t>
            </a:r>
            <a:endParaRPr lang="en-US" sz="1350" dirty="0"/>
          </a:p>
        </p:txBody>
      </p:sp>
      <p:sp>
        <p:nvSpPr>
          <p:cNvPr id="20" name="Text 13"/>
          <p:cNvSpPr/>
          <p:nvPr/>
        </p:nvSpPr>
        <p:spPr>
          <a:xfrm>
            <a:off x="4825752" y="3435548"/>
            <a:ext cx="3810149" cy="923032"/>
          </a:xfrm>
          <a:prstGeom prst="roundRect">
            <a:avLst>
              <a:gd name="adj" fmla="val 13759"/>
            </a:avLst>
          </a:prstGeom>
          <a:solidFill>
            <a:srgbClr val="FFFFFF"/>
          </a:solidFill>
          <a:ln w="9525">
            <a:solidFill>
              <a:srgbClr val="8CE7A5"/>
            </a:solidFill>
          </a:ln>
        </p:spPr>
        <p:txBody>
          <a:bodyPr wrap="square" rtlCol="0" anchor="ctr"/>
          <a:lstStyle/>
          <a:p>
            <a:pPr indent="0" marL="0">
              <a:buNone/>
            </a:pPr>
            <a:endParaRPr lang="en-US" dirty="0"/>
          </a:p>
        </p:txBody>
      </p:sp>
      <p:sp>
        <p:nvSpPr>
          <p:cNvPr id="21" name="Text 14"/>
          <p:cNvSpPr/>
          <p:nvPr/>
        </p:nvSpPr>
        <p:spPr>
          <a:xfrm>
            <a:off x="4987677" y="3706564"/>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22" name="Image 5" descr="">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5070277" y="3789164"/>
            <a:ext cx="215801" cy="215801"/>
          </a:xfrm>
          <a:prstGeom prst="rect">
            <a:avLst/>
          </a:prstGeom>
        </p:spPr>
      </p:pic>
      <p:sp>
        <p:nvSpPr>
          <p:cNvPr id="23" name="Text 15"/>
          <p:cNvSpPr/>
          <p:nvPr/>
        </p:nvSpPr>
        <p:spPr>
          <a:xfrm>
            <a:off x="5521077" y="3572024"/>
            <a:ext cx="3011957"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Jump back any time</a:t>
            </a:r>
            <a:endParaRPr lang="en-US" sz="1550" dirty="0"/>
          </a:p>
        </p:txBody>
      </p:sp>
      <p:sp>
        <p:nvSpPr>
          <p:cNvPr id="24" name="Text 16"/>
          <p:cNvSpPr/>
          <p:nvPr/>
        </p:nvSpPr>
        <p:spPr>
          <a:xfrm>
            <a:off x="5521077" y="3825925"/>
            <a:ext cx="3011957" cy="39618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Open the project in VS Code from the app.</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8F3FF"/>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8250DF"/>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E0C5FF"/>
                </a:solidFill>
                <a:latin typeface="Arial" pitchFamily="34" charset="0"/>
                <a:ea typeface="Arial" pitchFamily="34" charset="-122"/>
                <a:cs typeface="Arial" pitchFamily="34" charset="-120"/>
              </a:rPr>
              <a:t>02</a:t>
            </a:r>
            <a:endParaRPr lang="en-US" sz="15000" dirty="0"/>
          </a:p>
        </p:txBody>
      </p:sp>
      <p:pic>
        <p:nvPicPr>
          <p:cNvPr id="5"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6"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7"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01</a:t>
            </a:r>
            <a:endParaRPr lang="en-US" sz="1150" dirty="0"/>
          </a:p>
        </p:txBody>
      </p:sp>
      <p:pic>
        <p:nvPicPr>
          <p:cNvPr id="8" name="Image 1" descr="Open this chapter on GitHub">
            <a:hlinkClick r:id="rId3" tooltip="https://github.com/github/copilot-app-for-beginners/tree/main/01-tour-the-app"/>
          </p:cNvPr>
          <p:cNvPicPr>
            <a:picLocks noChangeAspect="1"/>
          </p:cNvPicPr>
          <p:nvPr/>
        </p:nvPicPr>
        <p:blipFill>
          <a:blip r:embed="rId2"/>
          <a:stretch>
            <a:fillRect/>
          </a:stretch>
        </p:blipFill>
        <p:spPr>
          <a:xfrm>
            <a:off x="8610600" y="165050"/>
            <a:ext cx="304800" cy="304800"/>
          </a:xfrm>
          <a:prstGeom prst="rect">
            <a:avLst/>
          </a:prstGeom>
        </p:spPr>
      </p:pic>
      <p:sp>
        <p:nvSpPr>
          <p:cNvPr id="9" name="Text 5"/>
          <p:cNvSpPr/>
          <p:nvPr/>
        </p:nvSpPr>
        <p:spPr>
          <a:xfrm>
            <a:off x="711101" y="1571774"/>
            <a:ext cx="5570169" cy="209550"/>
          </a:xfrm>
          <a:prstGeom prst="rect">
            <a:avLst/>
          </a:prstGeom>
          <a:noFill/>
          <a:ln/>
        </p:spPr>
        <p:txBody>
          <a:bodyPr wrap="square" lIns="0" tIns="0" rIns="0" bIns="0" rtlCol="0" anchor="t"/>
          <a:lstStyle/>
          <a:p>
            <a:pPr algn="l" indent="0" marL="0">
              <a:buNone/>
            </a:pPr>
            <a:r>
              <a:rPr lang="en-US" sz="1450" b="1" dirty="0">
                <a:solidFill>
                  <a:srgbClr val="8250DF"/>
                </a:solidFill>
                <a:latin typeface="Arial" pitchFamily="34" charset="0"/>
                <a:ea typeface="Arial" pitchFamily="34" charset="-122"/>
                <a:cs typeface="Arial" pitchFamily="34" charset="-120"/>
              </a:rPr>
              <a:t>SECTION 2 OF 3</a:t>
            </a:r>
            <a:endParaRPr lang="en-US" sz="1450" dirty="0"/>
          </a:p>
        </p:txBody>
      </p:sp>
      <p:sp>
        <p:nvSpPr>
          <p:cNvPr id="10" name="Text 6"/>
          <p:cNvSpPr/>
          <p:nvPr/>
        </p:nvSpPr>
        <p:spPr>
          <a:xfrm>
            <a:off x="711101" y="1882825"/>
            <a:ext cx="5570169" cy="584150"/>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Tour the app</a:t>
            </a:r>
            <a:endParaRPr lang="en-US" sz="4000" dirty="0"/>
          </a:p>
        </p:txBody>
      </p:sp>
      <p:sp>
        <p:nvSpPr>
          <p:cNvPr id="11" name="Text 7"/>
          <p:cNvSpPr/>
          <p:nvPr/>
        </p:nvSpPr>
        <p:spPr>
          <a:xfrm>
            <a:off x="711101" y="2670125"/>
            <a:ext cx="609600" cy="63401"/>
          </a:xfrm>
          <a:prstGeom prst="roundRect">
            <a:avLst>
              <a:gd name="adj" fmla="val 40063"/>
            </a:avLst>
          </a:prstGeom>
          <a:solidFill>
            <a:srgbClr val="8250DF"/>
          </a:solidFill>
          <a:ln/>
        </p:spPr>
        <p:txBody>
          <a:bodyPr wrap="square" rtlCol="0" anchor="ctr"/>
          <a:lstStyle/>
          <a:p>
            <a:pPr indent="0" marL="0">
              <a:buNone/>
            </a:pPr>
            <a:endParaRPr lang="en-US" dirty="0"/>
          </a:p>
        </p:txBody>
      </p:sp>
      <p:sp>
        <p:nvSpPr>
          <p:cNvPr id="12" name="Text 8"/>
          <p:cNvSpPr/>
          <p:nvPr/>
        </p:nvSpPr>
        <p:spPr>
          <a:xfrm>
            <a:off x="711101" y="2936677"/>
            <a:ext cx="5570169" cy="634901"/>
          </a:xfrm>
          <a:prstGeom prst="rect">
            <a:avLst/>
          </a:prstGeom>
          <a:noFill/>
          <a:ln/>
        </p:spPr>
        <p:txBody>
          <a:bodyPr wrap="square" lIns="0" tIns="0" rIns="0" bIns="0" rtlCol="0" anchor="t"/>
          <a:lstStyle/>
          <a:p>
            <a:pPr algn="l" indent="0" marL="0">
              <a:lnSpc>
                <a:spcPts val="2500"/>
              </a:lnSpc>
              <a:buNone/>
            </a:pPr>
            <a:r>
              <a:rPr lang="en-US" sz="1900" dirty="0">
                <a:solidFill>
                  <a:srgbClr val="59636E"/>
                </a:solidFill>
                <a:latin typeface="Arial" pitchFamily="34" charset="0"/>
                <a:ea typeface="Arial" pitchFamily="34" charset="-122"/>
                <a:cs typeface="Arial" pitchFamily="34" charset="-120"/>
              </a:rPr>
              <a:t>Learn where you start work, find GitHub items, save repeat tasks, and extend the app.</a:t>
            </a:r>
            <a:endParaRPr lang="en-US" sz="1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01</a:t>
            </a:r>
            <a:endParaRPr lang="en-US" sz="1150" dirty="0"/>
          </a:p>
        </p:txBody>
      </p:sp>
      <p:pic>
        <p:nvPicPr>
          <p:cNvPr id="5" name="Image 1" descr="Open this chapter on GitHub">
            <a:hlinkClick r:id="rId3" tooltip="https://github.com/github/copilot-app-for-beginners/tree/main/01-tour-the-app"/>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8250DF"/>
                </a:solidFill>
                <a:latin typeface="Arial" pitchFamily="34" charset="0"/>
                <a:ea typeface="Arial" pitchFamily="34" charset="-122"/>
                <a:cs typeface="Arial" pitchFamily="34" charset="-120"/>
              </a:rPr>
              <a:t>TOUR THE APP</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The sidebar views</a:t>
            </a:r>
            <a:endParaRPr lang="en-US" sz="2800" dirty="0"/>
          </a:p>
        </p:txBody>
      </p:sp>
      <p:sp>
        <p:nvSpPr>
          <p:cNvPr id="8" name="Text 4"/>
          <p:cNvSpPr/>
          <p:nvPr/>
        </p:nvSpPr>
        <p:spPr>
          <a:xfrm>
            <a:off x="687586" y="1247626"/>
            <a:ext cx="2688580" cy="3320951"/>
          </a:xfrm>
          <a:prstGeom prst="roundRect">
            <a:avLst>
              <a:gd name="adj" fmla="val 2834"/>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9" name="Image 2" descr="GitHub Copilot app sidebar with the main views and the Projects list">    </p:cNvPr>
          <p:cNvPicPr>
            <a:picLocks noChangeAspect="1"/>
          </p:cNvPicPr>
          <p:nvPr/>
        </p:nvPicPr>
        <p:blipFill>
          <a:blip r:embed="rId4"/>
          <a:stretch>
            <a:fillRect/>
          </a:stretch>
        </p:blipFill>
        <p:spPr>
          <a:xfrm>
            <a:off x="735211" y="1295251"/>
            <a:ext cx="2593330" cy="3225701"/>
          </a:xfrm>
          <a:prstGeom prst="rect">
            <a:avLst/>
          </a:prstGeom>
        </p:spPr>
      </p:pic>
      <p:sp>
        <p:nvSpPr>
          <p:cNvPr id="10" name="Text 5"/>
          <p:cNvSpPr/>
          <p:nvPr/>
        </p:nvSpPr>
        <p:spPr>
          <a:xfrm>
            <a:off x="4063901" y="1521619"/>
            <a:ext cx="355550" cy="355550"/>
          </a:xfrm>
          <a:prstGeom prst="roundRect">
            <a:avLst>
              <a:gd name="adj" fmla="val 25004"/>
            </a:avLst>
          </a:prstGeom>
          <a:solidFill>
            <a:srgbClr val="DDF4FF"/>
          </a:solidFill>
          <a:ln/>
        </p:spPr>
        <p:txBody>
          <a:bodyPr wrap="square" rtlCol="0" anchor="ctr"/>
          <a:lstStyle/>
          <a:p>
            <a:pPr indent="0" marL="0">
              <a:buNone/>
            </a:pPr>
            <a:endParaRPr lang="en-US" dirty="0"/>
          </a:p>
        </p:txBody>
      </p:sp>
      <p:pic>
        <p:nvPicPr>
          <p:cNvPr id="11" name="Image 3"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4146352" y="1604070"/>
            <a:ext cx="190500" cy="190500"/>
          </a:xfrm>
          <a:prstGeom prst="rect">
            <a:avLst/>
          </a:prstGeom>
        </p:spPr>
      </p:pic>
      <p:sp>
        <p:nvSpPr>
          <p:cNvPr id="12" name="Text 6"/>
          <p:cNvSpPr/>
          <p:nvPr/>
        </p:nvSpPr>
        <p:spPr>
          <a:xfrm>
            <a:off x="4571851" y="1473398"/>
            <a:ext cx="2362081"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New</a:t>
            </a:r>
            <a:endParaRPr lang="en-US" sz="1550" dirty="0"/>
          </a:p>
        </p:txBody>
      </p:sp>
      <p:sp>
        <p:nvSpPr>
          <p:cNvPr id="13" name="Text 7"/>
          <p:cNvSpPr/>
          <p:nvPr/>
        </p:nvSpPr>
        <p:spPr>
          <a:xfrm>
            <a:off x="4571851" y="1727299"/>
            <a:ext cx="2362081"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Start a chat or project session.</a:t>
            </a:r>
            <a:endParaRPr lang="en-US" sz="1350" dirty="0"/>
          </a:p>
        </p:txBody>
      </p:sp>
      <p:sp>
        <p:nvSpPr>
          <p:cNvPr id="14" name="Text 8"/>
          <p:cNvSpPr/>
          <p:nvPr/>
        </p:nvSpPr>
        <p:spPr>
          <a:xfrm>
            <a:off x="4063901" y="2126010"/>
            <a:ext cx="355550" cy="355550"/>
          </a:xfrm>
          <a:prstGeom prst="roundRect">
            <a:avLst>
              <a:gd name="adj" fmla="val 25004"/>
            </a:avLst>
          </a:prstGeom>
          <a:solidFill>
            <a:srgbClr val="FBEFFF"/>
          </a:solidFill>
          <a:ln/>
        </p:spPr>
        <p:txBody>
          <a:bodyPr wrap="square" rtlCol="0" anchor="ctr"/>
          <a:lstStyle/>
          <a:p>
            <a:pPr indent="0" marL="0">
              <a:buNone/>
            </a:pPr>
            <a:endParaRPr lang="en-US" dirty="0"/>
          </a:p>
        </p:txBody>
      </p:sp>
      <p:pic>
        <p:nvPicPr>
          <p:cNvPr id="15" name="Image 4"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146352" y="2208461"/>
            <a:ext cx="190500" cy="190500"/>
          </a:xfrm>
          <a:prstGeom prst="rect">
            <a:avLst/>
          </a:prstGeom>
        </p:spPr>
      </p:pic>
      <p:sp>
        <p:nvSpPr>
          <p:cNvPr id="16" name="Text 9"/>
          <p:cNvSpPr/>
          <p:nvPr/>
        </p:nvSpPr>
        <p:spPr>
          <a:xfrm>
            <a:off x="4571851" y="2077789"/>
            <a:ext cx="2361929"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Pull requests and Issues</a:t>
            </a:r>
            <a:endParaRPr lang="en-US" sz="1550" dirty="0"/>
          </a:p>
        </p:txBody>
      </p:sp>
      <p:sp>
        <p:nvSpPr>
          <p:cNvPr id="17" name="Text 10"/>
          <p:cNvSpPr/>
          <p:nvPr/>
        </p:nvSpPr>
        <p:spPr>
          <a:xfrm>
            <a:off x="4571851" y="2331690"/>
            <a:ext cx="2361929"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GitHub work that involves you.</a:t>
            </a:r>
            <a:endParaRPr lang="en-US" sz="1350" dirty="0"/>
          </a:p>
        </p:txBody>
      </p:sp>
      <p:sp>
        <p:nvSpPr>
          <p:cNvPr id="18" name="Text 11"/>
          <p:cNvSpPr/>
          <p:nvPr/>
        </p:nvSpPr>
        <p:spPr>
          <a:xfrm>
            <a:off x="4063901" y="2730401"/>
            <a:ext cx="355550" cy="355550"/>
          </a:xfrm>
          <a:prstGeom prst="roundRect">
            <a:avLst>
              <a:gd name="adj" fmla="val 25004"/>
            </a:avLst>
          </a:prstGeom>
          <a:solidFill>
            <a:srgbClr val="FFF1E5"/>
          </a:solidFill>
          <a:ln/>
        </p:spPr>
        <p:txBody>
          <a:bodyPr wrap="square" rtlCol="0" anchor="ctr"/>
          <a:lstStyle/>
          <a:p>
            <a:pPr indent="0" marL="0">
              <a:buNone/>
            </a:pPr>
            <a:endParaRPr lang="en-US" dirty="0"/>
          </a:p>
        </p:txBody>
      </p:sp>
      <p:pic>
        <p:nvPicPr>
          <p:cNvPr id="19" name="Image 5" descr="">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4146352" y="2812852"/>
            <a:ext cx="190500" cy="190500"/>
          </a:xfrm>
          <a:prstGeom prst="rect">
            <a:avLst/>
          </a:prstGeom>
        </p:spPr>
      </p:pic>
      <p:sp>
        <p:nvSpPr>
          <p:cNvPr id="20" name="Text 12"/>
          <p:cNvSpPr/>
          <p:nvPr/>
        </p:nvSpPr>
        <p:spPr>
          <a:xfrm>
            <a:off x="4571851" y="2682180"/>
            <a:ext cx="2605576"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Automations</a:t>
            </a:r>
            <a:endParaRPr lang="en-US" sz="1550" dirty="0"/>
          </a:p>
        </p:txBody>
      </p:sp>
      <p:sp>
        <p:nvSpPr>
          <p:cNvPr id="21" name="Text 13"/>
          <p:cNvSpPr/>
          <p:nvPr/>
        </p:nvSpPr>
        <p:spPr>
          <a:xfrm>
            <a:off x="4571851" y="2936081"/>
            <a:ext cx="2605576"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Saved agent tasks that run again.</a:t>
            </a:r>
            <a:endParaRPr lang="en-US" sz="1350" dirty="0"/>
          </a:p>
        </p:txBody>
      </p:sp>
      <p:sp>
        <p:nvSpPr>
          <p:cNvPr id="22" name="Text 14"/>
          <p:cNvSpPr/>
          <p:nvPr/>
        </p:nvSpPr>
        <p:spPr>
          <a:xfrm>
            <a:off x="4063901" y="3334792"/>
            <a:ext cx="355550" cy="355550"/>
          </a:xfrm>
          <a:prstGeom prst="roundRect">
            <a:avLst>
              <a:gd name="adj" fmla="val 25004"/>
            </a:avLst>
          </a:prstGeom>
          <a:solidFill>
            <a:srgbClr val="DAFBE1"/>
          </a:solidFill>
          <a:ln/>
        </p:spPr>
        <p:txBody>
          <a:bodyPr wrap="square" rtlCol="0" anchor="ctr"/>
          <a:lstStyle/>
          <a:p>
            <a:pPr indent="0" marL="0">
              <a:buNone/>
            </a:pPr>
            <a:endParaRPr lang="en-US" dirty="0"/>
          </a:p>
        </p:txBody>
      </p:sp>
      <p:pic>
        <p:nvPicPr>
          <p:cNvPr id="23" name="Image 6" descr="">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4146352" y="3417243"/>
            <a:ext cx="190500" cy="190500"/>
          </a:xfrm>
          <a:prstGeom prst="rect">
            <a:avLst/>
          </a:prstGeom>
        </p:spPr>
      </p:pic>
      <p:sp>
        <p:nvSpPr>
          <p:cNvPr id="24" name="Text 15"/>
          <p:cNvSpPr/>
          <p:nvPr/>
        </p:nvSpPr>
        <p:spPr>
          <a:xfrm>
            <a:off x="4571851" y="3286571"/>
            <a:ext cx="2747665"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Customize</a:t>
            </a:r>
            <a:endParaRPr lang="en-US" sz="1550" dirty="0"/>
          </a:p>
        </p:txBody>
      </p:sp>
      <p:sp>
        <p:nvSpPr>
          <p:cNvPr id="25" name="Text 16"/>
          <p:cNvSpPr/>
          <p:nvPr/>
        </p:nvSpPr>
        <p:spPr>
          <a:xfrm>
            <a:off x="4571851" y="3540472"/>
            <a:ext cx="2747665"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Skills, MCP, plugins, and canvases.</a:t>
            </a:r>
            <a:endParaRPr lang="en-US" sz="1350" dirty="0"/>
          </a:p>
        </p:txBody>
      </p:sp>
      <p:sp>
        <p:nvSpPr>
          <p:cNvPr id="26" name="Text 17"/>
          <p:cNvSpPr/>
          <p:nvPr/>
        </p:nvSpPr>
        <p:spPr>
          <a:xfrm>
            <a:off x="4063901" y="3939183"/>
            <a:ext cx="355550" cy="355550"/>
          </a:xfrm>
          <a:prstGeom prst="roundRect">
            <a:avLst>
              <a:gd name="adj" fmla="val 25004"/>
            </a:avLst>
          </a:prstGeom>
          <a:solidFill>
            <a:srgbClr val="F6F8FA"/>
          </a:solidFill>
          <a:ln/>
        </p:spPr>
        <p:txBody>
          <a:bodyPr wrap="square" rtlCol="0" anchor="ctr"/>
          <a:lstStyle/>
          <a:p>
            <a:pPr indent="0" marL="0">
              <a:buNone/>
            </a:pPr>
            <a:endParaRPr lang="en-US" dirty="0"/>
          </a:p>
        </p:txBody>
      </p:sp>
      <p:pic>
        <p:nvPicPr>
          <p:cNvPr id="27" name="Image 7" descr="">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4146352" y="4021634"/>
            <a:ext cx="190500" cy="190500"/>
          </a:xfrm>
          <a:prstGeom prst="rect">
            <a:avLst/>
          </a:prstGeom>
        </p:spPr>
      </p:pic>
      <p:sp>
        <p:nvSpPr>
          <p:cNvPr id="28" name="Text 18"/>
          <p:cNvSpPr/>
          <p:nvPr/>
        </p:nvSpPr>
        <p:spPr>
          <a:xfrm>
            <a:off x="4571851" y="3890962"/>
            <a:ext cx="2216500"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More</a:t>
            </a:r>
            <a:endParaRPr lang="en-US" sz="1550" dirty="0"/>
          </a:p>
        </p:txBody>
      </p:sp>
      <p:sp>
        <p:nvSpPr>
          <p:cNvPr id="29" name="Text 19"/>
          <p:cNvSpPr/>
          <p:nvPr/>
        </p:nvSpPr>
        <p:spPr>
          <a:xfrm>
            <a:off x="4571851" y="4144863"/>
            <a:ext cx="2216500"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Choose which views appear.</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01</a:t>
            </a:r>
            <a:endParaRPr lang="en-US" sz="1150" dirty="0"/>
          </a:p>
        </p:txBody>
      </p:sp>
      <p:pic>
        <p:nvPicPr>
          <p:cNvPr id="5" name="Image 1" descr="Open this chapter on GitHub">
            <a:hlinkClick r:id="rId3" tooltip="https://github.com/github/copilot-app-for-beginners/tree/main/01-tour-the-app"/>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8250DF"/>
                </a:solidFill>
                <a:latin typeface="Arial" pitchFamily="34" charset="0"/>
                <a:ea typeface="Arial" pitchFamily="34" charset="-122"/>
                <a:cs typeface="Arial" pitchFamily="34" charset="-120"/>
              </a:rPr>
              <a:t>TOUR THE APP</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Your GitHub work, in two views</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The practice items from setup already appear here.</a:t>
            </a:r>
            <a:endParaRPr lang="en-US" sz="1650" dirty="0"/>
          </a:p>
        </p:txBody>
      </p:sp>
      <p:sp>
        <p:nvSpPr>
          <p:cNvPr id="9" name="Text 5"/>
          <p:cNvSpPr/>
          <p:nvPr/>
        </p:nvSpPr>
        <p:spPr>
          <a:xfrm>
            <a:off x="511076" y="1975396"/>
            <a:ext cx="3956000" cy="1642021"/>
          </a:xfrm>
          <a:prstGeom prst="roundRect">
            <a:avLst>
              <a:gd name="adj" fmla="val 4641"/>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Pull requests view">    </p:cNvPr>
          <p:cNvPicPr>
            <a:picLocks noChangeAspect="1"/>
          </p:cNvPicPr>
          <p:nvPr/>
        </p:nvPicPr>
        <p:blipFill>
          <a:blip r:embed="rId4"/>
          <a:stretch>
            <a:fillRect/>
          </a:stretch>
        </p:blipFill>
        <p:spPr>
          <a:xfrm>
            <a:off x="558701" y="2023021"/>
            <a:ext cx="3860750" cy="1546771"/>
          </a:xfrm>
          <a:prstGeom prst="rect">
            <a:avLst/>
          </a:prstGeom>
        </p:spPr>
      </p:pic>
      <p:sp>
        <p:nvSpPr>
          <p:cNvPr id="11" name="Text 6"/>
          <p:cNvSpPr/>
          <p:nvPr/>
        </p:nvSpPr>
        <p:spPr>
          <a:xfrm>
            <a:off x="507950" y="4165402"/>
            <a:ext cx="355550" cy="355550"/>
          </a:xfrm>
          <a:prstGeom prst="roundRect">
            <a:avLst>
              <a:gd name="adj" fmla="val 25004"/>
            </a:avLst>
          </a:prstGeom>
          <a:solidFill>
            <a:srgbClr val="DDF4FF"/>
          </a:solidFill>
          <a:ln/>
        </p:spPr>
        <p:txBody>
          <a:bodyPr wrap="square" rtlCol="0" anchor="ctr"/>
          <a:lstStyle/>
          <a:p>
            <a:pPr indent="0" marL="0">
              <a:buNone/>
            </a:pPr>
            <a:endParaRPr lang="en-US" dirty="0"/>
          </a:p>
        </p:txBody>
      </p:sp>
      <p:pic>
        <p:nvPicPr>
          <p:cNvPr id="12" name="Image 3"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590401" y="4247852"/>
            <a:ext cx="190500" cy="190500"/>
          </a:xfrm>
          <a:prstGeom prst="rect">
            <a:avLst/>
          </a:prstGeom>
        </p:spPr>
      </p:pic>
      <p:sp>
        <p:nvSpPr>
          <p:cNvPr id="13" name="Text 7"/>
          <p:cNvSpPr/>
          <p:nvPr/>
        </p:nvSpPr>
        <p:spPr>
          <a:xfrm>
            <a:off x="1015901" y="4117181"/>
            <a:ext cx="2487775"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Pull requests</a:t>
            </a:r>
            <a:endParaRPr lang="en-US" sz="1550" dirty="0"/>
          </a:p>
        </p:txBody>
      </p:sp>
      <p:sp>
        <p:nvSpPr>
          <p:cNvPr id="14" name="Text 8"/>
          <p:cNvSpPr/>
          <p:nvPr/>
        </p:nvSpPr>
        <p:spPr>
          <a:xfrm>
            <a:off x="1015901" y="4371082"/>
            <a:ext cx="2487775"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Practice PRs: </a:t>
            </a:r>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Authored by me</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a:t>
            </a:r>
            <a:endParaRPr lang="en-US" sz="1350" dirty="0"/>
          </a:p>
        </p:txBody>
      </p:sp>
      <p:sp>
        <p:nvSpPr>
          <p:cNvPr id="15" name="Text 9"/>
          <p:cNvSpPr/>
          <p:nvPr/>
        </p:nvSpPr>
        <p:spPr>
          <a:xfrm>
            <a:off x="4676626" y="2125861"/>
            <a:ext cx="3956000" cy="1341090"/>
          </a:xfrm>
          <a:prstGeom prst="roundRect">
            <a:avLst>
              <a:gd name="adj" fmla="val 5682"/>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6" name="Image 4" descr="Issues view">    </p:cNvPr>
          <p:cNvPicPr>
            <a:picLocks noChangeAspect="1"/>
          </p:cNvPicPr>
          <p:nvPr/>
        </p:nvPicPr>
        <p:blipFill>
          <a:blip r:embed="rId6"/>
          <a:stretch>
            <a:fillRect/>
          </a:stretch>
        </p:blipFill>
        <p:spPr>
          <a:xfrm>
            <a:off x="4724251" y="2173486"/>
            <a:ext cx="3860750" cy="1245840"/>
          </a:xfrm>
          <a:prstGeom prst="rect">
            <a:avLst/>
          </a:prstGeom>
        </p:spPr>
      </p:pic>
      <p:sp>
        <p:nvSpPr>
          <p:cNvPr id="17" name="Text 10"/>
          <p:cNvSpPr/>
          <p:nvPr/>
        </p:nvSpPr>
        <p:spPr>
          <a:xfrm>
            <a:off x="4673501" y="4165402"/>
            <a:ext cx="355550" cy="355550"/>
          </a:xfrm>
          <a:prstGeom prst="roundRect">
            <a:avLst>
              <a:gd name="adj" fmla="val 25004"/>
            </a:avLst>
          </a:prstGeom>
          <a:solidFill>
            <a:srgbClr val="FBEFFF"/>
          </a:solidFill>
          <a:ln/>
        </p:spPr>
        <p:txBody>
          <a:bodyPr wrap="square" rtlCol="0" anchor="ctr"/>
          <a:lstStyle/>
          <a:p>
            <a:pPr indent="0" marL="0">
              <a:buNone/>
            </a:pPr>
            <a:endParaRPr lang="en-US" dirty="0"/>
          </a:p>
        </p:txBody>
      </p:sp>
      <p:pic>
        <p:nvPicPr>
          <p:cNvPr id="18" name="Image 5" descr="">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4755952" y="4247852"/>
            <a:ext cx="190500" cy="190500"/>
          </a:xfrm>
          <a:prstGeom prst="rect">
            <a:avLst/>
          </a:prstGeom>
        </p:spPr>
      </p:pic>
      <p:sp>
        <p:nvSpPr>
          <p:cNvPr id="19" name="Text 11"/>
          <p:cNvSpPr/>
          <p:nvPr/>
        </p:nvSpPr>
        <p:spPr>
          <a:xfrm>
            <a:off x="5181451" y="4117181"/>
            <a:ext cx="2624096"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Issues</a:t>
            </a:r>
            <a:endParaRPr lang="en-US" sz="1550" dirty="0"/>
          </a:p>
        </p:txBody>
      </p:sp>
      <p:sp>
        <p:nvSpPr>
          <p:cNvPr id="20" name="Text 12"/>
          <p:cNvSpPr/>
          <p:nvPr/>
        </p:nvSpPr>
        <p:spPr>
          <a:xfrm>
            <a:off x="5181451" y="4371082"/>
            <a:ext cx="2624096"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Practice issues: </a:t>
            </a:r>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Assigned to me</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a:t>
            </a:r>
            <a:endParaRPr lang="en-US"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01</a:t>
            </a:r>
            <a:endParaRPr lang="en-US" sz="1150" dirty="0"/>
          </a:p>
        </p:txBody>
      </p:sp>
      <p:pic>
        <p:nvPicPr>
          <p:cNvPr id="5" name="Image 1" descr="Open this chapter on GitHub">
            <a:hlinkClick r:id="rId3" tooltip="https://github.com/github/copilot-app-for-beginners/tree/main/01-tour-the-app"/>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8250DF"/>
                </a:solidFill>
                <a:latin typeface="Arial" pitchFamily="34" charset="0"/>
                <a:ea typeface="Arial" pitchFamily="34" charset="-122"/>
                <a:cs typeface="Arial" pitchFamily="34" charset="-120"/>
              </a:rPr>
              <a:t>TOUR THE APP</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Automations and settings</a:t>
            </a:r>
            <a:endParaRPr lang="en-US" sz="2800" dirty="0"/>
          </a:p>
        </p:txBody>
      </p:sp>
      <p:sp>
        <p:nvSpPr>
          <p:cNvPr id="8" name="Text 4"/>
          <p:cNvSpPr/>
          <p:nvPr/>
        </p:nvSpPr>
        <p:spPr>
          <a:xfrm>
            <a:off x="511076" y="1659880"/>
            <a:ext cx="7105650" cy="1421011"/>
          </a:xfrm>
          <a:prstGeom prst="roundRect">
            <a:avLst>
              <a:gd name="adj" fmla="val 5362"/>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9" name="Image 2" descr="Automations view">    </p:cNvPr>
          <p:cNvPicPr>
            <a:picLocks noChangeAspect="1"/>
          </p:cNvPicPr>
          <p:nvPr/>
        </p:nvPicPr>
        <p:blipFill>
          <a:blip r:embed="rId4"/>
          <a:stretch>
            <a:fillRect/>
          </a:stretch>
        </p:blipFill>
        <p:spPr>
          <a:xfrm>
            <a:off x="558701" y="1707505"/>
            <a:ext cx="7010400" cy="1325761"/>
          </a:xfrm>
          <a:prstGeom prst="rect">
            <a:avLst/>
          </a:prstGeom>
        </p:spPr>
      </p:pic>
      <p:sp>
        <p:nvSpPr>
          <p:cNvPr id="10" name="Text 5"/>
          <p:cNvSpPr/>
          <p:nvPr/>
        </p:nvSpPr>
        <p:spPr>
          <a:xfrm>
            <a:off x="507950" y="3551486"/>
            <a:ext cx="4514701" cy="923032"/>
          </a:xfrm>
          <a:prstGeom prst="roundRect">
            <a:avLst>
              <a:gd name="adj" fmla="val 13759"/>
            </a:avLst>
          </a:prstGeom>
          <a:solidFill>
            <a:srgbClr val="FFFFFF"/>
          </a:solidFill>
          <a:ln w="9525">
            <a:solidFill>
              <a:srgbClr val="FFC49B"/>
            </a:solidFill>
          </a:ln>
        </p:spPr>
        <p:txBody>
          <a:bodyPr wrap="square" rtlCol="0" anchor="ctr"/>
          <a:lstStyle/>
          <a:p>
            <a:pPr indent="0" marL="0">
              <a:buNone/>
            </a:pPr>
            <a:endParaRPr lang="en-US" dirty="0"/>
          </a:p>
        </p:txBody>
      </p:sp>
      <p:sp>
        <p:nvSpPr>
          <p:cNvPr id="11" name="Text 6"/>
          <p:cNvSpPr/>
          <p:nvPr/>
        </p:nvSpPr>
        <p:spPr>
          <a:xfrm>
            <a:off x="669875" y="3822502"/>
            <a:ext cx="381000" cy="381000"/>
          </a:xfrm>
          <a:prstGeom prst="roundRect">
            <a:avLst>
              <a:gd name="adj" fmla="val 23333"/>
            </a:avLst>
          </a:prstGeom>
          <a:solidFill>
            <a:srgbClr val="FFF1E5"/>
          </a:solidFill>
          <a:ln/>
        </p:spPr>
        <p:txBody>
          <a:bodyPr wrap="square" rtlCol="0" anchor="ctr"/>
          <a:lstStyle/>
          <a:p>
            <a:pPr indent="0" marL="0">
              <a:buNone/>
            </a:pPr>
            <a:endParaRPr lang="en-US" dirty="0"/>
          </a:p>
        </p:txBody>
      </p:sp>
      <p:pic>
        <p:nvPicPr>
          <p:cNvPr id="12" name="Image 3"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52475" y="3905101"/>
            <a:ext cx="215801" cy="215801"/>
          </a:xfrm>
          <a:prstGeom prst="rect">
            <a:avLst/>
          </a:prstGeom>
        </p:spPr>
      </p:pic>
      <p:sp>
        <p:nvSpPr>
          <p:cNvPr id="13" name="Text 7"/>
          <p:cNvSpPr/>
          <p:nvPr/>
        </p:nvSpPr>
        <p:spPr>
          <a:xfrm>
            <a:off x="1203275" y="3687961"/>
            <a:ext cx="3730600"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Automations</a:t>
            </a:r>
            <a:endParaRPr lang="en-US" sz="1550" dirty="0"/>
          </a:p>
        </p:txBody>
      </p:sp>
      <p:sp>
        <p:nvSpPr>
          <p:cNvPr id="14" name="Text 8"/>
          <p:cNvSpPr/>
          <p:nvPr/>
        </p:nvSpPr>
        <p:spPr>
          <a:xfrm>
            <a:off x="1203275" y="3941862"/>
            <a:ext cx="3730600" cy="39618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Templates you run manually, on a schedule, or from events.</a:t>
            </a:r>
            <a:endParaRPr lang="en-US" sz="1350" dirty="0"/>
          </a:p>
        </p:txBody>
      </p:sp>
      <p:sp>
        <p:nvSpPr>
          <p:cNvPr id="15" name="Text 9"/>
          <p:cNvSpPr/>
          <p:nvPr/>
        </p:nvSpPr>
        <p:spPr>
          <a:xfrm>
            <a:off x="5200352" y="3551486"/>
            <a:ext cx="3435548" cy="923032"/>
          </a:xfrm>
          <a:prstGeom prst="roundRect">
            <a:avLst>
              <a:gd name="adj" fmla="val 13759"/>
            </a:avLst>
          </a:prstGeom>
          <a:solidFill>
            <a:srgbClr val="FFFFFF"/>
          </a:solidFill>
          <a:ln w="9525">
            <a:solidFill>
              <a:srgbClr val="8CE7A5"/>
            </a:solidFill>
          </a:ln>
        </p:spPr>
        <p:txBody>
          <a:bodyPr wrap="square" rtlCol="0" anchor="ctr"/>
          <a:lstStyle/>
          <a:p>
            <a:pPr indent="0" marL="0">
              <a:buNone/>
            </a:pPr>
            <a:endParaRPr lang="en-US" dirty="0"/>
          </a:p>
        </p:txBody>
      </p:sp>
      <p:sp>
        <p:nvSpPr>
          <p:cNvPr id="16" name="Text 10"/>
          <p:cNvSpPr/>
          <p:nvPr/>
        </p:nvSpPr>
        <p:spPr>
          <a:xfrm>
            <a:off x="5362277" y="3822502"/>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17" name="Image 4"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5444877" y="3905101"/>
            <a:ext cx="215801" cy="215801"/>
          </a:xfrm>
          <a:prstGeom prst="rect">
            <a:avLst/>
          </a:prstGeom>
        </p:spPr>
      </p:pic>
      <p:sp>
        <p:nvSpPr>
          <p:cNvPr id="18" name="Text 11"/>
          <p:cNvSpPr/>
          <p:nvPr/>
        </p:nvSpPr>
        <p:spPr>
          <a:xfrm>
            <a:off x="5895677" y="3687961"/>
            <a:ext cx="2629864"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Settings</a:t>
            </a:r>
            <a:endParaRPr lang="en-US" sz="1550" dirty="0"/>
          </a:p>
        </p:txBody>
      </p:sp>
      <p:sp>
        <p:nvSpPr>
          <p:cNvPr id="19" name="Text 12"/>
          <p:cNvSpPr/>
          <p:nvPr/>
        </p:nvSpPr>
        <p:spPr>
          <a:xfrm>
            <a:off x="5895677" y="3941862"/>
            <a:ext cx="2629864" cy="39618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The gear icon at the bottom of the sidebar.</a:t>
            </a:r>
            <a:endParaRPr lang="en-US" sz="13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0FBF3"/>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1A7F37"/>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8CE7A5"/>
                </a:solidFill>
                <a:latin typeface="Arial" pitchFamily="34" charset="0"/>
                <a:ea typeface="Arial" pitchFamily="34" charset="-122"/>
                <a:cs typeface="Arial" pitchFamily="34" charset="-120"/>
              </a:rPr>
              <a:t>03</a:t>
            </a:r>
            <a:endParaRPr lang="en-US" sz="15000" dirty="0"/>
          </a:p>
        </p:txBody>
      </p:sp>
      <p:pic>
        <p:nvPicPr>
          <p:cNvPr id="5"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6"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7"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01</a:t>
            </a:r>
            <a:endParaRPr lang="en-US" sz="1150" dirty="0"/>
          </a:p>
        </p:txBody>
      </p:sp>
      <p:pic>
        <p:nvPicPr>
          <p:cNvPr id="8" name="Image 1" descr="Open this chapter on GitHub">
            <a:hlinkClick r:id="rId3" tooltip="https://github.com/github/copilot-app-for-beginners/tree/main/01-tour-the-app"/>
          </p:cNvPr>
          <p:cNvPicPr>
            <a:picLocks noChangeAspect="1"/>
          </p:cNvPicPr>
          <p:nvPr/>
        </p:nvPicPr>
        <p:blipFill>
          <a:blip r:embed="rId2"/>
          <a:stretch>
            <a:fillRect/>
          </a:stretch>
        </p:blipFill>
        <p:spPr>
          <a:xfrm>
            <a:off x="8610600" y="165050"/>
            <a:ext cx="304800" cy="304800"/>
          </a:xfrm>
          <a:prstGeom prst="rect">
            <a:avLst/>
          </a:prstGeom>
        </p:spPr>
      </p:pic>
      <p:sp>
        <p:nvSpPr>
          <p:cNvPr id="9" name="Text 5"/>
          <p:cNvSpPr/>
          <p:nvPr/>
        </p:nvSpPr>
        <p:spPr>
          <a:xfrm>
            <a:off x="711101" y="1279773"/>
            <a:ext cx="5570169" cy="209550"/>
          </a:xfrm>
          <a:prstGeom prst="rect">
            <a:avLst/>
          </a:prstGeom>
          <a:noFill/>
          <a:ln/>
        </p:spPr>
        <p:txBody>
          <a:bodyPr wrap="square" lIns="0" tIns="0" rIns="0" bIns="0" rtlCol="0" anchor="t"/>
          <a:lstStyle/>
          <a:p>
            <a:pPr algn="l" indent="0" marL="0">
              <a:buNone/>
            </a:pPr>
            <a:r>
              <a:rPr lang="en-US" sz="1450" b="1" dirty="0">
                <a:solidFill>
                  <a:srgbClr val="1A7F37"/>
                </a:solidFill>
                <a:latin typeface="Arial" pitchFamily="34" charset="0"/>
                <a:ea typeface="Arial" pitchFamily="34" charset="-122"/>
                <a:cs typeface="Arial" pitchFamily="34" charset="-120"/>
              </a:rPr>
              <a:t>SECTION 3 OF 3</a:t>
            </a:r>
            <a:endParaRPr lang="en-US" sz="1450" dirty="0"/>
          </a:p>
        </p:txBody>
      </p:sp>
      <p:sp>
        <p:nvSpPr>
          <p:cNvPr id="10" name="Text 6"/>
          <p:cNvSpPr/>
          <p:nvPr/>
        </p:nvSpPr>
        <p:spPr>
          <a:xfrm>
            <a:off x="711101" y="1590824"/>
            <a:ext cx="5570169" cy="1168301"/>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Sessions, modes, and models</a:t>
            </a:r>
            <a:endParaRPr lang="en-US" sz="4000" dirty="0"/>
          </a:p>
        </p:txBody>
      </p:sp>
      <p:sp>
        <p:nvSpPr>
          <p:cNvPr id="11" name="Text 7"/>
          <p:cNvSpPr/>
          <p:nvPr/>
        </p:nvSpPr>
        <p:spPr>
          <a:xfrm>
            <a:off x="711101" y="2962275"/>
            <a:ext cx="609600" cy="63401"/>
          </a:xfrm>
          <a:prstGeom prst="roundRect">
            <a:avLst>
              <a:gd name="adj" fmla="val 40063"/>
            </a:avLst>
          </a:prstGeom>
          <a:solidFill>
            <a:srgbClr val="1A7F37"/>
          </a:solidFill>
          <a:ln/>
        </p:spPr>
        <p:txBody>
          <a:bodyPr wrap="square" rtlCol="0" anchor="ctr"/>
          <a:lstStyle/>
          <a:p>
            <a:pPr indent="0" marL="0">
              <a:buNone/>
            </a:pPr>
            <a:endParaRPr lang="en-US" dirty="0"/>
          </a:p>
        </p:txBody>
      </p:sp>
      <p:sp>
        <p:nvSpPr>
          <p:cNvPr id="12" name="Text 8"/>
          <p:cNvSpPr/>
          <p:nvPr/>
        </p:nvSpPr>
        <p:spPr>
          <a:xfrm>
            <a:off x="711101" y="3228826"/>
            <a:ext cx="5570169" cy="634901"/>
          </a:xfrm>
          <a:prstGeom prst="rect">
            <a:avLst/>
          </a:prstGeom>
          <a:noFill/>
          <a:ln/>
        </p:spPr>
        <p:txBody>
          <a:bodyPr wrap="square" lIns="0" tIns="0" rIns="0" bIns="0" rtlCol="0" anchor="t"/>
          <a:lstStyle/>
          <a:p>
            <a:pPr algn="l" indent="0" marL="0">
              <a:lnSpc>
                <a:spcPts val="2500"/>
              </a:lnSpc>
              <a:buNone/>
            </a:pPr>
            <a:r>
              <a:rPr lang="en-US" sz="1900" dirty="0">
                <a:solidFill>
                  <a:srgbClr val="59636E"/>
                </a:solidFill>
                <a:latin typeface="Arial" pitchFamily="34" charset="0"/>
                <a:ea typeface="Arial" pitchFamily="34" charset="-122"/>
                <a:cs typeface="Arial" pitchFamily="34" charset="-120"/>
              </a:rPr>
              <a:t>Pick the session type, mode, and model that fit the task in front of you.</a:t>
            </a:r>
            <a:endParaRPr lang="en-US" sz="1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01</a:t>
            </a:r>
            <a:endParaRPr lang="en-US" sz="1150" dirty="0"/>
          </a:p>
        </p:txBody>
      </p:sp>
      <p:pic>
        <p:nvPicPr>
          <p:cNvPr id="5" name="Image 1" descr="Open this chapter on GitHub">
            <a:hlinkClick r:id="rId3" tooltip="https://github.com/github/copilot-app-for-beginners/tree/main/01-tour-the-app"/>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9A6700"/>
                </a:solidFill>
                <a:latin typeface="Arial" pitchFamily="34" charset="0"/>
                <a:ea typeface="Arial" pitchFamily="34" charset="-122"/>
                <a:cs typeface="Arial" pitchFamily="34" charset="-120"/>
              </a:rPr>
              <a:t>FROM THE STUDIO</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In the control room</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A producer does not direct every song the same way.</a:t>
            </a:r>
            <a:endParaRPr lang="en-US" sz="1650" dirty="0"/>
          </a:p>
        </p:txBody>
      </p:sp>
      <p:sp>
        <p:nvSpPr>
          <p:cNvPr id="9" name="Text 5"/>
          <p:cNvSpPr/>
          <p:nvPr/>
        </p:nvSpPr>
        <p:spPr>
          <a:xfrm>
            <a:off x="511076" y="1700361"/>
            <a:ext cx="4184600" cy="2821930"/>
          </a:xfrm>
          <a:prstGeom prst="roundRect">
            <a:avLst>
              <a:gd name="adj" fmla="val 2700"/>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Producer's control room with a Chat Session and Project Session switch and Interactive, Plan, and Autopilot sections on the mixing desk">    </p:cNvPr>
          <p:cNvPicPr>
            <a:picLocks noChangeAspect="1"/>
          </p:cNvPicPr>
          <p:nvPr/>
        </p:nvPicPr>
        <p:blipFill>
          <a:blip r:embed="rId4"/>
          <a:stretch>
            <a:fillRect/>
          </a:stretch>
        </p:blipFill>
        <p:spPr>
          <a:xfrm>
            <a:off x="558701" y="1747986"/>
            <a:ext cx="4089350" cy="2726680"/>
          </a:xfrm>
          <a:prstGeom prst="rect">
            <a:avLst/>
          </a:prstGeom>
        </p:spPr>
      </p:pic>
      <p:sp>
        <p:nvSpPr>
          <p:cNvPr id="11" name="Text 6"/>
          <p:cNvSpPr/>
          <p:nvPr/>
        </p:nvSpPr>
        <p:spPr>
          <a:xfrm>
            <a:off x="5003750" y="1633389"/>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12" name="Image 3"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5086350" y="1715988"/>
            <a:ext cx="215801" cy="215801"/>
          </a:xfrm>
          <a:prstGeom prst="rect">
            <a:avLst/>
          </a:prstGeom>
        </p:spPr>
      </p:pic>
      <p:sp>
        <p:nvSpPr>
          <p:cNvPr id="13" name="Text 7"/>
          <p:cNvSpPr/>
          <p:nvPr/>
        </p:nvSpPr>
        <p:spPr>
          <a:xfrm>
            <a:off x="5537150" y="1597968"/>
            <a:ext cx="1322219"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Chat</a:t>
            </a:r>
            <a:endParaRPr lang="en-US" sz="1550" dirty="0"/>
          </a:p>
        </p:txBody>
      </p:sp>
      <p:sp>
        <p:nvSpPr>
          <p:cNvPr id="14" name="Text 8"/>
          <p:cNvSpPr/>
          <p:nvPr/>
        </p:nvSpPr>
        <p:spPr>
          <a:xfrm>
            <a:off x="5537150" y="1851868"/>
            <a:ext cx="1322219"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A quick question.</a:t>
            </a:r>
            <a:endParaRPr lang="en-US" sz="1350" dirty="0"/>
          </a:p>
        </p:txBody>
      </p:sp>
      <p:sp>
        <p:nvSpPr>
          <p:cNvPr id="15" name="Text 9"/>
          <p:cNvSpPr/>
          <p:nvPr/>
        </p:nvSpPr>
        <p:spPr>
          <a:xfrm>
            <a:off x="5003750" y="2491680"/>
            <a:ext cx="381000" cy="381000"/>
          </a:xfrm>
          <a:prstGeom prst="roundRect">
            <a:avLst>
              <a:gd name="adj" fmla="val 23333"/>
            </a:avLst>
          </a:prstGeom>
          <a:solidFill>
            <a:srgbClr val="FBEFFF"/>
          </a:solidFill>
          <a:ln/>
        </p:spPr>
        <p:txBody>
          <a:bodyPr wrap="square" rtlCol="0" anchor="ctr"/>
          <a:lstStyle/>
          <a:p>
            <a:pPr indent="0" marL="0">
              <a:buNone/>
            </a:pPr>
            <a:endParaRPr lang="en-US" dirty="0"/>
          </a:p>
        </p:txBody>
      </p:sp>
      <p:pic>
        <p:nvPicPr>
          <p:cNvPr id="16" name="Image 4"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5086350" y="2574280"/>
            <a:ext cx="215801" cy="215801"/>
          </a:xfrm>
          <a:prstGeom prst="rect">
            <a:avLst/>
          </a:prstGeom>
        </p:spPr>
      </p:pic>
      <p:sp>
        <p:nvSpPr>
          <p:cNvPr id="17" name="Text 10"/>
          <p:cNvSpPr/>
          <p:nvPr/>
        </p:nvSpPr>
        <p:spPr>
          <a:xfrm>
            <a:off x="5537150" y="2456259"/>
            <a:ext cx="1312200"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Interactive</a:t>
            </a:r>
            <a:endParaRPr lang="en-US" sz="1550" dirty="0"/>
          </a:p>
        </p:txBody>
      </p:sp>
      <p:sp>
        <p:nvSpPr>
          <p:cNvPr id="18" name="Text 11"/>
          <p:cNvSpPr/>
          <p:nvPr/>
        </p:nvSpPr>
        <p:spPr>
          <a:xfrm>
            <a:off x="5537150" y="2710160"/>
            <a:ext cx="1312200"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Direct each take.</a:t>
            </a:r>
            <a:endParaRPr lang="en-US" sz="1350" dirty="0"/>
          </a:p>
        </p:txBody>
      </p:sp>
      <p:sp>
        <p:nvSpPr>
          <p:cNvPr id="19" name="Text 12"/>
          <p:cNvSpPr/>
          <p:nvPr/>
        </p:nvSpPr>
        <p:spPr>
          <a:xfrm>
            <a:off x="5003750" y="3349972"/>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20" name="Image 5" descr="">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5086350" y="3432572"/>
            <a:ext cx="215801" cy="215801"/>
          </a:xfrm>
          <a:prstGeom prst="rect">
            <a:avLst/>
          </a:prstGeom>
        </p:spPr>
      </p:pic>
      <p:sp>
        <p:nvSpPr>
          <p:cNvPr id="21" name="Text 13"/>
          <p:cNvSpPr/>
          <p:nvPr/>
        </p:nvSpPr>
        <p:spPr>
          <a:xfrm>
            <a:off x="5537150" y="3314551"/>
            <a:ext cx="942555"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Plan</a:t>
            </a:r>
            <a:endParaRPr lang="en-US" sz="1550" dirty="0"/>
          </a:p>
        </p:txBody>
      </p:sp>
      <p:sp>
        <p:nvSpPr>
          <p:cNvPr id="22" name="Text 14"/>
          <p:cNvSpPr/>
          <p:nvPr/>
        </p:nvSpPr>
        <p:spPr>
          <a:xfrm>
            <a:off x="5537150" y="3568452"/>
            <a:ext cx="942555"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Chart it first.</a:t>
            </a:r>
            <a:endParaRPr lang="en-US" sz="1350" dirty="0"/>
          </a:p>
        </p:txBody>
      </p:sp>
      <p:sp>
        <p:nvSpPr>
          <p:cNvPr id="23" name="Text 15"/>
          <p:cNvSpPr/>
          <p:nvPr/>
        </p:nvSpPr>
        <p:spPr>
          <a:xfrm>
            <a:off x="5003750" y="4208264"/>
            <a:ext cx="381000" cy="381000"/>
          </a:xfrm>
          <a:prstGeom prst="roundRect">
            <a:avLst>
              <a:gd name="adj" fmla="val 23333"/>
            </a:avLst>
          </a:prstGeom>
          <a:solidFill>
            <a:srgbClr val="FFF1E5"/>
          </a:solidFill>
          <a:ln/>
        </p:spPr>
        <p:txBody>
          <a:bodyPr wrap="square" rtlCol="0" anchor="ctr"/>
          <a:lstStyle/>
          <a:p>
            <a:pPr indent="0" marL="0">
              <a:buNone/>
            </a:pPr>
            <a:endParaRPr lang="en-US" dirty="0"/>
          </a:p>
        </p:txBody>
      </p:sp>
      <p:pic>
        <p:nvPicPr>
          <p:cNvPr id="24" name="Image 6" descr="">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5086350" y="4290864"/>
            <a:ext cx="215801" cy="215801"/>
          </a:xfrm>
          <a:prstGeom prst="rect">
            <a:avLst/>
          </a:prstGeom>
        </p:spPr>
      </p:pic>
      <p:sp>
        <p:nvSpPr>
          <p:cNvPr id="25" name="Text 16"/>
          <p:cNvSpPr/>
          <p:nvPr/>
        </p:nvSpPr>
        <p:spPr>
          <a:xfrm>
            <a:off x="5537150" y="4172843"/>
            <a:ext cx="1649358"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Autopilot</a:t>
            </a:r>
            <a:endParaRPr lang="en-US" sz="1550" dirty="0"/>
          </a:p>
        </p:txBody>
      </p:sp>
      <p:sp>
        <p:nvSpPr>
          <p:cNvPr id="26" name="Text 17"/>
          <p:cNvSpPr/>
          <p:nvPr/>
        </p:nvSpPr>
        <p:spPr>
          <a:xfrm>
            <a:off x="5537150" y="4426744"/>
            <a:ext cx="1649358"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Hand off a clear task.</a:t>
            </a:r>
            <a:endParaRPr lang="en-US" sz="13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01</a:t>
            </a:r>
            <a:endParaRPr lang="en-US" sz="1150" dirty="0"/>
          </a:p>
        </p:txBody>
      </p:sp>
      <p:pic>
        <p:nvPicPr>
          <p:cNvPr id="5" name="Image 1" descr="Open this chapter on GitHub">
            <a:hlinkClick r:id="rId3" tooltip="https://github.com/github/copilot-app-for-beginners/tree/main/01-tour-the-app"/>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SESSIONS</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Chat or project session?</a:t>
            </a:r>
            <a:endParaRPr lang="en-US" sz="2800" dirty="0"/>
          </a:p>
        </p:txBody>
      </p:sp>
      <p:sp>
        <p:nvSpPr>
          <p:cNvPr id="8" name="Text 4"/>
          <p:cNvSpPr/>
          <p:nvPr/>
        </p:nvSpPr>
        <p:spPr>
          <a:xfrm>
            <a:off x="507950" y="1244501"/>
            <a:ext cx="3962400" cy="3327350"/>
          </a:xfrm>
          <a:prstGeom prst="roundRect">
            <a:avLst>
              <a:gd name="adj" fmla="val 3817"/>
            </a:avLst>
          </a:prstGeom>
          <a:solidFill>
            <a:srgbClr val="FFFFFF"/>
          </a:solidFill>
          <a:ln w="9525">
            <a:solidFill>
              <a:srgbClr val="9CD7FF"/>
            </a:solidFill>
          </a:ln>
        </p:spPr>
        <p:txBody>
          <a:bodyPr wrap="square" rtlCol="0" anchor="ctr"/>
          <a:lstStyle/>
          <a:p>
            <a:pPr indent="0" marL="0">
              <a:buNone/>
            </a:pPr>
            <a:endParaRPr lang="en-US" dirty="0"/>
          </a:p>
        </p:txBody>
      </p:sp>
      <p:sp>
        <p:nvSpPr>
          <p:cNvPr id="9" name="Text 5"/>
          <p:cNvSpPr/>
          <p:nvPr/>
        </p:nvSpPr>
        <p:spPr>
          <a:xfrm>
            <a:off x="695176" y="1431727"/>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10" name="Image 2"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777776" y="1514326"/>
            <a:ext cx="215801" cy="215801"/>
          </a:xfrm>
          <a:prstGeom prst="rect">
            <a:avLst/>
          </a:prstGeom>
        </p:spPr>
      </p:pic>
      <p:sp>
        <p:nvSpPr>
          <p:cNvPr id="11" name="Text 6"/>
          <p:cNvSpPr/>
          <p:nvPr/>
        </p:nvSpPr>
        <p:spPr>
          <a:xfrm>
            <a:off x="1190476" y="1507927"/>
            <a:ext cx="1330416"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Chat session</a:t>
            </a:r>
            <a:endParaRPr lang="en-US" sz="1650" dirty="0"/>
          </a:p>
        </p:txBody>
      </p:sp>
      <p:sp>
        <p:nvSpPr>
          <p:cNvPr id="12" name="Text 7"/>
          <p:cNvSpPr/>
          <p:nvPr/>
        </p:nvSpPr>
        <p:spPr>
          <a:xfrm>
            <a:off x="695176" y="1968847"/>
            <a:ext cx="57150" cy="57150"/>
          </a:xfrm>
          <a:prstGeom prst="roundRect">
            <a:avLst>
              <a:gd name="adj" fmla="val 1600000"/>
            </a:avLst>
          </a:prstGeom>
          <a:solidFill>
            <a:srgbClr val="818B98"/>
          </a:solidFill>
          <a:ln/>
        </p:spPr>
        <p:txBody>
          <a:bodyPr wrap="square" rtlCol="0" anchor="ctr"/>
          <a:lstStyle/>
          <a:p>
            <a:pPr indent="0" marL="0">
              <a:buNone/>
            </a:pPr>
            <a:endParaRPr lang="en-US" dirty="0"/>
          </a:p>
        </p:txBody>
      </p:sp>
      <p:sp>
        <p:nvSpPr>
          <p:cNvPr id="13" name="Text 8"/>
          <p:cNvSpPr/>
          <p:nvPr/>
        </p:nvSpPr>
        <p:spPr>
          <a:xfrm>
            <a:off x="853827" y="1888927"/>
            <a:ext cx="2246558"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Ask, brainstorm, summarize</a:t>
            </a:r>
            <a:endParaRPr lang="en-US" sz="1400" dirty="0"/>
          </a:p>
        </p:txBody>
      </p:sp>
      <p:sp>
        <p:nvSpPr>
          <p:cNvPr id="14" name="Text 9"/>
          <p:cNvSpPr/>
          <p:nvPr/>
        </p:nvSpPr>
        <p:spPr>
          <a:xfrm>
            <a:off x="695176" y="2239268"/>
            <a:ext cx="57150" cy="57150"/>
          </a:xfrm>
          <a:prstGeom prst="roundRect">
            <a:avLst>
              <a:gd name="adj" fmla="val 1600000"/>
            </a:avLst>
          </a:prstGeom>
          <a:solidFill>
            <a:srgbClr val="818B98"/>
          </a:solidFill>
          <a:ln/>
        </p:spPr>
        <p:txBody>
          <a:bodyPr wrap="square" rtlCol="0" anchor="ctr"/>
          <a:lstStyle/>
          <a:p>
            <a:pPr indent="0" marL="0">
              <a:buNone/>
            </a:pPr>
            <a:endParaRPr lang="en-US" dirty="0"/>
          </a:p>
        </p:txBody>
      </p:sp>
      <p:sp>
        <p:nvSpPr>
          <p:cNvPr id="15" name="Text 10"/>
          <p:cNvSpPr/>
          <p:nvPr/>
        </p:nvSpPr>
        <p:spPr>
          <a:xfrm>
            <a:off x="853827" y="2159347"/>
            <a:ext cx="1803591" cy="207020"/>
          </a:xfrm>
          <a:prstGeom prst="rect">
            <a:avLst/>
          </a:prstGeom>
          <a:noFill/>
          <a:ln/>
        </p:spPr>
        <p:txBody>
          <a:bodyPr wrap="square" lIns="0" tIns="0" rIns="0" bIns="0" rtlCol="0" anchor="t"/>
          <a:lstStyle/>
          <a:p>
            <a:pPr algn="l" indent="0" marL="0">
              <a:lnSpc>
                <a:spcPts val="1630"/>
              </a:lnSpc>
              <a:buNone/>
            </a:pPr>
            <a:r>
              <a:rPr lang="en-US" sz="1400" b="1" dirty="0">
                <a:solidFill>
                  <a:srgbClr val="59636E"/>
                </a:solidFill>
                <a:latin typeface="Arial" pitchFamily="34" charset="0"/>
                <a:ea typeface="Arial" pitchFamily="34" charset="-122"/>
                <a:cs typeface="Arial" pitchFamily="34" charset="-120"/>
              </a:rPr>
              <a:t>No</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 branch or worktree</a:t>
            </a:r>
            <a:endParaRPr lang="en-US" sz="1400" dirty="0"/>
          </a:p>
        </p:txBody>
      </p:sp>
      <p:sp>
        <p:nvSpPr>
          <p:cNvPr id="16" name="Text 11"/>
          <p:cNvSpPr/>
          <p:nvPr/>
        </p:nvSpPr>
        <p:spPr>
          <a:xfrm>
            <a:off x="695176" y="2509689"/>
            <a:ext cx="57150" cy="57150"/>
          </a:xfrm>
          <a:prstGeom prst="roundRect">
            <a:avLst>
              <a:gd name="adj" fmla="val 1600000"/>
            </a:avLst>
          </a:prstGeom>
          <a:solidFill>
            <a:srgbClr val="818B98"/>
          </a:solidFill>
          <a:ln/>
        </p:spPr>
        <p:txBody>
          <a:bodyPr wrap="square" rtlCol="0" anchor="ctr"/>
          <a:lstStyle/>
          <a:p>
            <a:pPr indent="0" marL="0">
              <a:buNone/>
            </a:pPr>
            <a:endParaRPr lang="en-US" dirty="0"/>
          </a:p>
        </p:txBody>
      </p:sp>
      <p:sp>
        <p:nvSpPr>
          <p:cNvPr id="17" name="Text 12"/>
          <p:cNvSpPr/>
          <p:nvPr/>
        </p:nvSpPr>
        <p:spPr>
          <a:xfrm>
            <a:off x="853827" y="2429768"/>
            <a:ext cx="1521690"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Start with </a:t>
            </a:r>
            <a:pPr algn="l" indent="0" marL="0">
              <a:lnSpc>
                <a:spcPts val="1630"/>
              </a:lnSpc>
              <a:buNone/>
            </a:pPr>
            <a:r>
              <a:rPr lang="en-US" sz="1400" b="1" dirty="0">
                <a:solidFill>
                  <a:srgbClr val="59636E"/>
                </a:solidFill>
                <a:latin typeface="Arial" pitchFamily="34" charset="0"/>
                <a:ea typeface="Arial" pitchFamily="34" charset="-122"/>
                <a:cs typeface="Arial" pitchFamily="34" charset="-120"/>
              </a:rPr>
              <a:t>+</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 &gt; </a:t>
            </a:r>
            <a:pPr algn="l" indent="0" marL="0">
              <a:lnSpc>
                <a:spcPts val="1630"/>
              </a:lnSpc>
              <a:buNone/>
            </a:pPr>
            <a:r>
              <a:rPr lang="en-US" sz="1400" b="1" dirty="0">
                <a:solidFill>
                  <a:srgbClr val="59636E"/>
                </a:solidFill>
                <a:latin typeface="Arial" pitchFamily="34" charset="0"/>
                <a:ea typeface="Arial" pitchFamily="34" charset="-122"/>
                <a:cs typeface="Arial" pitchFamily="34" charset="-120"/>
              </a:rPr>
              <a:t>Chat</a:t>
            </a:r>
            <a:endParaRPr lang="en-US" sz="1400" dirty="0"/>
          </a:p>
        </p:txBody>
      </p:sp>
      <p:sp>
        <p:nvSpPr>
          <p:cNvPr id="18" name="Text 13"/>
          <p:cNvSpPr/>
          <p:nvPr/>
        </p:nvSpPr>
        <p:spPr>
          <a:xfrm>
            <a:off x="695176" y="3445073"/>
            <a:ext cx="3587948" cy="939552"/>
          </a:xfrm>
          <a:prstGeom prst="roundRect">
            <a:avLst>
              <a:gd name="adj" fmla="val 8110"/>
            </a:avLst>
          </a:prstGeom>
          <a:solidFill>
            <a:srgbClr val="FFFFFF"/>
          </a:solidFill>
          <a:ln/>
        </p:spPr>
        <p:txBody>
          <a:bodyPr wrap="square" rtlCol="0" anchor="ctr"/>
          <a:lstStyle/>
          <a:p>
            <a:pPr indent="0" marL="0">
              <a:buNone/>
            </a:pPr>
            <a:endParaRPr lang="en-US" dirty="0"/>
          </a:p>
        </p:txBody>
      </p:sp>
      <p:sp>
        <p:nvSpPr>
          <p:cNvPr id="19" name="Shape 14"/>
          <p:cNvSpPr/>
          <p:nvPr/>
        </p:nvSpPr>
        <p:spPr>
          <a:xfrm>
            <a:off x="695176" y="3449836"/>
            <a:ext cx="3587948" cy="0"/>
          </a:xfrm>
          <a:prstGeom prst="line">
            <a:avLst/>
          </a:prstGeom>
          <a:noFill/>
          <a:ln w="9525">
            <a:solidFill>
              <a:srgbClr val="9CD7FF"/>
            </a:solidFill>
            <a:prstDash val="solid"/>
          </a:ln>
        </p:spPr>
      </p:sp>
      <p:sp>
        <p:nvSpPr>
          <p:cNvPr id="20" name="Shape 15"/>
          <p:cNvSpPr/>
          <p:nvPr/>
        </p:nvSpPr>
        <p:spPr>
          <a:xfrm>
            <a:off x="4278362" y="3445073"/>
            <a:ext cx="0" cy="939552"/>
          </a:xfrm>
          <a:prstGeom prst="line">
            <a:avLst/>
          </a:prstGeom>
          <a:noFill/>
          <a:ln w="9525">
            <a:solidFill>
              <a:srgbClr val="9CD7FF"/>
            </a:solidFill>
            <a:prstDash val="solid"/>
          </a:ln>
        </p:spPr>
      </p:sp>
      <p:sp>
        <p:nvSpPr>
          <p:cNvPr id="21" name="Shape 16"/>
          <p:cNvSpPr/>
          <p:nvPr/>
        </p:nvSpPr>
        <p:spPr>
          <a:xfrm>
            <a:off x="695176" y="4379863"/>
            <a:ext cx="3587948" cy="0"/>
          </a:xfrm>
          <a:prstGeom prst="line">
            <a:avLst/>
          </a:prstGeom>
          <a:noFill/>
          <a:ln w="9525">
            <a:solidFill>
              <a:srgbClr val="9CD7FF"/>
            </a:solidFill>
            <a:prstDash val="solid"/>
          </a:ln>
        </p:spPr>
      </p:sp>
      <p:sp>
        <p:nvSpPr>
          <p:cNvPr id="22" name="Shape 17"/>
          <p:cNvSpPr/>
          <p:nvPr/>
        </p:nvSpPr>
        <p:spPr>
          <a:xfrm>
            <a:off x="718989" y="3445073"/>
            <a:ext cx="0" cy="939552"/>
          </a:xfrm>
          <a:prstGeom prst="line">
            <a:avLst/>
          </a:prstGeom>
          <a:noFill/>
          <a:ln w="47625">
            <a:solidFill>
              <a:srgbClr val="0969DA"/>
            </a:solidFill>
            <a:prstDash val="solid"/>
          </a:ln>
        </p:spPr>
      </p:sp>
      <p:pic>
        <p:nvPicPr>
          <p:cNvPr id="23" name="Image 3"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20502" y="3584674"/>
            <a:ext cx="165050" cy="165050"/>
          </a:xfrm>
          <a:prstGeom prst="rect">
            <a:avLst/>
          </a:prstGeom>
        </p:spPr>
      </p:pic>
      <p:sp>
        <p:nvSpPr>
          <p:cNvPr id="24" name="Text 18"/>
          <p:cNvSpPr/>
          <p:nvPr/>
        </p:nvSpPr>
        <p:spPr>
          <a:xfrm>
            <a:off x="1161752" y="3581549"/>
            <a:ext cx="637276"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PROMPT</a:t>
            </a:r>
            <a:endParaRPr lang="en-US" sz="1150" dirty="0"/>
          </a:p>
        </p:txBody>
      </p:sp>
      <p:sp>
        <p:nvSpPr>
          <p:cNvPr id="25" name="Text 19"/>
          <p:cNvSpPr/>
          <p:nvPr/>
        </p:nvSpPr>
        <p:spPr>
          <a:xfrm>
            <a:off x="920502" y="3803749"/>
            <a:ext cx="3238905" cy="444401"/>
          </a:xfrm>
          <a:prstGeom prst="rect">
            <a:avLst/>
          </a:prstGeom>
          <a:noFill/>
          <a:ln/>
        </p:spPr>
        <p:txBody>
          <a:bodyPr wrap="square" lIns="0" tIns="0" rIns="0" bIns="0" rtlCol="0" anchor="t"/>
          <a:lstStyle/>
          <a:p>
            <a:pPr algn="l" indent="0" marL="0">
              <a:lnSpc>
                <a:spcPts val="1750"/>
              </a:lnSpc>
              <a:buNone/>
            </a:pPr>
            <a:r>
              <a:rPr lang="en-US" sz="1400" dirty="0">
                <a:solidFill>
                  <a:srgbClr val="1F2328"/>
                </a:solidFill>
                <a:latin typeface="Arial" pitchFamily="34" charset="0"/>
                <a:ea typeface="Arial" pitchFamily="34" charset="-122"/>
                <a:cs typeface="Arial" pitchFamily="34" charset="-120"/>
              </a:rPr>
              <a:t>When should I use a chat vs. a project session? Do not change files.</a:t>
            </a:r>
            <a:endParaRPr lang="en-US" sz="1400" dirty="0"/>
          </a:p>
        </p:txBody>
      </p:sp>
      <p:sp>
        <p:nvSpPr>
          <p:cNvPr id="26" name="Text 20"/>
          <p:cNvSpPr/>
          <p:nvPr/>
        </p:nvSpPr>
        <p:spPr>
          <a:xfrm>
            <a:off x="4673501" y="1244501"/>
            <a:ext cx="3962400" cy="3327350"/>
          </a:xfrm>
          <a:prstGeom prst="roundRect">
            <a:avLst>
              <a:gd name="adj" fmla="val 3817"/>
            </a:avLst>
          </a:prstGeom>
          <a:solidFill>
            <a:srgbClr val="FFFFFF"/>
          </a:solidFill>
          <a:ln w="9525">
            <a:solidFill>
              <a:srgbClr val="E0C5FF"/>
            </a:solidFill>
          </a:ln>
        </p:spPr>
        <p:txBody>
          <a:bodyPr wrap="square" rtlCol="0" anchor="ctr"/>
          <a:lstStyle/>
          <a:p>
            <a:pPr indent="0" marL="0">
              <a:buNone/>
            </a:pPr>
            <a:endParaRPr lang="en-US" dirty="0"/>
          </a:p>
        </p:txBody>
      </p:sp>
      <p:sp>
        <p:nvSpPr>
          <p:cNvPr id="27" name="Text 21"/>
          <p:cNvSpPr/>
          <p:nvPr/>
        </p:nvSpPr>
        <p:spPr>
          <a:xfrm>
            <a:off x="4860727" y="1431727"/>
            <a:ext cx="381000" cy="381000"/>
          </a:xfrm>
          <a:prstGeom prst="roundRect">
            <a:avLst>
              <a:gd name="adj" fmla="val 23333"/>
            </a:avLst>
          </a:prstGeom>
          <a:solidFill>
            <a:srgbClr val="FBEFFF"/>
          </a:solidFill>
          <a:ln/>
        </p:spPr>
        <p:txBody>
          <a:bodyPr wrap="square" rtlCol="0" anchor="ctr"/>
          <a:lstStyle/>
          <a:p>
            <a:pPr indent="0" marL="0">
              <a:buNone/>
            </a:pPr>
            <a:endParaRPr lang="en-US" dirty="0"/>
          </a:p>
        </p:txBody>
      </p:sp>
      <p:pic>
        <p:nvPicPr>
          <p:cNvPr id="28" name="Image 4"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943326" y="1514326"/>
            <a:ext cx="215801" cy="215801"/>
          </a:xfrm>
          <a:prstGeom prst="rect">
            <a:avLst/>
          </a:prstGeom>
        </p:spPr>
      </p:pic>
      <p:sp>
        <p:nvSpPr>
          <p:cNvPr id="29" name="Text 22"/>
          <p:cNvSpPr/>
          <p:nvPr/>
        </p:nvSpPr>
        <p:spPr>
          <a:xfrm>
            <a:off x="5356027" y="1507927"/>
            <a:ext cx="1580135"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Project session</a:t>
            </a:r>
            <a:endParaRPr lang="en-US" sz="1650" dirty="0"/>
          </a:p>
        </p:txBody>
      </p:sp>
      <p:sp>
        <p:nvSpPr>
          <p:cNvPr id="30" name="Text 23"/>
          <p:cNvSpPr/>
          <p:nvPr/>
        </p:nvSpPr>
        <p:spPr>
          <a:xfrm>
            <a:off x="4860727" y="1968847"/>
            <a:ext cx="57150" cy="57150"/>
          </a:xfrm>
          <a:prstGeom prst="roundRect">
            <a:avLst>
              <a:gd name="adj" fmla="val 1600000"/>
            </a:avLst>
          </a:prstGeom>
          <a:solidFill>
            <a:srgbClr val="818B98"/>
          </a:solidFill>
          <a:ln/>
        </p:spPr>
        <p:txBody>
          <a:bodyPr wrap="square" rtlCol="0" anchor="ctr"/>
          <a:lstStyle/>
          <a:p>
            <a:pPr indent="0" marL="0">
              <a:buNone/>
            </a:pPr>
            <a:endParaRPr lang="en-US" dirty="0"/>
          </a:p>
        </p:txBody>
      </p:sp>
      <p:sp>
        <p:nvSpPr>
          <p:cNvPr id="31" name="Text 24"/>
          <p:cNvSpPr/>
          <p:nvPr/>
        </p:nvSpPr>
        <p:spPr>
          <a:xfrm>
            <a:off x="5019377" y="1888927"/>
            <a:ext cx="2398666"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Plan, edit, test, and open PRs</a:t>
            </a:r>
            <a:endParaRPr lang="en-US" sz="1400" dirty="0"/>
          </a:p>
        </p:txBody>
      </p:sp>
      <p:sp>
        <p:nvSpPr>
          <p:cNvPr id="32" name="Text 25"/>
          <p:cNvSpPr/>
          <p:nvPr/>
        </p:nvSpPr>
        <p:spPr>
          <a:xfrm>
            <a:off x="4860727" y="2239268"/>
            <a:ext cx="57150" cy="57150"/>
          </a:xfrm>
          <a:prstGeom prst="roundRect">
            <a:avLst>
              <a:gd name="adj" fmla="val 1600000"/>
            </a:avLst>
          </a:prstGeom>
          <a:solidFill>
            <a:srgbClr val="818B98"/>
          </a:solidFill>
          <a:ln/>
        </p:spPr>
        <p:txBody>
          <a:bodyPr wrap="square" rtlCol="0" anchor="ctr"/>
          <a:lstStyle/>
          <a:p>
            <a:pPr indent="0" marL="0">
              <a:buNone/>
            </a:pPr>
            <a:endParaRPr lang="en-US" dirty="0"/>
          </a:p>
        </p:txBody>
      </p:sp>
      <p:sp>
        <p:nvSpPr>
          <p:cNvPr id="33" name="Text 26"/>
          <p:cNvSpPr/>
          <p:nvPr/>
        </p:nvSpPr>
        <p:spPr>
          <a:xfrm>
            <a:off x="5019377" y="2159347"/>
            <a:ext cx="1974979"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Usually a </a:t>
            </a:r>
            <a:pPr algn="l" indent="0" marL="0">
              <a:lnSpc>
                <a:spcPts val="1630"/>
              </a:lnSpc>
              <a:buNone/>
            </a:pPr>
            <a:r>
              <a:rPr lang="en-US" sz="1400" b="1" dirty="0">
                <a:solidFill>
                  <a:srgbClr val="59636E"/>
                </a:solidFill>
                <a:latin typeface="Arial" pitchFamily="34" charset="0"/>
                <a:ea typeface="Arial" pitchFamily="34" charset="-122"/>
                <a:cs typeface="Arial" pitchFamily="34" charset="-120"/>
              </a:rPr>
              <a:t>New worktree</a:t>
            </a:r>
            <a:endParaRPr lang="en-US" sz="1400" dirty="0"/>
          </a:p>
        </p:txBody>
      </p:sp>
      <p:sp>
        <p:nvSpPr>
          <p:cNvPr id="34" name="Text 27"/>
          <p:cNvSpPr/>
          <p:nvPr/>
        </p:nvSpPr>
        <p:spPr>
          <a:xfrm>
            <a:off x="4860727" y="2509689"/>
            <a:ext cx="57150" cy="57150"/>
          </a:xfrm>
          <a:prstGeom prst="roundRect">
            <a:avLst>
              <a:gd name="adj" fmla="val 1600000"/>
            </a:avLst>
          </a:prstGeom>
          <a:solidFill>
            <a:srgbClr val="818B98"/>
          </a:solidFill>
          <a:ln/>
        </p:spPr>
        <p:txBody>
          <a:bodyPr wrap="square" rtlCol="0" anchor="ctr"/>
          <a:lstStyle/>
          <a:p>
            <a:pPr indent="0" marL="0">
              <a:buNone/>
            </a:pPr>
            <a:endParaRPr lang="en-US" dirty="0"/>
          </a:p>
        </p:txBody>
      </p:sp>
      <p:sp>
        <p:nvSpPr>
          <p:cNvPr id="35" name="Text 28"/>
          <p:cNvSpPr/>
          <p:nvPr/>
        </p:nvSpPr>
        <p:spPr>
          <a:xfrm>
            <a:off x="5019377" y="2429768"/>
            <a:ext cx="1909855"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Start with </a:t>
            </a:r>
            <a:pPr algn="l" indent="0" marL="0">
              <a:lnSpc>
                <a:spcPts val="1630"/>
              </a:lnSpc>
              <a:buNone/>
            </a:pPr>
            <a:r>
              <a:rPr lang="en-US" sz="1400" b="1" dirty="0">
                <a:solidFill>
                  <a:srgbClr val="59636E"/>
                </a:solidFill>
                <a:latin typeface="Arial" pitchFamily="34" charset="0"/>
                <a:ea typeface="Arial" pitchFamily="34" charset="-122"/>
                <a:cs typeface="Arial" pitchFamily="34" charset="-120"/>
              </a:rPr>
              <a:t>+</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 on a project</a:t>
            </a:r>
            <a:endParaRPr lang="en-US" sz="1400" dirty="0"/>
          </a:p>
        </p:txBody>
      </p:sp>
      <p:sp>
        <p:nvSpPr>
          <p:cNvPr id="36" name="Text 29"/>
          <p:cNvSpPr/>
          <p:nvPr/>
        </p:nvSpPr>
        <p:spPr>
          <a:xfrm>
            <a:off x="4860727" y="3222873"/>
            <a:ext cx="3587948" cy="1161752"/>
          </a:xfrm>
          <a:prstGeom prst="roundRect">
            <a:avLst>
              <a:gd name="adj" fmla="val 6559"/>
            </a:avLst>
          </a:prstGeom>
          <a:solidFill>
            <a:srgbClr val="FFFFFF"/>
          </a:solidFill>
          <a:ln/>
        </p:spPr>
        <p:txBody>
          <a:bodyPr wrap="square" rtlCol="0" anchor="ctr"/>
          <a:lstStyle/>
          <a:p>
            <a:pPr indent="0" marL="0">
              <a:buNone/>
            </a:pPr>
            <a:endParaRPr lang="en-US" dirty="0"/>
          </a:p>
        </p:txBody>
      </p:sp>
      <p:sp>
        <p:nvSpPr>
          <p:cNvPr id="37" name="Shape 30"/>
          <p:cNvSpPr/>
          <p:nvPr/>
        </p:nvSpPr>
        <p:spPr>
          <a:xfrm>
            <a:off x="4860727" y="3227636"/>
            <a:ext cx="3587948" cy="0"/>
          </a:xfrm>
          <a:prstGeom prst="line">
            <a:avLst/>
          </a:prstGeom>
          <a:noFill/>
          <a:ln w="9525">
            <a:solidFill>
              <a:srgbClr val="E0C5FF"/>
            </a:solidFill>
            <a:prstDash val="solid"/>
          </a:ln>
        </p:spPr>
      </p:sp>
      <p:sp>
        <p:nvSpPr>
          <p:cNvPr id="38" name="Shape 31"/>
          <p:cNvSpPr/>
          <p:nvPr/>
        </p:nvSpPr>
        <p:spPr>
          <a:xfrm>
            <a:off x="8443912" y="3222873"/>
            <a:ext cx="0" cy="1161752"/>
          </a:xfrm>
          <a:prstGeom prst="line">
            <a:avLst/>
          </a:prstGeom>
          <a:noFill/>
          <a:ln w="9525">
            <a:solidFill>
              <a:srgbClr val="E0C5FF"/>
            </a:solidFill>
            <a:prstDash val="solid"/>
          </a:ln>
        </p:spPr>
      </p:sp>
      <p:sp>
        <p:nvSpPr>
          <p:cNvPr id="39" name="Shape 32"/>
          <p:cNvSpPr/>
          <p:nvPr/>
        </p:nvSpPr>
        <p:spPr>
          <a:xfrm>
            <a:off x="4860727" y="4379863"/>
            <a:ext cx="3587948" cy="0"/>
          </a:xfrm>
          <a:prstGeom prst="line">
            <a:avLst/>
          </a:prstGeom>
          <a:noFill/>
          <a:ln w="9525">
            <a:solidFill>
              <a:srgbClr val="E0C5FF"/>
            </a:solidFill>
            <a:prstDash val="solid"/>
          </a:ln>
        </p:spPr>
      </p:sp>
      <p:sp>
        <p:nvSpPr>
          <p:cNvPr id="40" name="Shape 33"/>
          <p:cNvSpPr/>
          <p:nvPr/>
        </p:nvSpPr>
        <p:spPr>
          <a:xfrm>
            <a:off x="4884539" y="3222873"/>
            <a:ext cx="0" cy="1161752"/>
          </a:xfrm>
          <a:prstGeom prst="line">
            <a:avLst/>
          </a:prstGeom>
          <a:noFill/>
          <a:ln w="47625">
            <a:solidFill>
              <a:srgbClr val="8250DF"/>
            </a:solidFill>
            <a:prstDash val="solid"/>
          </a:ln>
        </p:spPr>
      </p:sp>
      <p:pic>
        <p:nvPicPr>
          <p:cNvPr id="41" name="Image 5" descr="">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5086052" y="3362474"/>
            <a:ext cx="165050" cy="165050"/>
          </a:xfrm>
          <a:prstGeom prst="rect">
            <a:avLst/>
          </a:prstGeom>
        </p:spPr>
      </p:pic>
      <p:sp>
        <p:nvSpPr>
          <p:cNvPr id="42" name="Text 34"/>
          <p:cNvSpPr/>
          <p:nvPr/>
        </p:nvSpPr>
        <p:spPr>
          <a:xfrm>
            <a:off x="5327303" y="3359348"/>
            <a:ext cx="637276" cy="171450"/>
          </a:xfrm>
          <a:prstGeom prst="rect">
            <a:avLst/>
          </a:prstGeom>
          <a:noFill/>
          <a:ln/>
        </p:spPr>
        <p:txBody>
          <a:bodyPr wrap="square" lIns="0" tIns="0" rIns="0" bIns="0" rtlCol="0" anchor="t"/>
          <a:lstStyle/>
          <a:p>
            <a:pPr algn="l" indent="0" marL="0">
              <a:buNone/>
            </a:pPr>
            <a:r>
              <a:rPr lang="en-US" sz="1150" b="1" dirty="0">
                <a:solidFill>
                  <a:srgbClr val="8250DF"/>
                </a:solidFill>
                <a:latin typeface="Arial" pitchFamily="34" charset="0"/>
                <a:ea typeface="Arial" pitchFamily="34" charset="-122"/>
                <a:cs typeface="Arial" pitchFamily="34" charset="-120"/>
              </a:rPr>
              <a:t>PROMPT</a:t>
            </a:r>
            <a:endParaRPr lang="en-US" sz="1150" dirty="0"/>
          </a:p>
        </p:txBody>
      </p:sp>
      <p:sp>
        <p:nvSpPr>
          <p:cNvPr id="43" name="Text 35"/>
          <p:cNvSpPr/>
          <p:nvPr/>
        </p:nvSpPr>
        <p:spPr>
          <a:xfrm>
            <a:off x="5086052" y="3581549"/>
            <a:ext cx="3238905" cy="666601"/>
          </a:xfrm>
          <a:prstGeom prst="rect">
            <a:avLst/>
          </a:prstGeom>
          <a:noFill/>
          <a:ln/>
        </p:spPr>
        <p:txBody>
          <a:bodyPr wrap="square" lIns="0" tIns="0" rIns="0" bIns="0" rtlCol="0" anchor="t"/>
          <a:lstStyle/>
          <a:p>
            <a:pPr algn="l" indent="0" marL="0">
              <a:lnSpc>
                <a:spcPts val="1750"/>
              </a:lnSpc>
              <a:buNone/>
            </a:pPr>
            <a:r>
              <a:rPr lang="en-US" sz="1400" dirty="0">
                <a:solidFill>
                  <a:srgbClr val="1F2328"/>
                </a:solidFill>
                <a:latin typeface="Arial" pitchFamily="34" charset="0"/>
                <a:ea typeface="Arial" pitchFamily="34" charset="-122"/>
                <a:cs typeface="Arial" pitchFamily="34" charset="-120"/>
              </a:rPr>
              <a:t>Give me a beginner-friendly tour of samples/book-app-web. Do not change files.</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01</a:t>
            </a:r>
            <a:endParaRPr lang="en-US" sz="1150" dirty="0"/>
          </a:p>
        </p:txBody>
      </p:sp>
      <p:pic>
        <p:nvPicPr>
          <p:cNvPr id="5" name="Image 1" descr="Open this chapter on GitHub">
            <a:hlinkClick r:id="rId3" tooltip="https://github.com/github/copilot-app-for-beginners/tree/main/01-tour-the-app"/>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MODES</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Pick a mode for the task</a:t>
            </a:r>
            <a:endParaRPr lang="en-US" sz="2800" dirty="0"/>
          </a:p>
        </p:txBody>
      </p:sp>
      <p:sp>
        <p:nvSpPr>
          <p:cNvPr id="8" name="Text 4"/>
          <p:cNvSpPr/>
          <p:nvPr/>
        </p:nvSpPr>
        <p:spPr>
          <a:xfrm>
            <a:off x="511076" y="1569690"/>
            <a:ext cx="3549551" cy="2397621"/>
          </a:xfrm>
          <a:prstGeom prst="roundRect">
            <a:avLst>
              <a:gd name="adj" fmla="val 3178"/>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9" name="Image 2" descr="Session modes: Interactive, Plan, and Autopilot, with more autonomy from left to right. Pick the mode that fits the task.">    </p:cNvPr>
          <p:cNvPicPr>
            <a:picLocks noChangeAspect="1"/>
          </p:cNvPicPr>
          <p:nvPr/>
        </p:nvPicPr>
        <p:blipFill>
          <a:blip r:embed="rId4"/>
          <a:stretch>
            <a:fillRect/>
          </a:stretch>
        </p:blipFill>
        <p:spPr>
          <a:xfrm>
            <a:off x="558701" y="1617315"/>
            <a:ext cx="3454301" cy="2302371"/>
          </a:xfrm>
          <a:prstGeom prst="rect">
            <a:avLst/>
          </a:prstGeom>
        </p:spPr>
      </p:pic>
      <p:sp>
        <p:nvSpPr>
          <p:cNvPr id="10" name="Text 5"/>
          <p:cNvSpPr/>
          <p:nvPr/>
        </p:nvSpPr>
        <p:spPr>
          <a:xfrm>
            <a:off x="4317802" y="1244501"/>
            <a:ext cx="4318099" cy="898773"/>
          </a:xfrm>
          <a:prstGeom prst="roundRect">
            <a:avLst>
              <a:gd name="adj" fmla="val 14130"/>
            </a:avLst>
          </a:prstGeom>
          <a:solidFill>
            <a:srgbClr val="FFFFFF"/>
          </a:solidFill>
          <a:ln w="9525">
            <a:solidFill>
              <a:srgbClr val="9CD7FF"/>
            </a:solidFill>
          </a:ln>
        </p:spPr>
        <p:txBody>
          <a:bodyPr wrap="square" rtlCol="0" anchor="ctr"/>
          <a:lstStyle/>
          <a:p>
            <a:pPr indent="0" marL="0">
              <a:buNone/>
            </a:pPr>
            <a:endParaRPr lang="en-US" dirty="0"/>
          </a:p>
        </p:txBody>
      </p:sp>
      <p:sp>
        <p:nvSpPr>
          <p:cNvPr id="11" name="Text 6"/>
          <p:cNvSpPr/>
          <p:nvPr/>
        </p:nvSpPr>
        <p:spPr>
          <a:xfrm>
            <a:off x="4428827" y="1355527"/>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12" name="Image 3"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4511427" y="1438126"/>
            <a:ext cx="215801" cy="215801"/>
          </a:xfrm>
          <a:prstGeom prst="rect">
            <a:avLst/>
          </a:prstGeom>
        </p:spPr>
      </p:pic>
      <p:sp>
        <p:nvSpPr>
          <p:cNvPr id="13" name="Text 7"/>
          <p:cNvSpPr/>
          <p:nvPr/>
        </p:nvSpPr>
        <p:spPr>
          <a:xfrm>
            <a:off x="4924127" y="1431727"/>
            <a:ext cx="1069312"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Interactive</a:t>
            </a:r>
            <a:endParaRPr lang="en-US" sz="1650" dirty="0"/>
          </a:p>
        </p:txBody>
      </p:sp>
      <p:sp>
        <p:nvSpPr>
          <p:cNvPr id="14" name="Text 8"/>
          <p:cNvSpPr/>
          <p:nvPr/>
        </p:nvSpPr>
        <p:spPr>
          <a:xfrm>
            <a:off x="4428827" y="1761827"/>
            <a:ext cx="4177969" cy="21461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Stay involved at every step.</a:t>
            </a:r>
            <a:endParaRPr lang="en-US" sz="1400" dirty="0"/>
          </a:p>
        </p:txBody>
      </p:sp>
      <p:sp>
        <p:nvSpPr>
          <p:cNvPr id="15" name="Text 9"/>
          <p:cNvSpPr/>
          <p:nvPr/>
        </p:nvSpPr>
        <p:spPr>
          <a:xfrm>
            <a:off x="4317802" y="2219474"/>
            <a:ext cx="4318099" cy="898773"/>
          </a:xfrm>
          <a:prstGeom prst="roundRect">
            <a:avLst>
              <a:gd name="adj" fmla="val 14130"/>
            </a:avLst>
          </a:prstGeom>
          <a:solidFill>
            <a:srgbClr val="FFFFFF"/>
          </a:solidFill>
          <a:ln w="9525">
            <a:solidFill>
              <a:srgbClr val="E0C5FF"/>
            </a:solidFill>
          </a:ln>
        </p:spPr>
        <p:txBody>
          <a:bodyPr wrap="square" rtlCol="0" anchor="ctr"/>
          <a:lstStyle/>
          <a:p>
            <a:pPr indent="0" marL="0">
              <a:buNone/>
            </a:pPr>
            <a:endParaRPr lang="en-US" dirty="0"/>
          </a:p>
        </p:txBody>
      </p:sp>
      <p:sp>
        <p:nvSpPr>
          <p:cNvPr id="16" name="Text 10"/>
          <p:cNvSpPr/>
          <p:nvPr/>
        </p:nvSpPr>
        <p:spPr>
          <a:xfrm>
            <a:off x="4428827" y="2330500"/>
            <a:ext cx="381000" cy="381000"/>
          </a:xfrm>
          <a:prstGeom prst="roundRect">
            <a:avLst>
              <a:gd name="adj" fmla="val 23333"/>
            </a:avLst>
          </a:prstGeom>
          <a:solidFill>
            <a:srgbClr val="FBEFFF"/>
          </a:solidFill>
          <a:ln/>
        </p:spPr>
        <p:txBody>
          <a:bodyPr wrap="square" rtlCol="0" anchor="ctr"/>
          <a:lstStyle/>
          <a:p>
            <a:pPr indent="0" marL="0">
              <a:buNone/>
            </a:pPr>
            <a:endParaRPr lang="en-US" dirty="0"/>
          </a:p>
        </p:txBody>
      </p:sp>
      <p:pic>
        <p:nvPicPr>
          <p:cNvPr id="17" name="Image 4"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511427" y="2413099"/>
            <a:ext cx="215801" cy="215801"/>
          </a:xfrm>
          <a:prstGeom prst="rect">
            <a:avLst/>
          </a:prstGeom>
        </p:spPr>
      </p:pic>
      <p:sp>
        <p:nvSpPr>
          <p:cNvPr id="18" name="Text 11"/>
          <p:cNvSpPr/>
          <p:nvPr/>
        </p:nvSpPr>
        <p:spPr>
          <a:xfrm>
            <a:off x="4924127" y="2406700"/>
            <a:ext cx="451467"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Plan</a:t>
            </a:r>
            <a:endParaRPr lang="en-US" sz="1650" dirty="0"/>
          </a:p>
        </p:txBody>
      </p:sp>
      <p:sp>
        <p:nvSpPr>
          <p:cNvPr id="19" name="Text 12"/>
          <p:cNvSpPr/>
          <p:nvPr/>
        </p:nvSpPr>
        <p:spPr>
          <a:xfrm>
            <a:off x="4428827" y="2736800"/>
            <a:ext cx="4177969" cy="21461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Approve a plan before any change.</a:t>
            </a:r>
            <a:endParaRPr lang="en-US" sz="1400" dirty="0"/>
          </a:p>
        </p:txBody>
      </p:sp>
      <p:sp>
        <p:nvSpPr>
          <p:cNvPr id="20" name="Text 13"/>
          <p:cNvSpPr/>
          <p:nvPr/>
        </p:nvSpPr>
        <p:spPr>
          <a:xfrm>
            <a:off x="4317802" y="3194447"/>
            <a:ext cx="4318099" cy="898773"/>
          </a:xfrm>
          <a:prstGeom prst="roundRect">
            <a:avLst>
              <a:gd name="adj" fmla="val 14130"/>
            </a:avLst>
          </a:prstGeom>
          <a:solidFill>
            <a:srgbClr val="FFFFFF"/>
          </a:solidFill>
          <a:ln w="9525">
            <a:solidFill>
              <a:srgbClr val="8CE7A5"/>
            </a:solidFill>
          </a:ln>
        </p:spPr>
        <p:txBody>
          <a:bodyPr wrap="square" rtlCol="0" anchor="ctr"/>
          <a:lstStyle/>
          <a:p>
            <a:pPr indent="0" marL="0">
              <a:buNone/>
            </a:pPr>
            <a:endParaRPr lang="en-US" dirty="0"/>
          </a:p>
        </p:txBody>
      </p:sp>
      <p:sp>
        <p:nvSpPr>
          <p:cNvPr id="21" name="Text 14"/>
          <p:cNvSpPr/>
          <p:nvPr/>
        </p:nvSpPr>
        <p:spPr>
          <a:xfrm>
            <a:off x="4428827" y="3305473"/>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22" name="Image 5" descr="">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4511427" y="3388072"/>
            <a:ext cx="215801" cy="215801"/>
          </a:xfrm>
          <a:prstGeom prst="rect">
            <a:avLst/>
          </a:prstGeom>
        </p:spPr>
      </p:pic>
      <p:sp>
        <p:nvSpPr>
          <p:cNvPr id="23" name="Text 15"/>
          <p:cNvSpPr/>
          <p:nvPr/>
        </p:nvSpPr>
        <p:spPr>
          <a:xfrm>
            <a:off x="4924127" y="3381673"/>
            <a:ext cx="937849"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Autopilot</a:t>
            </a:r>
            <a:endParaRPr lang="en-US" sz="1650" dirty="0"/>
          </a:p>
        </p:txBody>
      </p:sp>
      <p:sp>
        <p:nvSpPr>
          <p:cNvPr id="24" name="Text 16"/>
          <p:cNvSpPr/>
          <p:nvPr/>
        </p:nvSpPr>
        <p:spPr>
          <a:xfrm>
            <a:off x="4428827" y="3711773"/>
            <a:ext cx="4177969" cy="21461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Well-defined tasks, clear outcomes.</a:t>
            </a:r>
            <a:endParaRPr lang="en-US" sz="1400" dirty="0"/>
          </a:p>
        </p:txBody>
      </p:sp>
      <p:sp>
        <p:nvSpPr>
          <p:cNvPr id="25" name="Text 17"/>
          <p:cNvSpPr/>
          <p:nvPr/>
        </p:nvSpPr>
        <p:spPr>
          <a:xfrm>
            <a:off x="4317802" y="4169420"/>
            <a:ext cx="4318099" cy="478631"/>
          </a:xfrm>
          <a:prstGeom prst="roundRect">
            <a:avLst>
              <a:gd name="adj" fmla="val 21227"/>
            </a:avLst>
          </a:prstGeom>
          <a:solidFill>
            <a:srgbClr val="DDF4FF"/>
          </a:solidFill>
          <a:ln w="9525">
            <a:solidFill>
              <a:srgbClr val="9CD7FF"/>
            </a:solidFill>
          </a:ln>
        </p:spPr>
        <p:txBody>
          <a:bodyPr wrap="square" rtlCol="0" anchor="ctr"/>
          <a:lstStyle/>
          <a:p>
            <a:pPr indent="0" marL="0">
              <a:buNone/>
            </a:pPr>
            <a:endParaRPr lang="en-US" dirty="0"/>
          </a:p>
        </p:txBody>
      </p:sp>
      <p:pic>
        <p:nvPicPr>
          <p:cNvPr id="26" name="Image 6" descr="">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4505027" y="4307086"/>
            <a:ext cx="203150" cy="203150"/>
          </a:xfrm>
          <a:prstGeom prst="rect">
            <a:avLst/>
          </a:prstGeom>
        </p:spPr>
      </p:pic>
      <p:sp>
        <p:nvSpPr>
          <p:cNvPr id="27" name="Text 18"/>
          <p:cNvSpPr/>
          <p:nvPr/>
        </p:nvSpPr>
        <p:spPr>
          <a:xfrm>
            <a:off x="4835128" y="4305895"/>
            <a:ext cx="2853928" cy="205680"/>
          </a:xfrm>
          <a:prstGeom prst="rect">
            <a:avLst/>
          </a:prstGeom>
          <a:noFill/>
          <a:ln/>
        </p:spPr>
        <p:txBody>
          <a:bodyPr wrap="square" lIns="0" tIns="0" rIns="0" bIns="0" rtlCol="0" anchor="t"/>
          <a:lstStyle/>
          <a:p>
            <a:pPr algn="l" indent="0" marL="0">
              <a:lnSpc>
                <a:spcPts val="1620"/>
              </a:lnSpc>
              <a:buNone/>
            </a:pPr>
            <a:r>
              <a:rPr lang="en-US" sz="1350" b="1" dirty="0">
                <a:solidFill>
                  <a:srgbClr val="1F2328"/>
                </a:solidFill>
                <a:latin typeface="Arial" pitchFamily="34" charset="0"/>
                <a:ea typeface="Arial" pitchFamily="34" charset="-122"/>
                <a:cs typeface="Arial" pitchFamily="34" charset="-120"/>
              </a:rPr>
              <a:t>Tool permissions:</a:t>
            </a:r>
            <a:pPr algn="l" indent="0" marL="0">
              <a:lnSpc>
                <a:spcPts val="1620"/>
              </a:lnSpc>
              <a:buNone/>
            </a:pPr>
            <a:r>
              <a:rPr lang="en-US" sz="1350" dirty="0">
                <a:solidFill>
                  <a:srgbClr val="1F2328"/>
                </a:solidFill>
                <a:latin typeface="Arial" pitchFamily="34" charset="0"/>
                <a:ea typeface="Arial" pitchFamily="34" charset="-122"/>
                <a:cs typeface="Arial" pitchFamily="34" charset="-120"/>
              </a:rPr>
              <a:t> when to ask first.</a:t>
            </a:r>
            <a:endParaRPr lang="en-US" sz="13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01</a:t>
            </a:r>
            <a:endParaRPr lang="en-US" sz="1150" dirty="0"/>
          </a:p>
        </p:txBody>
      </p:sp>
      <p:pic>
        <p:nvPicPr>
          <p:cNvPr id="5" name="Image 1" descr="Open this chapter on GitHub">
            <a:hlinkClick r:id="rId3" tooltip="https://github.com/github/copilot-app-for-beginners/tree/main/01-tour-the-app"/>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MODELS AND REASONING EFFORT</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Choose how the agent thinks</a:t>
            </a:r>
            <a:endParaRPr lang="en-US" sz="2800" dirty="0"/>
          </a:p>
        </p:txBody>
      </p:sp>
      <p:sp>
        <p:nvSpPr>
          <p:cNvPr id="8" name="Text 4"/>
          <p:cNvSpPr/>
          <p:nvPr/>
        </p:nvSpPr>
        <p:spPr>
          <a:xfrm>
            <a:off x="507950" y="1825228"/>
            <a:ext cx="3810000" cy="1268164"/>
          </a:xfrm>
          <a:prstGeom prst="roundRect">
            <a:avLst>
              <a:gd name="adj" fmla="val 8012"/>
            </a:avLst>
          </a:prstGeom>
          <a:solidFill>
            <a:srgbClr val="FFFFFF"/>
          </a:solidFill>
          <a:ln w="9525">
            <a:solidFill>
              <a:srgbClr val="D1D9E0"/>
            </a:solidFill>
          </a:ln>
        </p:spPr>
        <p:txBody>
          <a:bodyPr wrap="square" rtlCol="0" anchor="ctr"/>
          <a:lstStyle/>
          <a:p>
            <a:pPr indent="0" marL="0">
              <a:buNone/>
            </a:pPr>
            <a:endParaRPr lang="en-US" dirty="0"/>
          </a:p>
        </p:txBody>
      </p:sp>
      <p:sp>
        <p:nvSpPr>
          <p:cNvPr id="9" name="Shape 5"/>
          <p:cNvSpPr/>
          <p:nvPr/>
        </p:nvSpPr>
        <p:spPr>
          <a:xfrm>
            <a:off x="517475" y="2249537"/>
            <a:ext cx="3790950" cy="0"/>
          </a:xfrm>
          <a:prstGeom prst="line">
            <a:avLst/>
          </a:prstGeom>
          <a:noFill/>
          <a:ln w="9525">
            <a:solidFill>
              <a:srgbClr val="D1D9E0"/>
            </a:solidFill>
            <a:prstDash val="solid"/>
          </a:ln>
        </p:spPr>
      </p:sp>
      <p:sp>
        <p:nvSpPr>
          <p:cNvPr id="10" name="Text 6"/>
          <p:cNvSpPr/>
          <p:nvPr/>
        </p:nvSpPr>
        <p:spPr>
          <a:xfrm>
            <a:off x="669875" y="1936254"/>
            <a:ext cx="1424839" cy="207020"/>
          </a:xfrm>
          <a:prstGeom prst="rect">
            <a:avLst/>
          </a:prstGeom>
          <a:noFill/>
          <a:ln/>
        </p:spPr>
        <p:txBody>
          <a:bodyPr wrap="square" lIns="0" tIns="0" rIns="0" bIns="0" rtlCol="0" anchor="t"/>
          <a:lstStyle/>
          <a:p>
            <a:pPr algn="l" indent="0" marL="0">
              <a:lnSpc>
                <a:spcPts val="1630"/>
              </a:lnSpc>
              <a:buNone/>
            </a:pPr>
            <a:r>
              <a:rPr lang="en-US" sz="1400" b="1" dirty="0">
                <a:solidFill>
                  <a:srgbClr val="1F2328"/>
                </a:solidFill>
                <a:latin typeface="Arial" pitchFamily="34" charset="0"/>
                <a:ea typeface="Arial" pitchFamily="34" charset="-122"/>
                <a:cs typeface="Arial" pitchFamily="34" charset="-120"/>
              </a:rPr>
              <a:t>Model</a:t>
            </a:r>
            <a:endParaRPr lang="en-US" sz="1400" dirty="0"/>
          </a:p>
        </p:txBody>
      </p:sp>
      <p:sp>
        <p:nvSpPr>
          <p:cNvPr id="11" name="Text 7"/>
          <p:cNvSpPr/>
          <p:nvPr/>
        </p:nvSpPr>
        <p:spPr>
          <a:xfrm>
            <a:off x="2371576" y="1936254"/>
            <a:ext cx="1839417"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Speed, skill, cost</a:t>
            </a:r>
            <a:endParaRPr lang="en-US" sz="1400" dirty="0"/>
          </a:p>
        </p:txBody>
      </p:sp>
      <p:sp>
        <p:nvSpPr>
          <p:cNvPr id="12" name="Shape 8"/>
          <p:cNvSpPr/>
          <p:nvPr/>
        </p:nvSpPr>
        <p:spPr>
          <a:xfrm>
            <a:off x="517475" y="2669084"/>
            <a:ext cx="3790950" cy="0"/>
          </a:xfrm>
          <a:prstGeom prst="line">
            <a:avLst/>
          </a:prstGeom>
          <a:noFill/>
          <a:ln w="9525">
            <a:solidFill>
              <a:srgbClr val="D1D9E0"/>
            </a:solidFill>
            <a:prstDash val="solid"/>
          </a:ln>
        </p:spPr>
      </p:sp>
      <p:sp>
        <p:nvSpPr>
          <p:cNvPr id="13" name="Text 9"/>
          <p:cNvSpPr/>
          <p:nvPr/>
        </p:nvSpPr>
        <p:spPr>
          <a:xfrm>
            <a:off x="669875" y="2355800"/>
            <a:ext cx="1424839" cy="207020"/>
          </a:xfrm>
          <a:prstGeom prst="rect">
            <a:avLst/>
          </a:prstGeom>
          <a:noFill/>
          <a:ln/>
        </p:spPr>
        <p:txBody>
          <a:bodyPr wrap="square" lIns="0" tIns="0" rIns="0" bIns="0" rtlCol="0" anchor="t"/>
          <a:lstStyle/>
          <a:p>
            <a:pPr algn="l" indent="0" marL="0">
              <a:lnSpc>
                <a:spcPts val="1630"/>
              </a:lnSpc>
              <a:buNone/>
            </a:pPr>
            <a:r>
              <a:rPr lang="en-US" sz="1400" b="1" dirty="0">
                <a:solidFill>
                  <a:srgbClr val="1F2328"/>
                </a:solidFill>
                <a:latin typeface="Arial" pitchFamily="34" charset="0"/>
                <a:ea typeface="Arial" pitchFamily="34" charset="-122"/>
                <a:cs typeface="Arial" pitchFamily="34" charset="-120"/>
              </a:rPr>
              <a:t>Effort</a:t>
            </a:r>
            <a:endParaRPr lang="en-US" sz="1400" dirty="0"/>
          </a:p>
        </p:txBody>
      </p:sp>
      <p:sp>
        <p:nvSpPr>
          <p:cNvPr id="14" name="Text 10"/>
          <p:cNvSpPr/>
          <p:nvPr/>
        </p:nvSpPr>
        <p:spPr>
          <a:xfrm>
            <a:off x="2371576" y="2355800"/>
            <a:ext cx="1839417"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Reasoning depth</a:t>
            </a:r>
            <a:endParaRPr lang="en-US" sz="1400" dirty="0"/>
          </a:p>
        </p:txBody>
      </p:sp>
      <p:sp>
        <p:nvSpPr>
          <p:cNvPr id="15" name="Text 11"/>
          <p:cNvSpPr/>
          <p:nvPr/>
        </p:nvSpPr>
        <p:spPr>
          <a:xfrm>
            <a:off x="669875" y="2775347"/>
            <a:ext cx="1424839" cy="207020"/>
          </a:xfrm>
          <a:prstGeom prst="rect">
            <a:avLst/>
          </a:prstGeom>
          <a:noFill/>
          <a:ln/>
        </p:spPr>
        <p:txBody>
          <a:bodyPr wrap="square" lIns="0" tIns="0" rIns="0" bIns="0" rtlCol="0" anchor="t"/>
          <a:lstStyle/>
          <a:p>
            <a:pPr algn="l" indent="0" marL="0">
              <a:lnSpc>
                <a:spcPts val="1630"/>
              </a:lnSpc>
              <a:buNone/>
            </a:pPr>
            <a:r>
              <a:rPr lang="en-US" sz="1400" b="1" dirty="0">
                <a:solidFill>
                  <a:srgbClr val="1F2328"/>
                </a:solidFill>
                <a:latin typeface="Arial" pitchFamily="34" charset="0"/>
                <a:ea typeface="Arial" pitchFamily="34" charset="-122"/>
                <a:cs typeface="Arial" pitchFamily="34" charset="-120"/>
              </a:rPr>
              <a:t>Context window</a:t>
            </a:r>
            <a:endParaRPr lang="en-US" sz="1400" dirty="0"/>
          </a:p>
        </p:txBody>
      </p:sp>
      <p:sp>
        <p:nvSpPr>
          <p:cNvPr id="16" name="Text 12"/>
          <p:cNvSpPr/>
          <p:nvPr/>
        </p:nvSpPr>
        <p:spPr>
          <a:xfrm>
            <a:off x="2371576" y="2775347"/>
            <a:ext cx="1839417"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Text it can hold</a:t>
            </a:r>
            <a:endParaRPr lang="en-US" sz="1400" dirty="0"/>
          </a:p>
        </p:txBody>
      </p:sp>
      <p:sp>
        <p:nvSpPr>
          <p:cNvPr id="17" name="Text 13"/>
          <p:cNvSpPr/>
          <p:nvPr/>
        </p:nvSpPr>
        <p:spPr>
          <a:xfrm>
            <a:off x="507950" y="3271093"/>
            <a:ext cx="3810000" cy="720030"/>
          </a:xfrm>
          <a:prstGeom prst="roundRect">
            <a:avLst>
              <a:gd name="adj" fmla="val 14111"/>
            </a:avLst>
          </a:prstGeom>
          <a:solidFill>
            <a:srgbClr val="FFF8C5"/>
          </a:solidFill>
          <a:ln w="9525">
            <a:solidFill>
              <a:srgbClr val="E7C85A"/>
            </a:solidFill>
          </a:ln>
        </p:spPr>
        <p:txBody>
          <a:bodyPr wrap="square" rtlCol="0" anchor="ctr"/>
          <a:lstStyle/>
          <a:p>
            <a:pPr indent="0" marL="0">
              <a:buNone/>
            </a:pPr>
            <a:endParaRPr lang="en-US" dirty="0"/>
          </a:p>
        </p:txBody>
      </p:sp>
      <p:pic>
        <p:nvPicPr>
          <p:cNvPr id="18" name="Image 2"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695176" y="3529459"/>
            <a:ext cx="203150" cy="203150"/>
          </a:xfrm>
          <a:prstGeom prst="rect">
            <a:avLst/>
          </a:prstGeom>
        </p:spPr>
      </p:pic>
      <p:sp>
        <p:nvSpPr>
          <p:cNvPr id="19" name="Text 14"/>
          <p:cNvSpPr/>
          <p:nvPr/>
        </p:nvSpPr>
        <p:spPr>
          <a:xfrm>
            <a:off x="1025277" y="3407569"/>
            <a:ext cx="3167557" cy="447080"/>
          </a:xfrm>
          <a:prstGeom prst="rect">
            <a:avLst/>
          </a:prstGeom>
          <a:noFill/>
          <a:ln/>
        </p:spPr>
        <p:txBody>
          <a:bodyPr wrap="square" lIns="0" tIns="0" rIns="0" bIns="0" rtlCol="0" anchor="t"/>
          <a:lstStyle/>
          <a:p>
            <a:pPr algn="l" indent="0" marL="0">
              <a:lnSpc>
                <a:spcPts val="1760"/>
              </a:lnSpc>
              <a:buNone/>
            </a:pPr>
            <a:r>
              <a:rPr lang="en-US" sz="1450" b="1" dirty="0">
                <a:solidFill>
                  <a:srgbClr val="1F2328"/>
                </a:solidFill>
                <a:latin typeface="Arial" pitchFamily="34" charset="0"/>
                <a:ea typeface="Arial" pitchFamily="34" charset="-122"/>
                <a:cs typeface="Arial" pitchFamily="34" charset="-120"/>
              </a:rPr>
              <a:t>Auto</a:t>
            </a:r>
            <a:pPr algn="l" indent="0" marL="0">
              <a:lnSpc>
                <a:spcPts val="1760"/>
              </a:lnSpc>
              <a:buNone/>
            </a:pPr>
            <a:r>
              <a:rPr lang="en-US" sz="1450" dirty="0">
                <a:solidFill>
                  <a:srgbClr val="1F2328"/>
                </a:solidFill>
                <a:latin typeface="Arial" pitchFamily="34" charset="0"/>
                <a:ea typeface="Arial" pitchFamily="34" charset="-122"/>
                <a:cs typeface="Arial" pitchFamily="34" charset="-120"/>
              </a:rPr>
              <a:t> picks a model. </a:t>
            </a:r>
            <a:pPr algn="l" indent="0" marL="0">
              <a:lnSpc>
                <a:spcPts val="1760"/>
              </a:lnSpc>
              <a:buNone/>
            </a:pPr>
            <a:r>
              <a:rPr lang="en-US" sz="1450" b="1" dirty="0">
                <a:solidFill>
                  <a:srgbClr val="1F2328"/>
                </a:solidFill>
                <a:latin typeface="Arial" pitchFamily="34" charset="0"/>
                <a:ea typeface="Arial" pitchFamily="34" charset="-122"/>
                <a:cs typeface="Arial" pitchFamily="34" charset="-120"/>
              </a:rPr>
              <a:t>Autopilot</a:t>
            </a:r>
            <a:pPr algn="l" indent="0" marL="0">
              <a:lnSpc>
                <a:spcPts val="1760"/>
              </a:lnSpc>
              <a:buNone/>
            </a:pPr>
            <a:r>
              <a:rPr lang="en-US" sz="1450" dirty="0">
                <a:solidFill>
                  <a:srgbClr val="1F2328"/>
                </a:solidFill>
                <a:latin typeface="Arial" pitchFamily="34" charset="0"/>
                <a:ea typeface="Arial" pitchFamily="34" charset="-122"/>
                <a:cs typeface="Arial" pitchFamily="34" charset="-120"/>
              </a:rPr>
              <a:t> is a mode.</a:t>
            </a:r>
            <a:endParaRPr lang="en-US" sz="1450" dirty="0"/>
          </a:p>
        </p:txBody>
      </p:sp>
      <p:sp>
        <p:nvSpPr>
          <p:cNvPr id="20" name="Text 15"/>
          <p:cNvSpPr/>
          <p:nvPr/>
        </p:nvSpPr>
        <p:spPr>
          <a:xfrm>
            <a:off x="4546550" y="1770459"/>
            <a:ext cx="4089350" cy="1383953"/>
          </a:xfrm>
          <a:prstGeom prst="roundRect">
            <a:avLst>
              <a:gd name="adj" fmla="val 5506"/>
            </a:avLst>
          </a:prstGeom>
          <a:solidFill>
            <a:srgbClr val="FFFFFF"/>
          </a:solidFill>
          <a:ln/>
        </p:spPr>
        <p:txBody>
          <a:bodyPr wrap="square" rtlCol="0" anchor="ctr"/>
          <a:lstStyle/>
          <a:p>
            <a:pPr indent="0" marL="0">
              <a:buNone/>
            </a:pPr>
            <a:endParaRPr lang="en-US" dirty="0"/>
          </a:p>
        </p:txBody>
      </p:sp>
      <p:sp>
        <p:nvSpPr>
          <p:cNvPr id="21" name="Shape 16"/>
          <p:cNvSpPr/>
          <p:nvPr/>
        </p:nvSpPr>
        <p:spPr>
          <a:xfrm>
            <a:off x="4546550" y="1775222"/>
            <a:ext cx="4089350" cy="0"/>
          </a:xfrm>
          <a:prstGeom prst="line">
            <a:avLst/>
          </a:prstGeom>
          <a:noFill/>
          <a:ln w="9525">
            <a:solidFill>
              <a:srgbClr val="E0C5FF"/>
            </a:solidFill>
            <a:prstDash val="solid"/>
          </a:ln>
        </p:spPr>
      </p:sp>
      <p:sp>
        <p:nvSpPr>
          <p:cNvPr id="22" name="Shape 17"/>
          <p:cNvSpPr/>
          <p:nvPr/>
        </p:nvSpPr>
        <p:spPr>
          <a:xfrm>
            <a:off x="8631138" y="1770459"/>
            <a:ext cx="0" cy="1383953"/>
          </a:xfrm>
          <a:prstGeom prst="line">
            <a:avLst/>
          </a:prstGeom>
          <a:noFill/>
          <a:ln w="9525">
            <a:solidFill>
              <a:srgbClr val="E0C5FF"/>
            </a:solidFill>
            <a:prstDash val="solid"/>
          </a:ln>
        </p:spPr>
      </p:sp>
      <p:sp>
        <p:nvSpPr>
          <p:cNvPr id="23" name="Shape 18"/>
          <p:cNvSpPr/>
          <p:nvPr/>
        </p:nvSpPr>
        <p:spPr>
          <a:xfrm>
            <a:off x="4546550" y="3149650"/>
            <a:ext cx="4089350" cy="0"/>
          </a:xfrm>
          <a:prstGeom prst="line">
            <a:avLst/>
          </a:prstGeom>
          <a:noFill/>
          <a:ln w="9525">
            <a:solidFill>
              <a:srgbClr val="E0C5FF"/>
            </a:solidFill>
            <a:prstDash val="solid"/>
          </a:ln>
        </p:spPr>
      </p:sp>
      <p:sp>
        <p:nvSpPr>
          <p:cNvPr id="24" name="Shape 19"/>
          <p:cNvSpPr/>
          <p:nvPr/>
        </p:nvSpPr>
        <p:spPr>
          <a:xfrm>
            <a:off x="4570363" y="1770459"/>
            <a:ext cx="0" cy="1383953"/>
          </a:xfrm>
          <a:prstGeom prst="line">
            <a:avLst/>
          </a:prstGeom>
          <a:noFill/>
          <a:ln w="47625">
            <a:solidFill>
              <a:srgbClr val="8250DF"/>
            </a:solidFill>
            <a:prstDash val="solid"/>
          </a:ln>
        </p:spPr>
      </p:sp>
      <p:pic>
        <p:nvPicPr>
          <p:cNvPr id="25" name="Image 3"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4771876" y="1910060"/>
            <a:ext cx="165050" cy="165050"/>
          </a:xfrm>
          <a:prstGeom prst="rect">
            <a:avLst/>
          </a:prstGeom>
        </p:spPr>
      </p:pic>
      <p:sp>
        <p:nvSpPr>
          <p:cNvPr id="26" name="Text 20"/>
          <p:cNvSpPr/>
          <p:nvPr/>
        </p:nvSpPr>
        <p:spPr>
          <a:xfrm>
            <a:off x="5013127" y="1906935"/>
            <a:ext cx="637276" cy="171450"/>
          </a:xfrm>
          <a:prstGeom prst="rect">
            <a:avLst/>
          </a:prstGeom>
          <a:noFill/>
          <a:ln/>
        </p:spPr>
        <p:txBody>
          <a:bodyPr wrap="square" lIns="0" tIns="0" rIns="0" bIns="0" rtlCol="0" anchor="t"/>
          <a:lstStyle/>
          <a:p>
            <a:pPr algn="l" indent="0" marL="0">
              <a:buNone/>
            </a:pPr>
            <a:r>
              <a:rPr lang="en-US" sz="1150" b="1" dirty="0">
                <a:solidFill>
                  <a:srgbClr val="8250DF"/>
                </a:solidFill>
                <a:latin typeface="Arial" pitchFamily="34" charset="0"/>
                <a:ea typeface="Arial" pitchFamily="34" charset="-122"/>
                <a:cs typeface="Arial" pitchFamily="34" charset="-120"/>
              </a:rPr>
              <a:t>PROMPT</a:t>
            </a:r>
            <a:endParaRPr lang="en-US" sz="1150" dirty="0"/>
          </a:p>
        </p:txBody>
      </p:sp>
      <p:sp>
        <p:nvSpPr>
          <p:cNvPr id="27" name="Text 21"/>
          <p:cNvSpPr/>
          <p:nvPr/>
        </p:nvSpPr>
        <p:spPr>
          <a:xfrm>
            <a:off x="4771876" y="2129135"/>
            <a:ext cx="3750335" cy="888802"/>
          </a:xfrm>
          <a:prstGeom prst="rect">
            <a:avLst/>
          </a:prstGeom>
          <a:noFill/>
          <a:ln/>
        </p:spPr>
        <p:txBody>
          <a:bodyPr wrap="square" lIns="0" tIns="0" rIns="0" bIns="0" rtlCol="0" anchor="t"/>
          <a:lstStyle/>
          <a:p>
            <a:pPr algn="l" indent="0" marL="0">
              <a:lnSpc>
                <a:spcPts val="1750"/>
              </a:lnSpc>
              <a:buNone/>
            </a:pPr>
            <a:r>
              <a:rPr lang="en-US" sz="1400" dirty="0">
                <a:solidFill>
                  <a:srgbClr val="1F2328"/>
                </a:solidFill>
                <a:latin typeface="Arial" pitchFamily="34" charset="0"/>
                <a:ea typeface="Arial" pitchFamily="34" charset="-122"/>
                <a:cs typeface="Arial" pitchFamily="34" charset="-120"/>
              </a:rPr>
              <a:t>In samples/book-app-web, explain how filterBooks searches book titles and authors. Does letter case affect the results? Refer to the relevant file. Do not change any files.</a:t>
            </a:r>
            <a:endParaRPr lang="en-US" sz="1400" dirty="0"/>
          </a:p>
        </p:txBody>
      </p:sp>
      <p:sp>
        <p:nvSpPr>
          <p:cNvPr id="28" name="Text 22"/>
          <p:cNvSpPr/>
          <p:nvPr/>
        </p:nvSpPr>
        <p:spPr>
          <a:xfrm>
            <a:off x="4546550" y="3306812"/>
            <a:ext cx="4089350" cy="739080"/>
          </a:xfrm>
          <a:prstGeom prst="roundRect">
            <a:avLst>
              <a:gd name="adj" fmla="val 13747"/>
            </a:avLst>
          </a:prstGeom>
          <a:solidFill>
            <a:srgbClr val="DAFBE1"/>
          </a:solidFill>
          <a:ln w="9525">
            <a:solidFill>
              <a:srgbClr val="8CE7A5"/>
            </a:solidFill>
          </a:ln>
        </p:spPr>
        <p:txBody>
          <a:bodyPr wrap="square" rtlCol="0" anchor="ctr"/>
          <a:lstStyle/>
          <a:p>
            <a:pPr indent="0" marL="0">
              <a:buNone/>
            </a:pPr>
            <a:endParaRPr lang="en-US" dirty="0"/>
          </a:p>
        </p:txBody>
      </p:sp>
      <p:pic>
        <p:nvPicPr>
          <p:cNvPr id="29" name="Image 4"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733776" y="3574703"/>
            <a:ext cx="203150" cy="203150"/>
          </a:xfrm>
          <a:prstGeom prst="rect">
            <a:avLst/>
          </a:prstGeom>
        </p:spPr>
      </p:pic>
      <p:sp>
        <p:nvSpPr>
          <p:cNvPr id="30" name="Text 23"/>
          <p:cNvSpPr/>
          <p:nvPr/>
        </p:nvSpPr>
        <p:spPr>
          <a:xfrm>
            <a:off x="5063877" y="3443288"/>
            <a:ext cx="3452494" cy="466130"/>
          </a:xfrm>
          <a:prstGeom prst="rect">
            <a:avLst/>
          </a:prstGeom>
          <a:noFill/>
          <a:ln/>
        </p:spPr>
        <p:txBody>
          <a:bodyPr wrap="square" lIns="0" tIns="0" rIns="0" bIns="0" rtlCol="0" anchor="t"/>
          <a:lstStyle/>
          <a:p>
            <a:pPr algn="l" indent="0" marL="0">
              <a:lnSpc>
                <a:spcPts val="1760"/>
              </a:lnSpc>
              <a:buNone/>
            </a:pPr>
            <a:r>
              <a:rPr lang="en-US" sz="1450" b="1" dirty="0">
                <a:solidFill>
                  <a:srgbClr val="1A7F37"/>
                </a:solidFill>
                <a:latin typeface="Arial" pitchFamily="34" charset="0"/>
                <a:ea typeface="Arial" pitchFamily="34" charset="-122"/>
                <a:cs typeface="Arial" pitchFamily="34" charset="-120"/>
              </a:rPr>
              <a:t>Expected:</a:t>
            </a:r>
            <a:pPr algn="l" indent="0" marL="0">
              <a:lnSpc>
                <a:spcPts val="1760"/>
              </a:lnSpc>
              <a:buNone/>
            </a:pPr>
            <a:r>
              <a:rPr lang="en-US" sz="1450" dirty="0">
                <a:solidFill>
                  <a:srgbClr val="1F2328"/>
                </a:solidFill>
                <a:latin typeface="Arial" pitchFamily="34" charset="0"/>
                <a:ea typeface="Arial" pitchFamily="34" charset="-122"/>
                <a:cs typeface="Arial" pitchFamily="34" charset="-120"/>
              </a:rPr>
              <a:t> Search ignores letter case. The answer points to </a:t>
            </a:r>
            <a:pPr algn="l" indent="0" marL="0">
              <a:lnSpc>
                <a:spcPts val="1760"/>
              </a:lnSpc>
              <a:buNone/>
            </a:pPr>
            <a:r>
              <a:rPr lang="en-US" sz="1450" b="1" dirty="0">
                <a:solidFill>
                  <a:srgbClr val="0550AE"/>
                </a:solidFill>
                <a:latin typeface="Courier New" pitchFamily="34" charset="0"/>
                <a:ea typeface="Courier New" pitchFamily="34" charset="-122"/>
                <a:cs typeface="Courier New" pitchFamily="34" charset="-120"/>
              </a:rPr>
              <a:t>src/App.tsx</a:t>
            </a:r>
            <a:pPr algn="l" indent="0" marL="0">
              <a:lnSpc>
                <a:spcPts val="1760"/>
              </a:lnSpc>
              <a:buNone/>
            </a:pPr>
            <a:r>
              <a:rPr lang="en-US" sz="1450" dirty="0">
                <a:solidFill>
                  <a:srgbClr val="1F2328"/>
                </a:solidFill>
                <a:latin typeface="Arial" pitchFamily="34" charset="0"/>
                <a:ea typeface="Arial" pitchFamily="34" charset="-122"/>
                <a:cs typeface="Arial" pitchFamily="34" charset="-120"/>
              </a:rPr>
              <a:t>.</a:t>
            </a:r>
            <a:endParaRPr lang="en-US" sz="14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01</a:t>
            </a:r>
            <a:endParaRPr lang="en-US" sz="1150" dirty="0"/>
          </a:p>
        </p:txBody>
      </p:sp>
      <p:pic>
        <p:nvPicPr>
          <p:cNvPr id="5" name="Image 1" descr="Open this chapter on GitHub">
            <a:hlinkClick r:id="rId3" tooltip="https://github.com/github/copilot-app-for-beginners/tree/main/01-tour-the-app"/>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PROMPT BOX SHORTCUTS</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Work faster in the prompt box</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Reuse what worked, and try again without retyping.</a:t>
            </a:r>
            <a:endParaRPr lang="en-US" sz="1650" dirty="0"/>
          </a:p>
        </p:txBody>
      </p:sp>
      <p:sp>
        <p:nvSpPr>
          <p:cNvPr id="9" name="Text 5"/>
          <p:cNvSpPr/>
          <p:nvPr/>
        </p:nvSpPr>
        <p:spPr>
          <a:xfrm>
            <a:off x="507950" y="2266355"/>
            <a:ext cx="2590800" cy="1690092"/>
          </a:xfrm>
          <a:prstGeom prst="roundRect">
            <a:avLst>
              <a:gd name="adj" fmla="val 7514"/>
            </a:avLst>
          </a:prstGeom>
          <a:solidFill>
            <a:srgbClr val="FFFFFF"/>
          </a:solidFill>
          <a:ln w="9525">
            <a:solidFill>
              <a:srgbClr val="9CD7FF"/>
            </a:solidFill>
          </a:ln>
        </p:spPr>
        <p:txBody>
          <a:bodyPr wrap="square" rtlCol="0" anchor="ctr"/>
          <a:lstStyle/>
          <a:p>
            <a:pPr indent="0" marL="0">
              <a:buNone/>
            </a:pPr>
            <a:endParaRPr lang="en-US" dirty="0"/>
          </a:p>
        </p:txBody>
      </p:sp>
      <p:sp>
        <p:nvSpPr>
          <p:cNvPr id="10" name="Text 6"/>
          <p:cNvSpPr/>
          <p:nvPr/>
        </p:nvSpPr>
        <p:spPr>
          <a:xfrm>
            <a:off x="695176" y="2453580"/>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11" name="Image 2"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777776" y="2536180"/>
            <a:ext cx="215801" cy="215801"/>
          </a:xfrm>
          <a:prstGeom prst="rect">
            <a:avLst/>
          </a:prstGeom>
        </p:spPr>
      </p:pic>
      <p:sp>
        <p:nvSpPr>
          <p:cNvPr id="12" name="Text 7"/>
          <p:cNvSpPr/>
          <p:nvPr/>
        </p:nvSpPr>
        <p:spPr>
          <a:xfrm>
            <a:off x="1190476" y="2529780"/>
            <a:ext cx="1734520"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Retry a response</a:t>
            </a:r>
            <a:endParaRPr lang="en-US" sz="1650" dirty="0"/>
          </a:p>
        </p:txBody>
      </p:sp>
      <p:sp>
        <p:nvSpPr>
          <p:cNvPr id="13" name="Text 8"/>
          <p:cNvSpPr/>
          <p:nvPr/>
        </p:nvSpPr>
        <p:spPr>
          <a:xfrm>
            <a:off x="695176" y="2910780"/>
            <a:ext cx="2260675" cy="858441"/>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Use </a:t>
            </a:r>
            <a:pPr algn="l" indent="0" marL="0">
              <a:lnSpc>
                <a:spcPts val="1690"/>
              </a:lnSpc>
              <a:buNone/>
            </a:pPr>
            <a:r>
              <a:rPr lang="en-US" sz="1400" b="1" dirty="0">
                <a:solidFill>
                  <a:srgbClr val="59636E"/>
                </a:solidFill>
                <a:latin typeface="Arial" pitchFamily="34" charset="0"/>
                <a:ea typeface="Arial" pitchFamily="34" charset="-122"/>
                <a:cs typeface="Arial" pitchFamily="34" charset="-120"/>
              </a:rPr>
              <a:t>Retry</a:t>
            </a:r>
            <a:pPr algn="l" indent="0" marL="0">
              <a:lnSpc>
                <a:spcPts val="1690"/>
              </a:lnSpc>
              <a:buNone/>
            </a:pPr>
            <a:r>
              <a:rPr lang="en-US" sz="1400" dirty="0">
                <a:solidFill>
                  <a:srgbClr val="59636E"/>
                </a:solidFill>
                <a:latin typeface="Arial" pitchFamily="34" charset="0"/>
                <a:ea typeface="Arial" pitchFamily="34" charset="-122"/>
                <a:cs typeface="Arial" pitchFamily="34" charset="-120"/>
              </a:rPr>
              <a:t> below a response to rerun it with a different model, effort, or context window.</a:t>
            </a:r>
            <a:endParaRPr lang="en-US" sz="1400" dirty="0"/>
          </a:p>
        </p:txBody>
      </p:sp>
      <p:sp>
        <p:nvSpPr>
          <p:cNvPr id="14" name="Text 9"/>
          <p:cNvSpPr/>
          <p:nvPr/>
        </p:nvSpPr>
        <p:spPr>
          <a:xfrm>
            <a:off x="3276451" y="2266355"/>
            <a:ext cx="2590949" cy="1690092"/>
          </a:xfrm>
          <a:prstGeom prst="roundRect">
            <a:avLst>
              <a:gd name="adj" fmla="val 7514"/>
            </a:avLst>
          </a:prstGeom>
          <a:solidFill>
            <a:srgbClr val="FFFFFF"/>
          </a:solidFill>
          <a:ln w="9525">
            <a:solidFill>
              <a:srgbClr val="E0C5FF"/>
            </a:solidFill>
          </a:ln>
        </p:spPr>
        <p:txBody>
          <a:bodyPr wrap="square" rtlCol="0" anchor="ctr"/>
          <a:lstStyle/>
          <a:p>
            <a:pPr indent="0" marL="0">
              <a:buNone/>
            </a:pPr>
            <a:endParaRPr lang="en-US" dirty="0"/>
          </a:p>
        </p:txBody>
      </p:sp>
      <p:sp>
        <p:nvSpPr>
          <p:cNvPr id="15" name="Text 10"/>
          <p:cNvSpPr/>
          <p:nvPr/>
        </p:nvSpPr>
        <p:spPr>
          <a:xfrm>
            <a:off x="3463677" y="2453580"/>
            <a:ext cx="381000" cy="381000"/>
          </a:xfrm>
          <a:prstGeom prst="roundRect">
            <a:avLst>
              <a:gd name="adj" fmla="val 23333"/>
            </a:avLst>
          </a:prstGeom>
          <a:solidFill>
            <a:srgbClr val="FBEFFF"/>
          </a:solidFill>
          <a:ln/>
        </p:spPr>
        <p:txBody>
          <a:bodyPr wrap="square" rtlCol="0" anchor="ctr"/>
          <a:lstStyle/>
          <a:p>
            <a:pPr indent="0" marL="0">
              <a:buNone/>
            </a:pPr>
            <a:endParaRPr lang="en-US" dirty="0"/>
          </a:p>
        </p:txBody>
      </p:sp>
      <p:pic>
        <p:nvPicPr>
          <p:cNvPr id="16" name="Image 3"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3546277" y="2536180"/>
            <a:ext cx="215801" cy="215801"/>
          </a:xfrm>
          <a:prstGeom prst="rect">
            <a:avLst/>
          </a:prstGeom>
        </p:spPr>
      </p:pic>
      <p:sp>
        <p:nvSpPr>
          <p:cNvPr id="17" name="Text 11"/>
          <p:cNvSpPr/>
          <p:nvPr/>
        </p:nvSpPr>
        <p:spPr>
          <a:xfrm>
            <a:off x="3958977" y="2529780"/>
            <a:ext cx="1520172"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Prompt history</a:t>
            </a:r>
            <a:endParaRPr lang="en-US" sz="1650" dirty="0"/>
          </a:p>
        </p:txBody>
      </p:sp>
      <p:sp>
        <p:nvSpPr>
          <p:cNvPr id="18" name="Text 12"/>
          <p:cNvSpPr/>
          <p:nvPr/>
        </p:nvSpPr>
        <p:spPr>
          <a:xfrm>
            <a:off x="3463677" y="2910780"/>
            <a:ext cx="2260827" cy="858441"/>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Press </a:t>
            </a:r>
            <a:pPr algn="l" indent="0" marL="0">
              <a:lnSpc>
                <a:spcPts val="1690"/>
              </a:lnSpc>
              <a:buNone/>
            </a:pPr>
            <a:r>
              <a:rPr lang="en-US" sz="1400" b="1" dirty="0">
                <a:solidFill>
                  <a:srgbClr val="59636E"/>
                </a:solidFill>
                <a:latin typeface="Arial" pitchFamily="34" charset="0"/>
                <a:ea typeface="Arial" pitchFamily="34" charset="-122"/>
                <a:cs typeface="Arial" pitchFamily="34" charset="-120"/>
              </a:rPr>
              <a:t>Ctrl+R</a:t>
            </a:r>
            <a:pPr algn="l" indent="0" marL="0">
              <a:lnSpc>
                <a:spcPts val="1690"/>
              </a:lnSpc>
              <a:buNone/>
            </a:pPr>
            <a:r>
              <a:rPr lang="en-US" sz="1400" dirty="0">
                <a:solidFill>
                  <a:srgbClr val="59636E"/>
                </a:solidFill>
                <a:latin typeface="Arial" pitchFamily="34" charset="0"/>
                <a:ea typeface="Arial" pitchFamily="34" charset="-122"/>
                <a:cs typeface="Arial" pitchFamily="34" charset="-120"/>
              </a:rPr>
              <a:t> (</a:t>
            </a:r>
            <a:pPr algn="l" indent="0" marL="0">
              <a:lnSpc>
                <a:spcPts val="1690"/>
              </a:lnSpc>
              <a:buNone/>
            </a:pPr>
            <a:r>
              <a:rPr lang="en-US" sz="1400" b="1" dirty="0">
                <a:solidFill>
                  <a:srgbClr val="59636E"/>
                </a:solidFill>
                <a:latin typeface="Arial" pitchFamily="34" charset="0"/>
                <a:ea typeface="Arial" pitchFamily="34" charset="-122"/>
                <a:cs typeface="Arial" pitchFamily="34" charset="-120"/>
              </a:rPr>
              <a:t>Cmd+R</a:t>
            </a:r>
            <a:pPr algn="l" indent="0" marL="0">
              <a:lnSpc>
                <a:spcPts val="1690"/>
              </a:lnSpc>
              <a:buNone/>
            </a:pPr>
            <a:r>
              <a:rPr lang="en-US" sz="1400" dirty="0">
                <a:solidFill>
                  <a:srgbClr val="59636E"/>
                </a:solidFill>
                <a:latin typeface="Arial" pitchFamily="34" charset="0"/>
                <a:ea typeface="Arial" pitchFamily="34" charset="-122"/>
                <a:cs typeface="Arial" pitchFamily="34" charset="-120"/>
              </a:rPr>
              <a:t> on macOS) to search recent prompts from all sessions and reuse one.</a:t>
            </a:r>
            <a:endParaRPr lang="en-US" sz="1400" dirty="0"/>
          </a:p>
        </p:txBody>
      </p:sp>
      <p:sp>
        <p:nvSpPr>
          <p:cNvPr id="19" name="Text 13"/>
          <p:cNvSpPr/>
          <p:nvPr/>
        </p:nvSpPr>
        <p:spPr>
          <a:xfrm>
            <a:off x="6045101" y="2266355"/>
            <a:ext cx="2590800" cy="1690092"/>
          </a:xfrm>
          <a:prstGeom prst="roundRect">
            <a:avLst>
              <a:gd name="adj" fmla="val 7514"/>
            </a:avLst>
          </a:prstGeom>
          <a:solidFill>
            <a:srgbClr val="FFFFFF"/>
          </a:solidFill>
          <a:ln w="9525">
            <a:solidFill>
              <a:srgbClr val="8CE7A5"/>
            </a:solidFill>
          </a:ln>
        </p:spPr>
        <p:txBody>
          <a:bodyPr wrap="square" rtlCol="0" anchor="ctr"/>
          <a:lstStyle/>
          <a:p>
            <a:pPr indent="0" marL="0">
              <a:buNone/>
            </a:pPr>
            <a:endParaRPr lang="en-US" dirty="0"/>
          </a:p>
        </p:txBody>
      </p:sp>
      <p:sp>
        <p:nvSpPr>
          <p:cNvPr id="20" name="Text 14"/>
          <p:cNvSpPr/>
          <p:nvPr/>
        </p:nvSpPr>
        <p:spPr>
          <a:xfrm>
            <a:off x="6232327" y="2453580"/>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21" name="Image 4"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314926" y="2536180"/>
            <a:ext cx="215801" cy="215801"/>
          </a:xfrm>
          <a:prstGeom prst="rect">
            <a:avLst/>
          </a:prstGeom>
        </p:spPr>
      </p:pic>
      <p:sp>
        <p:nvSpPr>
          <p:cNvPr id="22" name="Text 15"/>
          <p:cNvSpPr/>
          <p:nvPr/>
        </p:nvSpPr>
        <p:spPr>
          <a:xfrm>
            <a:off x="6727627" y="2529780"/>
            <a:ext cx="1504384"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Voice dictation</a:t>
            </a:r>
            <a:endParaRPr lang="en-US" sz="1650" dirty="0"/>
          </a:p>
        </p:txBody>
      </p:sp>
      <p:sp>
        <p:nvSpPr>
          <p:cNvPr id="23" name="Text 16"/>
          <p:cNvSpPr/>
          <p:nvPr/>
        </p:nvSpPr>
        <p:spPr>
          <a:xfrm>
            <a:off x="6232327" y="2910780"/>
            <a:ext cx="2260675" cy="64383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Speak a prompt, then edit the text before you send it. Optional.</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01</a:t>
            </a:r>
            <a:endParaRPr lang="en-US" sz="1150" dirty="0"/>
          </a:p>
        </p:txBody>
      </p:sp>
      <p:pic>
        <p:nvPicPr>
          <p:cNvPr id="5" name="Image 1" descr="Open this chapter on GitHub">
            <a:hlinkClick r:id="rId3" tooltip="https://github.com/github/copilot-app-for-beginners/tree/main/01-tour-the-app"/>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KEY TAKEAWAYS</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What to remember</a:t>
            </a:r>
            <a:endParaRPr lang="en-US" sz="2800" dirty="0"/>
          </a:p>
        </p:txBody>
      </p:sp>
      <p:sp>
        <p:nvSpPr>
          <p:cNvPr id="8" name="Text 4"/>
          <p:cNvSpPr/>
          <p:nvPr/>
        </p:nvSpPr>
        <p:spPr>
          <a:xfrm>
            <a:off x="507950" y="1524000"/>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9" name="Text 5"/>
          <p:cNvSpPr/>
          <p:nvPr/>
        </p:nvSpPr>
        <p:spPr>
          <a:xfrm>
            <a:off x="695176" y="1790700"/>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0" name="Text 6"/>
          <p:cNvSpPr/>
          <p:nvPr/>
        </p:nvSpPr>
        <p:spPr>
          <a:xfrm>
            <a:off x="789841" y="1835051"/>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1" name="Text 7"/>
          <p:cNvSpPr/>
          <p:nvPr/>
        </p:nvSpPr>
        <p:spPr>
          <a:xfrm>
            <a:off x="1126927" y="1714351"/>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Keep your editor for deep coding. Use the app to run and review agent work.</a:t>
            </a:r>
            <a:endParaRPr lang="en-US" sz="1450" dirty="0"/>
          </a:p>
        </p:txBody>
      </p:sp>
      <p:sp>
        <p:nvSpPr>
          <p:cNvPr id="12" name="Text 8"/>
          <p:cNvSpPr/>
          <p:nvPr/>
        </p:nvSpPr>
        <p:spPr>
          <a:xfrm>
            <a:off x="4673501" y="1524000"/>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13" name="Text 9"/>
          <p:cNvSpPr/>
          <p:nvPr/>
        </p:nvSpPr>
        <p:spPr>
          <a:xfrm>
            <a:off x="4860727" y="1790700"/>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4" name="Text 10"/>
          <p:cNvSpPr/>
          <p:nvPr/>
        </p:nvSpPr>
        <p:spPr>
          <a:xfrm>
            <a:off x="4955392" y="1835051"/>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5" name="Text 11"/>
          <p:cNvSpPr/>
          <p:nvPr/>
        </p:nvSpPr>
        <p:spPr>
          <a:xfrm>
            <a:off x="5292477" y="1606451"/>
            <a:ext cx="3219322" cy="64784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Views: New, Pull requests, Issues, Automations, Customize, and Projects.</a:t>
            </a:r>
            <a:endParaRPr lang="en-US" sz="1450" dirty="0"/>
          </a:p>
        </p:txBody>
      </p:sp>
      <p:sp>
        <p:nvSpPr>
          <p:cNvPr id="16" name="Text 12"/>
          <p:cNvSpPr/>
          <p:nvPr/>
        </p:nvSpPr>
        <p:spPr>
          <a:xfrm>
            <a:off x="507950" y="2514451"/>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17" name="Text 13"/>
          <p:cNvSpPr/>
          <p:nvPr/>
        </p:nvSpPr>
        <p:spPr>
          <a:xfrm>
            <a:off x="695176" y="2781151"/>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8" name="Text 14"/>
          <p:cNvSpPr/>
          <p:nvPr/>
        </p:nvSpPr>
        <p:spPr>
          <a:xfrm>
            <a:off x="789841" y="282550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19" name="Text 15"/>
          <p:cNvSpPr/>
          <p:nvPr/>
        </p:nvSpPr>
        <p:spPr>
          <a:xfrm>
            <a:off x="1126927" y="2704802"/>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Chats are for exploration. Project sessions are for repository work.</a:t>
            </a:r>
            <a:endParaRPr lang="en-US" sz="1450" dirty="0"/>
          </a:p>
        </p:txBody>
      </p:sp>
      <p:sp>
        <p:nvSpPr>
          <p:cNvPr id="20" name="Text 16"/>
          <p:cNvSpPr/>
          <p:nvPr/>
        </p:nvSpPr>
        <p:spPr>
          <a:xfrm>
            <a:off x="4673501" y="2514451"/>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21" name="Text 17"/>
          <p:cNvSpPr/>
          <p:nvPr/>
        </p:nvSpPr>
        <p:spPr>
          <a:xfrm>
            <a:off x="4860727" y="2781151"/>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22" name="Text 18"/>
          <p:cNvSpPr/>
          <p:nvPr/>
        </p:nvSpPr>
        <p:spPr>
          <a:xfrm>
            <a:off x="4955392" y="282550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4</a:t>
            </a:r>
            <a:endParaRPr lang="en-US" sz="1250" dirty="0"/>
          </a:p>
        </p:txBody>
      </p:sp>
      <p:sp>
        <p:nvSpPr>
          <p:cNvPr id="23" name="Text 19"/>
          <p:cNvSpPr/>
          <p:nvPr/>
        </p:nvSpPr>
        <p:spPr>
          <a:xfrm>
            <a:off x="5292477" y="2704802"/>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Interactive, Plan, and Autopilot set how much autonomy the agent has.</a:t>
            </a:r>
            <a:endParaRPr lang="en-US" sz="1450" dirty="0"/>
          </a:p>
        </p:txBody>
      </p:sp>
      <p:sp>
        <p:nvSpPr>
          <p:cNvPr id="24" name="Text 20"/>
          <p:cNvSpPr/>
          <p:nvPr/>
        </p:nvSpPr>
        <p:spPr>
          <a:xfrm>
            <a:off x="507950" y="3784550"/>
            <a:ext cx="8127950" cy="812750"/>
          </a:xfrm>
          <a:prstGeom prst="roundRect">
            <a:avLst>
              <a:gd name="adj" fmla="val 15626"/>
            </a:avLst>
          </a:prstGeom>
          <a:solidFill>
            <a:srgbClr val="DDF4FF"/>
          </a:solidFill>
          <a:ln w="9525">
            <a:solidFill>
              <a:srgbClr val="9CD7FF"/>
            </a:solidFill>
          </a:ln>
        </p:spPr>
        <p:txBody>
          <a:bodyPr wrap="square" rtlCol="0" anchor="ctr"/>
          <a:lstStyle/>
          <a:p>
            <a:pPr indent="0" marL="0">
              <a:buNone/>
            </a:pPr>
            <a:endParaRPr lang="en-US" dirty="0"/>
          </a:p>
        </p:txBody>
      </p:sp>
      <p:sp>
        <p:nvSpPr>
          <p:cNvPr id="25" name="Text 21"/>
          <p:cNvSpPr/>
          <p:nvPr/>
        </p:nvSpPr>
        <p:spPr>
          <a:xfrm>
            <a:off x="746075" y="3987701"/>
            <a:ext cx="406301" cy="406301"/>
          </a:xfrm>
          <a:prstGeom prst="roundRect">
            <a:avLst>
              <a:gd name="adj" fmla="val 21880"/>
            </a:avLst>
          </a:prstGeom>
          <a:solidFill>
            <a:srgbClr val="DDF4FF"/>
          </a:solidFill>
          <a:ln/>
        </p:spPr>
        <p:txBody>
          <a:bodyPr wrap="square" rtlCol="0" anchor="ctr"/>
          <a:lstStyle/>
          <a:p>
            <a:pPr indent="0" marL="0">
              <a:buNone/>
            </a:pPr>
            <a:endParaRPr lang="en-US" dirty="0"/>
          </a:p>
        </p:txBody>
      </p:sp>
      <p:pic>
        <p:nvPicPr>
          <p:cNvPr id="26" name="Image 2"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834926" y="4076551"/>
            <a:ext cx="228600" cy="228600"/>
          </a:xfrm>
          <a:prstGeom prst="rect">
            <a:avLst/>
          </a:prstGeom>
        </p:spPr>
      </p:pic>
      <p:sp>
        <p:nvSpPr>
          <p:cNvPr id="27" name="Text 22"/>
          <p:cNvSpPr/>
          <p:nvPr/>
        </p:nvSpPr>
        <p:spPr>
          <a:xfrm>
            <a:off x="1304776" y="3971776"/>
            <a:ext cx="2631838"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REVISIT THIS CHAPTER</a:t>
            </a:r>
            <a:endParaRPr lang="en-US" sz="1150" dirty="0"/>
          </a:p>
        </p:txBody>
      </p:sp>
      <p:sp>
        <p:nvSpPr>
          <p:cNvPr id="28" name="Text 23"/>
          <p:cNvSpPr/>
          <p:nvPr/>
        </p:nvSpPr>
        <p:spPr>
          <a:xfrm>
            <a:off x="1304776" y="4181326"/>
            <a:ext cx="2631838" cy="228600"/>
          </a:xfrm>
          <a:prstGeom prst="rect">
            <a:avLst/>
          </a:prstGeom>
          <a:noFill/>
          <a:ln/>
        </p:spPr>
        <p:txBody>
          <a:bodyPr wrap="square" lIns="0" tIns="0" rIns="0" bIns="0" rtlCol="0" anchor="t"/>
          <a:lstStyle/>
          <a:p>
            <a:pPr algn="l" indent="0" marL="0">
              <a:buNone/>
            </a:pPr>
            <a:r>
              <a:rPr lang="en-US" sz="1550" b="1" u="sng" dirty="0">
                <a:solidFill>
                  <a:srgbClr val="0969DA"/>
                </a:solidFill>
                <a:latin typeface="Arial" pitchFamily="34" charset="0"/>
                <a:ea typeface="Arial" pitchFamily="34" charset="-122"/>
                <a:cs typeface="Arial" pitchFamily="34" charset="-120"/>
                <a:hlinkClick r:id="rId5" invalidUrl="" action="" tgtFrame="" tooltip="https://github.com/github/copilot-app-for-beginners/tree/main/01-tour-the-app" history="1" highlightClick="0" endSnd="0">
                  <a:extLst>
                    <a:ext uri="{A12FA001-AC4F-418D-AE19-62706E023703}">
                      <ahyp:hlinkClr xmlns:ahyp="http://schemas.microsoft.com/office/drawing/2018/hyperlinkcolor" val="tx"/>
                    </a:ext>
                  </a:extLst>
                </a:hlinkClick>
              </a:rPr>
              <a:t>Open Chapter 01 on GitHub</a:t>
            </a:r>
            <a:endParaRPr lang="en-US" sz="1550" dirty="0"/>
          </a:p>
        </p:txBody>
      </p:sp>
      <p:sp>
        <p:nvSpPr>
          <p:cNvPr id="29" name="Text 24"/>
          <p:cNvSpPr/>
          <p:nvPr/>
        </p:nvSpPr>
        <p:spPr>
          <a:xfrm>
            <a:off x="4714875" y="3971776"/>
            <a:ext cx="3756559"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NEXT · CHAPTER 02</a:t>
            </a:r>
            <a:endParaRPr lang="en-US" sz="1150" dirty="0"/>
          </a:p>
        </p:txBody>
      </p:sp>
      <p:sp>
        <p:nvSpPr>
          <p:cNvPr id="30" name="Text 25"/>
          <p:cNvSpPr/>
          <p:nvPr/>
        </p:nvSpPr>
        <p:spPr>
          <a:xfrm>
            <a:off x="4714875" y="4181326"/>
            <a:ext cx="3756559" cy="228600"/>
          </a:xfrm>
          <a:prstGeom prst="rect">
            <a:avLst/>
          </a:prstGeom>
          <a:noFill/>
          <a:ln/>
        </p:spPr>
        <p:txBody>
          <a:bodyPr wrap="square" lIns="0" tIns="0" rIns="0" bIns="0" rtlCol="0" anchor="t"/>
          <a:lstStyle/>
          <a:p>
            <a:pPr algn="l" indent="0" marL="0">
              <a:buNone/>
            </a:pPr>
            <a:r>
              <a:rPr lang="en-US" sz="1550" b="1" u="sng" dirty="0">
                <a:solidFill>
                  <a:srgbClr val="1F2328"/>
                </a:solidFill>
                <a:latin typeface="Arial" pitchFamily="34" charset="0"/>
                <a:ea typeface="Arial" pitchFamily="34" charset="-122"/>
                <a:cs typeface="Arial" pitchFamily="34" charset="-120"/>
                <a:hlinkClick r:id="rId6" invalidUrl="" action="" tgtFrame="" tooltip="https://github.com/github/copilot-app-for-beginners/tree/main/02-sessions-worktrees-context" history="1" highlightClick="0" endSnd="0">
                  <a:extLst>
                    <a:ext uri="{A12FA001-AC4F-418D-AE19-62706E023703}">
                      <ahyp:hlinkClr xmlns:ahyp="http://schemas.microsoft.com/office/drawing/2018/hyperlinkcolor" val="tx"/>
                    </a:ext>
                  </a:extLst>
                </a:hlinkClick>
              </a:rPr>
              <a:t>Sessions, Worktrees, and Context →</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01: Tour the App</dc:title>
  <dc:subject>PptxGenJS Presentation</dc:subject>
  <dc:creator>GitHub Copilot app for Beginners</dc:creator>
  <cp:lastModifiedBy>GitHub Copilot app for Beginners</cp:lastModifiedBy>
  <cp:revision>1</cp:revision>
  <dcterms:created xsi:type="dcterms:W3CDTF">2026-10-06T21:17:06Z</dcterms:created>
  <dcterms:modified xsi:type="dcterms:W3CDTF">2026-10-06T21:17:06Z</dcterms:modified>
</cp:coreProperties>
</file>