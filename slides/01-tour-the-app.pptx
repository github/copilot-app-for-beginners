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starts with a practical question: why use a desktop app if you already use Copilot in an editor or terminal? Then it tours the main navigation, compares chats with project sessions, and covers modes, models,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use the app, Tour the app,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why. The editor and terminal are great for work next to the code you already have open. The app focuses on the supervision loop around 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show up when you supervise agent work from an editor or terminal alone. Two agent tasks can blur together in one folder and branch. The plan, diff, tests, and PR live in different tools. A quick question and a real change feel the same until files start changing. Plan steps and checks scroll away in a long chat. And you retype the same prompts every week. The app answers each one. It does not replace your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choose one tool. Keep VS Code, Visual Studio, JetBrains, or your usual editor for deep editing. Use the app as a single desktop control center to run and review agent work. From the app, you can open the same project in VS Code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 quick tour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is the landing view, where you start a chat or a project session and choose a mode and model. Pull requests and Issues list the GitHub work that involves you. Automations holds recurring agent tasks. Customize is where you manage skills, MCP servers, plugins, extensions, and canvases, which Chapters 04 to 06 cover. More, then Edit sidebar, chooses which views appear; this course uses all of them. Below are Projects, and a Chats row after your first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Pull requests view lists GitHub pull requests that involve you. Tabs such as Authored by me and Review requests filter the list, and the All repositories picker narrows it to one repository. Open a PR to read its checks and comments, or start a session to work on it. The Issues view works the same way, with tabs such as Assigned to me and Created by me. You can start a session from an issue or create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Automations view shows templates that run manually, daily, weekly, or from events, locally or in the cloud. Chapter 07 covers automations. Settings opens from the gear icon at the bottom of the sidebar. Sessions holds app-wide instructions and branch naming. Model providers add your own models and keys; they do not replace the model picker. Voice dictation is optional and turns speech into editable prompt text. Projects holds per-project settings. You do not need to change anything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quick questions just need a fast answer. Some takes need close direction. Some need the arrangement charted out first. The app works the same way: first you choose the kind of session, then a mode for how closely you direct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both. Select the plus next to Projects, then Chat, and confirm the project picker shows Chat. Ask when to use each session type. No branch or worktree is created. Then return to the project session from Chapter 00 and ask for a tour of the Book App. The full prompt in the chapter also asks for technologies, data flow, tests, and a reading order. The Chapter 00 session used Current checkout on purpose. The app remembers that choice, so you will switch back to New worktree in Chapter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is step-by-step collaboration. Plan creates a plan before executing. Autopilot is end-to-end execution without interruption. The mode menu also has Tool permissions: Always ask asks before each tool, Approve all runs tools without asking, and Assisted asks only when a tool request fails an AI safety check. Check this setting so you know when to expect approval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control is below the prompt box, next to the mode selector. It shows Auto or a model name. Open it to find Model, Effort, and Context window; if the Auto switch is on, these are hidden. A larger context window helps long sessions but uses more AI credits. For a tour or short explanation, keep the defaults. For a hard bug or multi-file change, consider a stronger model and higher effort; it does not guarantee a correct answer. Try it in Interactive mode with the filterBooks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features save time in the prompt box. If a response does not work for you, select Retry below it and pick a different model, reasoning effort, or context window. You do not retype the prompt. Press Ctrl+R, or Cmd+R on macOS, to open your prompt history across all sessions. Search it and select a prompt to reuse it. Voice dictation is on by default. It turns speech into prompt text that you can edit before you send it. You can change the microphone and transcription model in Settings, Voice dictation, and the operating system must allow microphone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chapter. Keep the model and effort defaults for simple tasks. Next, Chapter 02 solves the shared working copy problem with isolated worktree sessions and focused context with @,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6"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1287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01</a:t>
            </a:r>
            <a:endParaRPr lang="en-US" sz="1450" dirty="0"/>
          </a:p>
        </p:txBody>
      </p:sp>
      <p:sp>
        <p:nvSpPr>
          <p:cNvPr id="5" name="Text 1"/>
          <p:cNvSpPr/>
          <p:nvPr/>
        </p:nvSpPr>
        <p:spPr>
          <a:xfrm>
            <a:off x="1015901" y="14397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Tour the App</a:t>
            </a:r>
            <a:endParaRPr lang="en-US" sz="4200" dirty="0"/>
          </a:p>
        </p:txBody>
      </p:sp>
      <p:sp>
        <p:nvSpPr>
          <p:cNvPr id="6" name="Text 2"/>
          <p:cNvSpPr/>
          <p:nvPr/>
        </p:nvSpPr>
        <p:spPr>
          <a:xfrm>
            <a:off x="1015901" y="227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699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move from first prompt to pull request without piecing together context across tools?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825776"/>
            <a:ext cx="177701" cy="177701"/>
          </a:xfrm>
          <a:prstGeom prst="rect">
            <a:avLst/>
          </a:prstGeom>
        </p:spPr>
      </p:pic>
      <p:sp>
        <p:nvSpPr>
          <p:cNvPr id="9" name="Text 4"/>
          <p:cNvSpPr/>
          <p:nvPr/>
        </p:nvSpPr>
        <p:spPr>
          <a:xfrm>
            <a:off x="1282452" y="38146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279475"/>
            <a:ext cx="8127950" cy="1073200"/>
          </a:xfrm>
          <a:prstGeom prst="roundRect">
            <a:avLst>
              <a:gd name="adj" fmla="val 9467"/>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284238"/>
            <a:ext cx="8127950" cy="0"/>
          </a:xfrm>
          <a:prstGeom prst="line">
            <a:avLst/>
          </a:prstGeom>
          <a:noFill/>
          <a:ln w="9525">
            <a:solidFill>
              <a:srgbClr val="9CD7FF"/>
            </a:solidFill>
            <a:prstDash val="solid"/>
          </a:ln>
        </p:spPr>
      </p:sp>
      <p:sp>
        <p:nvSpPr>
          <p:cNvPr id="10" name="Shape 6"/>
          <p:cNvSpPr/>
          <p:nvPr/>
        </p:nvSpPr>
        <p:spPr>
          <a:xfrm>
            <a:off x="8631138" y="1279475"/>
            <a:ext cx="0" cy="1073200"/>
          </a:xfrm>
          <a:prstGeom prst="line">
            <a:avLst/>
          </a:prstGeom>
          <a:noFill/>
          <a:ln w="9525">
            <a:solidFill>
              <a:srgbClr val="9CD7FF"/>
            </a:solidFill>
            <a:prstDash val="solid"/>
          </a:ln>
        </p:spPr>
      </p:sp>
      <p:sp>
        <p:nvSpPr>
          <p:cNvPr id="11" name="Shape 7"/>
          <p:cNvSpPr/>
          <p:nvPr/>
        </p:nvSpPr>
        <p:spPr>
          <a:xfrm>
            <a:off x="507950" y="2347912"/>
            <a:ext cx="8127950" cy="0"/>
          </a:xfrm>
          <a:prstGeom prst="line">
            <a:avLst/>
          </a:prstGeom>
          <a:noFill/>
          <a:ln w="9525">
            <a:solidFill>
              <a:srgbClr val="9CD7FF"/>
            </a:solidFill>
            <a:prstDash val="solid"/>
          </a:ln>
        </p:spPr>
      </p:sp>
      <p:sp>
        <p:nvSpPr>
          <p:cNvPr id="12" name="Shape 8"/>
          <p:cNvSpPr/>
          <p:nvPr/>
        </p:nvSpPr>
        <p:spPr>
          <a:xfrm>
            <a:off x="546050" y="1279475"/>
            <a:ext cx="0" cy="1073200"/>
          </a:xfrm>
          <a:prstGeom prst="line">
            <a:avLst/>
          </a:prstGeom>
          <a:noFill/>
          <a:ln w="76200">
            <a:solidFill>
              <a:srgbClr val="0969DA"/>
            </a:solidFill>
            <a:prstDash val="solid"/>
          </a:ln>
        </p:spPr>
      </p:sp>
      <p:sp>
        <p:nvSpPr>
          <p:cNvPr id="13" name="Text 9"/>
          <p:cNvSpPr/>
          <p:nvPr/>
        </p:nvSpPr>
        <p:spPr>
          <a:xfrm>
            <a:off x="812750" y="160168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4414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use the app</a:t>
            </a:r>
            <a:endParaRPr lang="en-US" sz="1800" dirty="0"/>
          </a:p>
        </p:txBody>
      </p:sp>
      <p:sp>
        <p:nvSpPr>
          <p:cNvPr id="15" name="Text 11"/>
          <p:cNvSpPr/>
          <p:nvPr/>
        </p:nvSpPr>
        <p:spPr>
          <a:xfrm>
            <a:off x="1625501" y="1758851"/>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450" dirty="0"/>
          </a:p>
        </p:txBody>
      </p:sp>
      <p:sp>
        <p:nvSpPr>
          <p:cNvPr id="16" name="Text 12"/>
          <p:cNvSpPr/>
          <p:nvPr/>
        </p:nvSpPr>
        <p:spPr>
          <a:xfrm>
            <a:off x="507950" y="2505075"/>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1073200"/>
          </a:xfrm>
          <a:prstGeom prst="line">
            <a:avLst/>
          </a:prstGeom>
          <a:noFill/>
          <a:ln w="9525">
            <a:solidFill>
              <a:srgbClr val="E0C5FF"/>
            </a:solidFill>
            <a:prstDash val="solid"/>
          </a:ln>
        </p:spPr>
      </p:sp>
      <p:sp>
        <p:nvSpPr>
          <p:cNvPr id="19" name="Shape 15"/>
          <p:cNvSpPr/>
          <p:nvPr/>
        </p:nvSpPr>
        <p:spPr>
          <a:xfrm>
            <a:off x="507950" y="3573512"/>
            <a:ext cx="8127950" cy="0"/>
          </a:xfrm>
          <a:prstGeom prst="line">
            <a:avLst/>
          </a:prstGeom>
          <a:noFill/>
          <a:ln w="9525">
            <a:solidFill>
              <a:srgbClr val="E0C5FF"/>
            </a:solidFill>
            <a:prstDash val="solid"/>
          </a:ln>
        </p:spPr>
      </p:sp>
      <p:sp>
        <p:nvSpPr>
          <p:cNvPr id="20" name="Shape 16"/>
          <p:cNvSpPr/>
          <p:nvPr/>
        </p:nvSpPr>
        <p:spPr>
          <a:xfrm>
            <a:off x="546050" y="2505075"/>
            <a:ext cx="0" cy="1073200"/>
          </a:xfrm>
          <a:prstGeom prst="line">
            <a:avLst/>
          </a:prstGeom>
          <a:noFill/>
          <a:ln w="76200">
            <a:solidFill>
              <a:srgbClr val="8250DF"/>
            </a:solidFill>
            <a:prstDash val="solid"/>
          </a:ln>
        </p:spPr>
      </p:sp>
      <p:sp>
        <p:nvSpPr>
          <p:cNvPr id="21" name="Text 17"/>
          <p:cNvSpPr/>
          <p:nvPr/>
        </p:nvSpPr>
        <p:spPr>
          <a:xfrm>
            <a:off x="812750" y="28272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Tour the app</a:t>
            </a:r>
            <a:endParaRPr lang="en-US" sz="1800" dirty="0"/>
          </a:p>
        </p:txBody>
      </p:sp>
      <p:sp>
        <p:nvSpPr>
          <p:cNvPr id="23" name="Text 19"/>
          <p:cNvSpPr/>
          <p:nvPr/>
        </p:nvSpPr>
        <p:spPr>
          <a:xfrm>
            <a:off x="1625501" y="2984450"/>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450" dirty="0"/>
          </a:p>
        </p:txBody>
      </p:sp>
      <p:sp>
        <p:nvSpPr>
          <p:cNvPr id="24" name="Text 20"/>
          <p:cNvSpPr/>
          <p:nvPr/>
        </p:nvSpPr>
        <p:spPr>
          <a:xfrm>
            <a:off x="507950" y="373067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735437"/>
            <a:ext cx="8127950" cy="0"/>
          </a:xfrm>
          <a:prstGeom prst="line">
            <a:avLst/>
          </a:prstGeom>
          <a:noFill/>
          <a:ln w="9525">
            <a:solidFill>
              <a:srgbClr val="8CE7A5"/>
            </a:solidFill>
            <a:prstDash val="solid"/>
          </a:ln>
        </p:spPr>
      </p:sp>
      <p:sp>
        <p:nvSpPr>
          <p:cNvPr id="26" name="Shape 22"/>
          <p:cNvSpPr/>
          <p:nvPr/>
        </p:nvSpPr>
        <p:spPr>
          <a:xfrm>
            <a:off x="8631138" y="3730675"/>
            <a:ext cx="0" cy="857250"/>
          </a:xfrm>
          <a:prstGeom prst="line">
            <a:avLst/>
          </a:prstGeom>
          <a:noFill/>
          <a:ln w="9525">
            <a:solidFill>
              <a:srgbClr val="8CE7A5"/>
            </a:solidFill>
            <a:prstDash val="solid"/>
          </a:ln>
        </p:spPr>
      </p:sp>
      <p:sp>
        <p:nvSpPr>
          <p:cNvPr id="27" name="Shape 23"/>
          <p:cNvSpPr/>
          <p:nvPr/>
        </p:nvSpPr>
        <p:spPr>
          <a:xfrm>
            <a:off x="507950" y="4583162"/>
            <a:ext cx="8127950" cy="0"/>
          </a:xfrm>
          <a:prstGeom prst="line">
            <a:avLst/>
          </a:prstGeom>
          <a:noFill/>
          <a:ln w="9525">
            <a:solidFill>
              <a:srgbClr val="8CE7A5"/>
            </a:solidFill>
            <a:prstDash val="solid"/>
          </a:ln>
        </p:spPr>
      </p:sp>
      <p:sp>
        <p:nvSpPr>
          <p:cNvPr id="28" name="Shape 24"/>
          <p:cNvSpPr/>
          <p:nvPr/>
        </p:nvSpPr>
        <p:spPr>
          <a:xfrm>
            <a:off x="546050" y="3730675"/>
            <a:ext cx="0" cy="857250"/>
          </a:xfrm>
          <a:prstGeom prst="line">
            <a:avLst/>
          </a:prstGeom>
          <a:noFill/>
          <a:ln w="76200">
            <a:solidFill>
              <a:srgbClr val="1A7F37"/>
            </a:solidFill>
            <a:prstDash val="solid"/>
          </a:ln>
        </p:spPr>
      </p:sp>
      <p:sp>
        <p:nvSpPr>
          <p:cNvPr id="29" name="Text 25"/>
          <p:cNvSpPr/>
          <p:nvPr/>
        </p:nvSpPr>
        <p:spPr>
          <a:xfrm>
            <a:off x="812750" y="3944987"/>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892600"/>
            <a:ext cx="5835524"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Sessions, modes, and models</a:t>
            </a:r>
            <a:endParaRPr lang="en-US" sz="1800" dirty="0"/>
          </a:p>
        </p:txBody>
      </p:sp>
      <p:sp>
        <p:nvSpPr>
          <p:cNvPr id="31" name="Text 27"/>
          <p:cNvSpPr/>
          <p:nvPr/>
        </p:nvSpPr>
        <p:spPr>
          <a:xfrm>
            <a:off x="1625501" y="4210050"/>
            <a:ext cx="5835524"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41312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724174"/>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use the app</a:t>
            </a:r>
            <a:endParaRPr lang="en-US" sz="4000" dirty="0"/>
          </a:p>
        </p:txBody>
      </p:sp>
      <p:sp>
        <p:nvSpPr>
          <p:cNvPr id="11" name="Text 7"/>
          <p:cNvSpPr/>
          <p:nvPr/>
        </p:nvSpPr>
        <p:spPr>
          <a:xfrm>
            <a:off x="711101" y="25114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778026"/>
            <a:ext cx="5570169" cy="95235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THE CHALLENGE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Supervising agent work is the hard part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When work is spread across tools, you ask "where was I?"</a:t>
            </a:r>
            <a:endParaRPr lang="en-US" sz="1650" dirty="0"/>
          </a:p>
        </p:txBody>
      </p:sp>
      <p:sp>
        <p:nvSpPr>
          <p:cNvPr id="9" name="Text 5"/>
          <p:cNvSpPr/>
          <p:nvPr/>
        </p:nvSpPr>
        <p:spPr>
          <a:xfrm>
            <a:off x="507950" y="1574750"/>
            <a:ext cx="8127950" cy="2641253"/>
          </a:xfrm>
          <a:prstGeom prst="roundRect">
            <a:avLst>
              <a:gd name="adj" fmla="val 38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1906488"/>
            <a:ext cx="8108900" cy="0"/>
          </a:xfrm>
          <a:prstGeom prst="line">
            <a:avLst/>
          </a:prstGeom>
          <a:noFill/>
          <a:ln w="9525">
            <a:solidFill>
              <a:srgbClr val="9CD7FF"/>
            </a:solidFill>
            <a:prstDash val="solid"/>
          </a:ln>
        </p:spPr>
      </p:sp>
      <p:sp>
        <p:nvSpPr>
          <p:cNvPr id="12" name="Text 8"/>
          <p:cNvSpPr/>
          <p:nvPr/>
        </p:nvSpPr>
        <p:spPr>
          <a:xfrm>
            <a:off x="669875" y="1660475"/>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CHALLENGE</a:t>
            </a:r>
            <a:endParaRPr lang="en-US" sz="1150" dirty="0"/>
          </a:p>
        </p:txBody>
      </p:sp>
      <p:sp>
        <p:nvSpPr>
          <p:cNvPr id="13" name="Text 9"/>
          <p:cNvSpPr/>
          <p:nvPr/>
        </p:nvSpPr>
        <p:spPr>
          <a:xfrm>
            <a:off x="2828776" y="1660475"/>
            <a:ext cx="57773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THE APP ADDS</a:t>
            </a:r>
            <a:endParaRPr lang="en-US" sz="1150" dirty="0"/>
          </a:p>
        </p:txBody>
      </p:sp>
      <p:sp>
        <p:nvSpPr>
          <p:cNvPr id="14" name="Shape 10"/>
          <p:cNvSpPr/>
          <p:nvPr/>
        </p:nvSpPr>
        <p:spPr>
          <a:xfrm>
            <a:off x="517475" y="2326035"/>
            <a:ext cx="8108900" cy="0"/>
          </a:xfrm>
          <a:prstGeom prst="line">
            <a:avLst/>
          </a:prstGeom>
          <a:noFill/>
          <a:ln w="9525">
            <a:solidFill>
              <a:srgbClr val="D1D9E0"/>
            </a:solidFill>
            <a:prstDash val="solid"/>
          </a:ln>
        </p:spPr>
      </p:sp>
      <p:sp>
        <p:nvSpPr>
          <p:cNvPr id="15" name="Text 11"/>
          <p:cNvSpPr/>
          <p:nvPr/>
        </p:nvSpPr>
        <p:spPr>
          <a:xfrm>
            <a:off x="669875" y="2012752"/>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Shared working copy</a:t>
            </a:r>
            <a:endParaRPr lang="en-US" sz="1400" dirty="0"/>
          </a:p>
        </p:txBody>
      </p:sp>
      <p:sp>
        <p:nvSpPr>
          <p:cNvPr id="16" name="Text 12"/>
          <p:cNvSpPr/>
          <p:nvPr/>
        </p:nvSpPr>
        <p:spPr>
          <a:xfrm>
            <a:off x="2828776" y="2012752"/>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Project sessions that keep focused work separate</a:t>
            </a:r>
            <a:endParaRPr lang="en-US" sz="1400" dirty="0"/>
          </a:p>
        </p:txBody>
      </p:sp>
      <p:sp>
        <p:nvSpPr>
          <p:cNvPr id="17" name="Shape 13"/>
          <p:cNvSpPr/>
          <p:nvPr/>
        </p:nvSpPr>
        <p:spPr>
          <a:xfrm>
            <a:off x="517475" y="2745581"/>
            <a:ext cx="8108900" cy="0"/>
          </a:xfrm>
          <a:prstGeom prst="line">
            <a:avLst/>
          </a:prstGeom>
          <a:noFill/>
          <a:ln w="9525">
            <a:solidFill>
              <a:srgbClr val="D1D9E0"/>
            </a:solidFill>
            <a:prstDash val="solid"/>
          </a:ln>
        </p:spPr>
      </p:sp>
      <p:sp>
        <p:nvSpPr>
          <p:cNvPr id="18" name="Text 14"/>
          <p:cNvSpPr/>
          <p:nvPr/>
        </p:nvSpPr>
        <p:spPr>
          <a:xfrm>
            <a:off x="669875" y="2432298"/>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Scattered evidence</a:t>
            </a:r>
            <a:endParaRPr lang="en-US" sz="1400" dirty="0"/>
          </a:p>
        </p:txBody>
      </p:sp>
      <p:sp>
        <p:nvSpPr>
          <p:cNvPr id="19" name="Text 15"/>
          <p:cNvSpPr/>
          <p:nvPr/>
        </p:nvSpPr>
        <p:spPr>
          <a:xfrm>
            <a:off x="2828776" y="2432298"/>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Sessions, diffs, terminal, previews, and GitHub in one app</a:t>
            </a:r>
            <a:endParaRPr lang="en-US" sz="1400" dirty="0"/>
          </a:p>
        </p:txBody>
      </p:sp>
      <p:sp>
        <p:nvSpPr>
          <p:cNvPr id="20" name="Shape 16"/>
          <p:cNvSpPr/>
          <p:nvPr/>
        </p:nvSpPr>
        <p:spPr>
          <a:xfrm>
            <a:off x="517475" y="3165128"/>
            <a:ext cx="8108900" cy="0"/>
          </a:xfrm>
          <a:prstGeom prst="line">
            <a:avLst/>
          </a:prstGeom>
          <a:noFill/>
          <a:ln w="9525">
            <a:solidFill>
              <a:srgbClr val="D1D9E0"/>
            </a:solidFill>
            <a:prstDash val="solid"/>
          </a:ln>
        </p:spPr>
      </p:sp>
      <p:sp>
        <p:nvSpPr>
          <p:cNvPr id="21" name="Text 17"/>
          <p:cNvSpPr/>
          <p:nvPr/>
        </p:nvSpPr>
        <p:spPr>
          <a:xfrm>
            <a:off x="669875" y="2851845"/>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Explore vs. change</a:t>
            </a:r>
            <a:endParaRPr lang="en-US" sz="1400" dirty="0"/>
          </a:p>
        </p:txBody>
      </p:sp>
      <p:sp>
        <p:nvSpPr>
          <p:cNvPr id="22" name="Text 18"/>
          <p:cNvSpPr/>
          <p:nvPr/>
        </p:nvSpPr>
        <p:spPr>
          <a:xfrm>
            <a:off x="2828776" y="2851845"/>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Chats for questions, project sessions for code</a:t>
            </a:r>
            <a:endParaRPr lang="en-US" sz="1400" dirty="0"/>
          </a:p>
        </p:txBody>
      </p:sp>
      <p:sp>
        <p:nvSpPr>
          <p:cNvPr id="23" name="Shape 19"/>
          <p:cNvSpPr/>
          <p:nvPr/>
        </p:nvSpPr>
        <p:spPr>
          <a:xfrm>
            <a:off x="517475" y="3791694"/>
            <a:ext cx="8108900" cy="0"/>
          </a:xfrm>
          <a:prstGeom prst="line">
            <a:avLst/>
          </a:prstGeom>
          <a:noFill/>
          <a:ln w="9525">
            <a:solidFill>
              <a:srgbClr val="D1D9E0"/>
            </a:solidFill>
            <a:prstDash val="solid"/>
          </a:ln>
        </p:spPr>
      </p:sp>
      <p:sp>
        <p:nvSpPr>
          <p:cNvPr id="24" name="Text 20"/>
          <p:cNvSpPr/>
          <p:nvPr/>
        </p:nvSpPr>
        <p:spPr>
          <a:xfrm>
            <a:off x="669875" y="3271391"/>
            <a:ext cx="1891183" cy="41404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Progress buried in chat</a:t>
            </a:r>
            <a:endParaRPr lang="en-US" sz="1400" dirty="0"/>
          </a:p>
        </p:txBody>
      </p:sp>
      <p:sp>
        <p:nvSpPr>
          <p:cNvPr id="25" name="Text 21"/>
          <p:cNvSpPr/>
          <p:nvPr/>
        </p:nvSpPr>
        <p:spPr>
          <a:xfrm>
            <a:off x="2828776" y="337482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Canvases: a shared board you and the agent update</a:t>
            </a:r>
            <a:endParaRPr lang="en-US" sz="1400" dirty="0"/>
          </a:p>
        </p:txBody>
      </p:sp>
      <p:sp>
        <p:nvSpPr>
          <p:cNvPr id="26" name="Text 22"/>
          <p:cNvSpPr/>
          <p:nvPr/>
        </p:nvSpPr>
        <p:spPr>
          <a:xfrm>
            <a:off x="669875" y="389795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Repeat work</a:t>
            </a:r>
            <a:endParaRPr lang="en-US" sz="1400" dirty="0"/>
          </a:p>
        </p:txBody>
      </p:sp>
      <p:sp>
        <p:nvSpPr>
          <p:cNvPr id="27" name="Text 23"/>
          <p:cNvSpPr/>
          <p:nvPr/>
        </p:nvSpPr>
        <p:spPr>
          <a:xfrm>
            <a:off x="2828776" y="389795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Automations that run on demand, on a schedule, or from events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THE APP FITS</a:t>
            </a:r>
            <a:endParaRPr lang="en-US" sz="1250" dirty="0"/>
          </a:p>
        </p:txBody>
      </p:sp>
      <p:sp>
        <p:nvSpPr>
          <p:cNvPr id="7" name="Text 3"/>
          <p:cNvSpPr/>
          <p:nvPr/>
        </p:nvSpPr>
        <p:spPr>
          <a:xfrm>
            <a:off x="507950" y="622250"/>
            <a:ext cx="8161020" cy="8382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Keep your editor. Switch when the job changes.</a:t>
            </a:r>
            <a:endParaRPr lang="en-US" sz="2800" dirty="0"/>
          </a:p>
        </p:txBody>
      </p:sp>
      <p:sp>
        <p:nvSpPr>
          <p:cNvPr id="8" name="Text 4"/>
          <p:cNvSpPr/>
          <p:nvPr/>
        </p:nvSpPr>
        <p:spPr>
          <a:xfrm>
            <a:off x="511076" y="146357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editor-vs-app.jpg">    </p:cNvPr>
          <p:cNvPicPr>
            <a:picLocks noChangeAspect="1"/>
          </p:cNvPicPr>
          <p:nvPr/>
        </p:nvPicPr>
        <p:blipFill>
          <a:blip r:embed="rId4"/>
          <a:stretch>
            <a:fillRect/>
          </a:stretch>
        </p:blipFill>
        <p:spPr>
          <a:xfrm>
            <a:off x="558701" y="1511201"/>
            <a:ext cx="3962400" cy="2641550"/>
          </a:xfrm>
          <a:prstGeom prst="rect">
            <a:avLst/>
          </a:prstGeom>
        </p:spPr>
      </p:pic>
      <p:sp>
        <p:nvSpPr>
          <p:cNvPr id="10" name="Text 5"/>
          <p:cNvSpPr/>
          <p:nvPr/>
        </p:nvSpPr>
        <p:spPr>
          <a:xfrm>
            <a:off x="4825752" y="1432173"/>
            <a:ext cx="3810149" cy="724942"/>
          </a:xfrm>
          <a:prstGeom prst="roundRect">
            <a:avLst>
              <a:gd name="adj" fmla="val 17519"/>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987677" y="160407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de-0969DA.png">    </p:cNvPr>
          <p:cNvPicPr>
            <a:picLocks noChangeAspect="1"/>
          </p:cNvPicPr>
          <p:nvPr/>
        </p:nvPicPr>
        <p:blipFill>
          <a:blip r:embed="rId5"/>
          <a:stretch>
            <a:fillRect/>
          </a:stretch>
        </p:blipFill>
        <p:spPr>
          <a:xfrm>
            <a:off x="5070277" y="1686669"/>
            <a:ext cx="215801" cy="215801"/>
          </a:xfrm>
          <a:prstGeom prst="rect">
            <a:avLst/>
          </a:prstGeom>
        </p:spPr>
      </p:pic>
      <p:sp>
        <p:nvSpPr>
          <p:cNvPr id="13" name="Text 7"/>
          <p:cNvSpPr/>
          <p:nvPr/>
        </p:nvSpPr>
        <p:spPr>
          <a:xfrm>
            <a:off x="5521077" y="1568648"/>
            <a:ext cx="251844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Stay in your editor</a:t>
            </a:r>
            <a:endParaRPr lang="en-US" sz="1550" dirty="0"/>
          </a:p>
        </p:txBody>
      </p:sp>
      <p:sp>
        <p:nvSpPr>
          <p:cNvPr id="14" name="Text 8"/>
          <p:cNvSpPr/>
          <p:nvPr/>
        </p:nvSpPr>
        <p:spPr>
          <a:xfrm>
            <a:off x="5521077" y="1822549"/>
            <a:ext cx="251844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 deep editing and debugging.</a:t>
            </a:r>
            <a:endParaRPr lang="en-US" sz="1350" dirty="0"/>
          </a:p>
        </p:txBody>
      </p:sp>
      <p:sp>
        <p:nvSpPr>
          <p:cNvPr id="15" name="Text 9"/>
          <p:cNvSpPr/>
          <p:nvPr/>
        </p:nvSpPr>
        <p:spPr>
          <a:xfrm>
            <a:off x="4825752" y="2334816"/>
            <a:ext cx="3810149" cy="923032"/>
          </a:xfrm>
          <a:prstGeom prst="roundRect">
            <a:avLst>
              <a:gd name="adj" fmla="val 13759"/>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987677" y="260583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Copilot-8250DF.png">    </p:cNvPr>
          <p:cNvPicPr>
            <a:picLocks noChangeAspect="1"/>
          </p:cNvPicPr>
          <p:nvPr/>
        </p:nvPicPr>
        <p:blipFill>
          <a:blip r:embed="rId6"/>
          <a:stretch>
            <a:fillRect/>
          </a:stretch>
        </p:blipFill>
        <p:spPr>
          <a:xfrm>
            <a:off x="5070277" y="2688431"/>
            <a:ext cx="215801" cy="215801"/>
          </a:xfrm>
          <a:prstGeom prst="rect">
            <a:avLst/>
          </a:prstGeom>
        </p:spPr>
      </p:pic>
      <p:sp>
        <p:nvSpPr>
          <p:cNvPr id="18" name="Text 11"/>
          <p:cNvSpPr/>
          <p:nvPr/>
        </p:nvSpPr>
        <p:spPr>
          <a:xfrm>
            <a:off x="5521077" y="2471291"/>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Open the app to supervise</a:t>
            </a:r>
            <a:endParaRPr lang="en-US" sz="1550" dirty="0"/>
          </a:p>
        </p:txBody>
      </p:sp>
      <p:sp>
        <p:nvSpPr>
          <p:cNvPr id="19" name="Text 12"/>
          <p:cNvSpPr/>
          <p:nvPr/>
        </p:nvSpPr>
        <p:spPr>
          <a:xfrm>
            <a:off x="5521077" y="2725192"/>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 sessions, review changes, ship PRs.</a:t>
            </a:r>
            <a:endParaRPr lang="en-US" sz="1350" dirty="0"/>
          </a:p>
        </p:txBody>
      </p:sp>
      <p:sp>
        <p:nvSpPr>
          <p:cNvPr id="20" name="Text 13"/>
          <p:cNvSpPr/>
          <p:nvPr/>
        </p:nvSpPr>
        <p:spPr>
          <a:xfrm>
            <a:off x="4825752" y="3435548"/>
            <a:ext cx="3810149"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987677" y="370656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LinkExternal-1A7F37.png">    </p:cNvPr>
          <p:cNvPicPr>
            <a:picLocks noChangeAspect="1"/>
          </p:cNvPicPr>
          <p:nvPr/>
        </p:nvPicPr>
        <p:blipFill>
          <a:blip r:embed="rId7"/>
          <a:stretch>
            <a:fillRect/>
          </a:stretch>
        </p:blipFill>
        <p:spPr>
          <a:xfrm>
            <a:off x="5070277" y="3789164"/>
            <a:ext cx="215801" cy="215801"/>
          </a:xfrm>
          <a:prstGeom prst="rect">
            <a:avLst/>
          </a:prstGeom>
        </p:spPr>
      </p:pic>
      <p:sp>
        <p:nvSpPr>
          <p:cNvPr id="23" name="Text 15"/>
          <p:cNvSpPr/>
          <p:nvPr/>
        </p:nvSpPr>
        <p:spPr>
          <a:xfrm>
            <a:off x="5521077" y="3572024"/>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Jump back any time</a:t>
            </a:r>
            <a:endParaRPr lang="en-US" sz="1550" dirty="0"/>
          </a:p>
        </p:txBody>
      </p:sp>
      <p:sp>
        <p:nvSpPr>
          <p:cNvPr id="24" name="Text 16"/>
          <p:cNvSpPr/>
          <p:nvPr/>
        </p:nvSpPr>
        <p:spPr>
          <a:xfrm>
            <a:off x="5521077" y="3825925"/>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Open the project in VS Code from the app.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Tour the app</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sidebar views</a:t>
            </a:r>
            <a:endParaRPr lang="en-US" sz="2800" dirty="0"/>
          </a:p>
        </p:txBody>
      </p:sp>
      <p:sp>
        <p:nvSpPr>
          <p:cNvPr id="8" name="Text 4"/>
          <p:cNvSpPr/>
          <p:nvPr/>
        </p:nvSpPr>
        <p:spPr>
          <a:xfrm>
            <a:off x="687586" y="1247626"/>
            <a:ext cx="2688580" cy="3320951"/>
          </a:xfrm>
          <a:prstGeom prst="roundRect">
            <a:avLst>
              <a:gd name="adj" fmla="val 283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sidebar-crop.png">    </p:cNvPr>
          <p:cNvPicPr>
            <a:picLocks noChangeAspect="1"/>
          </p:cNvPicPr>
          <p:nvPr/>
        </p:nvPicPr>
        <p:blipFill>
          <a:blip r:embed="rId4"/>
          <a:stretch>
            <a:fillRect/>
          </a:stretch>
        </p:blipFill>
        <p:spPr>
          <a:xfrm>
            <a:off x="735211" y="1295251"/>
            <a:ext cx="2593330" cy="3225701"/>
          </a:xfrm>
          <a:prstGeom prst="rect">
            <a:avLst/>
          </a:prstGeom>
        </p:spPr>
      </p:pic>
      <p:sp>
        <p:nvSpPr>
          <p:cNvPr id="10" name="Text 5"/>
          <p:cNvSpPr/>
          <p:nvPr/>
        </p:nvSpPr>
        <p:spPr>
          <a:xfrm>
            <a:off x="4063901" y="1521619"/>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Plus-0969DA.png">    </p:cNvPr>
          <p:cNvPicPr>
            <a:picLocks noChangeAspect="1"/>
          </p:cNvPicPr>
          <p:nvPr/>
        </p:nvPicPr>
        <p:blipFill>
          <a:blip r:embed="rId5"/>
          <a:stretch>
            <a:fillRect/>
          </a:stretch>
        </p:blipFill>
        <p:spPr>
          <a:xfrm>
            <a:off x="4146352" y="1604070"/>
            <a:ext cx="190500" cy="190500"/>
          </a:xfrm>
          <a:prstGeom prst="rect">
            <a:avLst/>
          </a:prstGeom>
        </p:spPr>
      </p:pic>
      <p:sp>
        <p:nvSpPr>
          <p:cNvPr id="12" name="Text 6"/>
          <p:cNvSpPr/>
          <p:nvPr/>
        </p:nvSpPr>
        <p:spPr>
          <a:xfrm>
            <a:off x="4571851" y="1473398"/>
            <a:ext cx="236208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a:t>
            </a:r>
            <a:endParaRPr lang="en-US" sz="1550" dirty="0"/>
          </a:p>
        </p:txBody>
      </p:sp>
      <p:sp>
        <p:nvSpPr>
          <p:cNvPr id="13" name="Text 7"/>
          <p:cNvSpPr/>
          <p:nvPr/>
        </p:nvSpPr>
        <p:spPr>
          <a:xfrm>
            <a:off x="4571851" y="1727299"/>
            <a:ext cx="236208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Start a chat or project session.</a:t>
            </a:r>
            <a:endParaRPr lang="en-US" sz="1350" dirty="0"/>
          </a:p>
        </p:txBody>
      </p:sp>
      <p:sp>
        <p:nvSpPr>
          <p:cNvPr id="14" name="Text 8"/>
          <p:cNvSpPr/>
          <p:nvPr/>
        </p:nvSpPr>
        <p:spPr>
          <a:xfrm>
            <a:off x="4063901" y="2126010"/>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GitPullRequest-8250DF.png">    </p:cNvPr>
          <p:cNvPicPr>
            <a:picLocks noChangeAspect="1"/>
          </p:cNvPicPr>
          <p:nvPr/>
        </p:nvPicPr>
        <p:blipFill>
          <a:blip r:embed="rId6"/>
          <a:stretch>
            <a:fillRect/>
          </a:stretch>
        </p:blipFill>
        <p:spPr>
          <a:xfrm>
            <a:off x="4146352" y="2208461"/>
            <a:ext cx="190500" cy="190500"/>
          </a:xfrm>
          <a:prstGeom prst="rect">
            <a:avLst/>
          </a:prstGeom>
        </p:spPr>
      </p:pic>
      <p:sp>
        <p:nvSpPr>
          <p:cNvPr id="16" name="Text 9"/>
          <p:cNvSpPr/>
          <p:nvPr/>
        </p:nvSpPr>
        <p:spPr>
          <a:xfrm>
            <a:off x="4571851" y="2077789"/>
            <a:ext cx="236192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 and Issues</a:t>
            </a:r>
            <a:endParaRPr lang="en-US" sz="1550" dirty="0"/>
          </a:p>
        </p:txBody>
      </p:sp>
      <p:sp>
        <p:nvSpPr>
          <p:cNvPr id="17" name="Text 10"/>
          <p:cNvSpPr/>
          <p:nvPr/>
        </p:nvSpPr>
        <p:spPr>
          <a:xfrm>
            <a:off x="4571851" y="2331690"/>
            <a:ext cx="236192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GitHub work that involves you.</a:t>
            </a:r>
            <a:endParaRPr lang="en-US" sz="1350" dirty="0"/>
          </a:p>
        </p:txBody>
      </p:sp>
      <p:sp>
        <p:nvSpPr>
          <p:cNvPr id="18" name="Text 11"/>
          <p:cNvSpPr/>
          <p:nvPr/>
        </p:nvSpPr>
        <p:spPr>
          <a:xfrm>
            <a:off x="4063901" y="2730401"/>
            <a:ext cx="355550" cy="355550"/>
          </a:xfrm>
          <a:prstGeom prst="roundRect">
            <a:avLst>
              <a:gd name="adj" fmla="val 25004"/>
            </a:avLst>
          </a:prstGeom>
          <a:solidFill>
            <a:srgbClr val="FFF1E5"/>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Clock-BC4C00.png">    </p:cNvPr>
          <p:cNvPicPr>
            <a:picLocks noChangeAspect="1"/>
          </p:cNvPicPr>
          <p:nvPr/>
        </p:nvPicPr>
        <p:blipFill>
          <a:blip r:embed="rId7"/>
          <a:stretch>
            <a:fillRect/>
          </a:stretch>
        </p:blipFill>
        <p:spPr>
          <a:xfrm>
            <a:off x="4146352" y="2812852"/>
            <a:ext cx="190500" cy="190500"/>
          </a:xfrm>
          <a:prstGeom prst="rect">
            <a:avLst/>
          </a:prstGeom>
        </p:spPr>
      </p:pic>
      <p:sp>
        <p:nvSpPr>
          <p:cNvPr id="20" name="Text 12"/>
          <p:cNvSpPr/>
          <p:nvPr/>
        </p:nvSpPr>
        <p:spPr>
          <a:xfrm>
            <a:off x="4571851" y="2682180"/>
            <a:ext cx="260557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21" name="Text 13"/>
          <p:cNvSpPr/>
          <p:nvPr/>
        </p:nvSpPr>
        <p:spPr>
          <a:xfrm>
            <a:off x="4571851" y="2936081"/>
            <a:ext cx="260557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Saved agent tasks that run again.</a:t>
            </a:r>
            <a:endParaRPr lang="en-US" sz="1350" dirty="0"/>
          </a:p>
        </p:txBody>
      </p:sp>
      <p:sp>
        <p:nvSpPr>
          <p:cNvPr id="22" name="Text 14"/>
          <p:cNvSpPr/>
          <p:nvPr/>
        </p:nvSpPr>
        <p:spPr>
          <a:xfrm>
            <a:off x="4063901" y="3334792"/>
            <a:ext cx="355550" cy="355550"/>
          </a:xfrm>
          <a:prstGeom prst="roundRect">
            <a:avLst>
              <a:gd name="adj" fmla="val 25004"/>
            </a:avLst>
          </a:prstGeom>
          <a:solidFill>
            <a:srgbClr val="DAFBE1"/>
          </a:solidFill>
          <a:ln/>
        </p:spPr>
        <p:txBody>
          <a:bodyPr wrap="square" rtlCol="0" anchor="ctr"/>
          <a:lstStyle/>
          <a:p>
            <a:pPr indent="0" marL="0">
              <a:buNone/>
            </a:pPr>
            <a:endParaRPr lang="en-US" dirty="0"/>
          </a:p>
        </p:txBody>
      </p:sp>
      <p:pic>
        <p:nvPicPr>
          <p:cNvPr id="23" name="Image 6" descr="/Users/danwahlin/.copilot/session-state/56a7a0da-def8-48d4-b5e8-0ac3878cb8dd/files/slides-build/icons/GoPlug-1A7F37.png">    </p:cNvPr>
          <p:cNvPicPr>
            <a:picLocks noChangeAspect="1"/>
          </p:cNvPicPr>
          <p:nvPr/>
        </p:nvPicPr>
        <p:blipFill>
          <a:blip r:embed="rId8"/>
          <a:stretch>
            <a:fillRect/>
          </a:stretch>
        </p:blipFill>
        <p:spPr>
          <a:xfrm>
            <a:off x="4146352" y="3417243"/>
            <a:ext cx="190500" cy="190500"/>
          </a:xfrm>
          <a:prstGeom prst="rect">
            <a:avLst/>
          </a:prstGeom>
        </p:spPr>
      </p:pic>
      <p:sp>
        <p:nvSpPr>
          <p:cNvPr id="24" name="Text 15"/>
          <p:cNvSpPr/>
          <p:nvPr/>
        </p:nvSpPr>
        <p:spPr>
          <a:xfrm>
            <a:off x="4571851" y="3286571"/>
            <a:ext cx="274766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Customize</a:t>
            </a:r>
            <a:endParaRPr lang="en-US" sz="1550" dirty="0"/>
          </a:p>
        </p:txBody>
      </p:sp>
      <p:sp>
        <p:nvSpPr>
          <p:cNvPr id="25" name="Text 16"/>
          <p:cNvSpPr/>
          <p:nvPr/>
        </p:nvSpPr>
        <p:spPr>
          <a:xfrm>
            <a:off x="4571851" y="3540472"/>
            <a:ext cx="274766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Skills, MCP, plugins, and canvases.</a:t>
            </a:r>
            <a:endParaRPr lang="en-US" sz="1350" dirty="0"/>
          </a:p>
        </p:txBody>
      </p:sp>
      <p:sp>
        <p:nvSpPr>
          <p:cNvPr id="26" name="Text 17"/>
          <p:cNvSpPr/>
          <p:nvPr/>
        </p:nvSpPr>
        <p:spPr>
          <a:xfrm>
            <a:off x="4063901" y="3939183"/>
            <a:ext cx="355550" cy="355550"/>
          </a:xfrm>
          <a:prstGeom prst="roundRect">
            <a:avLst>
              <a:gd name="adj" fmla="val 25004"/>
            </a:avLst>
          </a:prstGeom>
          <a:solidFill>
            <a:srgbClr val="F6F8FA"/>
          </a:solidFill>
          <a:ln/>
        </p:spPr>
        <p:txBody>
          <a:bodyPr wrap="square" rtlCol="0" anchor="ctr"/>
          <a:lstStyle/>
          <a:p>
            <a:pPr indent="0" marL="0">
              <a:buNone/>
            </a:pPr>
            <a:endParaRPr lang="en-US" dirty="0"/>
          </a:p>
        </p:txBody>
      </p:sp>
      <p:pic>
        <p:nvPicPr>
          <p:cNvPr id="27" name="Image 7" descr="/Users/danwahlin/.copilot/session-state/56a7a0da-def8-48d4-b5e8-0ac3878cb8dd/files/slides-build/icons/GoKebabHorizontal-59636E.png">    </p:cNvPr>
          <p:cNvPicPr>
            <a:picLocks noChangeAspect="1"/>
          </p:cNvPicPr>
          <p:nvPr/>
        </p:nvPicPr>
        <p:blipFill>
          <a:blip r:embed="rId9"/>
          <a:stretch>
            <a:fillRect/>
          </a:stretch>
        </p:blipFill>
        <p:spPr>
          <a:xfrm>
            <a:off x="4146352" y="4021634"/>
            <a:ext cx="190500" cy="190500"/>
          </a:xfrm>
          <a:prstGeom prst="rect">
            <a:avLst/>
          </a:prstGeom>
        </p:spPr>
      </p:pic>
      <p:sp>
        <p:nvSpPr>
          <p:cNvPr id="28" name="Text 18"/>
          <p:cNvSpPr/>
          <p:nvPr/>
        </p:nvSpPr>
        <p:spPr>
          <a:xfrm>
            <a:off x="4571851" y="3890962"/>
            <a:ext cx="22165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More</a:t>
            </a:r>
            <a:endParaRPr lang="en-US" sz="1550" dirty="0"/>
          </a:p>
        </p:txBody>
      </p:sp>
      <p:sp>
        <p:nvSpPr>
          <p:cNvPr id="29" name="Text 19"/>
          <p:cNvSpPr/>
          <p:nvPr/>
        </p:nvSpPr>
        <p:spPr>
          <a:xfrm>
            <a:off x="4571851" y="4144863"/>
            <a:ext cx="22165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which views appear.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Your GitHub work, in two views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practice items from setup already appear here.</a:t>
            </a:r>
            <a:endParaRPr lang="en-US" sz="1650" dirty="0"/>
          </a:p>
        </p:txBody>
      </p:sp>
      <p:sp>
        <p:nvSpPr>
          <p:cNvPr id="9" name="Text 5"/>
          <p:cNvSpPr/>
          <p:nvPr/>
        </p:nvSpPr>
        <p:spPr>
          <a:xfrm>
            <a:off x="511076" y="1975396"/>
            <a:ext cx="3956000" cy="1642021"/>
          </a:xfrm>
          <a:prstGeom prst="roundRect">
            <a:avLst>
              <a:gd name="adj" fmla="val 464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ulls-crop.png">    </p:cNvPr>
          <p:cNvPicPr>
            <a:picLocks noChangeAspect="1"/>
          </p:cNvPicPr>
          <p:nvPr/>
        </p:nvPicPr>
        <p:blipFill>
          <a:blip r:embed="rId4"/>
          <a:stretch>
            <a:fillRect/>
          </a:stretch>
        </p:blipFill>
        <p:spPr>
          <a:xfrm>
            <a:off x="558701" y="2023021"/>
            <a:ext cx="3860750" cy="1546771"/>
          </a:xfrm>
          <a:prstGeom prst="rect">
            <a:avLst/>
          </a:prstGeom>
        </p:spPr>
      </p:pic>
      <p:sp>
        <p:nvSpPr>
          <p:cNvPr id="11" name="Text 6"/>
          <p:cNvSpPr/>
          <p:nvPr/>
        </p:nvSpPr>
        <p:spPr>
          <a:xfrm>
            <a:off x="507950" y="4165402"/>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PullRequest-0969DA.png">    </p:cNvPr>
          <p:cNvPicPr>
            <a:picLocks noChangeAspect="1"/>
          </p:cNvPicPr>
          <p:nvPr/>
        </p:nvPicPr>
        <p:blipFill>
          <a:blip r:embed="rId5"/>
          <a:stretch>
            <a:fillRect/>
          </a:stretch>
        </p:blipFill>
        <p:spPr>
          <a:xfrm>
            <a:off x="590401" y="4247852"/>
            <a:ext cx="190500" cy="190500"/>
          </a:xfrm>
          <a:prstGeom prst="rect">
            <a:avLst/>
          </a:prstGeom>
        </p:spPr>
      </p:pic>
      <p:sp>
        <p:nvSpPr>
          <p:cNvPr id="13" name="Text 7"/>
          <p:cNvSpPr/>
          <p:nvPr/>
        </p:nvSpPr>
        <p:spPr>
          <a:xfrm>
            <a:off x="1015901" y="4117181"/>
            <a:ext cx="248777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a:t>
            </a:r>
            <a:endParaRPr lang="en-US" sz="1550" dirty="0"/>
          </a:p>
        </p:txBody>
      </p:sp>
      <p:sp>
        <p:nvSpPr>
          <p:cNvPr id="14" name="Text 8"/>
          <p:cNvSpPr/>
          <p:nvPr/>
        </p:nvSpPr>
        <p:spPr>
          <a:xfrm>
            <a:off x="1015901" y="4371082"/>
            <a:ext cx="24877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PRs: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Authored by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9"/>
          <p:cNvSpPr/>
          <p:nvPr/>
        </p:nvSpPr>
        <p:spPr>
          <a:xfrm>
            <a:off x="4676626" y="2125861"/>
            <a:ext cx="3956000" cy="1341090"/>
          </a:xfrm>
          <a:prstGeom prst="roundRect">
            <a:avLst>
              <a:gd name="adj" fmla="val 568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4" descr="/Users/danwahlin/.copilot/session-state/56a7a0da-def8-48d4-b5e8-0ac3878cb8dd/files/slides-build/img/01-issues-crop.png">    </p:cNvPr>
          <p:cNvPicPr>
            <a:picLocks noChangeAspect="1"/>
          </p:cNvPicPr>
          <p:nvPr/>
        </p:nvPicPr>
        <p:blipFill>
          <a:blip r:embed="rId6"/>
          <a:stretch>
            <a:fillRect/>
          </a:stretch>
        </p:blipFill>
        <p:spPr>
          <a:xfrm>
            <a:off x="4724251" y="2173486"/>
            <a:ext cx="3860750" cy="1245840"/>
          </a:xfrm>
          <a:prstGeom prst="rect">
            <a:avLst/>
          </a:prstGeom>
        </p:spPr>
      </p:pic>
      <p:sp>
        <p:nvSpPr>
          <p:cNvPr id="17" name="Text 10"/>
          <p:cNvSpPr/>
          <p:nvPr/>
        </p:nvSpPr>
        <p:spPr>
          <a:xfrm>
            <a:off x="4673501" y="4165402"/>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8" name="Image 5" descr="/Users/danwahlin/.copilot/session-state/56a7a0da-def8-48d4-b5e8-0ac3878cb8dd/files/slides-build/icons/GoIssueOpened-8250DF.png">    </p:cNvPr>
          <p:cNvPicPr>
            <a:picLocks noChangeAspect="1"/>
          </p:cNvPicPr>
          <p:nvPr/>
        </p:nvPicPr>
        <p:blipFill>
          <a:blip r:embed="rId7"/>
          <a:stretch>
            <a:fillRect/>
          </a:stretch>
        </p:blipFill>
        <p:spPr>
          <a:xfrm>
            <a:off x="4755952" y="4247852"/>
            <a:ext cx="190500" cy="190500"/>
          </a:xfrm>
          <a:prstGeom prst="rect">
            <a:avLst/>
          </a:prstGeom>
        </p:spPr>
      </p:pic>
      <p:sp>
        <p:nvSpPr>
          <p:cNvPr id="19" name="Text 11"/>
          <p:cNvSpPr/>
          <p:nvPr/>
        </p:nvSpPr>
        <p:spPr>
          <a:xfrm>
            <a:off x="5181451" y="4117181"/>
            <a:ext cx="26240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Issues</a:t>
            </a:r>
            <a:endParaRPr lang="en-US" sz="1550" dirty="0"/>
          </a:p>
        </p:txBody>
      </p:sp>
      <p:sp>
        <p:nvSpPr>
          <p:cNvPr id="20" name="Text 12"/>
          <p:cNvSpPr/>
          <p:nvPr/>
        </p:nvSpPr>
        <p:spPr>
          <a:xfrm>
            <a:off x="5181451" y="4371082"/>
            <a:ext cx="26240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issues: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Assigned to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Automations and settings</a:t>
            </a:r>
            <a:endParaRPr lang="en-US" sz="2800" dirty="0"/>
          </a:p>
        </p:txBody>
      </p:sp>
      <p:sp>
        <p:nvSpPr>
          <p:cNvPr id="8" name="Text 4"/>
          <p:cNvSpPr/>
          <p:nvPr/>
        </p:nvSpPr>
        <p:spPr>
          <a:xfrm>
            <a:off x="511076" y="1659880"/>
            <a:ext cx="7105650" cy="1421011"/>
          </a:xfrm>
          <a:prstGeom prst="roundRect">
            <a:avLst>
              <a:gd name="adj" fmla="val 536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automations-crop.png">    </p:cNvPr>
          <p:cNvPicPr>
            <a:picLocks noChangeAspect="1"/>
          </p:cNvPicPr>
          <p:nvPr/>
        </p:nvPicPr>
        <p:blipFill>
          <a:blip r:embed="rId4"/>
          <a:stretch>
            <a:fillRect/>
          </a:stretch>
        </p:blipFill>
        <p:spPr>
          <a:xfrm>
            <a:off x="558701" y="1707505"/>
            <a:ext cx="7010400" cy="1325761"/>
          </a:xfrm>
          <a:prstGeom prst="rect">
            <a:avLst/>
          </a:prstGeom>
        </p:spPr>
      </p:pic>
      <p:sp>
        <p:nvSpPr>
          <p:cNvPr id="10" name="Text 5"/>
          <p:cNvSpPr/>
          <p:nvPr/>
        </p:nvSpPr>
        <p:spPr>
          <a:xfrm>
            <a:off x="507950" y="3551486"/>
            <a:ext cx="4514701" cy="923032"/>
          </a:xfrm>
          <a:prstGeom prst="roundRect">
            <a:avLst>
              <a:gd name="adj" fmla="val 13759"/>
            </a:avLst>
          </a:prstGeom>
          <a:solidFill>
            <a:srgbClr val="FFFFFF"/>
          </a:solidFill>
          <a:ln w="9525">
            <a:solidFill>
              <a:srgbClr val="FFC49B"/>
            </a:solidFill>
          </a:ln>
        </p:spPr>
        <p:txBody>
          <a:bodyPr wrap="square" rtlCol="0" anchor="ctr"/>
          <a:lstStyle/>
          <a:p>
            <a:pPr indent="0" marL="0">
              <a:buNone/>
            </a:pPr>
            <a:endParaRPr lang="en-US" dirty="0"/>
          </a:p>
        </p:txBody>
      </p:sp>
      <p:sp>
        <p:nvSpPr>
          <p:cNvPr id="11" name="Text 6"/>
          <p:cNvSpPr/>
          <p:nvPr/>
        </p:nvSpPr>
        <p:spPr>
          <a:xfrm>
            <a:off x="669875" y="3822502"/>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lock-BC4C00.png">    </p:cNvPr>
          <p:cNvPicPr>
            <a:picLocks noChangeAspect="1"/>
          </p:cNvPicPr>
          <p:nvPr/>
        </p:nvPicPr>
        <p:blipFill>
          <a:blip r:embed="rId5"/>
          <a:stretch>
            <a:fillRect/>
          </a:stretch>
        </p:blipFill>
        <p:spPr>
          <a:xfrm>
            <a:off x="752475" y="3905101"/>
            <a:ext cx="215801" cy="215801"/>
          </a:xfrm>
          <a:prstGeom prst="rect">
            <a:avLst/>
          </a:prstGeom>
        </p:spPr>
      </p:pic>
      <p:sp>
        <p:nvSpPr>
          <p:cNvPr id="13" name="Text 7"/>
          <p:cNvSpPr/>
          <p:nvPr/>
        </p:nvSpPr>
        <p:spPr>
          <a:xfrm>
            <a:off x="1203275" y="3687961"/>
            <a:ext cx="37306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14" name="Text 8"/>
          <p:cNvSpPr/>
          <p:nvPr/>
        </p:nvSpPr>
        <p:spPr>
          <a:xfrm>
            <a:off x="1203275" y="3941862"/>
            <a:ext cx="3730600"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Templates you run manually, on a schedule, or from events.</a:t>
            </a:r>
            <a:endParaRPr lang="en-US" sz="1350" dirty="0"/>
          </a:p>
        </p:txBody>
      </p:sp>
      <p:sp>
        <p:nvSpPr>
          <p:cNvPr id="15" name="Text 9"/>
          <p:cNvSpPr/>
          <p:nvPr/>
        </p:nvSpPr>
        <p:spPr>
          <a:xfrm>
            <a:off x="5200352" y="3551486"/>
            <a:ext cx="3435548"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0"/>
          <p:cNvSpPr/>
          <p:nvPr/>
        </p:nvSpPr>
        <p:spPr>
          <a:xfrm>
            <a:off x="5362277" y="382250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Gear-1A7F37.png">    </p:cNvPr>
          <p:cNvPicPr>
            <a:picLocks noChangeAspect="1"/>
          </p:cNvPicPr>
          <p:nvPr/>
        </p:nvPicPr>
        <p:blipFill>
          <a:blip r:embed="rId6"/>
          <a:stretch>
            <a:fillRect/>
          </a:stretch>
        </p:blipFill>
        <p:spPr>
          <a:xfrm>
            <a:off x="5444877" y="3905101"/>
            <a:ext cx="215801" cy="215801"/>
          </a:xfrm>
          <a:prstGeom prst="rect">
            <a:avLst/>
          </a:prstGeom>
        </p:spPr>
      </p:pic>
      <p:sp>
        <p:nvSpPr>
          <p:cNvPr id="18" name="Text 11"/>
          <p:cNvSpPr/>
          <p:nvPr/>
        </p:nvSpPr>
        <p:spPr>
          <a:xfrm>
            <a:off x="5895677" y="3687961"/>
            <a:ext cx="26298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Settings</a:t>
            </a:r>
            <a:endParaRPr lang="en-US" sz="1550" dirty="0"/>
          </a:p>
        </p:txBody>
      </p:sp>
      <p:sp>
        <p:nvSpPr>
          <p:cNvPr id="19" name="Text 12"/>
          <p:cNvSpPr/>
          <p:nvPr/>
        </p:nvSpPr>
        <p:spPr>
          <a:xfrm>
            <a:off x="5895677" y="3941862"/>
            <a:ext cx="26298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gear icon at the bottom of the sidebar.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Sessions, modes, and models</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the control room</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producer does not direct every song the same way.</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roducer-control-room-mod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mmentDiscussion-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32221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Chat</a:t>
            </a:r>
            <a:endParaRPr lang="en-US" sz="1550" dirty="0"/>
          </a:p>
        </p:txBody>
      </p:sp>
      <p:sp>
        <p:nvSpPr>
          <p:cNvPr id="14" name="Text 8"/>
          <p:cNvSpPr/>
          <p:nvPr/>
        </p:nvSpPr>
        <p:spPr>
          <a:xfrm>
            <a:off x="5537150" y="1851868"/>
            <a:ext cx="132221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quick question.</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3122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Interactive</a:t>
            </a:r>
            <a:endParaRPr lang="en-US" sz="1550" dirty="0"/>
          </a:p>
        </p:txBody>
      </p:sp>
      <p:sp>
        <p:nvSpPr>
          <p:cNvPr id="18" name="Text 11"/>
          <p:cNvSpPr/>
          <p:nvPr/>
        </p:nvSpPr>
        <p:spPr>
          <a:xfrm>
            <a:off x="5537150" y="2710160"/>
            <a:ext cx="13122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Direct each take.</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hec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9425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Plan</a:t>
            </a:r>
            <a:endParaRPr lang="en-US" sz="1550" dirty="0"/>
          </a:p>
        </p:txBody>
      </p:sp>
      <p:sp>
        <p:nvSpPr>
          <p:cNvPr id="22" name="Text 14"/>
          <p:cNvSpPr/>
          <p:nvPr/>
        </p:nvSpPr>
        <p:spPr>
          <a:xfrm>
            <a:off x="5537150" y="3568452"/>
            <a:ext cx="9425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Chart it first.</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Rocke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64935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Autopilot</a:t>
            </a:r>
            <a:endParaRPr lang="en-US" sz="1550" dirty="0"/>
          </a:p>
        </p:txBody>
      </p:sp>
      <p:sp>
        <p:nvSpPr>
          <p:cNvPr id="26" name="Text 17"/>
          <p:cNvSpPr/>
          <p:nvPr/>
        </p:nvSpPr>
        <p:spPr>
          <a:xfrm>
            <a:off x="5537150" y="4426744"/>
            <a:ext cx="164935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Hand off a clear task.</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SESSIONS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Chat or project session?</a:t>
            </a:r>
            <a:endParaRPr lang="en-US" sz="2800" dirty="0"/>
          </a:p>
        </p:txBody>
      </p:sp>
      <p:sp>
        <p:nvSpPr>
          <p:cNvPr id="8" name="Text 4"/>
          <p:cNvSpPr/>
          <p:nvPr/>
        </p:nvSpPr>
        <p:spPr>
          <a:xfrm>
            <a:off x="507950" y="1244501"/>
            <a:ext cx="3962400" cy="3327350"/>
          </a:xfrm>
          <a:prstGeom prst="roundRect">
            <a:avLst>
              <a:gd name="adj" fmla="val 3817"/>
            </a:avLst>
          </a:prstGeom>
          <a:solidFill>
            <a:srgbClr val="FFFFFF"/>
          </a:solidFill>
          <a:ln w="9525">
            <a:solidFill>
              <a:srgbClr val="9CD7FF"/>
            </a:solidFill>
          </a:ln>
        </p:spPr>
        <p:txBody>
          <a:bodyPr wrap="square" rtlCol="0" anchor="ctr"/>
          <a:lstStyle/>
          <a:p>
            <a:pPr indent="0" marL="0">
              <a:buNone/>
            </a:pPr>
            <a:endParaRPr lang="en-US" dirty="0"/>
          </a:p>
        </p:txBody>
      </p:sp>
      <p:sp>
        <p:nvSpPr>
          <p:cNvPr id="9" name="Text 5"/>
          <p:cNvSpPr/>
          <p:nvPr/>
        </p:nvSpPr>
        <p:spPr>
          <a:xfrm>
            <a:off x="695176" y="14317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CommentDiscussion-0969DA.png">    </p:cNvPr>
          <p:cNvPicPr>
            <a:picLocks noChangeAspect="1"/>
          </p:cNvPicPr>
          <p:nvPr/>
        </p:nvPicPr>
        <p:blipFill>
          <a:blip r:embed="rId4"/>
          <a:stretch>
            <a:fillRect/>
          </a:stretch>
        </p:blipFill>
        <p:spPr>
          <a:xfrm>
            <a:off x="777776" y="1514326"/>
            <a:ext cx="215801" cy="215801"/>
          </a:xfrm>
          <a:prstGeom prst="rect">
            <a:avLst/>
          </a:prstGeom>
        </p:spPr>
      </p:pic>
      <p:sp>
        <p:nvSpPr>
          <p:cNvPr id="11" name="Text 6"/>
          <p:cNvSpPr/>
          <p:nvPr/>
        </p:nvSpPr>
        <p:spPr>
          <a:xfrm>
            <a:off x="1190476" y="1507927"/>
            <a:ext cx="133041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Chat session</a:t>
            </a:r>
            <a:endParaRPr lang="en-US" sz="1650" dirty="0"/>
          </a:p>
        </p:txBody>
      </p:sp>
      <p:sp>
        <p:nvSpPr>
          <p:cNvPr id="12" name="Text 7"/>
          <p:cNvSpPr/>
          <p:nvPr/>
        </p:nvSpPr>
        <p:spPr>
          <a:xfrm>
            <a:off x="695176"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3" name="Text 8"/>
          <p:cNvSpPr/>
          <p:nvPr/>
        </p:nvSpPr>
        <p:spPr>
          <a:xfrm>
            <a:off x="853827" y="1888927"/>
            <a:ext cx="2246558"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Ask, brainstorm, summarize</a:t>
            </a:r>
            <a:endParaRPr lang="en-US" sz="1400" dirty="0"/>
          </a:p>
        </p:txBody>
      </p:sp>
      <p:sp>
        <p:nvSpPr>
          <p:cNvPr id="14" name="Text 9"/>
          <p:cNvSpPr/>
          <p:nvPr/>
        </p:nvSpPr>
        <p:spPr>
          <a:xfrm>
            <a:off x="695176"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5" name="Text 10"/>
          <p:cNvSpPr/>
          <p:nvPr/>
        </p:nvSpPr>
        <p:spPr>
          <a:xfrm>
            <a:off x="853827" y="2159347"/>
            <a:ext cx="1803591"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No</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branch or worktree</a:t>
            </a:r>
            <a:endParaRPr lang="en-US" sz="1400" dirty="0"/>
          </a:p>
        </p:txBody>
      </p:sp>
      <p:sp>
        <p:nvSpPr>
          <p:cNvPr id="16" name="Text 11"/>
          <p:cNvSpPr/>
          <p:nvPr/>
        </p:nvSpPr>
        <p:spPr>
          <a:xfrm>
            <a:off x="695176"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7" name="Text 12"/>
          <p:cNvSpPr/>
          <p:nvPr/>
        </p:nvSpPr>
        <p:spPr>
          <a:xfrm>
            <a:off x="853827" y="2429768"/>
            <a:ext cx="152169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Chat</a:t>
            </a:r>
            <a:endParaRPr lang="en-US" sz="1400" dirty="0"/>
          </a:p>
        </p:txBody>
      </p:sp>
      <p:sp>
        <p:nvSpPr>
          <p:cNvPr id="18" name="Text 13"/>
          <p:cNvSpPr/>
          <p:nvPr/>
        </p:nvSpPr>
        <p:spPr>
          <a:xfrm>
            <a:off x="695176" y="3445073"/>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9" name="Shape 14"/>
          <p:cNvSpPr/>
          <p:nvPr/>
        </p:nvSpPr>
        <p:spPr>
          <a:xfrm>
            <a:off x="695176" y="3449836"/>
            <a:ext cx="3587948" cy="0"/>
          </a:xfrm>
          <a:prstGeom prst="line">
            <a:avLst/>
          </a:prstGeom>
          <a:noFill/>
          <a:ln w="9525">
            <a:solidFill>
              <a:srgbClr val="9CD7FF"/>
            </a:solidFill>
            <a:prstDash val="solid"/>
          </a:ln>
        </p:spPr>
      </p:sp>
      <p:sp>
        <p:nvSpPr>
          <p:cNvPr id="20" name="Shape 15"/>
          <p:cNvSpPr/>
          <p:nvPr/>
        </p:nvSpPr>
        <p:spPr>
          <a:xfrm>
            <a:off x="4278362" y="3445073"/>
            <a:ext cx="0" cy="939552"/>
          </a:xfrm>
          <a:prstGeom prst="line">
            <a:avLst/>
          </a:prstGeom>
          <a:noFill/>
          <a:ln w="9525">
            <a:solidFill>
              <a:srgbClr val="9CD7FF"/>
            </a:solidFill>
            <a:prstDash val="solid"/>
          </a:ln>
        </p:spPr>
      </p:sp>
      <p:sp>
        <p:nvSpPr>
          <p:cNvPr id="21" name="Shape 16"/>
          <p:cNvSpPr/>
          <p:nvPr/>
        </p:nvSpPr>
        <p:spPr>
          <a:xfrm>
            <a:off x="695176" y="4379863"/>
            <a:ext cx="3587948" cy="0"/>
          </a:xfrm>
          <a:prstGeom prst="line">
            <a:avLst/>
          </a:prstGeom>
          <a:noFill/>
          <a:ln w="9525">
            <a:solidFill>
              <a:srgbClr val="9CD7FF"/>
            </a:solidFill>
            <a:prstDash val="solid"/>
          </a:ln>
        </p:spPr>
      </p:sp>
      <p:sp>
        <p:nvSpPr>
          <p:cNvPr id="22" name="Shape 17"/>
          <p:cNvSpPr/>
          <p:nvPr/>
        </p:nvSpPr>
        <p:spPr>
          <a:xfrm>
            <a:off x="718989" y="3445073"/>
            <a:ext cx="0" cy="939552"/>
          </a:xfrm>
          <a:prstGeom prst="line">
            <a:avLst/>
          </a:prstGeom>
          <a:noFill/>
          <a:ln w="47625">
            <a:solidFill>
              <a:srgbClr val="0969DA"/>
            </a:solidFill>
            <a:prstDash val="solid"/>
          </a:ln>
        </p:spPr>
      </p:sp>
      <p:pic>
        <p:nvPicPr>
          <p:cNvPr id="23" name="Image 3" descr="/Users/danwahlin/.copilot/session-state/56a7a0da-def8-48d4-b5e8-0ac3878cb8dd/files/slides-build/icons/GoCopilot-0969DA.png">    </p:cNvPr>
          <p:cNvPicPr>
            <a:picLocks noChangeAspect="1"/>
          </p:cNvPicPr>
          <p:nvPr/>
        </p:nvPicPr>
        <p:blipFill>
          <a:blip r:embed="rId5"/>
          <a:stretch>
            <a:fillRect/>
          </a:stretch>
        </p:blipFill>
        <p:spPr>
          <a:xfrm>
            <a:off x="920502" y="3584674"/>
            <a:ext cx="165050" cy="165050"/>
          </a:xfrm>
          <a:prstGeom prst="rect">
            <a:avLst/>
          </a:prstGeom>
        </p:spPr>
      </p:pic>
      <p:sp>
        <p:nvSpPr>
          <p:cNvPr id="24" name="Text 18"/>
          <p:cNvSpPr/>
          <p:nvPr/>
        </p:nvSpPr>
        <p:spPr>
          <a:xfrm>
            <a:off x="1161752" y="3581549"/>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25" name="Text 19"/>
          <p:cNvSpPr/>
          <p:nvPr/>
        </p:nvSpPr>
        <p:spPr>
          <a:xfrm>
            <a:off x="920502" y="3803749"/>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When should I use a chat vs. a project session? Do not change files.</a:t>
            </a:r>
            <a:endParaRPr lang="en-US" sz="1400" dirty="0"/>
          </a:p>
        </p:txBody>
      </p:sp>
      <p:sp>
        <p:nvSpPr>
          <p:cNvPr id="26" name="Text 20"/>
          <p:cNvSpPr/>
          <p:nvPr/>
        </p:nvSpPr>
        <p:spPr>
          <a:xfrm>
            <a:off x="4673501" y="1244501"/>
            <a:ext cx="3962400" cy="3327350"/>
          </a:xfrm>
          <a:prstGeom prst="roundRect">
            <a:avLst>
              <a:gd name="adj" fmla="val 3817"/>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4860727" y="143172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4" descr="/Users/danwahlin/.copilot/session-state/56a7a0da-def8-48d4-b5e8-0ac3878cb8dd/files/slides-build/icons/GoRepo-8250DF.png">    </p:cNvPr>
          <p:cNvPicPr>
            <a:picLocks noChangeAspect="1"/>
          </p:cNvPicPr>
          <p:nvPr/>
        </p:nvPicPr>
        <p:blipFill>
          <a:blip r:embed="rId6"/>
          <a:stretch>
            <a:fillRect/>
          </a:stretch>
        </p:blipFill>
        <p:spPr>
          <a:xfrm>
            <a:off x="4943326" y="1514326"/>
            <a:ext cx="215801" cy="215801"/>
          </a:xfrm>
          <a:prstGeom prst="rect">
            <a:avLst/>
          </a:prstGeom>
        </p:spPr>
      </p:pic>
      <p:sp>
        <p:nvSpPr>
          <p:cNvPr id="29" name="Text 22"/>
          <p:cNvSpPr/>
          <p:nvPr/>
        </p:nvSpPr>
        <p:spPr>
          <a:xfrm>
            <a:off x="5356027" y="1507927"/>
            <a:ext cx="1580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Project session</a:t>
            </a:r>
            <a:endParaRPr lang="en-US" sz="1650" dirty="0"/>
          </a:p>
        </p:txBody>
      </p:sp>
      <p:sp>
        <p:nvSpPr>
          <p:cNvPr id="30" name="Text 23"/>
          <p:cNvSpPr/>
          <p:nvPr/>
        </p:nvSpPr>
        <p:spPr>
          <a:xfrm>
            <a:off x="4860727"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1" name="Text 24"/>
          <p:cNvSpPr/>
          <p:nvPr/>
        </p:nvSpPr>
        <p:spPr>
          <a:xfrm>
            <a:off x="5019377" y="1888927"/>
            <a:ext cx="239866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Plan, edit, test, and open PRs</a:t>
            </a:r>
            <a:endParaRPr lang="en-US" sz="1400" dirty="0"/>
          </a:p>
        </p:txBody>
      </p:sp>
      <p:sp>
        <p:nvSpPr>
          <p:cNvPr id="32" name="Text 25"/>
          <p:cNvSpPr/>
          <p:nvPr/>
        </p:nvSpPr>
        <p:spPr>
          <a:xfrm>
            <a:off x="4860727"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3" name="Text 26"/>
          <p:cNvSpPr/>
          <p:nvPr/>
        </p:nvSpPr>
        <p:spPr>
          <a:xfrm>
            <a:off x="5019377" y="2159347"/>
            <a:ext cx="197497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Usually a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worktree</a:t>
            </a:r>
            <a:endParaRPr lang="en-US" sz="1400" dirty="0"/>
          </a:p>
        </p:txBody>
      </p:sp>
      <p:sp>
        <p:nvSpPr>
          <p:cNvPr id="34" name="Text 27"/>
          <p:cNvSpPr/>
          <p:nvPr/>
        </p:nvSpPr>
        <p:spPr>
          <a:xfrm>
            <a:off x="4860727"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5" name="Text 28"/>
          <p:cNvSpPr/>
          <p:nvPr/>
        </p:nvSpPr>
        <p:spPr>
          <a:xfrm>
            <a:off x="5019377" y="2429768"/>
            <a:ext cx="1909855"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on a project</a:t>
            </a:r>
            <a:endParaRPr lang="en-US" sz="1400" dirty="0"/>
          </a:p>
        </p:txBody>
      </p:sp>
      <p:sp>
        <p:nvSpPr>
          <p:cNvPr id="36" name="Text 29"/>
          <p:cNvSpPr/>
          <p:nvPr/>
        </p:nvSpPr>
        <p:spPr>
          <a:xfrm>
            <a:off x="4860727" y="3222873"/>
            <a:ext cx="3587948" cy="1161752"/>
          </a:xfrm>
          <a:prstGeom prst="roundRect">
            <a:avLst>
              <a:gd name="adj" fmla="val 6559"/>
            </a:avLst>
          </a:prstGeom>
          <a:solidFill>
            <a:srgbClr val="FFFFFF"/>
          </a:solidFill>
          <a:ln/>
        </p:spPr>
        <p:txBody>
          <a:bodyPr wrap="square" rtlCol="0" anchor="ctr"/>
          <a:lstStyle/>
          <a:p>
            <a:pPr indent="0" marL="0">
              <a:buNone/>
            </a:pPr>
            <a:endParaRPr lang="en-US" dirty="0"/>
          </a:p>
        </p:txBody>
      </p:sp>
      <p:sp>
        <p:nvSpPr>
          <p:cNvPr id="37" name="Shape 30"/>
          <p:cNvSpPr/>
          <p:nvPr/>
        </p:nvSpPr>
        <p:spPr>
          <a:xfrm>
            <a:off x="4860727" y="3227636"/>
            <a:ext cx="3587948" cy="0"/>
          </a:xfrm>
          <a:prstGeom prst="line">
            <a:avLst/>
          </a:prstGeom>
          <a:noFill/>
          <a:ln w="9525">
            <a:solidFill>
              <a:srgbClr val="E0C5FF"/>
            </a:solidFill>
            <a:prstDash val="solid"/>
          </a:ln>
        </p:spPr>
      </p:sp>
      <p:sp>
        <p:nvSpPr>
          <p:cNvPr id="38" name="Shape 31"/>
          <p:cNvSpPr/>
          <p:nvPr/>
        </p:nvSpPr>
        <p:spPr>
          <a:xfrm>
            <a:off x="8443912" y="3222873"/>
            <a:ext cx="0" cy="1161752"/>
          </a:xfrm>
          <a:prstGeom prst="line">
            <a:avLst/>
          </a:prstGeom>
          <a:noFill/>
          <a:ln w="9525">
            <a:solidFill>
              <a:srgbClr val="E0C5FF"/>
            </a:solidFill>
            <a:prstDash val="solid"/>
          </a:ln>
        </p:spPr>
      </p:sp>
      <p:sp>
        <p:nvSpPr>
          <p:cNvPr id="39" name="Shape 32"/>
          <p:cNvSpPr/>
          <p:nvPr/>
        </p:nvSpPr>
        <p:spPr>
          <a:xfrm>
            <a:off x="4860727" y="4379863"/>
            <a:ext cx="3587948" cy="0"/>
          </a:xfrm>
          <a:prstGeom prst="line">
            <a:avLst/>
          </a:prstGeom>
          <a:noFill/>
          <a:ln w="9525">
            <a:solidFill>
              <a:srgbClr val="E0C5FF"/>
            </a:solidFill>
            <a:prstDash val="solid"/>
          </a:ln>
        </p:spPr>
      </p:sp>
      <p:sp>
        <p:nvSpPr>
          <p:cNvPr id="40" name="Shape 33"/>
          <p:cNvSpPr/>
          <p:nvPr/>
        </p:nvSpPr>
        <p:spPr>
          <a:xfrm>
            <a:off x="4884539" y="3222873"/>
            <a:ext cx="0" cy="1161752"/>
          </a:xfrm>
          <a:prstGeom prst="line">
            <a:avLst/>
          </a:prstGeom>
          <a:noFill/>
          <a:ln w="47625">
            <a:solidFill>
              <a:srgbClr val="8250DF"/>
            </a:solidFill>
            <a:prstDash val="solid"/>
          </a:ln>
        </p:spPr>
      </p:sp>
      <p:pic>
        <p:nvPicPr>
          <p:cNvPr id="4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362474"/>
            <a:ext cx="165050" cy="165050"/>
          </a:xfrm>
          <a:prstGeom prst="rect">
            <a:avLst/>
          </a:prstGeom>
        </p:spPr>
      </p:pic>
      <p:sp>
        <p:nvSpPr>
          <p:cNvPr id="42" name="Text 34"/>
          <p:cNvSpPr/>
          <p:nvPr/>
        </p:nvSpPr>
        <p:spPr>
          <a:xfrm>
            <a:off x="5327303" y="3359348"/>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43" name="Text 35"/>
          <p:cNvSpPr/>
          <p:nvPr/>
        </p:nvSpPr>
        <p:spPr>
          <a:xfrm>
            <a:off x="5086052" y="3581549"/>
            <a:ext cx="3238905"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Give me a beginner-friendly tour of samples/book-app-web. Do not change files.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Pick a mode for the task</a:t>
            </a:r>
            <a:endParaRPr lang="en-US" sz="2800" dirty="0"/>
          </a:p>
        </p:txBody>
      </p:sp>
      <p:sp>
        <p:nvSpPr>
          <p:cNvPr id="8" name="Text 4"/>
          <p:cNvSpPr/>
          <p:nvPr/>
        </p:nvSpPr>
        <p:spPr>
          <a:xfrm>
            <a:off x="511076" y="15696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session-mode-decision-ladder.jpg">    </p:cNvPr>
          <p:cNvPicPr>
            <a:picLocks noChangeAspect="1"/>
          </p:cNvPicPr>
          <p:nvPr/>
        </p:nvPicPr>
        <p:blipFill>
          <a:blip r:embed="rId4"/>
          <a:stretch>
            <a:fillRect/>
          </a:stretch>
        </p:blipFill>
        <p:spPr>
          <a:xfrm>
            <a:off x="558701" y="1617315"/>
            <a:ext cx="3454301" cy="2302371"/>
          </a:xfrm>
          <a:prstGeom prst="rect">
            <a:avLst/>
          </a:prstGeom>
        </p:spPr>
      </p:pic>
      <p:sp>
        <p:nvSpPr>
          <p:cNvPr id="10" name="Text 5"/>
          <p:cNvSpPr/>
          <p:nvPr/>
        </p:nvSpPr>
        <p:spPr>
          <a:xfrm>
            <a:off x="4317802" y="1244501"/>
            <a:ext cx="4318099" cy="898773"/>
          </a:xfrm>
          <a:prstGeom prst="roundRect">
            <a:avLst>
              <a:gd name="adj" fmla="val 14130"/>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428827" y="13555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erson-0969DA.png">    </p:cNvPr>
          <p:cNvPicPr>
            <a:picLocks noChangeAspect="1"/>
          </p:cNvPicPr>
          <p:nvPr/>
        </p:nvPicPr>
        <p:blipFill>
          <a:blip r:embed="rId5"/>
          <a:stretch>
            <a:fillRect/>
          </a:stretch>
        </p:blipFill>
        <p:spPr>
          <a:xfrm>
            <a:off x="4511427" y="1438126"/>
            <a:ext cx="215801" cy="215801"/>
          </a:xfrm>
          <a:prstGeom prst="rect">
            <a:avLst/>
          </a:prstGeom>
        </p:spPr>
      </p:pic>
      <p:sp>
        <p:nvSpPr>
          <p:cNvPr id="13" name="Text 7"/>
          <p:cNvSpPr/>
          <p:nvPr/>
        </p:nvSpPr>
        <p:spPr>
          <a:xfrm>
            <a:off x="4924127" y="1431727"/>
            <a:ext cx="106931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Interactive</a:t>
            </a:r>
            <a:endParaRPr lang="en-US" sz="1650" dirty="0"/>
          </a:p>
        </p:txBody>
      </p:sp>
      <p:sp>
        <p:nvSpPr>
          <p:cNvPr id="14" name="Text 8"/>
          <p:cNvSpPr/>
          <p:nvPr/>
        </p:nvSpPr>
        <p:spPr>
          <a:xfrm>
            <a:off x="4428827" y="1761827"/>
            <a:ext cx="4177969"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Stay involved at every step.</a:t>
            </a:r>
            <a:endParaRPr lang="en-US" sz="1400" dirty="0"/>
          </a:p>
        </p:txBody>
      </p:sp>
      <p:sp>
        <p:nvSpPr>
          <p:cNvPr id="15" name="Text 9"/>
          <p:cNvSpPr/>
          <p:nvPr/>
        </p:nvSpPr>
        <p:spPr>
          <a:xfrm>
            <a:off x="4317802" y="2219474"/>
            <a:ext cx="4318099" cy="898773"/>
          </a:xfrm>
          <a:prstGeom prst="roundRect">
            <a:avLst>
              <a:gd name="adj" fmla="val 14130"/>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428827" y="233050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Checklist-8250DF.png">    </p:cNvPr>
          <p:cNvPicPr>
            <a:picLocks noChangeAspect="1"/>
          </p:cNvPicPr>
          <p:nvPr/>
        </p:nvPicPr>
        <p:blipFill>
          <a:blip r:embed="rId6"/>
          <a:stretch>
            <a:fillRect/>
          </a:stretch>
        </p:blipFill>
        <p:spPr>
          <a:xfrm>
            <a:off x="4511427" y="2413099"/>
            <a:ext cx="215801" cy="215801"/>
          </a:xfrm>
          <a:prstGeom prst="rect">
            <a:avLst/>
          </a:prstGeom>
        </p:spPr>
      </p:pic>
      <p:sp>
        <p:nvSpPr>
          <p:cNvPr id="18" name="Text 11"/>
          <p:cNvSpPr/>
          <p:nvPr/>
        </p:nvSpPr>
        <p:spPr>
          <a:xfrm>
            <a:off x="4924127" y="2406700"/>
            <a:ext cx="4514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Plan</a:t>
            </a:r>
            <a:endParaRPr lang="en-US" sz="1650" dirty="0"/>
          </a:p>
        </p:txBody>
      </p:sp>
      <p:sp>
        <p:nvSpPr>
          <p:cNvPr id="19" name="Text 12"/>
          <p:cNvSpPr/>
          <p:nvPr/>
        </p:nvSpPr>
        <p:spPr>
          <a:xfrm>
            <a:off x="4428827" y="2736800"/>
            <a:ext cx="4177969"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Approve a plan before any change.</a:t>
            </a:r>
            <a:endParaRPr lang="en-US" sz="1400" dirty="0"/>
          </a:p>
        </p:txBody>
      </p:sp>
      <p:sp>
        <p:nvSpPr>
          <p:cNvPr id="20" name="Text 13"/>
          <p:cNvSpPr/>
          <p:nvPr/>
        </p:nvSpPr>
        <p:spPr>
          <a:xfrm>
            <a:off x="4317802" y="3194447"/>
            <a:ext cx="4318099" cy="898773"/>
          </a:xfrm>
          <a:prstGeom prst="roundRect">
            <a:avLst>
              <a:gd name="adj" fmla="val 14130"/>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428827" y="330547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Rocket-1A7F37.png">    </p:cNvPr>
          <p:cNvPicPr>
            <a:picLocks noChangeAspect="1"/>
          </p:cNvPicPr>
          <p:nvPr/>
        </p:nvPicPr>
        <p:blipFill>
          <a:blip r:embed="rId7"/>
          <a:stretch>
            <a:fillRect/>
          </a:stretch>
        </p:blipFill>
        <p:spPr>
          <a:xfrm>
            <a:off x="4511427" y="3388072"/>
            <a:ext cx="215801" cy="215801"/>
          </a:xfrm>
          <a:prstGeom prst="rect">
            <a:avLst/>
          </a:prstGeom>
        </p:spPr>
      </p:pic>
      <p:sp>
        <p:nvSpPr>
          <p:cNvPr id="23" name="Text 15"/>
          <p:cNvSpPr/>
          <p:nvPr/>
        </p:nvSpPr>
        <p:spPr>
          <a:xfrm>
            <a:off x="4924127" y="3381673"/>
            <a:ext cx="9378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Autopilot</a:t>
            </a:r>
            <a:endParaRPr lang="en-US" sz="1650" dirty="0"/>
          </a:p>
        </p:txBody>
      </p:sp>
      <p:sp>
        <p:nvSpPr>
          <p:cNvPr id="24" name="Text 16"/>
          <p:cNvSpPr/>
          <p:nvPr/>
        </p:nvSpPr>
        <p:spPr>
          <a:xfrm>
            <a:off x="4428827" y="3711773"/>
            <a:ext cx="4177969"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Well-defined tasks, clear outcomes.</a:t>
            </a:r>
            <a:endParaRPr lang="en-US" sz="1400" dirty="0"/>
          </a:p>
        </p:txBody>
      </p:sp>
      <p:sp>
        <p:nvSpPr>
          <p:cNvPr id="25" name="Text 17"/>
          <p:cNvSpPr/>
          <p:nvPr/>
        </p:nvSpPr>
        <p:spPr>
          <a:xfrm>
            <a:off x="4317802" y="4169420"/>
            <a:ext cx="4318099" cy="478631"/>
          </a:xfrm>
          <a:prstGeom prst="roundRect">
            <a:avLst>
              <a:gd name="adj" fmla="val 21227"/>
            </a:avLst>
          </a:prstGeom>
          <a:solidFill>
            <a:srgbClr val="DDF4FF"/>
          </a:solidFill>
          <a:ln w="9525">
            <a:solidFill>
              <a:srgbClr val="9CD7FF"/>
            </a:solidFill>
          </a:ln>
        </p:spPr>
        <p:txBody>
          <a:bodyPr wrap="square" rtlCol="0" anchor="ctr"/>
          <a:lstStyle/>
          <a:p>
            <a:pPr indent="0" marL="0">
              <a:buNone/>
            </a:pPr>
            <a:endParaRPr lang="en-US" dirty="0"/>
          </a:p>
        </p:txBody>
      </p:sp>
      <p:pic>
        <p:nvPicPr>
          <p:cNvPr id="26" name="Image 6" descr="/Users/danwahlin/.copilot/session-state/56a7a0da-def8-48d4-b5e8-0ac3878cb8dd/files/slides-build/icons/GoShieldCheck-0969DA.png">    </p:cNvPr>
          <p:cNvPicPr>
            <a:picLocks noChangeAspect="1"/>
          </p:cNvPicPr>
          <p:nvPr/>
        </p:nvPicPr>
        <p:blipFill>
          <a:blip r:embed="rId8"/>
          <a:stretch>
            <a:fillRect/>
          </a:stretch>
        </p:blipFill>
        <p:spPr>
          <a:xfrm>
            <a:off x="4505027" y="4307086"/>
            <a:ext cx="203150" cy="203150"/>
          </a:xfrm>
          <a:prstGeom prst="rect">
            <a:avLst/>
          </a:prstGeom>
        </p:spPr>
      </p:pic>
      <p:sp>
        <p:nvSpPr>
          <p:cNvPr id="27" name="Text 18"/>
          <p:cNvSpPr/>
          <p:nvPr/>
        </p:nvSpPr>
        <p:spPr>
          <a:xfrm>
            <a:off x="4835128" y="4305895"/>
            <a:ext cx="2853928" cy="205680"/>
          </a:xfrm>
          <a:prstGeom prst="rect">
            <a:avLst/>
          </a:prstGeom>
          <a:noFill/>
          <a:ln/>
        </p:spPr>
        <p:txBody>
          <a:bodyPr wrap="square" lIns="0" tIns="0" rIns="0" bIns="0" rtlCol="0" anchor="t"/>
          <a:lstStyle/>
          <a:p>
            <a:pPr algn="l" indent="0" marL="0">
              <a:lnSpc>
                <a:spcPts val="1620"/>
              </a:lnSpc>
              <a:buNone/>
            </a:pPr>
            <a:r>
              <a:rPr lang="en-US" sz="1350" b="1" dirty="0">
                <a:solidFill>
                  <a:srgbClr val="1F2328"/>
                </a:solidFill>
                <a:latin typeface="Arial" pitchFamily="34" charset="0"/>
                <a:ea typeface="Arial" pitchFamily="34" charset="-122"/>
                <a:cs typeface="Arial" pitchFamily="34" charset="-120"/>
              </a:rPr>
              <a:t>Tool permissions:</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 when to ask first.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MODELS AND REASONING EFFORT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how the agent thinks</a:t>
            </a:r>
            <a:endParaRPr lang="en-US" sz="2800" dirty="0"/>
          </a:p>
        </p:txBody>
      </p:sp>
      <p:sp>
        <p:nvSpPr>
          <p:cNvPr id="8" name="Text 4"/>
          <p:cNvSpPr/>
          <p:nvPr/>
        </p:nvSpPr>
        <p:spPr>
          <a:xfrm>
            <a:off x="507950" y="1825228"/>
            <a:ext cx="3810000" cy="1268164"/>
          </a:xfrm>
          <a:prstGeom prst="roundRect">
            <a:avLst>
              <a:gd name="adj" fmla="val 8012"/>
            </a:avLst>
          </a:prstGeom>
          <a:solidFill>
            <a:srgbClr val="FFFFFF"/>
          </a:solidFill>
          <a:ln w="9525">
            <a:solidFill>
              <a:srgbClr val="D1D9E0"/>
            </a:solidFill>
          </a:ln>
        </p:spPr>
        <p:txBody>
          <a:bodyPr wrap="square" rtlCol="0" anchor="ctr"/>
          <a:lstStyle/>
          <a:p>
            <a:pPr indent="0" marL="0">
              <a:buNone/>
            </a:pPr>
            <a:endParaRPr lang="en-US" dirty="0"/>
          </a:p>
        </p:txBody>
      </p:sp>
      <p:sp>
        <p:nvSpPr>
          <p:cNvPr id="9" name="Shape 5"/>
          <p:cNvSpPr/>
          <p:nvPr/>
        </p:nvSpPr>
        <p:spPr>
          <a:xfrm>
            <a:off x="517475" y="2249537"/>
            <a:ext cx="3790950" cy="0"/>
          </a:xfrm>
          <a:prstGeom prst="line">
            <a:avLst/>
          </a:prstGeom>
          <a:noFill/>
          <a:ln w="9525">
            <a:solidFill>
              <a:srgbClr val="D1D9E0"/>
            </a:solidFill>
            <a:prstDash val="solid"/>
          </a:ln>
        </p:spPr>
      </p:sp>
      <p:sp>
        <p:nvSpPr>
          <p:cNvPr id="10" name="Text 6"/>
          <p:cNvSpPr/>
          <p:nvPr/>
        </p:nvSpPr>
        <p:spPr>
          <a:xfrm>
            <a:off x="669875" y="1936254"/>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Model</a:t>
            </a:r>
            <a:endParaRPr lang="en-US" sz="1400" dirty="0"/>
          </a:p>
        </p:txBody>
      </p:sp>
      <p:sp>
        <p:nvSpPr>
          <p:cNvPr id="11" name="Text 7"/>
          <p:cNvSpPr/>
          <p:nvPr/>
        </p:nvSpPr>
        <p:spPr>
          <a:xfrm>
            <a:off x="2371576" y="193625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Speed, skill, cost</a:t>
            </a:r>
            <a:endParaRPr lang="en-US" sz="1400" dirty="0"/>
          </a:p>
        </p:txBody>
      </p:sp>
      <p:sp>
        <p:nvSpPr>
          <p:cNvPr id="12" name="Shape 8"/>
          <p:cNvSpPr/>
          <p:nvPr/>
        </p:nvSpPr>
        <p:spPr>
          <a:xfrm>
            <a:off x="517475" y="2669084"/>
            <a:ext cx="3790950" cy="0"/>
          </a:xfrm>
          <a:prstGeom prst="line">
            <a:avLst/>
          </a:prstGeom>
          <a:noFill/>
          <a:ln w="9525">
            <a:solidFill>
              <a:srgbClr val="D1D9E0"/>
            </a:solidFill>
            <a:prstDash val="solid"/>
          </a:ln>
        </p:spPr>
      </p:sp>
      <p:sp>
        <p:nvSpPr>
          <p:cNvPr id="13" name="Text 9"/>
          <p:cNvSpPr/>
          <p:nvPr/>
        </p:nvSpPr>
        <p:spPr>
          <a:xfrm>
            <a:off x="669875" y="2355800"/>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Effort</a:t>
            </a:r>
            <a:endParaRPr lang="en-US" sz="1400" dirty="0"/>
          </a:p>
        </p:txBody>
      </p:sp>
      <p:sp>
        <p:nvSpPr>
          <p:cNvPr id="14" name="Text 10"/>
          <p:cNvSpPr/>
          <p:nvPr/>
        </p:nvSpPr>
        <p:spPr>
          <a:xfrm>
            <a:off x="2371576" y="2355800"/>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Reasoning depth</a:t>
            </a:r>
            <a:endParaRPr lang="en-US" sz="1400" dirty="0"/>
          </a:p>
        </p:txBody>
      </p:sp>
      <p:sp>
        <p:nvSpPr>
          <p:cNvPr id="15" name="Text 11"/>
          <p:cNvSpPr/>
          <p:nvPr/>
        </p:nvSpPr>
        <p:spPr>
          <a:xfrm>
            <a:off x="669875" y="2775347"/>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 window</a:t>
            </a:r>
            <a:endParaRPr lang="en-US" sz="1400" dirty="0"/>
          </a:p>
        </p:txBody>
      </p:sp>
      <p:sp>
        <p:nvSpPr>
          <p:cNvPr id="16" name="Text 12"/>
          <p:cNvSpPr/>
          <p:nvPr/>
        </p:nvSpPr>
        <p:spPr>
          <a:xfrm>
            <a:off x="2371576" y="2775347"/>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Text it can hold</a:t>
            </a:r>
            <a:endParaRPr lang="en-US" sz="1400" dirty="0"/>
          </a:p>
        </p:txBody>
      </p:sp>
      <p:sp>
        <p:nvSpPr>
          <p:cNvPr id="17" name="Text 13"/>
          <p:cNvSpPr/>
          <p:nvPr/>
        </p:nvSpPr>
        <p:spPr>
          <a:xfrm>
            <a:off x="507950" y="3271093"/>
            <a:ext cx="3810000" cy="720030"/>
          </a:xfrm>
          <a:prstGeom prst="roundRect">
            <a:avLst>
              <a:gd name="adj" fmla="val 14111"/>
            </a:avLst>
          </a:prstGeom>
          <a:solidFill>
            <a:srgbClr val="FFF8C5"/>
          </a:solidFill>
          <a:ln w="9525">
            <a:solidFill>
              <a:srgbClr val="E7C85A"/>
            </a:solidFill>
          </a:ln>
        </p:spPr>
        <p:txBody>
          <a:bodyPr wrap="square" rtlCol="0" anchor="ctr"/>
          <a:lstStyle/>
          <a:p>
            <a:pPr indent="0" marL="0">
              <a:buNone/>
            </a:pPr>
            <a:endParaRPr lang="en-US" dirty="0"/>
          </a:p>
        </p:txBody>
      </p:sp>
      <p:pic>
        <p:nvPicPr>
          <p:cNvPr id="18"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3529459"/>
            <a:ext cx="203150" cy="203150"/>
          </a:xfrm>
          <a:prstGeom prst="rect">
            <a:avLst/>
          </a:prstGeom>
        </p:spPr>
      </p:pic>
      <p:sp>
        <p:nvSpPr>
          <p:cNvPr id="19" name="Text 14"/>
          <p:cNvSpPr/>
          <p:nvPr/>
        </p:nvSpPr>
        <p:spPr>
          <a:xfrm>
            <a:off x="1025277" y="3407569"/>
            <a:ext cx="3167557" cy="44708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picks a model.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Autopilot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a mode.</a:t>
            </a:r>
            <a:endParaRPr lang="en-US" sz="1450" dirty="0"/>
          </a:p>
        </p:txBody>
      </p:sp>
      <p:sp>
        <p:nvSpPr>
          <p:cNvPr id="20" name="Text 15"/>
          <p:cNvSpPr/>
          <p:nvPr/>
        </p:nvSpPr>
        <p:spPr>
          <a:xfrm>
            <a:off x="4546550" y="1770459"/>
            <a:ext cx="40893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1" name="Shape 16"/>
          <p:cNvSpPr/>
          <p:nvPr/>
        </p:nvSpPr>
        <p:spPr>
          <a:xfrm>
            <a:off x="4546550" y="1775222"/>
            <a:ext cx="4089350" cy="0"/>
          </a:xfrm>
          <a:prstGeom prst="line">
            <a:avLst/>
          </a:prstGeom>
          <a:noFill/>
          <a:ln w="9525">
            <a:solidFill>
              <a:srgbClr val="E0C5FF"/>
            </a:solidFill>
            <a:prstDash val="solid"/>
          </a:ln>
        </p:spPr>
      </p:sp>
      <p:sp>
        <p:nvSpPr>
          <p:cNvPr id="22" name="Shape 17"/>
          <p:cNvSpPr/>
          <p:nvPr/>
        </p:nvSpPr>
        <p:spPr>
          <a:xfrm>
            <a:off x="8631138" y="1770459"/>
            <a:ext cx="0" cy="1383953"/>
          </a:xfrm>
          <a:prstGeom prst="line">
            <a:avLst/>
          </a:prstGeom>
          <a:noFill/>
          <a:ln w="9525">
            <a:solidFill>
              <a:srgbClr val="E0C5FF"/>
            </a:solidFill>
            <a:prstDash val="solid"/>
          </a:ln>
        </p:spPr>
      </p:sp>
      <p:sp>
        <p:nvSpPr>
          <p:cNvPr id="23" name="Shape 18"/>
          <p:cNvSpPr/>
          <p:nvPr/>
        </p:nvSpPr>
        <p:spPr>
          <a:xfrm>
            <a:off x="4546550" y="3149650"/>
            <a:ext cx="4089350" cy="0"/>
          </a:xfrm>
          <a:prstGeom prst="line">
            <a:avLst/>
          </a:prstGeom>
          <a:noFill/>
          <a:ln w="9525">
            <a:solidFill>
              <a:srgbClr val="E0C5FF"/>
            </a:solidFill>
            <a:prstDash val="solid"/>
          </a:ln>
        </p:spPr>
      </p:sp>
      <p:sp>
        <p:nvSpPr>
          <p:cNvPr id="24" name="Shape 19"/>
          <p:cNvSpPr/>
          <p:nvPr/>
        </p:nvSpPr>
        <p:spPr>
          <a:xfrm>
            <a:off x="4570363" y="1770459"/>
            <a:ext cx="0" cy="1383953"/>
          </a:xfrm>
          <a:prstGeom prst="line">
            <a:avLst/>
          </a:prstGeom>
          <a:noFill/>
          <a:ln w="47625">
            <a:solidFill>
              <a:srgbClr val="8250DF"/>
            </a:solidFill>
            <a:prstDash val="solid"/>
          </a:ln>
        </p:spPr>
      </p:sp>
      <p:pic>
        <p:nvPicPr>
          <p:cNvPr id="25" name="Image 3" descr="/Users/danwahlin/.copilot/session-state/56a7a0da-def8-48d4-b5e8-0ac3878cb8dd/files/slides-build/icons/GoCopilot-8250DF.png">    </p:cNvPr>
          <p:cNvPicPr>
            <a:picLocks noChangeAspect="1"/>
          </p:cNvPicPr>
          <p:nvPr/>
        </p:nvPicPr>
        <p:blipFill>
          <a:blip r:embed="rId5"/>
          <a:stretch>
            <a:fillRect/>
          </a:stretch>
        </p:blipFill>
        <p:spPr>
          <a:xfrm>
            <a:off x="4771876" y="1910060"/>
            <a:ext cx="165050" cy="165050"/>
          </a:xfrm>
          <a:prstGeom prst="rect">
            <a:avLst/>
          </a:prstGeom>
        </p:spPr>
      </p:pic>
      <p:sp>
        <p:nvSpPr>
          <p:cNvPr id="26" name="Text 20"/>
          <p:cNvSpPr/>
          <p:nvPr/>
        </p:nvSpPr>
        <p:spPr>
          <a:xfrm>
            <a:off x="5013127" y="190693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27" name="Text 21"/>
          <p:cNvSpPr/>
          <p:nvPr/>
        </p:nvSpPr>
        <p:spPr>
          <a:xfrm>
            <a:off x="4771876" y="2129135"/>
            <a:ext cx="3750335"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In samples/book-app-web, explain how filterBooks searches book titles and authors. Does letter case affect the results? Refer to the relevant file. Do not change any files.</a:t>
            </a:r>
            <a:endParaRPr lang="en-US" sz="1400" dirty="0"/>
          </a:p>
        </p:txBody>
      </p:sp>
      <p:sp>
        <p:nvSpPr>
          <p:cNvPr id="28" name="Text 22"/>
          <p:cNvSpPr/>
          <p:nvPr/>
        </p:nvSpPr>
        <p:spPr>
          <a:xfrm>
            <a:off x="4546550" y="3306812"/>
            <a:ext cx="4089350"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CheckCircle-1A7F37.png">    </p:cNvPr>
          <p:cNvPicPr>
            <a:picLocks noChangeAspect="1"/>
          </p:cNvPicPr>
          <p:nvPr/>
        </p:nvPicPr>
        <p:blipFill>
          <a:blip r:embed="rId6"/>
          <a:stretch>
            <a:fillRect/>
          </a:stretch>
        </p:blipFill>
        <p:spPr>
          <a:xfrm>
            <a:off x="4733776" y="3574703"/>
            <a:ext cx="203150" cy="203150"/>
          </a:xfrm>
          <a:prstGeom prst="rect">
            <a:avLst/>
          </a:prstGeom>
        </p:spPr>
      </p:pic>
      <p:sp>
        <p:nvSpPr>
          <p:cNvPr id="30" name="Text 23"/>
          <p:cNvSpPr/>
          <p:nvPr/>
        </p:nvSpPr>
        <p:spPr>
          <a:xfrm>
            <a:off x="5063877" y="3443288"/>
            <a:ext cx="3452494"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Search ignores letter case. The answer points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src/App.tsx</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PROMPT BOX SHORTCUTS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Work faster in the prompt box</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Reuse what worked, and try again without retyping.</a:t>
            </a:r>
            <a:endParaRPr lang="en-US" sz="1650" dirty="0"/>
          </a:p>
        </p:txBody>
      </p:sp>
      <p:sp>
        <p:nvSpPr>
          <p:cNvPr id="9" name="Text 5"/>
          <p:cNvSpPr/>
          <p:nvPr/>
        </p:nvSpPr>
        <p:spPr>
          <a:xfrm>
            <a:off x="507950" y="2266355"/>
            <a:ext cx="2590800" cy="1690092"/>
          </a:xfrm>
          <a:prstGeom prst="roundRect">
            <a:avLst>
              <a:gd name="adj" fmla="val 7514"/>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5358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Sync-0969DA.png">    </p:cNvPr>
          <p:cNvPicPr>
            <a:picLocks noChangeAspect="1"/>
          </p:cNvPicPr>
          <p:nvPr/>
        </p:nvPicPr>
        <p:blipFill>
          <a:blip r:embed="rId4"/>
          <a:stretch>
            <a:fillRect/>
          </a:stretch>
        </p:blipFill>
        <p:spPr>
          <a:xfrm>
            <a:off x="777776" y="2536180"/>
            <a:ext cx="215801" cy="215801"/>
          </a:xfrm>
          <a:prstGeom prst="rect">
            <a:avLst/>
          </a:prstGeom>
        </p:spPr>
      </p:pic>
      <p:sp>
        <p:nvSpPr>
          <p:cNvPr id="12" name="Text 7"/>
          <p:cNvSpPr/>
          <p:nvPr/>
        </p:nvSpPr>
        <p:spPr>
          <a:xfrm>
            <a:off x="1190476" y="2529780"/>
            <a:ext cx="17345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Retry a response</a:t>
            </a:r>
            <a:endParaRPr lang="en-US" sz="1650" dirty="0"/>
          </a:p>
        </p:txBody>
      </p:sp>
      <p:sp>
        <p:nvSpPr>
          <p:cNvPr id="13" name="Text 8"/>
          <p:cNvSpPr/>
          <p:nvPr/>
        </p:nvSpPr>
        <p:spPr>
          <a:xfrm>
            <a:off x="695176" y="2910780"/>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Retry</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below a response to rerun it with a different model, effort, or context window.</a:t>
            </a:r>
            <a:endParaRPr lang="en-US" sz="1400" dirty="0"/>
          </a:p>
        </p:txBody>
      </p:sp>
      <p:sp>
        <p:nvSpPr>
          <p:cNvPr id="14" name="Text 9"/>
          <p:cNvSpPr/>
          <p:nvPr/>
        </p:nvSpPr>
        <p:spPr>
          <a:xfrm>
            <a:off x="3276451" y="2266355"/>
            <a:ext cx="2590949" cy="1690092"/>
          </a:xfrm>
          <a:prstGeom prst="roundRect">
            <a:avLst>
              <a:gd name="adj" fmla="val 7514"/>
            </a:avLst>
          </a:prstGeom>
          <a:solidFill>
            <a:srgbClr val="FFFFFF"/>
          </a:solidFill>
          <a:ln w="9525">
            <a:solidFill>
              <a:srgbClr val="E0C5FF"/>
            </a:solidFill>
          </a:ln>
        </p:spPr>
        <p:txBody>
          <a:bodyPr wrap="square" rtlCol="0" anchor="ctr"/>
          <a:lstStyle/>
          <a:p>
            <a:pPr indent="0" marL="0">
              <a:buNone/>
            </a:pPr>
            <a:endParaRPr lang="en-US" dirty="0"/>
          </a:p>
        </p:txBody>
      </p:sp>
      <p:sp>
        <p:nvSpPr>
          <p:cNvPr id="15" name="Text 10"/>
          <p:cNvSpPr/>
          <p:nvPr/>
        </p:nvSpPr>
        <p:spPr>
          <a:xfrm>
            <a:off x="3463677" y="24535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3" descr="/Users/danwahlin/.copilot/session-state/56a7a0da-def8-48d4-b5e8-0ac3878cb8dd/files/slides-build/icons/GoHistory-8250DF.png">    </p:cNvPr>
          <p:cNvPicPr>
            <a:picLocks noChangeAspect="1"/>
          </p:cNvPicPr>
          <p:nvPr/>
        </p:nvPicPr>
        <p:blipFill>
          <a:blip r:embed="rId5"/>
          <a:stretch>
            <a:fillRect/>
          </a:stretch>
        </p:blipFill>
        <p:spPr>
          <a:xfrm>
            <a:off x="3546277" y="2536180"/>
            <a:ext cx="215801" cy="215801"/>
          </a:xfrm>
          <a:prstGeom prst="rect">
            <a:avLst/>
          </a:prstGeom>
        </p:spPr>
      </p:pic>
      <p:sp>
        <p:nvSpPr>
          <p:cNvPr id="17" name="Text 11"/>
          <p:cNvSpPr/>
          <p:nvPr/>
        </p:nvSpPr>
        <p:spPr>
          <a:xfrm>
            <a:off x="3958977" y="2529780"/>
            <a:ext cx="152017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Prompt history</a:t>
            </a:r>
            <a:endParaRPr lang="en-US" sz="1650" dirty="0"/>
          </a:p>
        </p:txBody>
      </p:sp>
      <p:sp>
        <p:nvSpPr>
          <p:cNvPr id="18" name="Text 12"/>
          <p:cNvSpPr/>
          <p:nvPr/>
        </p:nvSpPr>
        <p:spPr>
          <a:xfrm>
            <a:off x="3463677" y="2910780"/>
            <a:ext cx="2260827"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Press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Ctrl+R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Cmd+R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on macOS) to search recent prompts from all sessions and reuse one.</a:t>
            </a:r>
            <a:endParaRPr lang="en-US" sz="1400" dirty="0"/>
          </a:p>
        </p:txBody>
      </p:sp>
      <p:sp>
        <p:nvSpPr>
          <p:cNvPr id="19" name="Text 13"/>
          <p:cNvSpPr/>
          <p:nvPr/>
        </p:nvSpPr>
        <p:spPr>
          <a:xfrm>
            <a:off x="6045101" y="2266355"/>
            <a:ext cx="2590800" cy="1690092"/>
          </a:xfrm>
          <a:prstGeom prst="roundRect">
            <a:avLst>
              <a:gd name="adj" fmla="val 7514"/>
            </a:avLst>
          </a:prstGeom>
          <a:solidFill>
            <a:srgbClr val="FFFFFF"/>
          </a:solidFill>
          <a:ln w="9525">
            <a:solidFill>
              <a:srgbClr val="8CE7A5"/>
            </a:solidFill>
          </a:ln>
        </p:spPr>
        <p:txBody>
          <a:bodyPr wrap="square" rtlCol="0" anchor="ctr"/>
          <a:lstStyle/>
          <a:p>
            <a:pPr indent="0" marL="0">
              <a:buNone/>
            </a:pPr>
            <a:endParaRPr lang="en-US" dirty="0"/>
          </a:p>
        </p:txBody>
      </p:sp>
      <p:sp>
        <p:nvSpPr>
          <p:cNvPr id="20" name="Text 14"/>
          <p:cNvSpPr/>
          <p:nvPr/>
        </p:nvSpPr>
        <p:spPr>
          <a:xfrm>
            <a:off x="6232327" y="24535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Unmute-1A7F37.png">    </p:cNvPr>
          <p:cNvPicPr>
            <a:picLocks noChangeAspect="1"/>
          </p:cNvPicPr>
          <p:nvPr/>
        </p:nvPicPr>
        <p:blipFill>
          <a:blip r:embed="rId6"/>
          <a:stretch>
            <a:fillRect/>
          </a:stretch>
        </p:blipFill>
        <p:spPr>
          <a:xfrm>
            <a:off x="6314926" y="2536180"/>
            <a:ext cx="215801" cy="215801"/>
          </a:xfrm>
          <a:prstGeom prst="rect">
            <a:avLst/>
          </a:prstGeom>
        </p:spPr>
      </p:pic>
      <p:sp>
        <p:nvSpPr>
          <p:cNvPr id="22" name="Text 15"/>
          <p:cNvSpPr/>
          <p:nvPr/>
        </p:nvSpPr>
        <p:spPr>
          <a:xfrm>
            <a:off x="6727627" y="2529780"/>
            <a:ext cx="150438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Voice dictation</a:t>
            </a:r>
            <a:endParaRPr lang="en-US" sz="1650" dirty="0"/>
          </a:p>
        </p:txBody>
      </p:sp>
      <p:sp>
        <p:nvSpPr>
          <p:cNvPr id="23" name="Text 16"/>
          <p:cNvSpPr/>
          <p:nvPr/>
        </p:nvSpPr>
        <p:spPr>
          <a:xfrm>
            <a:off x="6232327" y="2910780"/>
            <a:ext cx="2260675"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Speak a prompt, then edit the text before you send it. Optional.</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Keep your editor for deep coding. Use the app to run and review agent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Views: New, Pull requests, Issues, Automations, Customize, and Projects.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Chats are for exploration. Project sessions are for repository work.</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Interactive, Plan, and Autopilot set how much autonomy the agent has.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Open Chapter 01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02</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Sessions, Worktrees, and Context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01: Tour the App</dc:title>
  <dc:subject>PptxGenJS Presentation</dc:subject>
  <dc:creator>GitHub Copilot app for Beginners</dc:creator>
  <cp:lastModifiedBy>GitHub Copilot app for Beginners</cp:lastModifiedBy>
  <cp:revision>1</cp:revision>
  <dcterms:created xsi:type="dcterms:W3CDTF">2026-10-06T20:47:26Z</dcterms:created>
  <dcterms:modified xsi:type="dcterms:W3CDTF">2026-10-06T20:47:26Z</dcterms:modified>
</cp:coreProperties>
</file>