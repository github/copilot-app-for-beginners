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is the landing view, where you start a chat or a project session and choose a mode and model. Pull requests and Issues list the GitHub work that involves you. Automations holds recurring agent tasks. Customize is where you manage skills, MCP servers, plugins, extensions, and canvases, which Chapters 04 to 06 cover. More, then Edit sidebar, chooses which views appear; this course uses all of them. Below are Projects, and a Chats row after your first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Pull requests view lists GitHub pull requests that involve you. Tabs such as Authored by me and Review requests filter the list, and the All repositories picker narrows it to one repository. Open a PR to read its checks and comments, or start a session to work on it. The Issues view works the same way, with tabs such as Assigned to me and Created by me. You can start a session from an issue or create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Automations view shows templates that run manually, daily, weekly,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Projects holds per-project settings. You do not need to change anything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both. Select the plus next to Projects,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control is below the prompt box, next to the mode selector. It shows Auto or a model name. Open it to find Model, Effort, and Context window; if the Auto switch is on, these are hidden. A larger context window helps long sessions but uses more AI credits. For a tour or short explanation, keep the defaults. For a hard bug or multi-file change, consider a stronger model and higher effort; it does not guarantee a correct answer. Try it in Interactive mode with the filterBooks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chapter. Keep the model and effort defaults for simple tasks. Next, Chapter 02 solves the shared working copy problem with isolated worktree sessions and focused context with @,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6"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1287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5" name="Text 1"/>
          <p:cNvSpPr/>
          <p:nvPr/>
        </p:nvSpPr>
        <p:spPr>
          <a:xfrm>
            <a:off x="1015901" y="14397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Tour the App</a:t>
            </a:r>
            <a:endParaRPr lang="en-US" sz="4200" dirty="0"/>
          </a:p>
        </p:txBody>
      </p:sp>
      <p:sp>
        <p:nvSpPr>
          <p:cNvPr id="6" name="Text 2"/>
          <p:cNvSpPr/>
          <p:nvPr/>
        </p:nvSpPr>
        <p:spPr>
          <a:xfrm>
            <a:off x="1015901" y="227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699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825776"/>
            <a:ext cx="177701" cy="177701"/>
          </a:xfrm>
          <a:prstGeom prst="rect">
            <a:avLst/>
          </a:prstGeom>
        </p:spPr>
      </p:pic>
      <p:sp>
        <p:nvSpPr>
          <p:cNvPr id="9" name="Text 4"/>
          <p:cNvSpPr/>
          <p:nvPr/>
        </p:nvSpPr>
        <p:spPr>
          <a:xfrm>
            <a:off x="1282452" y="38146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284238"/>
            <a:ext cx="8127950" cy="0"/>
          </a:xfrm>
          <a:prstGeom prst="line">
            <a:avLst/>
          </a:prstGeom>
          <a:noFill/>
          <a:ln w="9525">
            <a:solidFill>
              <a:srgbClr val="9CD7FF"/>
            </a:solidFill>
            <a:prstDash val="solid"/>
          </a:ln>
        </p:spPr>
      </p:sp>
      <p:sp>
        <p:nvSpPr>
          <p:cNvPr id="10" name="Shape 6"/>
          <p:cNvSpPr/>
          <p:nvPr/>
        </p:nvSpPr>
        <p:spPr>
          <a:xfrm>
            <a:off x="8631138" y="1279475"/>
            <a:ext cx="0" cy="1073200"/>
          </a:xfrm>
          <a:prstGeom prst="line">
            <a:avLst/>
          </a:prstGeom>
          <a:noFill/>
          <a:ln w="9525">
            <a:solidFill>
              <a:srgbClr val="9CD7FF"/>
            </a:solidFill>
            <a:prstDash val="solid"/>
          </a:ln>
        </p:spPr>
      </p:sp>
      <p:sp>
        <p:nvSpPr>
          <p:cNvPr id="11" name="Shape 7"/>
          <p:cNvSpPr/>
          <p:nvPr/>
        </p:nvSpPr>
        <p:spPr>
          <a:xfrm>
            <a:off x="507950" y="2347912"/>
            <a:ext cx="8127950" cy="0"/>
          </a:xfrm>
          <a:prstGeom prst="line">
            <a:avLst/>
          </a:prstGeom>
          <a:noFill/>
          <a:ln w="9525">
            <a:solidFill>
              <a:srgbClr val="9CD7FF"/>
            </a:solidFill>
            <a:prstDash val="solid"/>
          </a:ln>
        </p:spPr>
      </p:sp>
      <p:sp>
        <p:nvSpPr>
          <p:cNvPr id="12" name="Shape 8"/>
          <p:cNvSpPr/>
          <p:nvPr/>
        </p:nvSpPr>
        <p:spPr>
          <a:xfrm>
            <a:off x="546050" y="1279475"/>
            <a:ext cx="0" cy="1073200"/>
          </a:xfrm>
          <a:prstGeom prst="line">
            <a:avLst/>
          </a:prstGeom>
          <a:noFill/>
          <a:ln w="76200">
            <a:solidFill>
              <a:srgbClr val="0969DA"/>
            </a:solidFill>
            <a:prstDash val="solid"/>
          </a:ln>
        </p:spPr>
      </p:sp>
      <p:sp>
        <p:nvSpPr>
          <p:cNvPr id="13" name="Text 9"/>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1"/>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2"/>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1073200"/>
          </a:xfrm>
          <a:prstGeom prst="line">
            <a:avLst/>
          </a:prstGeom>
          <a:noFill/>
          <a:ln w="9525">
            <a:solidFill>
              <a:srgbClr val="E0C5FF"/>
            </a:solidFill>
            <a:prstDash val="solid"/>
          </a:ln>
        </p:spPr>
      </p:sp>
      <p:sp>
        <p:nvSpPr>
          <p:cNvPr id="19" name="Shape 15"/>
          <p:cNvSpPr/>
          <p:nvPr/>
        </p:nvSpPr>
        <p:spPr>
          <a:xfrm>
            <a:off x="507950" y="3573512"/>
            <a:ext cx="8127950" cy="0"/>
          </a:xfrm>
          <a:prstGeom prst="line">
            <a:avLst/>
          </a:prstGeom>
          <a:noFill/>
          <a:ln w="9525">
            <a:solidFill>
              <a:srgbClr val="E0C5FF"/>
            </a:solidFill>
            <a:prstDash val="solid"/>
          </a:ln>
        </p:spPr>
      </p:sp>
      <p:sp>
        <p:nvSpPr>
          <p:cNvPr id="20" name="Shape 16"/>
          <p:cNvSpPr/>
          <p:nvPr/>
        </p:nvSpPr>
        <p:spPr>
          <a:xfrm>
            <a:off x="546050" y="2505075"/>
            <a:ext cx="0" cy="1073200"/>
          </a:xfrm>
          <a:prstGeom prst="line">
            <a:avLst/>
          </a:prstGeom>
          <a:noFill/>
          <a:ln w="76200">
            <a:solidFill>
              <a:srgbClr val="8250DF"/>
            </a:solidFill>
            <a:prstDash val="solid"/>
          </a:ln>
        </p:spPr>
      </p:sp>
      <p:sp>
        <p:nvSpPr>
          <p:cNvPr id="21" name="Text 17"/>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19"/>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0"/>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735437"/>
            <a:ext cx="8127950" cy="0"/>
          </a:xfrm>
          <a:prstGeom prst="line">
            <a:avLst/>
          </a:prstGeom>
          <a:noFill/>
          <a:ln w="9525">
            <a:solidFill>
              <a:srgbClr val="8CE7A5"/>
            </a:solidFill>
            <a:prstDash val="solid"/>
          </a:ln>
        </p:spPr>
      </p:sp>
      <p:sp>
        <p:nvSpPr>
          <p:cNvPr id="26" name="Shape 22"/>
          <p:cNvSpPr/>
          <p:nvPr/>
        </p:nvSpPr>
        <p:spPr>
          <a:xfrm>
            <a:off x="8631138" y="3730675"/>
            <a:ext cx="0" cy="857250"/>
          </a:xfrm>
          <a:prstGeom prst="line">
            <a:avLst/>
          </a:prstGeom>
          <a:noFill/>
          <a:ln w="9525">
            <a:solidFill>
              <a:srgbClr val="8CE7A5"/>
            </a:solidFill>
            <a:prstDash val="solid"/>
          </a:ln>
        </p:spPr>
      </p:sp>
      <p:sp>
        <p:nvSpPr>
          <p:cNvPr id="27" name="Shape 23"/>
          <p:cNvSpPr/>
          <p:nvPr/>
        </p:nvSpPr>
        <p:spPr>
          <a:xfrm>
            <a:off x="507950" y="4583162"/>
            <a:ext cx="8127950" cy="0"/>
          </a:xfrm>
          <a:prstGeom prst="line">
            <a:avLst/>
          </a:prstGeom>
          <a:noFill/>
          <a:ln w="9525">
            <a:solidFill>
              <a:srgbClr val="8CE7A5"/>
            </a:solidFill>
            <a:prstDash val="solid"/>
          </a:ln>
        </p:spPr>
      </p:sp>
      <p:sp>
        <p:nvSpPr>
          <p:cNvPr id="28" name="Shape 24"/>
          <p:cNvSpPr/>
          <p:nvPr/>
        </p:nvSpPr>
        <p:spPr>
          <a:xfrm>
            <a:off x="546050" y="3730675"/>
            <a:ext cx="0" cy="857250"/>
          </a:xfrm>
          <a:prstGeom prst="line">
            <a:avLst/>
          </a:prstGeom>
          <a:noFill/>
          <a:ln w="76200">
            <a:solidFill>
              <a:srgbClr val="1A7F37"/>
            </a:solidFill>
            <a:prstDash val="solid"/>
          </a:ln>
        </p:spPr>
      </p:sp>
      <p:sp>
        <p:nvSpPr>
          <p:cNvPr id="29" name="Text 25"/>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7"/>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41312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72417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1" name="Text 7"/>
          <p:cNvSpPr/>
          <p:nvPr/>
        </p:nvSpPr>
        <p:spPr>
          <a:xfrm>
            <a:off x="711101" y="25114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778026"/>
            <a:ext cx="5570169" cy="95235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5"/>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1906488"/>
            <a:ext cx="8108900" cy="0"/>
          </a:xfrm>
          <a:prstGeom prst="line">
            <a:avLst/>
          </a:prstGeom>
          <a:noFill/>
          <a:ln w="9525">
            <a:solidFill>
              <a:srgbClr val="9CD7FF"/>
            </a:solidFill>
            <a:prstDash val="solid"/>
          </a:ln>
        </p:spPr>
      </p:sp>
      <p:sp>
        <p:nvSpPr>
          <p:cNvPr id="12" name="Text 8"/>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9"/>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0"/>
          <p:cNvSpPr/>
          <p:nvPr/>
        </p:nvSpPr>
        <p:spPr>
          <a:xfrm>
            <a:off x="517475" y="2326035"/>
            <a:ext cx="8108900" cy="0"/>
          </a:xfrm>
          <a:prstGeom prst="line">
            <a:avLst/>
          </a:prstGeom>
          <a:noFill/>
          <a:ln w="9525">
            <a:solidFill>
              <a:srgbClr val="D1D9E0"/>
            </a:solidFill>
            <a:prstDash val="solid"/>
          </a:ln>
        </p:spPr>
      </p:sp>
      <p:sp>
        <p:nvSpPr>
          <p:cNvPr id="15" name="Text 11"/>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2"/>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3"/>
          <p:cNvSpPr/>
          <p:nvPr/>
        </p:nvSpPr>
        <p:spPr>
          <a:xfrm>
            <a:off x="517475" y="2745581"/>
            <a:ext cx="8108900" cy="0"/>
          </a:xfrm>
          <a:prstGeom prst="line">
            <a:avLst/>
          </a:prstGeom>
          <a:noFill/>
          <a:ln w="9525">
            <a:solidFill>
              <a:srgbClr val="D1D9E0"/>
            </a:solidFill>
            <a:prstDash val="solid"/>
          </a:ln>
        </p:spPr>
      </p:sp>
      <p:sp>
        <p:nvSpPr>
          <p:cNvPr id="18" name="Text 14"/>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5"/>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6"/>
          <p:cNvSpPr/>
          <p:nvPr/>
        </p:nvSpPr>
        <p:spPr>
          <a:xfrm>
            <a:off x="517475" y="3165128"/>
            <a:ext cx="8108900" cy="0"/>
          </a:xfrm>
          <a:prstGeom prst="line">
            <a:avLst/>
          </a:prstGeom>
          <a:noFill/>
          <a:ln w="9525">
            <a:solidFill>
              <a:srgbClr val="D1D9E0"/>
            </a:solidFill>
            <a:prstDash val="solid"/>
          </a:ln>
        </p:spPr>
      </p:sp>
      <p:sp>
        <p:nvSpPr>
          <p:cNvPr id="21" name="Text 17"/>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8"/>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19"/>
          <p:cNvSpPr/>
          <p:nvPr/>
        </p:nvSpPr>
        <p:spPr>
          <a:xfrm>
            <a:off x="517475" y="3791694"/>
            <a:ext cx="8108900" cy="0"/>
          </a:xfrm>
          <a:prstGeom prst="line">
            <a:avLst/>
          </a:prstGeom>
          <a:noFill/>
          <a:ln w="9525">
            <a:solidFill>
              <a:srgbClr val="D1D9E0"/>
            </a:solidFill>
            <a:prstDash val="solid"/>
          </a:ln>
        </p:spPr>
      </p:sp>
      <p:sp>
        <p:nvSpPr>
          <p:cNvPr id="24" name="Text 20"/>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1"/>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2"/>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3"/>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3"/>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4"/>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editor-vs-app.jpg">    </p:cNvPr>
          <p:cNvPicPr>
            <a:picLocks noChangeAspect="1"/>
          </p:cNvPicPr>
          <p:nvPr/>
        </p:nvPicPr>
        <p:blipFill>
          <a:blip r:embed="rId4"/>
          <a:stretch>
            <a:fillRect/>
          </a:stretch>
        </p:blipFill>
        <p:spPr>
          <a:xfrm>
            <a:off x="558701" y="1511201"/>
            <a:ext cx="3962400" cy="2641550"/>
          </a:xfrm>
          <a:prstGeom prst="rect">
            <a:avLst/>
          </a:prstGeom>
        </p:spPr>
      </p:pic>
      <p:sp>
        <p:nvSpPr>
          <p:cNvPr id="10" name="Text 5"/>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de-0969DA.png">    </p:cNvPr>
          <p:cNvPicPr>
            <a:picLocks noChangeAspect="1"/>
          </p:cNvPicPr>
          <p:nvPr/>
        </p:nvPicPr>
        <p:blipFill>
          <a:blip r:embed="rId5"/>
          <a:stretch>
            <a:fillRect/>
          </a:stretch>
        </p:blipFill>
        <p:spPr>
          <a:xfrm>
            <a:off x="5070277" y="1686669"/>
            <a:ext cx="215801" cy="215801"/>
          </a:xfrm>
          <a:prstGeom prst="rect">
            <a:avLst/>
          </a:prstGeom>
        </p:spPr>
      </p:pic>
      <p:sp>
        <p:nvSpPr>
          <p:cNvPr id="13" name="Text 7"/>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8"/>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9"/>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Copilot-8250DF.png">    </p:cNvPr>
          <p:cNvPicPr>
            <a:picLocks noChangeAspect="1"/>
          </p:cNvPicPr>
          <p:nvPr/>
        </p:nvPicPr>
        <p:blipFill>
          <a:blip r:embed="rId6"/>
          <a:stretch>
            <a:fillRect/>
          </a:stretch>
        </p:blipFill>
        <p:spPr>
          <a:xfrm>
            <a:off x="5070277" y="2688431"/>
            <a:ext cx="215801" cy="215801"/>
          </a:xfrm>
          <a:prstGeom prst="rect">
            <a:avLst/>
          </a:prstGeom>
        </p:spPr>
      </p:pic>
      <p:sp>
        <p:nvSpPr>
          <p:cNvPr id="18" name="Text 11"/>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2"/>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3"/>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Users/danwahlin/.copilot/session-state/56a7a0da-def8-48d4-b5e8-0ac3878cb8dd/files/slides-build/icons/GoLinkExternal-1A7F37.png">    </p:cNvPr>
          <p:cNvPicPr>
            <a:picLocks noChangeAspect="1"/>
          </p:cNvPicPr>
          <p:nvPr/>
        </p:nvPicPr>
        <p:blipFill>
          <a:blip r:embed="rId7"/>
          <a:stretch>
            <a:fillRect/>
          </a:stretch>
        </p:blipFill>
        <p:spPr>
          <a:xfrm>
            <a:off x="5070277" y="3789164"/>
            <a:ext cx="215801" cy="215801"/>
          </a:xfrm>
          <a:prstGeom prst="rect">
            <a:avLst/>
          </a:prstGeom>
        </p:spPr>
      </p:pic>
      <p:sp>
        <p:nvSpPr>
          <p:cNvPr id="23" name="Text 15"/>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6"/>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sidebar views</a:t>
            </a:r>
            <a:endParaRPr lang="en-US" sz="2800" dirty="0"/>
          </a:p>
        </p:txBody>
      </p:sp>
      <p:sp>
        <p:nvSpPr>
          <p:cNvPr id="8" name="Text 4"/>
          <p:cNvSpPr/>
          <p:nvPr/>
        </p:nvSpPr>
        <p:spPr>
          <a:xfrm>
            <a:off x="687586" y="1247626"/>
            <a:ext cx="2688580" cy="3320951"/>
          </a:xfrm>
          <a:prstGeom prst="roundRect">
            <a:avLst>
              <a:gd name="adj" fmla="val 283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sidebar-crop.png">    </p:cNvPr>
          <p:cNvPicPr>
            <a:picLocks noChangeAspect="1"/>
          </p:cNvPicPr>
          <p:nvPr/>
        </p:nvPicPr>
        <p:blipFill>
          <a:blip r:embed="rId4"/>
          <a:stretch>
            <a:fillRect/>
          </a:stretch>
        </p:blipFill>
        <p:spPr>
          <a:xfrm>
            <a:off x="735211" y="1295251"/>
            <a:ext cx="2593330" cy="3225701"/>
          </a:xfrm>
          <a:prstGeom prst="rect">
            <a:avLst/>
          </a:prstGeom>
        </p:spPr>
      </p:pic>
      <p:sp>
        <p:nvSpPr>
          <p:cNvPr id="10" name="Text 5"/>
          <p:cNvSpPr/>
          <p:nvPr/>
        </p:nvSpPr>
        <p:spPr>
          <a:xfrm>
            <a:off x="4063901" y="1521619"/>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Plus-0969DA.png">    </p:cNvPr>
          <p:cNvPicPr>
            <a:picLocks noChangeAspect="1"/>
          </p:cNvPicPr>
          <p:nvPr/>
        </p:nvPicPr>
        <p:blipFill>
          <a:blip r:embed="rId5"/>
          <a:stretch>
            <a:fillRect/>
          </a:stretch>
        </p:blipFill>
        <p:spPr>
          <a:xfrm>
            <a:off x="4146352" y="1604070"/>
            <a:ext cx="190500" cy="190500"/>
          </a:xfrm>
          <a:prstGeom prst="rect">
            <a:avLst/>
          </a:prstGeom>
        </p:spPr>
      </p:pic>
      <p:sp>
        <p:nvSpPr>
          <p:cNvPr id="12" name="Text 6"/>
          <p:cNvSpPr/>
          <p:nvPr/>
        </p:nvSpPr>
        <p:spPr>
          <a:xfrm>
            <a:off x="4571851" y="1473398"/>
            <a:ext cx="236208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a:t>
            </a:r>
            <a:endParaRPr lang="en-US" sz="1550" dirty="0"/>
          </a:p>
        </p:txBody>
      </p:sp>
      <p:sp>
        <p:nvSpPr>
          <p:cNvPr id="13" name="Text 7"/>
          <p:cNvSpPr/>
          <p:nvPr/>
        </p:nvSpPr>
        <p:spPr>
          <a:xfrm>
            <a:off x="4571851" y="1727299"/>
            <a:ext cx="236208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Start a chat or project session.</a:t>
            </a:r>
            <a:endParaRPr lang="en-US" sz="1350" dirty="0"/>
          </a:p>
        </p:txBody>
      </p:sp>
      <p:sp>
        <p:nvSpPr>
          <p:cNvPr id="14" name="Text 8"/>
          <p:cNvSpPr/>
          <p:nvPr/>
        </p:nvSpPr>
        <p:spPr>
          <a:xfrm>
            <a:off x="4063901" y="2126010"/>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GitPullRequest-8250DF.png">    </p:cNvPr>
          <p:cNvPicPr>
            <a:picLocks noChangeAspect="1"/>
          </p:cNvPicPr>
          <p:nvPr/>
        </p:nvPicPr>
        <p:blipFill>
          <a:blip r:embed="rId6"/>
          <a:stretch>
            <a:fillRect/>
          </a:stretch>
        </p:blipFill>
        <p:spPr>
          <a:xfrm>
            <a:off x="4146352" y="2208461"/>
            <a:ext cx="190500" cy="190500"/>
          </a:xfrm>
          <a:prstGeom prst="rect">
            <a:avLst/>
          </a:prstGeom>
        </p:spPr>
      </p:pic>
      <p:sp>
        <p:nvSpPr>
          <p:cNvPr id="16" name="Text 9"/>
          <p:cNvSpPr/>
          <p:nvPr/>
        </p:nvSpPr>
        <p:spPr>
          <a:xfrm>
            <a:off x="4571851" y="2077789"/>
            <a:ext cx="236192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 and Issues</a:t>
            </a:r>
            <a:endParaRPr lang="en-US" sz="1550" dirty="0"/>
          </a:p>
        </p:txBody>
      </p:sp>
      <p:sp>
        <p:nvSpPr>
          <p:cNvPr id="17" name="Text 10"/>
          <p:cNvSpPr/>
          <p:nvPr/>
        </p:nvSpPr>
        <p:spPr>
          <a:xfrm>
            <a:off x="4571851" y="2331690"/>
            <a:ext cx="236192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GitHub work that involves you.</a:t>
            </a:r>
            <a:endParaRPr lang="en-US" sz="1350" dirty="0"/>
          </a:p>
        </p:txBody>
      </p:sp>
      <p:sp>
        <p:nvSpPr>
          <p:cNvPr id="18" name="Text 11"/>
          <p:cNvSpPr/>
          <p:nvPr/>
        </p:nvSpPr>
        <p:spPr>
          <a:xfrm>
            <a:off x="4063901" y="2730401"/>
            <a:ext cx="355550" cy="355550"/>
          </a:xfrm>
          <a:prstGeom prst="roundRect">
            <a:avLst>
              <a:gd name="adj" fmla="val 25004"/>
            </a:avLst>
          </a:prstGeom>
          <a:solidFill>
            <a:srgbClr val="FFF1E5"/>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Clock-BC4C00.png">    </p:cNvPr>
          <p:cNvPicPr>
            <a:picLocks noChangeAspect="1"/>
          </p:cNvPicPr>
          <p:nvPr/>
        </p:nvPicPr>
        <p:blipFill>
          <a:blip r:embed="rId7"/>
          <a:stretch>
            <a:fillRect/>
          </a:stretch>
        </p:blipFill>
        <p:spPr>
          <a:xfrm>
            <a:off x="4146352" y="2812852"/>
            <a:ext cx="190500" cy="190500"/>
          </a:xfrm>
          <a:prstGeom prst="rect">
            <a:avLst/>
          </a:prstGeom>
        </p:spPr>
      </p:pic>
      <p:sp>
        <p:nvSpPr>
          <p:cNvPr id="20" name="Text 12"/>
          <p:cNvSpPr/>
          <p:nvPr/>
        </p:nvSpPr>
        <p:spPr>
          <a:xfrm>
            <a:off x="4571851" y="2682180"/>
            <a:ext cx="260557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21" name="Text 13"/>
          <p:cNvSpPr/>
          <p:nvPr/>
        </p:nvSpPr>
        <p:spPr>
          <a:xfrm>
            <a:off x="4571851" y="2936081"/>
            <a:ext cx="260557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Saved agent tasks that run again.</a:t>
            </a:r>
            <a:endParaRPr lang="en-US" sz="1350" dirty="0"/>
          </a:p>
        </p:txBody>
      </p:sp>
      <p:sp>
        <p:nvSpPr>
          <p:cNvPr id="22" name="Text 14"/>
          <p:cNvSpPr/>
          <p:nvPr/>
        </p:nvSpPr>
        <p:spPr>
          <a:xfrm>
            <a:off x="4063901" y="3334792"/>
            <a:ext cx="355550" cy="355550"/>
          </a:xfrm>
          <a:prstGeom prst="roundRect">
            <a:avLst>
              <a:gd name="adj" fmla="val 25004"/>
            </a:avLst>
          </a:prstGeom>
          <a:solidFill>
            <a:srgbClr val="DAFBE1"/>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Plug-1A7F37.png">    </p:cNvPr>
          <p:cNvPicPr>
            <a:picLocks noChangeAspect="1"/>
          </p:cNvPicPr>
          <p:nvPr/>
        </p:nvPicPr>
        <p:blipFill>
          <a:blip r:embed="rId8"/>
          <a:stretch>
            <a:fillRect/>
          </a:stretch>
        </p:blipFill>
        <p:spPr>
          <a:xfrm>
            <a:off x="4146352" y="3417243"/>
            <a:ext cx="190500" cy="190500"/>
          </a:xfrm>
          <a:prstGeom prst="rect">
            <a:avLst/>
          </a:prstGeom>
        </p:spPr>
      </p:pic>
      <p:sp>
        <p:nvSpPr>
          <p:cNvPr id="24" name="Text 15"/>
          <p:cNvSpPr/>
          <p:nvPr/>
        </p:nvSpPr>
        <p:spPr>
          <a:xfrm>
            <a:off x="4571851" y="3286571"/>
            <a:ext cx="274766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Customize</a:t>
            </a:r>
            <a:endParaRPr lang="en-US" sz="1550" dirty="0"/>
          </a:p>
        </p:txBody>
      </p:sp>
      <p:sp>
        <p:nvSpPr>
          <p:cNvPr id="25" name="Text 16"/>
          <p:cNvSpPr/>
          <p:nvPr/>
        </p:nvSpPr>
        <p:spPr>
          <a:xfrm>
            <a:off x="4571851" y="3540472"/>
            <a:ext cx="274766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Skills, MCP, plugins, and canvases.</a:t>
            </a:r>
            <a:endParaRPr lang="en-US" sz="1350" dirty="0"/>
          </a:p>
        </p:txBody>
      </p:sp>
      <p:sp>
        <p:nvSpPr>
          <p:cNvPr id="26" name="Text 17"/>
          <p:cNvSpPr/>
          <p:nvPr/>
        </p:nvSpPr>
        <p:spPr>
          <a:xfrm>
            <a:off x="4063901" y="3939183"/>
            <a:ext cx="355550" cy="355550"/>
          </a:xfrm>
          <a:prstGeom prst="roundRect">
            <a:avLst>
              <a:gd name="adj" fmla="val 25004"/>
            </a:avLst>
          </a:prstGeom>
          <a:solidFill>
            <a:srgbClr val="F6F8FA"/>
          </a:solidFill>
          <a:ln/>
        </p:spPr>
        <p:txBody>
          <a:bodyPr wrap="square" rtlCol="0" anchor="ctr"/>
          <a:lstStyle/>
          <a:p>
            <a:pPr indent="0" marL="0">
              <a:buNone/>
            </a:pPr>
            <a:endParaRPr lang="en-US" dirty="0"/>
          </a:p>
        </p:txBody>
      </p:sp>
      <p:pic>
        <p:nvPicPr>
          <p:cNvPr id="27" name="Image 7" descr="/Users/danwahlin/.copilot/session-state/56a7a0da-def8-48d4-b5e8-0ac3878cb8dd/files/slides-build/icons/GoKebabHorizontal-59636E.png">    </p:cNvPr>
          <p:cNvPicPr>
            <a:picLocks noChangeAspect="1"/>
          </p:cNvPicPr>
          <p:nvPr/>
        </p:nvPicPr>
        <p:blipFill>
          <a:blip r:embed="rId9"/>
          <a:stretch>
            <a:fillRect/>
          </a:stretch>
        </p:blipFill>
        <p:spPr>
          <a:xfrm>
            <a:off x="4146352" y="4021634"/>
            <a:ext cx="190500" cy="190500"/>
          </a:xfrm>
          <a:prstGeom prst="rect">
            <a:avLst/>
          </a:prstGeom>
        </p:spPr>
      </p:pic>
      <p:sp>
        <p:nvSpPr>
          <p:cNvPr id="28" name="Text 18"/>
          <p:cNvSpPr/>
          <p:nvPr/>
        </p:nvSpPr>
        <p:spPr>
          <a:xfrm>
            <a:off x="4571851" y="3890962"/>
            <a:ext cx="22165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More</a:t>
            </a:r>
            <a:endParaRPr lang="en-US" sz="1550" dirty="0"/>
          </a:p>
        </p:txBody>
      </p:sp>
      <p:sp>
        <p:nvSpPr>
          <p:cNvPr id="29" name="Text 19"/>
          <p:cNvSpPr/>
          <p:nvPr/>
        </p:nvSpPr>
        <p:spPr>
          <a:xfrm>
            <a:off x="4571851" y="4144863"/>
            <a:ext cx="22165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which views appear.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GitHub work, in two views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practice items from setup already appear here.</a:t>
            </a:r>
            <a:endParaRPr lang="en-US" sz="1650" dirty="0"/>
          </a:p>
        </p:txBody>
      </p:sp>
      <p:sp>
        <p:nvSpPr>
          <p:cNvPr id="9" name="Text 5"/>
          <p:cNvSpPr/>
          <p:nvPr/>
        </p:nvSpPr>
        <p:spPr>
          <a:xfrm>
            <a:off x="511076" y="1975396"/>
            <a:ext cx="3956000" cy="1642021"/>
          </a:xfrm>
          <a:prstGeom prst="roundRect">
            <a:avLst>
              <a:gd name="adj" fmla="val 464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ulls-crop.png">    </p:cNvPr>
          <p:cNvPicPr>
            <a:picLocks noChangeAspect="1"/>
          </p:cNvPicPr>
          <p:nvPr/>
        </p:nvPicPr>
        <p:blipFill>
          <a:blip r:embed="rId4"/>
          <a:stretch>
            <a:fillRect/>
          </a:stretch>
        </p:blipFill>
        <p:spPr>
          <a:xfrm>
            <a:off x="558701" y="2023021"/>
            <a:ext cx="3860750" cy="1546771"/>
          </a:xfrm>
          <a:prstGeom prst="rect">
            <a:avLst/>
          </a:prstGeom>
        </p:spPr>
      </p:pic>
      <p:sp>
        <p:nvSpPr>
          <p:cNvPr id="11" name="Text 6"/>
          <p:cNvSpPr/>
          <p:nvPr/>
        </p:nvSpPr>
        <p:spPr>
          <a:xfrm>
            <a:off x="507950" y="4165402"/>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GitPullRequest-0969DA.png">    </p:cNvPr>
          <p:cNvPicPr>
            <a:picLocks noChangeAspect="1"/>
          </p:cNvPicPr>
          <p:nvPr/>
        </p:nvPicPr>
        <p:blipFill>
          <a:blip r:embed="rId5"/>
          <a:stretch>
            <a:fillRect/>
          </a:stretch>
        </p:blipFill>
        <p:spPr>
          <a:xfrm>
            <a:off x="590401" y="4247852"/>
            <a:ext cx="190500" cy="190500"/>
          </a:xfrm>
          <a:prstGeom prst="rect">
            <a:avLst/>
          </a:prstGeom>
        </p:spPr>
      </p:pic>
      <p:sp>
        <p:nvSpPr>
          <p:cNvPr id="13" name="Text 7"/>
          <p:cNvSpPr/>
          <p:nvPr/>
        </p:nvSpPr>
        <p:spPr>
          <a:xfrm>
            <a:off x="1015901" y="4117181"/>
            <a:ext cx="248777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a:t>
            </a:r>
            <a:endParaRPr lang="en-US" sz="1550" dirty="0"/>
          </a:p>
        </p:txBody>
      </p:sp>
      <p:sp>
        <p:nvSpPr>
          <p:cNvPr id="14" name="Text 8"/>
          <p:cNvSpPr/>
          <p:nvPr/>
        </p:nvSpPr>
        <p:spPr>
          <a:xfrm>
            <a:off x="1015901" y="4371082"/>
            <a:ext cx="24877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PRs: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Authored by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9"/>
          <p:cNvSpPr/>
          <p:nvPr/>
        </p:nvSpPr>
        <p:spPr>
          <a:xfrm>
            <a:off x="4676626" y="2125861"/>
            <a:ext cx="3956000" cy="1341090"/>
          </a:xfrm>
          <a:prstGeom prst="roundRect">
            <a:avLst>
              <a:gd name="adj" fmla="val 568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4" descr="/Users/danwahlin/.copilot/session-state/56a7a0da-def8-48d4-b5e8-0ac3878cb8dd/files/slides-build/img/01-issues-crop.png">    </p:cNvPr>
          <p:cNvPicPr>
            <a:picLocks noChangeAspect="1"/>
          </p:cNvPicPr>
          <p:nvPr/>
        </p:nvPicPr>
        <p:blipFill>
          <a:blip r:embed="rId6"/>
          <a:stretch>
            <a:fillRect/>
          </a:stretch>
        </p:blipFill>
        <p:spPr>
          <a:xfrm>
            <a:off x="4724251" y="2173486"/>
            <a:ext cx="3860750" cy="1245840"/>
          </a:xfrm>
          <a:prstGeom prst="rect">
            <a:avLst/>
          </a:prstGeom>
        </p:spPr>
      </p:pic>
      <p:sp>
        <p:nvSpPr>
          <p:cNvPr id="17" name="Text 10"/>
          <p:cNvSpPr/>
          <p:nvPr/>
        </p:nvSpPr>
        <p:spPr>
          <a:xfrm>
            <a:off x="4673501" y="4165402"/>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8" name="Image 5" descr="/Users/danwahlin/.copilot/session-state/56a7a0da-def8-48d4-b5e8-0ac3878cb8dd/files/slides-build/icons/GoIssueOpened-8250DF.png">    </p:cNvPr>
          <p:cNvPicPr>
            <a:picLocks noChangeAspect="1"/>
          </p:cNvPicPr>
          <p:nvPr/>
        </p:nvPicPr>
        <p:blipFill>
          <a:blip r:embed="rId7"/>
          <a:stretch>
            <a:fillRect/>
          </a:stretch>
        </p:blipFill>
        <p:spPr>
          <a:xfrm>
            <a:off x="4755952" y="4247852"/>
            <a:ext cx="190500" cy="190500"/>
          </a:xfrm>
          <a:prstGeom prst="rect">
            <a:avLst/>
          </a:prstGeom>
        </p:spPr>
      </p:pic>
      <p:sp>
        <p:nvSpPr>
          <p:cNvPr id="19" name="Text 11"/>
          <p:cNvSpPr/>
          <p:nvPr/>
        </p:nvSpPr>
        <p:spPr>
          <a:xfrm>
            <a:off x="5181451" y="4117181"/>
            <a:ext cx="26240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Issues</a:t>
            </a:r>
            <a:endParaRPr lang="en-US" sz="1550" dirty="0"/>
          </a:p>
        </p:txBody>
      </p:sp>
      <p:sp>
        <p:nvSpPr>
          <p:cNvPr id="20" name="Text 12"/>
          <p:cNvSpPr/>
          <p:nvPr/>
        </p:nvSpPr>
        <p:spPr>
          <a:xfrm>
            <a:off x="5181451" y="4371082"/>
            <a:ext cx="26240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issues: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Assigned to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Automations and settings</a:t>
            </a:r>
            <a:endParaRPr lang="en-US" sz="2800" dirty="0"/>
          </a:p>
        </p:txBody>
      </p:sp>
      <p:sp>
        <p:nvSpPr>
          <p:cNvPr id="8" name="Text 4"/>
          <p:cNvSpPr/>
          <p:nvPr/>
        </p:nvSpPr>
        <p:spPr>
          <a:xfrm>
            <a:off x="511076" y="1659880"/>
            <a:ext cx="7105650" cy="1421011"/>
          </a:xfrm>
          <a:prstGeom prst="roundRect">
            <a:avLst>
              <a:gd name="adj" fmla="val 536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1-automations-crop.png">    </p:cNvPr>
          <p:cNvPicPr>
            <a:picLocks noChangeAspect="1"/>
          </p:cNvPicPr>
          <p:nvPr/>
        </p:nvPicPr>
        <p:blipFill>
          <a:blip r:embed="rId4"/>
          <a:stretch>
            <a:fillRect/>
          </a:stretch>
        </p:blipFill>
        <p:spPr>
          <a:xfrm>
            <a:off x="558701" y="1707505"/>
            <a:ext cx="7010400" cy="1325761"/>
          </a:xfrm>
          <a:prstGeom prst="rect">
            <a:avLst/>
          </a:prstGeom>
        </p:spPr>
      </p:pic>
      <p:sp>
        <p:nvSpPr>
          <p:cNvPr id="10" name="Text 5"/>
          <p:cNvSpPr/>
          <p:nvPr/>
        </p:nvSpPr>
        <p:spPr>
          <a:xfrm>
            <a:off x="507950" y="3551486"/>
            <a:ext cx="4514701" cy="923032"/>
          </a:xfrm>
          <a:prstGeom prst="roundRect">
            <a:avLst>
              <a:gd name="adj" fmla="val 13759"/>
            </a:avLst>
          </a:prstGeom>
          <a:solidFill>
            <a:srgbClr val="FFFFFF"/>
          </a:solidFill>
          <a:ln w="9525">
            <a:solidFill>
              <a:srgbClr val="FFC49B"/>
            </a:solidFill>
          </a:ln>
        </p:spPr>
        <p:txBody>
          <a:bodyPr wrap="square" rtlCol="0" anchor="ctr"/>
          <a:lstStyle/>
          <a:p>
            <a:pPr indent="0" marL="0">
              <a:buNone/>
            </a:pPr>
            <a:endParaRPr lang="en-US" dirty="0"/>
          </a:p>
        </p:txBody>
      </p:sp>
      <p:sp>
        <p:nvSpPr>
          <p:cNvPr id="11" name="Text 6"/>
          <p:cNvSpPr/>
          <p:nvPr/>
        </p:nvSpPr>
        <p:spPr>
          <a:xfrm>
            <a:off x="669875" y="3822502"/>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lock-BC4C00.png">    </p:cNvPr>
          <p:cNvPicPr>
            <a:picLocks noChangeAspect="1"/>
          </p:cNvPicPr>
          <p:nvPr/>
        </p:nvPicPr>
        <p:blipFill>
          <a:blip r:embed="rId5"/>
          <a:stretch>
            <a:fillRect/>
          </a:stretch>
        </p:blipFill>
        <p:spPr>
          <a:xfrm>
            <a:off x="752475" y="3905101"/>
            <a:ext cx="215801" cy="215801"/>
          </a:xfrm>
          <a:prstGeom prst="rect">
            <a:avLst/>
          </a:prstGeom>
        </p:spPr>
      </p:pic>
      <p:sp>
        <p:nvSpPr>
          <p:cNvPr id="13" name="Text 7"/>
          <p:cNvSpPr/>
          <p:nvPr/>
        </p:nvSpPr>
        <p:spPr>
          <a:xfrm>
            <a:off x="1203275" y="3687961"/>
            <a:ext cx="37306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14" name="Text 8"/>
          <p:cNvSpPr/>
          <p:nvPr/>
        </p:nvSpPr>
        <p:spPr>
          <a:xfrm>
            <a:off x="1203275" y="3941862"/>
            <a:ext cx="3730600"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Templates you run manually, on a schedule, or from events.</a:t>
            </a:r>
            <a:endParaRPr lang="en-US" sz="1350" dirty="0"/>
          </a:p>
        </p:txBody>
      </p:sp>
      <p:sp>
        <p:nvSpPr>
          <p:cNvPr id="15" name="Text 9"/>
          <p:cNvSpPr/>
          <p:nvPr/>
        </p:nvSpPr>
        <p:spPr>
          <a:xfrm>
            <a:off x="5200352" y="3551486"/>
            <a:ext cx="3435548"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0"/>
          <p:cNvSpPr/>
          <p:nvPr/>
        </p:nvSpPr>
        <p:spPr>
          <a:xfrm>
            <a:off x="5362277" y="382250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4" descr="/Users/danwahlin/.copilot/session-state/56a7a0da-def8-48d4-b5e8-0ac3878cb8dd/files/slides-build/icons/GoGear-1A7F37.png">    </p:cNvPr>
          <p:cNvPicPr>
            <a:picLocks noChangeAspect="1"/>
          </p:cNvPicPr>
          <p:nvPr/>
        </p:nvPicPr>
        <p:blipFill>
          <a:blip r:embed="rId6"/>
          <a:stretch>
            <a:fillRect/>
          </a:stretch>
        </p:blipFill>
        <p:spPr>
          <a:xfrm>
            <a:off x="5444877" y="3905101"/>
            <a:ext cx="215801" cy="215801"/>
          </a:xfrm>
          <a:prstGeom prst="rect">
            <a:avLst/>
          </a:prstGeom>
        </p:spPr>
      </p:pic>
      <p:sp>
        <p:nvSpPr>
          <p:cNvPr id="18" name="Text 11"/>
          <p:cNvSpPr/>
          <p:nvPr/>
        </p:nvSpPr>
        <p:spPr>
          <a:xfrm>
            <a:off x="5895677" y="3687961"/>
            <a:ext cx="26298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Settings</a:t>
            </a:r>
            <a:endParaRPr lang="en-US" sz="1550" dirty="0"/>
          </a:p>
        </p:txBody>
      </p:sp>
      <p:sp>
        <p:nvSpPr>
          <p:cNvPr id="19" name="Text 12"/>
          <p:cNvSpPr/>
          <p:nvPr/>
        </p:nvSpPr>
        <p:spPr>
          <a:xfrm>
            <a:off x="5895677" y="3941862"/>
            <a:ext cx="26298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gear icon at the bottom of the sidebar.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producer-control-room-mode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ommentDiscussion-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8"/>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1"/>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Chec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4"/>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Rocke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7"/>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4"/>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5"/>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CommentDiscussion-0969DA.png">    </p:cNvPr>
          <p:cNvPicPr>
            <a:picLocks noChangeAspect="1"/>
          </p:cNvPicPr>
          <p:nvPr/>
        </p:nvPicPr>
        <p:blipFill>
          <a:blip r:embed="rId4"/>
          <a:stretch>
            <a:fillRect/>
          </a:stretch>
        </p:blipFill>
        <p:spPr>
          <a:xfrm>
            <a:off x="777776" y="1514326"/>
            <a:ext cx="215801" cy="215801"/>
          </a:xfrm>
          <a:prstGeom prst="rect">
            <a:avLst/>
          </a:prstGeom>
        </p:spPr>
      </p:pic>
      <p:sp>
        <p:nvSpPr>
          <p:cNvPr id="11" name="Text 6"/>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7"/>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8"/>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9"/>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0"/>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1"/>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2"/>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3"/>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4"/>
          <p:cNvSpPr/>
          <p:nvPr/>
        </p:nvSpPr>
        <p:spPr>
          <a:xfrm>
            <a:off x="695176" y="3449836"/>
            <a:ext cx="3587948" cy="0"/>
          </a:xfrm>
          <a:prstGeom prst="line">
            <a:avLst/>
          </a:prstGeom>
          <a:noFill/>
          <a:ln w="9525">
            <a:solidFill>
              <a:srgbClr val="9CD7FF"/>
            </a:solidFill>
            <a:prstDash val="solid"/>
          </a:ln>
        </p:spPr>
      </p:sp>
      <p:sp>
        <p:nvSpPr>
          <p:cNvPr id="20" name="Shape 15"/>
          <p:cNvSpPr/>
          <p:nvPr/>
        </p:nvSpPr>
        <p:spPr>
          <a:xfrm>
            <a:off x="4278362" y="3445073"/>
            <a:ext cx="0" cy="939552"/>
          </a:xfrm>
          <a:prstGeom prst="line">
            <a:avLst/>
          </a:prstGeom>
          <a:noFill/>
          <a:ln w="9525">
            <a:solidFill>
              <a:srgbClr val="9CD7FF"/>
            </a:solidFill>
            <a:prstDash val="solid"/>
          </a:ln>
        </p:spPr>
      </p:sp>
      <p:sp>
        <p:nvSpPr>
          <p:cNvPr id="21" name="Shape 16"/>
          <p:cNvSpPr/>
          <p:nvPr/>
        </p:nvSpPr>
        <p:spPr>
          <a:xfrm>
            <a:off x="695176" y="4379863"/>
            <a:ext cx="3587948" cy="0"/>
          </a:xfrm>
          <a:prstGeom prst="line">
            <a:avLst/>
          </a:prstGeom>
          <a:noFill/>
          <a:ln w="9525">
            <a:solidFill>
              <a:srgbClr val="9CD7FF"/>
            </a:solidFill>
            <a:prstDash val="solid"/>
          </a:ln>
        </p:spPr>
      </p:sp>
      <p:sp>
        <p:nvSpPr>
          <p:cNvPr id="22" name="Shape 17"/>
          <p:cNvSpPr/>
          <p:nvPr/>
        </p:nvSpPr>
        <p:spPr>
          <a:xfrm>
            <a:off x="718989" y="3445073"/>
            <a:ext cx="0" cy="939552"/>
          </a:xfrm>
          <a:prstGeom prst="line">
            <a:avLst/>
          </a:prstGeom>
          <a:noFill/>
          <a:ln w="47625">
            <a:solidFill>
              <a:srgbClr val="0969DA"/>
            </a:solidFill>
            <a:prstDash val="solid"/>
          </a:ln>
        </p:spPr>
      </p:sp>
      <p:pic>
        <p:nvPicPr>
          <p:cNvPr id="23" name="Image 3" descr="/Users/danwahlin/.copilot/session-state/56a7a0da-def8-48d4-b5e8-0ac3878cb8dd/files/slides-build/icons/GoCopilot-0969DA.png">    </p:cNvPr>
          <p:cNvPicPr>
            <a:picLocks noChangeAspect="1"/>
          </p:cNvPicPr>
          <p:nvPr/>
        </p:nvPicPr>
        <p:blipFill>
          <a:blip r:embed="rId5"/>
          <a:stretch>
            <a:fillRect/>
          </a:stretch>
        </p:blipFill>
        <p:spPr>
          <a:xfrm>
            <a:off x="920502" y="3584674"/>
            <a:ext cx="165050" cy="165050"/>
          </a:xfrm>
          <a:prstGeom prst="rect">
            <a:avLst/>
          </a:prstGeom>
        </p:spPr>
      </p:pic>
      <p:sp>
        <p:nvSpPr>
          <p:cNvPr id="24" name="Text 18"/>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19"/>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0"/>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4" descr="/Users/danwahlin/.copilot/session-state/56a7a0da-def8-48d4-b5e8-0ac3878cb8dd/files/slides-build/icons/GoRepo-8250DF.png">    </p:cNvPr>
          <p:cNvPicPr>
            <a:picLocks noChangeAspect="1"/>
          </p:cNvPicPr>
          <p:nvPr/>
        </p:nvPicPr>
        <p:blipFill>
          <a:blip r:embed="rId6"/>
          <a:stretch>
            <a:fillRect/>
          </a:stretch>
        </p:blipFill>
        <p:spPr>
          <a:xfrm>
            <a:off x="4943326" y="1514326"/>
            <a:ext cx="215801" cy="215801"/>
          </a:xfrm>
          <a:prstGeom prst="rect">
            <a:avLst/>
          </a:prstGeom>
        </p:spPr>
      </p:pic>
      <p:sp>
        <p:nvSpPr>
          <p:cNvPr id="29" name="Text 22"/>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3"/>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4"/>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5"/>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6"/>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7"/>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8"/>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29"/>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0"/>
          <p:cNvSpPr/>
          <p:nvPr/>
        </p:nvSpPr>
        <p:spPr>
          <a:xfrm>
            <a:off x="4860727" y="3227636"/>
            <a:ext cx="3587948" cy="0"/>
          </a:xfrm>
          <a:prstGeom prst="line">
            <a:avLst/>
          </a:prstGeom>
          <a:noFill/>
          <a:ln w="9525">
            <a:solidFill>
              <a:srgbClr val="E0C5FF"/>
            </a:solidFill>
            <a:prstDash val="solid"/>
          </a:ln>
        </p:spPr>
      </p:sp>
      <p:sp>
        <p:nvSpPr>
          <p:cNvPr id="38" name="Shape 31"/>
          <p:cNvSpPr/>
          <p:nvPr/>
        </p:nvSpPr>
        <p:spPr>
          <a:xfrm>
            <a:off x="8443912" y="3222873"/>
            <a:ext cx="0" cy="1161752"/>
          </a:xfrm>
          <a:prstGeom prst="line">
            <a:avLst/>
          </a:prstGeom>
          <a:noFill/>
          <a:ln w="9525">
            <a:solidFill>
              <a:srgbClr val="E0C5FF"/>
            </a:solidFill>
            <a:prstDash val="solid"/>
          </a:ln>
        </p:spPr>
      </p:sp>
      <p:sp>
        <p:nvSpPr>
          <p:cNvPr id="39" name="Shape 32"/>
          <p:cNvSpPr/>
          <p:nvPr/>
        </p:nvSpPr>
        <p:spPr>
          <a:xfrm>
            <a:off x="4860727" y="4379863"/>
            <a:ext cx="3587948" cy="0"/>
          </a:xfrm>
          <a:prstGeom prst="line">
            <a:avLst/>
          </a:prstGeom>
          <a:noFill/>
          <a:ln w="9525">
            <a:solidFill>
              <a:srgbClr val="E0C5FF"/>
            </a:solidFill>
            <a:prstDash val="solid"/>
          </a:ln>
        </p:spPr>
      </p:sp>
      <p:sp>
        <p:nvSpPr>
          <p:cNvPr id="40" name="Shape 33"/>
          <p:cNvSpPr/>
          <p:nvPr/>
        </p:nvSpPr>
        <p:spPr>
          <a:xfrm>
            <a:off x="4884539" y="3222873"/>
            <a:ext cx="0" cy="1161752"/>
          </a:xfrm>
          <a:prstGeom prst="line">
            <a:avLst/>
          </a:prstGeom>
          <a:noFill/>
          <a:ln w="47625">
            <a:solidFill>
              <a:srgbClr val="8250DF"/>
            </a:solidFill>
            <a:prstDash val="solid"/>
          </a:ln>
        </p:spPr>
      </p:sp>
      <p:pic>
        <p:nvPicPr>
          <p:cNvPr id="4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362474"/>
            <a:ext cx="165050" cy="165050"/>
          </a:xfrm>
          <a:prstGeom prst="rect">
            <a:avLst/>
          </a:prstGeom>
        </p:spPr>
      </p:pic>
      <p:sp>
        <p:nvSpPr>
          <p:cNvPr id="42" name="Text 34"/>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5"/>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More autonomy from left to right. Pick what fits.</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1-session-mode-decision-ladder.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67458"/>
            <a:ext cx="4318099" cy="919311"/>
          </a:xfrm>
          <a:prstGeom prst="roundRect">
            <a:avLst>
              <a:gd name="adj" fmla="val 13815"/>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454277" y="1703933"/>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Person-0969DA.png">    </p:cNvPr>
          <p:cNvPicPr>
            <a:picLocks noChangeAspect="1"/>
          </p:cNvPicPr>
          <p:nvPr/>
        </p:nvPicPr>
        <p:blipFill>
          <a:blip r:embed="rId5"/>
          <a:stretch>
            <a:fillRect/>
          </a:stretch>
        </p:blipFill>
        <p:spPr>
          <a:xfrm>
            <a:off x="4536877" y="1786533"/>
            <a:ext cx="215801" cy="215801"/>
          </a:xfrm>
          <a:prstGeom prst="rect">
            <a:avLst/>
          </a:prstGeom>
        </p:spPr>
      </p:pic>
      <p:sp>
        <p:nvSpPr>
          <p:cNvPr id="14" name="Text 8"/>
          <p:cNvSpPr/>
          <p:nvPr/>
        </p:nvSpPr>
        <p:spPr>
          <a:xfrm>
            <a:off x="4949577" y="1780133"/>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5" name="Text 9"/>
          <p:cNvSpPr/>
          <p:nvPr/>
        </p:nvSpPr>
        <p:spPr>
          <a:xfrm>
            <a:off x="4454277" y="2135684"/>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6" name="Text 10"/>
          <p:cNvSpPr/>
          <p:nvPr/>
        </p:nvSpPr>
        <p:spPr>
          <a:xfrm>
            <a:off x="4317802" y="2613720"/>
            <a:ext cx="4318099" cy="919311"/>
          </a:xfrm>
          <a:prstGeom prst="roundRect">
            <a:avLst>
              <a:gd name="adj" fmla="val 13815"/>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454277" y="275019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Checklist-8250DF.png">    </p:cNvPr>
          <p:cNvPicPr>
            <a:picLocks noChangeAspect="1"/>
          </p:cNvPicPr>
          <p:nvPr/>
        </p:nvPicPr>
        <p:blipFill>
          <a:blip r:embed="rId6"/>
          <a:stretch>
            <a:fillRect/>
          </a:stretch>
        </p:blipFill>
        <p:spPr>
          <a:xfrm>
            <a:off x="4536877" y="2832795"/>
            <a:ext cx="215801" cy="215801"/>
          </a:xfrm>
          <a:prstGeom prst="rect">
            <a:avLst/>
          </a:prstGeom>
        </p:spPr>
      </p:pic>
      <p:sp>
        <p:nvSpPr>
          <p:cNvPr id="19" name="Text 12"/>
          <p:cNvSpPr/>
          <p:nvPr/>
        </p:nvSpPr>
        <p:spPr>
          <a:xfrm>
            <a:off x="4949577" y="2826395"/>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20" name="Text 13"/>
          <p:cNvSpPr/>
          <p:nvPr/>
        </p:nvSpPr>
        <p:spPr>
          <a:xfrm>
            <a:off x="4454277" y="3181945"/>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1" name="Text 14"/>
          <p:cNvSpPr/>
          <p:nvPr/>
        </p:nvSpPr>
        <p:spPr>
          <a:xfrm>
            <a:off x="4317802" y="3659981"/>
            <a:ext cx="4318099" cy="919311"/>
          </a:xfrm>
          <a:prstGeom prst="roundRect">
            <a:avLst>
              <a:gd name="adj" fmla="val 13815"/>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5"/>
          <p:cNvSpPr/>
          <p:nvPr/>
        </p:nvSpPr>
        <p:spPr>
          <a:xfrm>
            <a:off x="4454277" y="379645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3" name="Image 5" descr="/Users/danwahlin/.copilot/session-state/56a7a0da-def8-48d4-b5e8-0ac3878cb8dd/files/slides-build/icons/GoRocket-1A7F37.png">    </p:cNvPr>
          <p:cNvPicPr>
            <a:picLocks noChangeAspect="1"/>
          </p:cNvPicPr>
          <p:nvPr/>
        </p:nvPicPr>
        <p:blipFill>
          <a:blip r:embed="rId7"/>
          <a:stretch>
            <a:fillRect/>
          </a:stretch>
        </p:blipFill>
        <p:spPr>
          <a:xfrm>
            <a:off x="4536877" y="3879056"/>
            <a:ext cx="215801" cy="215801"/>
          </a:xfrm>
          <a:prstGeom prst="rect">
            <a:avLst/>
          </a:prstGeom>
        </p:spPr>
      </p:pic>
      <p:sp>
        <p:nvSpPr>
          <p:cNvPr id="24" name="Text 16"/>
          <p:cNvSpPr/>
          <p:nvPr/>
        </p:nvSpPr>
        <p:spPr>
          <a:xfrm>
            <a:off x="4949577" y="3872657"/>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5" name="Text 17"/>
          <p:cNvSpPr/>
          <p:nvPr/>
        </p:nvSpPr>
        <p:spPr>
          <a:xfrm>
            <a:off x="4454277" y="4228207"/>
            <a:ext cx="412605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MODELS AND REASONING EFFORT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how the agent thinks</a:t>
            </a:r>
            <a:endParaRPr lang="en-US" sz="2800" dirty="0"/>
          </a:p>
        </p:txBody>
      </p:sp>
      <p:sp>
        <p:nvSpPr>
          <p:cNvPr id="8" name="Text 4"/>
          <p:cNvSpPr/>
          <p:nvPr/>
        </p:nvSpPr>
        <p:spPr>
          <a:xfrm>
            <a:off x="507950" y="1825228"/>
            <a:ext cx="3810000" cy="1268164"/>
          </a:xfrm>
          <a:prstGeom prst="roundRect">
            <a:avLst>
              <a:gd name="adj" fmla="val 8012"/>
            </a:avLst>
          </a:prstGeom>
          <a:solidFill>
            <a:srgbClr val="FFFFFF"/>
          </a:solidFill>
          <a:ln w="9525">
            <a:solidFill>
              <a:srgbClr val="D1D9E0"/>
            </a:solidFill>
          </a:ln>
        </p:spPr>
        <p:txBody>
          <a:bodyPr wrap="square" rtlCol="0" anchor="ctr"/>
          <a:lstStyle/>
          <a:p>
            <a:pPr indent="0" marL="0">
              <a:buNone/>
            </a:pPr>
            <a:endParaRPr lang="en-US" dirty="0"/>
          </a:p>
        </p:txBody>
      </p:sp>
      <p:sp>
        <p:nvSpPr>
          <p:cNvPr id="9" name="Shape 5"/>
          <p:cNvSpPr/>
          <p:nvPr/>
        </p:nvSpPr>
        <p:spPr>
          <a:xfrm>
            <a:off x="517475" y="2249537"/>
            <a:ext cx="3790950" cy="0"/>
          </a:xfrm>
          <a:prstGeom prst="line">
            <a:avLst/>
          </a:prstGeom>
          <a:noFill/>
          <a:ln w="9525">
            <a:solidFill>
              <a:srgbClr val="D1D9E0"/>
            </a:solidFill>
            <a:prstDash val="solid"/>
          </a:ln>
        </p:spPr>
      </p:sp>
      <p:sp>
        <p:nvSpPr>
          <p:cNvPr id="10" name="Text 6"/>
          <p:cNvSpPr/>
          <p:nvPr/>
        </p:nvSpPr>
        <p:spPr>
          <a:xfrm>
            <a:off x="669875" y="1936254"/>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Model</a:t>
            </a:r>
            <a:endParaRPr lang="en-US" sz="1400" dirty="0"/>
          </a:p>
        </p:txBody>
      </p:sp>
      <p:sp>
        <p:nvSpPr>
          <p:cNvPr id="11" name="Text 7"/>
          <p:cNvSpPr/>
          <p:nvPr/>
        </p:nvSpPr>
        <p:spPr>
          <a:xfrm>
            <a:off x="2371576" y="193625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Speed, skill, cost</a:t>
            </a:r>
            <a:endParaRPr lang="en-US" sz="1400" dirty="0"/>
          </a:p>
        </p:txBody>
      </p:sp>
      <p:sp>
        <p:nvSpPr>
          <p:cNvPr id="12" name="Shape 8"/>
          <p:cNvSpPr/>
          <p:nvPr/>
        </p:nvSpPr>
        <p:spPr>
          <a:xfrm>
            <a:off x="517475" y="2669084"/>
            <a:ext cx="3790950" cy="0"/>
          </a:xfrm>
          <a:prstGeom prst="line">
            <a:avLst/>
          </a:prstGeom>
          <a:noFill/>
          <a:ln w="9525">
            <a:solidFill>
              <a:srgbClr val="D1D9E0"/>
            </a:solidFill>
            <a:prstDash val="solid"/>
          </a:ln>
        </p:spPr>
      </p:sp>
      <p:sp>
        <p:nvSpPr>
          <p:cNvPr id="13" name="Text 9"/>
          <p:cNvSpPr/>
          <p:nvPr/>
        </p:nvSpPr>
        <p:spPr>
          <a:xfrm>
            <a:off x="669875" y="2355800"/>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Effort</a:t>
            </a:r>
            <a:endParaRPr lang="en-US" sz="1400" dirty="0"/>
          </a:p>
        </p:txBody>
      </p:sp>
      <p:sp>
        <p:nvSpPr>
          <p:cNvPr id="14" name="Text 10"/>
          <p:cNvSpPr/>
          <p:nvPr/>
        </p:nvSpPr>
        <p:spPr>
          <a:xfrm>
            <a:off x="2371576" y="2355800"/>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Reasoning depth</a:t>
            </a:r>
            <a:endParaRPr lang="en-US" sz="1400" dirty="0"/>
          </a:p>
        </p:txBody>
      </p:sp>
      <p:sp>
        <p:nvSpPr>
          <p:cNvPr id="15" name="Text 11"/>
          <p:cNvSpPr/>
          <p:nvPr/>
        </p:nvSpPr>
        <p:spPr>
          <a:xfrm>
            <a:off x="669875" y="2775347"/>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 window</a:t>
            </a:r>
            <a:endParaRPr lang="en-US" sz="1400" dirty="0"/>
          </a:p>
        </p:txBody>
      </p:sp>
      <p:sp>
        <p:nvSpPr>
          <p:cNvPr id="16" name="Text 12"/>
          <p:cNvSpPr/>
          <p:nvPr/>
        </p:nvSpPr>
        <p:spPr>
          <a:xfrm>
            <a:off x="2371576" y="2775347"/>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Text it can hold</a:t>
            </a:r>
            <a:endParaRPr lang="en-US" sz="1400" dirty="0"/>
          </a:p>
        </p:txBody>
      </p:sp>
      <p:sp>
        <p:nvSpPr>
          <p:cNvPr id="17" name="Text 13"/>
          <p:cNvSpPr/>
          <p:nvPr/>
        </p:nvSpPr>
        <p:spPr>
          <a:xfrm>
            <a:off x="507950" y="3271093"/>
            <a:ext cx="3810000" cy="720030"/>
          </a:xfrm>
          <a:prstGeom prst="roundRect">
            <a:avLst>
              <a:gd name="adj" fmla="val 14111"/>
            </a:avLst>
          </a:prstGeom>
          <a:solidFill>
            <a:srgbClr val="FFF8C5"/>
          </a:solidFill>
          <a:ln w="9525">
            <a:solidFill>
              <a:srgbClr val="E7C85A"/>
            </a:solidFill>
          </a:ln>
        </p:spPr>
        <p:txBody>
          <a:bodyPr wrap="square" rtlCol="0" anchor="ctr"/>
          <a:lstStyle/>
          <a:p>
            <a:pPr indent="0" marL="0">
              <a:buNone/>
            </a:pPr>
            <a:endParaRPr lang="en-US" dirty="0"/>
          </a:p>
        </p:txBody>
      </p:sp>
      <p:pic>
        <p:nvPicPr>
          <p:cNvPr id="18"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3529459"/>
            <a:ext cx="203150" cy="203150"/>
          </a:xfrm>
          <a:prstGeom prst="rect">
            <a:avLst/>
          </a:prstGeom>
        </p:spPr>
      </p:pic>
      <p:sp>
        <p:nvSpPr>
          <p:cNvPr id="19" name="Text 14"/>
          <p:cNvSpPr/>
          <p:nvPr/>
        </p:nvSpPr>
        <p:spPr>
          <a:xfrm>
            <a:off x="1025277" y="3407569"/>
            <a:ext cx="3167557" cy="44708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picks a model.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Autopilot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a mode.</a:t>
            </a:r>
            <a:endParaRPr lang="en-US" sz="1450" dirty="0"/>
          </a:p>
        </p:txBody>
      </p:sp>
      <p:sp>
        <p:nvSpPr>
          <p:cNvPr id="20" name="Text 15"/>
          <p:cNvSpPr/>
          <p:nvPr/>
        </p:nvSpPr>
        <p:spPr>
          <a:xfrm>
            <a:off x="4546550" y="1770459"/>
            <a:ext cx="40893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1" name="Shape 16"/>
          <p:cNvSpPr/>
          <p:nvPr/>
        </p:nvSpPr>
        <p:spPr>
          <a:xfrm>
            <a:off x="4546550" y="1775222"/>
            <a:ext cx="4089350" cy="0"/>
          </a:xfrm>
          <a:prstGeom prst="line">
            <a:avLst/>
          </a:prstGeom>
          <a:noFill/>
          <a:ln w="9525">
            <a:solidFill>
              <a:srgbClr val="E0C5FF"/>
            </a:solidFill>
            <a:prstDash val="solid"/>
          </a:ln>
        </p:spPr>
      </p:sp>
      <p:sp>
        <p:nvSpPr>
          <p:cNvPr id="22" name="Shape 17"/>
          <p:cNvSpPr/>
          <p:nvPr/>
        </p:nvSpPr>
        <p:spPr>
          <a:xfrm>
            <a:off x="8631138" y="1770459"/>
            <a:ext cx="0" cy="1383953"/>
          </a:xfrm>
          <a:prstGeom prst="line">
            <a:avLst/>
          </a:prstGeom>
          <a:noFill/>
          <a:ln w="9525">
            <a:solidFill>
              <a:srgbClr val="E0C5FF"/>
            </a:solidFill>
            <a:prstDash val="solid"/>
          </a:ln>
        </p:spPr>
      </p:sp>
      <p:sp>
        <p:nvSpPr>
          <p:cNvPr id="23" name="Shape 18"/>
          <p:cNvSpPr/>
          <p:nvPr/>
        </p:nvSpPr>
        <p:spPr>
          <a:xfrm>
            <a:off x="4546550" y="3149650"/>
            <a:ext cx="4089350" cy="0"/>
          </a:xfrm>
          <a:prstGeom prst="line">
            <a:avLst/>
          </a:prstGeom>
          <a:noFill/>
          <a:ln w="9525">
            <a:solidFill>
              <a:srgbClr val="E0C5FF"/>
            </a:solidFill>
            <a:prstDash val="solid"/>
          </a:ln>
        </p:spPr>
      </p:sp>
      <p:sp>
        <p:nvSpPr>
          <p:cNvPr id="24" name="Shape 19"/>
          <p:cNvSpPr/>
          <p:nvPr/>
        </p:nvSpPr>
        <p:spPr>
          <a:xfrm>
            <a:off x="4570363" y="1770459"/>
            <a:ext cx="0" cy="1383953"/>
          </a:xfrm>
          <a:prstGeom prst="line">
            <a:avLst/>
          </a:prstGeom>
          <a:noFill/>
          <a:ln w="47625">
            <a:solidFill>
              <a:srgbClr val="8250DF"/>
            </a:solidFill>
            <a:prstDash val="solid"/>
          </a:ln>
        </p:spPr>
      </p:sp>
      <p:pic>
        <p:nvPicPr>
          <p:cNvPr id="25" name="Image 3" descr="/Users/danwahlin/.copilot/session-state/56a7a0da-def8-48d4-b5e8-0ac3878cb8dd/files/slides-build/icons/GoCopilot-8250DF.png">    </p:cNvPr>
          <p:cNvPicPr>
            <a:picLocks noChangeAspect="1"/>
          </p:cNvPicPr>
          <p:nvPr/>
        </p:nvPicPr>
        <p:blipFill>
          <a:blip r:embed="rId5"/>
          <a:stretch>
            <a:fillRect/>
          </a:stretch>
        </p:blipFill>
        <p:spPr>
          <a:xfrm>
            <a:off x="4771876" y="1910060"/>
            <a:ext cx="165050" cy="165050"/>
          </a:xfrm>
          <a:prstGeom prst="rect">
            <a:avLst/>
          </a:prstGeom>
        </p:spPr>
      </p:pic>
      <p:sp>
        <p:nvSpPr>
          <p:cNvPr id="26" name="Text 20"/>
          <p:cNvSpPr/>
          <p:nvPr/>
        </p:nvSpPr>
        <p:spPr>
          <a:xfrm>
            <a:off x="5013127" y="190693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27" name="Text 21"/>
          <p:cNvSpPr/>
          <p:nvPr/>
        </p:nvSpPr>
        <p:spPr>
          <a:xfrm>
            <a:off x="4771876" y="2129135"/>
            <a:ext cx="3750335"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In samples/book-app-web, explain how filterBooks searches book titles and authors. Does letter case affect the results? Refer to the relevant file. Do not change any files.</a:t>
            </a:r>
            <a:endParaRPr lang="en-US" sz="1400" dirty="0"/>
          </a:p>
        </p:txBody>
      </p:sp>
      <p:sp>
        <p:nvSpPr>
          <p:cNvPr id="28" name="Text 22"/>
          <p:cNvSpPr/>
          <p:nvPr/>
        </p:nvSpPr>
        <p:spPr>
          <a:xfrm>
            <a:off x="4546550" y="3306812"/>
            <a:ext cx="4089350"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CheckCircle-1A7F37.png">    </p:cNvPr>
          <p:cNvPicPr>
            <a:picLocks noChangeAspect="1"/>
          </p:cNvPicPr>
          <p:nvPr/>
        </p:nvPicPr>
        <p:blipFill>
          <a:blip r:embed="rId6"/>
          <a:stretch>
            <a:fillRect/>
          </a:stretch>
        </p:blipFill>
        <p:spPr>
          <a:xfrm>
            <a:off x="4733776" y="3574703"/>
            <a:ext cx="203150" cy="203150"/>
          </a:xfrm>
          <a:prstGeom prst="rect">
            <a:avLst/>
          </a:prstGeom>
        </p:spPr>
      </p:pic>
      <p:sp>
        <p:nvSpPr>
          <p:cNvPr id="30" name="Text 23"/>
          <p:cNvSpPr/>
          <p:nvPr/>
        </p:nvSpPr>
        <p:spPr>
          <a:xfrm>
            <a:off x="5063877" y="3443288"/>
            <a:ext cx="3452494"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Search ignores letter case. The answer points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src/App.tsx</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Keep your editor for deep coding. Use the app to run and review agent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Views: New, Pull requests, Issues, Automations, Customize, and Projects.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Chats are for exploration. Project sessions are for repository work.</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Interactive, Plan, and Autopilot set how much autonomy the agent has.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Open Chapter 01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02</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Sessions, Worktrees, and Context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2026-10-06T03:22:46Z</dcterms:created>
  <dcterms:modified xsi:type="dcterms:W3CDTF">2026-10-06T03:22:46Z</dcterms:modified>
</cp:coreProperties>
</file>