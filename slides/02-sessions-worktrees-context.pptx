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named the shared working copy problem. This chapter solves it. Sessions get their own branch and folder through worktrees, and you learn to give the agent focused context with @, #, and slash commands. Then you run a full session from a GitHub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Worktrees keep work apart, Give Copilot focused context, From issue to verified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one song that three musicians record at the same time. Each gets a soundproof booth, and you mix the takes later. Each track can be edited separately. A worktree is that booth: same repository, its own folder and branch, so parallel work does not collide.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Git worktree is an additional working directory for the same repository, usually checked out to a different branch. You can work on several tasks without stashing changes or switching branches in one folder. The app uses worktrees so each session has its own folder, its branch is visible, and its diff stays tied to that session. That is what lets several sessions run in parallel. In this chapter, work through one session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choices. New worktree gives the session its own folder and branch beside your clone; it is the safe default this course uses. Current checkout works directly in your clone. Cloud runs in a GitHub-hosted sandbox and is in public preview. The menu also has Base branch, the branch a new worktree starts from. The app remembers your last choice, and you chose Current checkout in Chapter 00, so point to the project, select plus, and choose New worktree now. Sessions started with Create from always get a new worktree. Worktrees only separate files and branches, not ports, databases, or background processes. Two dev servers on the same port still collide, so use 5174 for a second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context. Isolation is half of a good session. The other half is giving the agent the right files, issues, and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sign attaches files or folders. The hash attaches issues or pull requests. The slash runs commands and skills. The ampersand references another session when the prompt box offers it. Give the smallest amount of useful context. Type slash to see what your app supports; commands vary by version, plugins, skills, and policy. You will use rubber-duck in Chapter 03, agent and skills in Chapter 04, and create-canvas in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put isolation and context together. The practice branch has a less helpful empty-state message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Create from icon that appears. On the Branches tab, pick practice-empty-state-copy; the app starts a new worktree session. Set Plan mode, type hash 3 and pick Improve the empty state copy, then add: Investigate the issue and create a plan to address it. Copilot may ask a short scope question first; pick the recommended answer. The plan opens in the Plan tab, and a Review plan box replaces the prompt box. Choose Exit plan mode and I will prompt myself. The session returns to Interactive so you can capture a baseline before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run the Book App and open the preview. Search for hobbit and confirm The Hobbit appears. Then search for zzzz-no-match. The baseline says No results and Try again, which does not tell anyone what to do. Send Implement the plan; the plan checklist updates as Copilot works. Inspect the diff in the Changes tab. Reload and search again: the message should suggest changing the search term, genre, or reading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chronicle standup. It reports your work from the last day, including this session and its changes. Then run context and expand the Context bar. You see the working and base branch, Remote control, path, project, session name and ID, and changes. Tokens shows how much the session sent and received. Context shows how the window divides among the system prompt, system tools, MCP tools, messages, free space, and buffer. Session spend shows AI credits. Context works only after at least one prompt. Check context before you add more to a busy session. This practice branch has an intentional regression and main is already correct, so there is no pull request. Ask Copilot to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repeats the workflow with a new feature: a light and dark theme toggle. Start a new worktree session from main and check its details with context. Preview the app and confirm it only has a light theme. In Plan mode, attach samples/book-app-web/src with the at sign and ask for a small plan. Implement, inspect the diff, and try hobbit and zzzz-no-match in both themes. Run the tests and build, compare the chronicle standup with what you saw, and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Sessions are focused agent workspaces, and chronicle and context show what a session did and what it holds. Next, Chapter 03 uses isolated sessions for real development: the inner loop of review, test, and preview, and the outer loop of issues, pull requests, review comments,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6"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02</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Sessions, Worktrees, and Context</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every task had its own workspace, branch, context, and history?</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10649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Worktrees keep work apart</a:t>
            </a:r>
            <a:endParaRPr lang="en-US" sz="1800" dirty="0"/>
          </a:p>
        </p:txBody>
      </p:sp>
      <p:sp>
        <p:nvSpPr>
          <p:cNvPr id="15" name="Text 11"/>
          <p:cNvSpPr/>
          <p:nvPr/>
        </p:nvSpPr>
        <p:spPr>
          <a:xfrm>
            <a:off x="1625501" y="1974800"/>
            <a:ext cx="610649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458268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Give Copilot focused context</a:t>
            </a:r>
            <a:endParaRPr lang="en-US" sz="1800" dirty="0"/>
          </a:p>
        </p:txBody>
      </p:sp>
      <p:sp>
        <p:nvSpPr>
          <p:cNvPr id="23" name="Text 19"/>
          <p:cNvSpPr/>
          <p:nvPr/>
        </p:nvSpPr>
        <p:spPr>
          <a:xfrm>
            <a:off x="1625501" y="2984450"/>
            <a:ext cx="458268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Attach exactly what the task needs. Less is often more.</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77252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From issue to verified fix</a:t>
            </a:r>
            <a:endParaRPr lang="en-US" sz="1800" dirty="0"/>
          </a:p>
        </p:txBody>
      </p:sp>
      <p:sp>
        <p:nvSpPr>
          <p:cNvPr id="31" name="Text 27"/>
          <p:cNvSpPr/>
          <p:nvPr/>
        </p:nvSpPr>
        <p:spPr>
          <a:xfrm>
            <a:off x="1625501" y="3994100"/>
            <a:ext cx="577252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Worktrees keep work apart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studio, many recording booths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would not crowd three musicians around one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recording-booths-worktree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16664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Repo-0969DA.png">    </p:cNvPr>
          <p:cNvPicPr>
            <a:picLocks noChangeAspect="1"/>
          </p:cNvPicPr>
          <p:nvPr/>
        </p:nvPicPr>
        <p:blipFill>
          <a:blip r:embed="rId5"/>
          <a:stretch>
            <a:fillRect/>
          </a:stretch>
        </p:blipFill>
        <p:spPr>
          <a:xfrm>
            <a:off x="5086350" y="2249239"/>
            <a:ext cx="215801" cy="215801"/>
          </a:xfrm>
          <a:prstGeom prst="rect">
            <a:avLst/>
          </a:prstGeom>
        </p:spPr>
      </p:pic>
      <p:sp>
        <p:nvSpPr>
          <p:cNvPr id="13" name="Text 7"/>
          <p:cNvSpPr/>
          <p:nvPr/>
        </p:nvSpPr>
        <p:spPr>
          <a:xfrm>
            <a:off x="5537150" y="2131219"/>
            <a:ext cx="301013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Same song</a:t>
            </a:r>
            <a:endParaRPr lang="en-US" sz="1550" dirty="0"/>
          </a:p>
        </p:txBody>
      </p:sp>
      <p:sp>
        <p:nvSpPr>
          <p:cNvPr id="14" name="Text 8"/>
          <p:cNvSpPr/>
          <p:nvPr/>
        </p:nvSpPr>
        <p:spPr>
          <a:xfrm>
            <a:off x="5537150" y="2385120"/>
            <a:ext cx="301013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Every booth records for one repository.</a:t>
            </a:r>
            <a:endParaRPr lang="en-US" sz="1350" dirty="0"/>
          </a:p>
        </p:txBody>
      </p:sp>
      <p:sp>
        <p:nvSpPr>
          <p:cNvPr id="15" name="Text 9"/>
          <p:cNvSpPr/>
          <p:nvPr/>
        </p:nvSpPr>
        <p:spPr>
          <a:xfrm>
            <a:off x="5003750" y="292090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GitBranch-8250DF.png">    </p:cNvPr>
          <p:cNvPicPr>
            <a:picLocks noChangeAspect="1"/>
          </p:cNvPicPr>
          <p:nvPr/>
        </p:nvPicPr>
        <p:blipFill>
          <a:blip r:embed="rId6"/>
          <a:stretch>
            <a:fillRect/>
          </a:stretch>
        </p:blipFill>
        <p:spPr>
          <a:xfrm>
            <a:off x="5086350" y="3003500"/>
            <a:ext cx="215801" cy="215801"/>
          </a:xfrm>
          <a:prstGeom prst="rect">
            <a:avLst/>
          </a:prstGeom>
        </p:spPr>
      </p:pic>
      <p:sp>
        <p:nvSpPr>
          <p:cNvPr id="17" name="Text 10"/>
          <p:cNvSpPr/>
          <p:nvPr/>
        </p:nvSpPr>
        <p:spPr>
          <a:xfrm>
            <a:off x="5537150" y="2786360"/>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Own booth</a:t>
            </a:r>
            <a:endParaRPr lang="en-US" sz="1550" dirty="0"/>
          </a:p>
        </p:txBody>
      </p:sp>
      <p:sp>
        <p:nvSpPr>
          <p:cNvPr id="18" name="Text 11"/>
          <p:cNvSpPr/>
          <p:nvPr/>
        </p:nvSpPr>
        <p:spPr>
          <a:xfrm>
            <a:off x="5537150" y="3040261"/>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worktree has its own folder and branch.</a:t>
            </a:r>
            <a:endParaRPr lang="en-US" sz="1350" dirty="0"/>
          </a:p>
        </p:txBody>
      </p:sp>
      <p:sp>
        <p:nvSpPr>
          <p:cNvPr id="19" name="Text 12"/>
          <p:cNvSpPr/>
          <p:nvPr/>
        </p:nvSpPr>
        <p:spPr>
          <a:xfrm>
            <a:off x="5003750" y="367501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GitMerge-1A7F37.png">    </p:cNvPr>
          <p:cNvPicPr>
            <a:picLocks noChangeAspect="1"/>
          </p:cNvPicPr>
          <p:nvPr/>
        </p:nvPicPr>
        <p:blipFill>
          <a:blip r:embed="rId7"/>
          <a:stretch>
            <a:fillRect/>
          </a:stretch>
        </p:blipFill>
        <p:spPr>
          <a:xfrm>
            <a:off x="5086350" y="3757613"/>
            <a:ext cx="215801" cy="215801"/>
          </a:xfrm>
          <a:prstGeom prst="rect">
            <a:avLst/>
          </a:prstGeom>
        </p:spPr>
      </p:pic>
      <p:sp>
        <p:nvSpPr>
          <p:cNvPr id="21" name="Text 13"/>
          <p:cNvSpPr/>
          <p:nvPr/>
        </p:nvSpPr>
        <p:spPr>
          <a:xfrm>
            <a:off x="5537150" y="3639592"/>
            <a:ext cx="28385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Mix later</a:t>
            </a:r>
            <a:endParaRPr lang="en-US" sz="1550" dirty="0"/>
          </a:p>
        </p:txBody>
      </p:sp>
      <p:sp>
        <p:nvSpPr>
          <p:cNvPr id="22" name="Text 14"/>
          <p:cNvSpPr/>
          <p:nvPr/>
        </p:nvSpPr>
        <p:spPr>
          <a:xfrm>
            <a:off x="5537150" y="3893493"/>
            <a:ext cx="28385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Combine the takes through a merge.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is a Git worktree?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extra working folder for the same repository, on its own branch.</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one-repo-many-worktrees.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888778"/>
            <a:ext cx="4216301" cy="2368897"/>
          </a:xfrm>
          <a:prstGeom prst="roundRect">
            <a:avLst>
              <a:gd name="adj" fmla="val 428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4454277" y="1898303"/>
            <a:ext cx="41972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4454277" y="2220516"/>
            <a:ext cx="4197251" cy="0"/>
          </a:xfrm>
          <a:prstGeom prst="line">
            <a:avLst/>
          </a:prstGeom>
          <a:noFill/>
          <a:ln w="9525">
            <a:solidFill>
              <a:srgbClr val="9CD7FF"/>
            </a:solidFill>
            <a:prstDash val="solid"/>
          </a:ln>
        </p:spPr>
      </p:sp>
      <p:sp>
        <p:nvSpPr>
          <p:cNvPr id="14" name="Text 9"/>
          <p:cNvSpPr/>
          <p:nvPr/>
        </p:nvSpPr>
        <p:spPr>
          <a:xfrm>
            <a:off x="460667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WITHOUT ISOLATION</a:t>
            </a:r>
            <a:endParaRPr lang="en-US" sz="1150" dirty="0"/>
          </a:p>
        </p:txBody>
      </p:sp>
      <p:sp>
        <p:nvSpPr>
          <p:cNvPr id="15" name="Text 10"/>
          <p:cNvSpPr/>
          <p:nvPr/>
        </p:nvSpPr>
        <p:spPr>
          <a:xfrm>
            <a:off x="671482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 A WORKTREE</a:t>
            </a:r>
            <a:endParaRPr lang="en-US" sz="1150" dirty="0"/>
          </a:p>
        </p:txBody>
      </p:sp>
      <p:sp>
        <p:nvSpPr>
          <p:cNvPr id="16" name="Shape 11"/>
          <p:cNvSpPr/>
          <p:nvPr/>
        </p:nvSpPr>
        <p:spPr>
          <a:xfrm>
            <a:off x="4454277" y="2897981"/>
            <a:ext cx="4197251" cy="0"/>
          </a:xfrm>
          <a:prstGeom prst="line">
            <a:avLst/>
          </a:prstGeom>
          <a:noFill/>
          <a:ln w="9525">
            <a:solidFill>
              <a:srgbClr val="D1D9E0"/>
            </a:solidFill>
            <a:prstDash val="solid"/>
          </a:ln>
        </p:spPr>
      </p:sp>
      <p:sp>
        <p:nvSpPr>
          <p:cNvPr id="17" name="Text 12"/>
          <p:cNvSpPr/>
          <p:nvPr/>
        </p:nvSpPr>
        <p:spPr>
          <a:xfrm>
            <a:off x="4606677" y="245566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Tasks share one folder</a:t>
            </a:r>
            <a:endParaRPr lang="en-US" sz="1400" dirty="0"/>
          </a:p>
        </p:txBody>
      </p:sp>
      <p:sp>
        <p:nvSpPr>
          <p:cNvPr id="18" name="Text 13"/>
          <p:cNvSpPr/>
          <p:nvPr/>
        </p:nvSpPr>
        <p:spPr>
          <a:xfrm>
            <a:off x="6714827" y="2352229"/>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Each task has its own folder</a:t>
            </a:r>
            <a:endParaRPr lang="en-US" sz="1400" dirty="0"/>
          </a:p>
        </p:txBody>
      </p:sp>
      <p:sp>
        <p:nvSpPr>
          <p:cNvPr id="19" name="Shape 14"/>
          <p:cNvSpPr/>
          <p:nvPr/>
        </p:nvSpPr>
        <p:spPr>
          <a:xfrm>
            <a:off x="4454277" y="3575447"/>
            <a:ext cx="4197251" cy="0"/>
          </a:xfrm>
          <a:prstGeom prst="line">
            <a:avLst/>
          </a:prstGeom>
          <a:noFill/>
          <a:ln w="9525">
            <a:solidFill>
              <a:srgbClr val="D1D9E0"/>
            </a:solidFill>
            <a:prstDash val="solid"/>
          </a:ln>
        </p:spPr>
      </p:sp>
      <p:sp>
        <p:nvSpPr>
          <p:cNvPr id="20" name="Text 15"/>
          <p:cNvSpPr/>
          <p:nvPr/>
        </p:nvSpPr>
        <p:spPr>
          <a:xfrm>
            <a:off x="460667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Branch state is easy to lose</a:t>
            </a:r>
            <a:endParaRPr lang="en-US" sz="1400" dirty="0"/>
          </a:p>
        </p:txBody>
      </p:sp>
      <p:sp>
        <p:nvSpPr>
          <p:cNvPr id="21" name="Text 16"/>
          <p:cNvSpPr/>
          <p:nvPr/>
        </p:nvSpPr>
        <p:spPr>
          <a:xfrm>
            <a:off x="671482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The branch shows in the app</a:t>
            </a:r>
            <a:endParaRPr lang="en-US" sz="1400" dirty="0"/>
          </a:p>
        </p:txBody>
      </p:sp>
      <p:sp>
        <p:nvSpPr>
          <p:cNvPr id="22" name="Text 17"/>
          <p:cNvSpPr/>
          <p:nvPr/>
        </p:nvSpPr>
        <p:spPr>
          <a:xfrm>
            <a:off x="4606677" y="3810595"/>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Diffs mix together</a:t>
            </a:r>
            <a:endParaRPr lang="en-US" sz="1400" dirty="0"/>
          </a:p>
        </p:txBody>
      </p:sp>
      <p:sp>
        <p:nvSpPr>
          <p:cNvPr id="23" name="Text 18"/>
          <p:cNvSpPr/>
          <p:nvPr/>
        </p:nvSpPr>
        <p:spPr>
          <a:xfrm>
            <a:off x="6714827" y="3707160"/>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Diffs stay with the session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A SESSION RUNS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speed or isolation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workspace selector below the prompt box decides.</a:t>
            </a:r>
            <a:endParaRPr lang="en-US" sz="1650" dirty="0"/>
          </a:p>
        </p:txBody>
      </p:sp>
      <p:sp>
        <p:nvSpPr>
          <p:cNvPr id="9" name="Text 5"/>
          <p:cNvSpPr/>
          <p:nvPr/>
        </p:nvSpPr>
        <p:spPr>
          <a:xfrm>
            <a:off x="7029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where-crop.png">    </p:cNvPr>
          <p:cNvPicPr>
            <a:picLocks noChangeAspect="1"/>
          </p:cNvPicPr>
          <p:nvPr/>
        </p:nvPicPr>
        <p:blipFill>
          <a:blip r:embed="rId4"/>
          <a:stretch>
            <a:fillRect/>
          </a:stretch>
        </p:blipFill>
        <p:spPr>
          <a:xfrm>
            <a:off x="750540" y="1625501"/>
            <a:ext cx="3324820" cy="2895600"/>
          </a:xfrm>
          <a:prstGeom prst="rect">
            <a:avLst/>
          </a:prstGeom>
        </p:spPr>
      </p:pic>
      <p:sp>
        <p:nvSpPr>
          <p:cNvPr id="11" name="Text 6"/>
          <p:cNvSpPr/>
          <p:nvPr/>
        </p:nvSpPr>
        <p:spPr>
          <a:xfrm>
            <a:off x="4597301" y="195828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GitBranch-1A7F37.png">    </p:cNvPr>
          <p:cNvPicPr>
            <a:picLocks noChangeAspect="1"/>
          </p:cNvPicPr>
          <p:nvPr/>
        </p:nvPicPr>
        <p:blipFill>
          <a:blip r:embed="rId5"/>
          <a:stretch>
            <a:fillRect/>
          </a:stretch>
        </p:blipFill>
        <p:spPr>
          <a:xfrm>
            <a:off x="4679900" y="2040880"/>
            <a:ext cx="215801" cy="215801"/>
          </a:xfrm>
          <a:prstGeom prst="rect">
            <a:avLst/>
          </a:prstGeom>
        </p:spPr>
      </p:pic>
      <p:sp>
        <p:nvSpPr>
          <p:cNvPr id="13" name="Text 7"/>
          <p:cNvSpPr/>
          <p:nvPr/>
        </p:nvSpPr>
        <p:spPr>
          <a:xfrm>
            <a:off x="5130701" y="1922859"/>
            <a:ext cx="30524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 worktree</a:t>
            </a:r>
            <a:endParaRPr lang="en-US" sz="1550" dirty="0"/>
          </a:p>
        </p:txBody>
      </p:sp>
      <p:sp>
        <p:nvSpPr>
          <p:cNvPr id="14" name="Text 8"/>
          <p:cNvSpPr/>
          <p:nvPr/>
        </p:nvSpPr>
        <p:spPr>
          <a:xfrm>
            <a:off x="5130701" y="2176760"/>
            <a:ext cx="30524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Own folder and branch. Course default.</a:t>
            </a:r>
            <a:endParaRPr lang="en-US" sz="1350" dirty="0"/>
          </a:p>
        </p:txBody>
      </p:sp>
      <p:sp>
        <p:nvSpPr>
          <p:cNvPr id="15" name="Text 9"/>
          <p:cNvSpPr/>
          <p:nvPr/>
        </p:nvSpPr>
        <p:spPr>
          <a:xfrm>
            <a:off x="4597301" y="256267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FileDirectory-BC4C00.png">    </p:cNvPr>
          <p:cNvPicPr>
            <a:picLocks noChangeAspect="1"/>
          </p:cNvPicPr>
          <p:nvPr/>
        </p:nvPicPr>
        <p:blipFill>
          <a:blip r:embed="rId6"/>
          <a:stretch>
            <a:fillRect/>
          </a:stretch>
        </p:blipFill>
        <p:spPr>
          <a:xfrm>
            <a:off x="4679900" y="2645271"/>
            <a:ext cx="215801" cy="215801"/>
          </a:xfrm>
          <a:prstGeom prst="rect">
            <a:avLst/>
          </a:prstGeom>
        </p:spPr>
      </p:pic>
      <p:sp>
        <p:nvSpPr>
          <p:cNvPr id="17" name="Text 10"/>
          <p:cNvSpPr/>
          <p:nvPr/>
        </p:nvSpPr>
        <p:spPr>
          <a:xfrm>
            <a:off x="5130701" y="2527250"/>
            <a:ext cx="22975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Current checkout</a:t>
            </a:r>
            <a:endParaRPr lang="en-US" sz="1550" dirty="0"/>
          </a:p>
        </p:txBody>
      </p:sp>
      <p:sp>
        <p:nvSpPr>
          <p:cNvPr id="18" name="Text 11"/>
          <p:cNvSpPr/>
          <p:nvPr/>
        </p:nvSpPr>
        <p:spPr>
          <a:xfrm>
            <a:off x="5130701" y="2781151"/>
            <a:ext cx="22975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clone. Fast, not isolated.</a:t>
            </a:r>
            <a:endParaRPr lang="en-US" sz="1350" dirty="0"/>
          </a:p>
        </p:txBody>
      </p:sp>
      <p:sp>
        <p:nvSpPr>
          <p:cNvPr id="19" name="Text 12"/>
          <p:cNvSpPr/>
          <p:nvPr/>
        </p:nvSpPr>
        <p:spPr>
          <a:xfrm>
            <a:off x="4597301" y="316706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Cloud-0969DA.png">    </p:cNvPr>
          <p:cNvPicPr>
            <a:picLocks noChangeAspect="1"/>
          </p:cNvPicPr>
          <p:nvPr/>
        </p:nvPicPr>
        <p:blipFill>
          <a:blip r:embed="rId7"/>
          <a:stretch>
            <a:fillRect/>
          </a:stretch>
        </p:blipFill>
        <p:spPr>
          <a:xfrm>
            <a:off x="4679900" y="3249662"/>
            <a:ext cx="215801" cy="215801"/>
          </a:xfrm>
          <a:prstGeom prst="rect">
            <a:avLst/>
          </a:prstGeom>
        </p:spPr>
      </p:pic>
      <p:sp>
        <p:nvSpPr>
          <p:cNvPr id="21" name="Text 13"/>
          <p:cNvSpPr/>
          <p:nvPr/>
        </p:nvSpPr>
        <p:spPr>
          <a:xfrm>
            <a:off x="5130701" y="3131641"/>
            <a:ext cx="204162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Cloud</a:t>
            </a:r>
            <a:endParaRPr lang="en-US" sz="1550" dirty="0"/>
          </a:p>
        </p:txBody>
      </p:sp>
      <p:sp>
        <p:nvSpPr>
          <p:cNvPr id="22" name="Text 14"/>
          <p:cNvSpPr/>
          <p:nvPr/>
        </p:nvSpPr>
        <p:spPr>
          <a:xfrm>
            <a:off x="5130701" y="3385542"/>
            <a:ext cx="20416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GitHub-hosted sandbox.</a:t>
            </a:r>
            <a:endParaRPr lang="en-US" sz="1350" dirty="0"/>
          </a:p>
        </p:txBody>
      </p:sp>
      <p:sp>
        <p:nvSpPr>
          <p:cNvPr id="23" name="Text 15"/>
          <p:cNvSpPr/>
          <p:nvPr/>
        </p:nvSpPr>
        <p:spPr>
          <a:xfrm>
            <a:off x="4597301" y="3736032"/>
            <a:ext cx="4038600" cy="487561"/>
          </a:xfrm>
          <a:prstGeom prst="roundRect">
            <a:avLst>
              <a:gd name="adj" fmla="val 20838"/>
            </a:avLst>
          </a:prstGeom>
          <a:solidFill>
            <a:srgbClr val="FFF8C5"/>
          </a:solidFill>
          <a:ln w="9525">
            <a:solidFill>
              <a:srgbClr val="E7C85A"/>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Alert-9A6700.png">    </p:cNvPr>
          <p:cNvPicPr>
            <a:picLocks noChangeAspect="1"/>
          </p:cNvPicPr>
          <p:nvPr/>
        </p:nvPicPr>
        <p:blipFill>
          <a:blip r:embed="rId8"/>
          <a:stretch>
            <a:fillRect/>
          </a:stretch>
        </p:blipFill>
        <p:spPr>
          <a:xfrm>
            <a:off x="4784527" y="3878163"/>
            <a:ext cx="203150" cy="203150"/>
          </a:xfrm>
          <a:prstGeom prst="rect">
            <a:avLst/>
          </a:prstGeom>
        </p:spPr>
      </p:pic>
      <p:sp>
        <p:nvSpPr>
          <p:cNvPr id="25" name="Text 16"/>
          <p:cNvSpPr/>
          <p:nvPr/>
        </p:nvSpPr>
        <p:spPr>
          <a:xfrm>
            <a:off x="5114627" y="3872508"/>
            <a:ext cx="2821594" cy="21461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Switch back to </a:t>
            </a:r>
            <a:pPr algn="l" indent="0" marL="0">
              <a:lnSpc>
                <a:spcPts val="1690"/>
              </a:lnSpc>
              <a:buNone/>
            </a:pPr>
            <a:r>
              <a:rPr lang="en-US" sz="1400" b="1" dirty="0">
                <a:solidFill>
                  <a:srgbClr val="1F2328"/>
                </a:solidFill>
                <a:latin typeface="Arial" pitchFamily="34" charset="0"/>
                <a:ea typeface="Arial" pitchFamily="34" charset="-122"/>
                <a:cs typeface="Arial" pitchFamily="34" charset="-120"/>
              </a:rPr>
              <a:t>New worktree</a:t>
            </a:r>
            <a:pPr algn="l" indent="0" marL="0">
              <a:lnSpc>
                <a:spcPts val="1690"/>
              </a:lnSpc>
              <a:buNone/>
            </a:pPr>
            <a:r>
              <a:rPr lang="en-US" sz="1400" dirty="0">
                <a:solidFill>
                  <a:srgbClr val="1F2328"/>
                </a:solidFill>
                <a:latin typeface="Arial" pitchFamily="34" charset="0"/>
                <a:ea typeface="Arial" pitchFamily="34" charset="-122"/>
                <a:cs typeface="Arial" pitchFamily="34" charset="-120"/>
              </a:rPr>
              <a:t> now.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Give Copilot focused context</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Attach exactly what the task needs. Less is often more.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CONTEXT SYNTAX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keys attach context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one in the prompt box, then pick from the list.</a:t>
            </a:r>
            <a:endParaRPr lang="en-US" sz="1650" dirty="0"/>
          </a:p>
        </p:txBody>
      </p:sp>
      <p:sp>
        <p:nvSpPr>
          <p:cNvPr id="9" name="Text 5"/>
          <p:cNvSpPr/>
          <p:nvPr/>
        </p:nvSpPr>
        <p:spPr>
          <a:xfrm>
            <a:off x="507950" y="1574750"/>
            <a:ext cx="1910655" cy="2362200"/>
          </a:xfrm>
          <a:prstGeom prst="roundRect">
            <a:avLst>
              <a:gd name="adj" fmla="val 66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695176" y="1787426"/>
            <a:ext cx="584150" cy="584150"/>
          </a:xfrm>
          <a:prstGeom prst="roundRect">
            <a:avLst>
              <a:gd name="adj" fmla="val 21741"/>
            </a:avLst>
          </a:prstGeom>
          <a:solidFill>
            <a:srgbClr val="DDF4FF"/>
          </a:solidFill>
          <a:ln/>
        </p:spPr>
        <p:txBody>
          <a:bodyPr wrap="square" rtlCol="0" anchor="ctr"/>
          <a:lstStyle/>
          <a:p>
            <a:pPr indent="0" marL="0">
              <a:buNone/>
            </a:pPr>
            <a:endParaRPr lang="en-US" dirty="0"/>
          </a:p>
        </p:txBody>
      </p:sp>
      <p:sp>
        <p:nvSpPr>
          <p:cNvPr id="11" name="Text 7"/>
          <p:cNvSpPr/>
          <p:nvPr/>
        </p:nvSpPr>
        <p:spPr>
          <a:xfrm>
            <a:off x="878333" y="1879402"/>
            <a:ext cx="217688" cy="400050"/>
          </a:xfrm>
          <a:prstGeom prst="rect">
            <a:avLst/>
          </a:prstGeom>
          <a:noFill/>
          <a:ln/>
        </p:spPr>
        <p:txBody>
          <a:bodyPr wrap="square" lIns="0" tIns="0" rIns="0" bIns="0" rtlCol="0" anchor="t"/>
          <a:lstStyle/>
          <a:p>
            <a:pPr algn="ctr" indent="0" marL="0">
              <a:buNone/>
            </a:pPr>
            <a:r>
              <a:rPr lang="en-US" sz="2800" b="1" dirty="0">
                <a:solidFill>
                  <a:srgbClr val="0969DA"/>
                </a:solidFill>
                <a:latin typeface="Courier New" pitchFamily="34" charset="0"/>
                <a:ea typeface="Courier New" pitchFamily="34" charset="-122"/>
                <a:cs typeface="Courier New" pitchFamily="34" charset="-120"/>
              </a:rPr>
              <a:t>@</a:t>
            </a:r>
            <a:endParaRPr lang="en-US" sz="2800" dirty="0"/>
          </a:p>
        </p:txBody>
      </p:sp>
      <p:sp>
        <p:nvSpPr>
          <p:cNvPr id="12" name="Text 8"/>
          <p:cNvSpPr/>
          <p:nvPr/>
        </p:nvSpPr>
        <p:spPr>
          <a:xfrm>
            <a:off x="695176" y="2498527"/>
            <a:ext cx="1566928"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Files or folders</a:t>
            </a:r>
            <a:endParaRPr lang="en-US" sz="1650" dirty="0"/>
          </a:p>
        </p:txBody>
      </p:sp>
      <p:sp>
        <p:nvSpPr>
          <p:cNvPr id="13" name="Text 9"/>
          <p:cNvSpPr/>
          <p:nvPr/>
        </p:nvSpPr>
        <p:spPr>
          <a:xfrm>
            <a:off x="695176" y="3209925"/>
            <a:ext cx="1536204"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96677" y="3286125"/>
            <a:ext cx="1359866"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@samples/book-app-web/src</a:t>
            </a:r>
            <a:endParaRPr lang="en-US" sz="1250" dirty="0"/>
          </a:p>
        </p:txBody>
      </p:sp>
      <p:sp>
        <p:nvSpPr>
          <p:cNvPr id="15" name="Text 11"/>
          <p:cNvSpPr/>
          <p:nvPr/>
        </p:nvSpPr>
        <p:spPr>
          <a:xfrm>
            <a:off x="2596307"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2783532" y="1787426"/>
            <a:ext cx="584150" cy="584150"/>
          </a:xfrm>
          <a:prstGeom prst="roundRect">
            <a:avLst>
              <a:gd name="adj" fmla="val 21741"/>
            </a:avLst>
          </a:prstGeom>
          <a:solidFill>
            <a:srgbClr val="DAFBE1"/>
          </a:solidFill>
          <a:ln/>
        </p:spPr>
        <p:txBody>
          <a:bodyPr wrap="square" rtlCol="0" anchor="ctr"/>
          <a:lstStyle/>
          <a:p>
            <a:pPr indent="0" marL="0">
              <a:buNone/>
            </a:pPr>
            <a:endParaRPr lang="en-US" dirty="0"/>
          </a:p>
        </p:txBody>
      </p:sp>
      <p:sp>
        <p:nvSpPr>
          <p:cNvPr id="17" name="Text 13"/>
          <p:cNvSpPr/>
          <p:nvPr/>
        </p:nvSpPr>
        <p:spPr>
          <a:xfrm>
            <a:off x="2966689" y="1879402"/>
            <a:ext cx="217688" cy="400050"/>
          </a:xfrm>
          <a:prstGeom prst="rect">
            <a:avLst/>
          </a:prstGeom>
          <a:noFill/>
          <a:ln/>
        </p:spPr>
        <p:txBody>
          <a:bodyPr wrap="square" lIns="0" tIns="0" rIns="0" bIns="0" rtlCol="0" anchor="t"/>
          <a:lstStyle/>
          <a:p>
            <a:pPr algn="ctr" indent="0" marL="0">
              <a:buNone/>
            </a:pPr>
            <a:r>
              <a:rPr lang="en-US" sz="2800" b="1" dirty="0">
                <a:solidFill>
                  <a:srgbClr val="1A7F37"/>
                </a:solidFill>
                <a:latin typeface="Courier New" pitchFamily="34" charset="0"/>
                <a:ea typeface="Courier New" pitchFamily="34" charset="-122"/>
                <a:cs typeface="Courier New" pitchFamily="34" charset="-120"/>
              </a:rPr>
              <a:t>#</a:t>
            </a:r>
            <a:endParaRPr lang="en-US" sz="2800" dirty="0"/>
          </a:p>
        </p:txBody>
      </p:sp>
      <p:sp>
        <p:nvSpPr>
          <p:cNvPr id="18" name="Text 14"/>
          <p:cNvSpPr/>
          <p:nvPr/>
        </p:nvSpPr>
        <p:spPr>
          <a:xfrm>
            <a:off x="2783532"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Issues or PRs</a:t>
            </a:r>
            <a:endParaRPr lang="en-US" sz="1650" dirty="0"/>
          </a:p>
        </p:txBody>
      </p:sp>
      <p:sp>
        <p:nvSpPr>
          <p:cNvPr id="19" name="Text 15"/>
          <p:cNvSpPr/>
          <p:nvPr/>
        </p:nvSpPr>
        <p:spPr>
          <a:xfrm>
            <a:off x="2783532" y="3390900"/>
            <a:ext cx="1520279" cy="333375"/>
          </a:xfrm>
          <a:prstGeom prst="roundRect">
            <a:avLst>
              <a:gd name="adj" fmla="val 22857"/>
            </a:avLst>
          </a:prstGeom>
          <a:solidFill>
            <a:srgbClr val="F6F8FA"/>
          </a:solidFill>
          <a:ln/>
        </p:spPr>
        <p:txBody>
          <a:bodyPr wrap="square" rtlCol="0" anchor="ctr"/>
          <a:lstStyle/>
          <a:p>
            <a:pPr indent="0" marL="0">
              <a:buNone/>
            </a:pPr>
            <a:endParaRPr lang="en-US" dirty="0"/>
          </a:p>
        </p:txBody>
      </p:sp>
      <p:sp>
        <p:nvSpPr>
          <p:cNvPr id="20" name="Text 16"/>
          <p:cNvSpPr/>
          <p:nvPr/>
        </p:nvSpPr>
        <p:spPr>
          <a:xfrm>
            <a:off x="2885033" y="3467100"/>
            <a:ext cx="1343623" cy="180975"/>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#3</a:t>
            </a:r>
            <a:endParaRPr lang="en-US" sz="1250" dirty="0"/>
          </a:p>
        </p:txBody>
      </p:sp>
      <p:sp>
        <p:nvSpPr>
          <p:cNvPr id="21" name="Text 17"/>
          <p:cNvSpPr/>
          <p:nvPr/>
        </p:nvSpPr>
        <p:spPr>
          <a:xfrm>
            <a:off x="4668738"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4855964" y="1787426"/>
            <a:ext cx="584150" cy="584150"/>
          </a:xfrm>
          <a:prstGeom prst="roundRect">
            <a:avLst>
              <a:gd name="adj" fmla="val 21741"/>
            </a:avLst>
          </a:prstGeom>
          <a:solidFill>
            <a:srgbClr val="FBEFFF"/>
          </a:solidFill>
          <a:ln/>
        </p:spPr>
        <p:txBody>
          <a:bodyPr wrap="square" rtlCol="0" anchor="ctr"/>
          <a:lstStyle/>
          <a:p>
            <a:pPr indent="0" marL="0">
              <a:buNone/>
            </a:pPr>
            <a:endParaRPr lang="en-US" dirty="0"/>
          </a:p>
        </p:txBody>
      </p:sp>
      <p:sp>
        <p:nvSpPr>
          <p:cNvPr id="23" name="Text 19"/>
          <p:cNvSpPr/>
          <p:nvPr/>
        </p:nvSpPr>
        <p:spPr>
          <a:xfrm>
            <a:off x="5039121" y="1879402"/>
            <a:ext cx="217688" cy="400050"/>
          </a:xfrm>
          <a:prstGeom prst="rect">
            <a:avLst/>
          </a:prstGeom>
          <a:noFill/>
          <a:ln/>
        </p:spPr>
        <p:txBody>
          <a:bodyPr wrap="square" lIns="0" tIns="0" rIns="0" bIns="0" rtlCol="0" anchor="t"/>
          <a:lstStyle/>
          <a:p>
            <a:pPr algn="ctr" indent="0" marL="0">
              <a:buNone/>
            </a:pPr>
            <a:r>
              <a:rPr lang="en-US" sz="2800" b="1" dirty="0">
                <a:solidFill>
                  <a:srgbClr val="8250DF"/>
                </a:solidFill>
                <a:latin typeface="Courier New" pitchFamily="34" charset="0"/>
                <a:ea typeface="Courier New" pitchFamily="34" charset="-122"/>
                <a:cs typeface="Courier New" pitchFamily="34" charset="-120"/>
              </a:rPr>
              <a:t>/</a:t>
            </a:r>
            <a:endParaRPr lang="en-US" sz="2800" dirty="0"/>
          </a:p>
        </p:txBody>
      </p:sp>
      <p:sp>
        <p:nvSpPr>
          <p:cNvPr id="24" name="Text 20"/>
          <p:cNvSpPr/>
          <p:nvPr/>
        </p:nvSpPr>
        <p:spPr>
          <a:xfrm>
            <a:off x="4855964" y="2498527"/>
            <a:ext cx="1550685" cy="49530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Slash commands</a:t>
            </a:r>
            <a:endParaRPr lang="en-US" sz="1650" dirty="0"/>
          </a:p>
        </p:txBody>
      </p:sp>
      <p:sp>
        <p:nvSpPr>
          <p:cNvPr id="25" name="Text 21"/>
          <p:cNvSpPr/>
          <p:nvPr/>
        </p:nvSpPr>
        <p:spPr>
          <a:xfrm>
            <a:off x="4855964" y="3209925"/>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957465" y="3286125"/>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/chronicle standup</a:t>
            </a:r>
            <a:endParaRPr lang="en-US" sz="1250" dirty="0"/>
          </a:p>
        </p:txBody>
      </p:sp>
      <p:sp>
        <p:nvSpPr>
          <p:cNvPr id="27" name="Text 23"/>
          <p:cNvSpPr/>
          <p:nvPr/>
        </p:nvSpPr>
        <p:spPr>
          <a:xfrm>
            <a:off x="6741170"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8" name="Text 24"/>
          <p:cNvSpPr/>
          <p:nvPr/>
        </p:nvSpPr>
        <p:spPr>
          <a:xfrm>
            <a:off x="6928396" y="1787426"/>
            <a:ext cx="584150" cy="584150"/>
          </a:xfrm>
          <a:prstGeom prst="roundRect">
            <a:avLst>
              <a:gd name="adj" fmla="val 21741"/>
            </a:avLst>
          </a:prstGeom>
          <a:solidFill>
            <a:srgbClr val="FFF1E5"/>
          </a:solidFill>
          <a:ln/>
        </p:spPr>
        <p:txBody>
          <a:bodyPr wrap="square" rtlCol="0" anchor="ctr"/>
          <a:lstStyle/>
          <a:p>
            <a:pPr indent="0" marL="0">
              <a:buNone/>
            </a:pPr>
            <a:endParaRPr lang="en-US" dirty="0"/>
          </a:p>
        </p:txBody>
      </p:sp>
      <p:sp>
        <p:nvSpPr>
          <p:cNvPr id="29" name="Text 25"/>
          <p:cNvSpPr/>
          <p:nvPr/>
        </p:nvSpPr>
        <p:spPr>
          <a:xfrm>
            <a:off x="7111553" y="1879402"/>
            <a:ext cx="217688" cy="400050"/>
          </a:xfrm>
          <a:prstGeom prst="rect">
            <a:avLst/>
          </a:prstGeom>
          <a:noFill/>
          <a:ln/>
        </p:spPr>
        <p:txBody>
          <a:bodyPr wrap="square" lIns="0" tIns="0" rIns="0" bIns="0" rtlCol="0" anchor="t"/>
          <a:lstStyle/>
          <a:p>
            <a:pPr algn="ctr" indent="0" marL="0">
              <a:buNone/>
            </a:pPr>
            <a:r>
              <a:rPr lang="en-US" sz="2800" b="1" dirty="0">
                <a:solidFill>
                  <a:srgbClr val="BC4C00"/>
                </a:solidFill>
                <a:latin typeface="Courier New" pitchFamily="34" charset="0"/>
                <a:ea typeface="Courier New" pitchFamily="34" charset="-122"/>
                <a:cs typeface="Courier New" pitchFamily="34" charset="-120"/>
              </a:rPr>
              <a:t>&amp;</a:t>
            </a:r>
            <a:endParaRPr lang="en-US" sz="2800" dirty="0"/>
          </a:p>
        </p:txBody>
      </p:sp>
      <p:sp>
        <p:nvSpPr>
          <p:cNvPr id="30" name="Text 26"/>
          <p:cNvSpPr/>
          <p:nvPr/>
        </p:nvSpPr>
        <p:spPr>
          <a:xfrm>
            <a:off x="6928396"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Other sessions</a:t>
            </a:r>
            <a:endParaRPr lang="en-US" sz="1650" dirty="0"/>
          </a:p>
        </p:txBody>
      </p:sp>
      <p:sp>
        <p:nvSpPr>
          <p:cNvPr id="31" name="Text 27"/>
          <p:cNvSpPr/>
          <p:nvPr/>
        </p:nvSpPr>
        <p:spPr>
          <a:xfrm>
            <a:off x="6928396" y="3209925"/>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32" name="Text 28"/>
          <p:cNvSpPr/>
          <p:nvPr/>
        </p:nvSpPr>
        <p:spPr>
          <a:xfrm>
            <a:off x="7029896" y="3286125"/>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&amp; then pick one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From issue to verified fix</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a fix from issue #3</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Start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practice-empty-state-copy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branch.</a:t>
            </a:r>
            <a:endParaRPr lang="en-US" sz="1650" dirty="0"/>
          </a:p>
        </p:txBody>
      </p:sp>
      <p:sp>
        <p:nvSpPr>
          <p:cNvPr id="9" name="Text 5"/>
          <p:cNvSpPr/>
          <p:nvPr/>
        </p:nvSpPr>
        <p:spPr>
          <a:xfrm>
            <a:off x="507950" y="2171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2216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2171700"/>
            <a:ext cx="2208455"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from the branch</a:t>
            </a:r>
            <a:endParaRPr lang="en-US" sz="1550" dirty="0"/>
          </a:p>
        </p:txBody>
      </p:sp>
      <p:sp>
        <p:nvSpPr>
          <p:cNvPr id="12" name="Text 8"/>
          <p:cNvSpPr/>
          <p:nvPr/>
        </p:nvSpPr>
        <p:spPr>
          <a:xfrm>
            <a:off x="939701" y="2419201"/>
            <a:ext cx="2208455"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 from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Branches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71192"/>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9155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71192"/>
            <a:ext cx="22224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Attach it in Plan mode</a:t>
            </a:r>
            <a:endParaRPr lang="en-US" sz="1550" dirty="0"/>
          </a:p>
        </p:txBody>
      </p:sp>
      <p:sp>
        <p:nvSpPr>
          <p:cNvPr id="16" name="Text 12"/>
          <p:cNvSpPr/>
          <p:nvPr/>
        </p:nvSpPr>
        <p:spPr>
          <a:xfrm>
            <a:off x="939701" y="3118693"/>
            <a:ext cx="2222421"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Type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#3</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ask for a plan.</a:t>
            </a:r>
            <a:endParaRPr lang="en-US" sz="1350" dirty="0"/>
          </a:p>
        </p:txBody>
      </p:sp>
      <p:sp>
        <p:nvSpPr>
          <p:cNvPr id="17" name="Text 13"/>
          <p:cNvSpPr/>
          <p:nvPr/>
        </p:nvSpPr>
        <p:spPr>
          <a:xfrm>
            <a:off x="507950" y="3580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602615"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580209"/>
            <a:ext cx="194401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Review the plan</a:t>
            </a:r>
            <a:endParaRPr lang="en-US" sz="1550" dirty="0"/>
          </a:p>
        </p:txBody>
      </p:sp>
      <p:sp>
        <p:nvSpPr>
          <p:cNvPr id="20" name="Text 16"/>
          <p:cNvSpPr/>
          <p:nvPr/>
        </p:nvSpPr>
        <p:spPr>
          <a:xfrm>
            <a:off x="939701" y="3827711"/>
            <a:ext cx="194401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Exit plan mode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1" name="Text 17"/>
          <p:cNvSpPr/>
          <p:nvPr/>
        </p:nvSpPr>
        <p:spPr>
          <a:xfrm>
            <a:off x="3762077" y="2087761"/>
            <a:ext cx="4870400" cy="1767780"/>
          </a:xfrm>
          <a:prstGeom prst="roundRect">
            <a:avLst>
              <a:gd name="adj" fmla="val 431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Users/danwahlin/.copilot/session-state/56a7a0da-def8-48d4-b5e8-0ac3878cb8dd/files/slides-build/img/02-review-plan-crop.png">    </p:cNvPr>
          <p:cNvPicPr>
            <a:picLocks noChangeAspect="1"/>
          </p:cNvPicPr>
          <p:nvPr/>
        </p:nvPicPr>
        <p:blipFill>
          <a:blip r:embed="rId4"/>
          <a:stretch>
            <a:fillRect/>
          </a:stretch>
        </p:blipFill>
        <p:spPr>
          <a:xfrm>
            <a:off x="3809702" y="2135386"/>
            <a:ext cx="4775150" cy="16725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Capture a baseline, then compare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Know the current behavior before you change it.</a:t>
            </a:r>
            <a:endParaRPr lang="en-US" sz="1650" dirty="0"/>
          </a:p>
        </p:txBody>
      </p:sp>
      <p:sp>
        <p:nvSpPr>
          <p:cNvPr id="9" name="Text 5"/>
          <p:cNvSpPr/>
          <p:nvPr/>
        </p:nvSpPr>
        <p:spPr>
          <a:xfrm>
            <a:off x="507950" y="1603325"/>
            <a:ext cx="3886200"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BEFORE: ZZZZ-NO-MATCH</a:t>
            </a:r>
            <a:endParaRPr lang="en-US" sz="1150" dirty="0"/>
          </a:p>
        </p:txBody>
      </p:sp>
      <p:sp>
        <p:nvSpPr>
          <p:cNvPr id="10" name="Text 6"/>
          <p:cNvSpPr/>
          <p:nvPr/>
        </p:nvSpPr>
        <p:spPr>
          <a:xfrm>
            <a:off x="511076" y="1885206"/>
            <a:ext cx="3803600" cy="2649141"/>
          </a:xfrm>
          <a:prstGeom prst="roundRect">
            <a:avLst>
              <a:gd name="adj" fmla="val 287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1" name="Image 2" descr="/Users/danwahlin/.copilot/session-state/56a7a0da-def8-48d4-b5e8-0ac3878cb8dd/files/slides-build/img/02-empty-state-crop.png">    </p:cNvPr>
          <p:cNvPicPr>
            <a:picLocks noChangeAspect="1"/>
          </p:cNvPicPr>
          <p:nvPr/>
        </p:nvPicPr>
        <p:blipFill>
          <a:blip r:embed="rId4"/>
          <a:stretch>
            <a:fillRect/>
          </a:stretch>
        </p:blipFill>
        <p:spPr>
          <a:xfrm>
            <a:off x="558701" y="1932831"/>
            <a:ext cx="3708350" cy="2553891"/>
          </a:xfrm>
          <a:prstGeom prst="rect">
            <a:avLst/>
          </a:prstGeom>
        </p:spPr>
      </p:pic>
      <p:sp>
        <p:nvSpPr>
          <p:cNvPr id="12" name="Text 7"/>
          <p:cNvSpPr/>
          <p:nvPr/>
        </p:nvSpPr>
        <p:spPr>
          <a:xfrm>
            <a:off x="4673501" y="2042368"/>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4768166" y="208671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5105251" y="2042368"/>
            <a:ext cx="227540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the app and search</a:t>
            </a:r>
            <a:endParaRPr lang="en-US" sz="1550" dirty="0"/>
          </a:p>
        </p:txBody>
      </p:sp>
      <p:sp>
        <p:nvSpPr>
          <p:cNvPr id="15" name="Text 10"/>
          <p:cNvSpPr/>
          <p:nvPr/>
        </p:nvSpPr>
        <p:spPr>
          <a:xfrm>
            <a:off x="5105251" y="2289870"/>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No results. Try again.</a:t>
            </a:r>
            <a:endParaRPr lang="en-US" sz="1350" dirty="0"/>
          </a:p>
        </p:txBody>
      </p:sp>
      <p:sp>
        <p:nvSpPr>
          <p:cNvPr id="16" name="Text 11"/>
          <p:cNvSpPr/>
          <p:nvPr/>
        </p:nvSpPr>
        <p:spPr>
          <a:xfrm>
            <a:off x="4673501" y="274186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2"/>
          <p:cNvSpPr/>
          <p:nvPr/>
        </p:nvSpPr>
        <p:spPr>
          <a:xfrm>
            <a:off x="4768166" y="278621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3"/>
          <p:cNvSpPr/>
          <p:nvPr/>
        </p:nvSpPr>
        <p:spPr>
          <a:xfrm>
            <a:off x="5105251" y="2741861"/>
            <a:ext cx="2714875" cy="241250"/>
          </a:xfrm>
          <a:prstGeom prst="rect">
            <a:avLst/>
          </a:prstGeom>
          <a:noFill/>
          <a:ln/>
        </p:spPr>
        <p:txBody>
          <a:bodyPr wrap="square" lIns="0" tIns="0" rIns="0" bIns="0" rtlCol="0" anchor="t"/>
          <a:lstStyle/>
          <a:p>
            <a:pPr algn="l" indent="0" marL="0">
              <a:lnSpc>
                <a:spcPts val="1750"/>
              </a:lnSpc>
              <a:buNone/>
            </a:pPr>
            <a:r>
              <a:rPr lang="en-US" sz="1550" dirty="0">
                <a:solidFill>
                  <a:srgbClr val="1F2328"/>
                </a:solidFill>
                <a:latin typeface="Arial" pitchFamily="34" charset="0"/>
                <a:ea typeface="Arial" pitchFamily="34" charset="-122"/>
                <a:cs typeface="Arial" pitchFamily="34" charset="-120"/>
              </a:rPr>
              <a:t>Send </a:t>
            </a:r>
            <a:pPr algn="l" indent="0" marL="0">
              <a:lnSpc>
                <a:spcPts val="1750"/>
              </a:lnSpc>
              <a:buNone/>
            </a:pPr>
            <a:r>
              <a:rPr lang="en-US" sz="1550" b="1" dirty="0">
                <a:solidFill>
                  <a:srgbClr val="0550AE"/>
                </a:solidFill>
                <a:latin typeface="Courier New" pitchFamily="34" charset="0"/>
                <a:ea typeface="Courier New" pitchFamily="34" charset="-122"/>
                <a:cs typeface="Courier New" pitchFamily="34" charset="-120"/>
              </a:rPr>
              <a:t>Implement the plan</a:t>
            </a:r>
            <a:endParaRPr lang="en-US" sz="1550" dirty="0"/>
          </a:p>
        </p:txBody>
      </p:sp>
      <p:sp>
        <p:nvSpPr>
          <p:cNvPr id="19" name="Text 14"/>
          <p:cNvSpPr/>
          <p:nvPr/>
        </p:nvSpPr>
        <p:spPr>
          <a:xfrm>
            <a:off x="5105251" y="3008412"/>
            <a:ext cx="27148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Inspect the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Changes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tab.</a:t>
            </a:r>
            <a:endParaRPr lang="en-US" sz="1350" dirty="0"/>
          </a:p>
        </p:txBody>
      </p:sp>
      <p:sp>
        <p:nvSpPr>
          <p:cNvPr id="20" name="Text 15"/>
          <p:cNvSpPr/>
          <p:nvPr/>
        </p:nvSpPr>
        <p:spPr>
          <a:xfrm>
            <a:off x="4673501" y="346040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1" name="Text 16"/>
          <p:cNvSpPr/>
          <p:nvPr/>
        </p:nvSpPr>
        <p:spPr>
          <a:xfrm>
            <a:off x="4768166" y="35047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7"/>
          <p:cNvSpPr/>
          <p:nvPr/>
        </p:nvSpPr>
        <p:spPr>
          <a:xfrm>
            <a:off x="5105251" y="3460403"/>
            <a:ext cx="360126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and search again</a:t>
            </a:r>
            <a:endParaRPr lang="en-US" sz="1550" dirty="0"/>
          </a:p>
        </p:txBody>
      </p:sp>
      <p:sp>
        <p:nvSpPr>
          <p:cNvPr id="23" name="Text 18"/>
          <p:cNvSpPr/>
          <p:nvPr/>
        </p:nvSpPr>
        <p:spPr>
          <a:xfrm>
            <a:off x="5105251" y="3707904"/>
            <a:ext cx="3601263"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Now it suggests a new search, genre, or status.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INSPECT THE SESSION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the session what it did</a:t>
            </a:r>
            <a:endParaRPr lang="en-US" sz="2800" dirty="0"/>
          </a:p>
        </p:txBody>
      </p:sp>
      <p:sp>
        <p:nvSpPr>
          <p:cNvPr id="8" name="Text 4"/>
          <p:cNvSpPr/>
          <p:nvPr/>
        </p:nvSpPr>
        <p:spPr>
          <a:xfrm>
            <a:off x="511076" y="1954262"/>
            <a:ext cx="3956000" cy="1588740"/>
          </a:xfrm>
          <a:prstGeom prst="roundRect">
            <a:avLst>
              <a:gd name="adj" fmla="val 479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2-chronicle-crop.png">    </p:cNvPr>
          <p:cNvPicPr>
            <a:picLocks noChangeAspect="1"/>
          </p:cNvPicPr>
          <p:nvPr/>
        </p:nvPicPr>
        <p:blipFill>
          <a:blip r:embed="rId4"/>
          <a:stretch>
            <a:fillRect/>
          </a:stretch>
        </p:blipFill>
        <p:spPr>
          <a:xfrm>
            <a:off x="558701" y="2001887"/>
            <a:ext cx="3860750" cy="1493490"/>
          </a:xfrm>
          <a:prstGeom prst="rect">
            <a:avLst/>
          </a:prstGeom>
        </p:spPr>
      </p:pic>
      <p:sp>
        <p:nvSpPr>
          <p:cNvPr id="10" name="Text 5"/>
          <p:cNvSpPr/>
          <p:nvPr/>
        </p:nvSpPr>
        <p:spPr>
          <a:xfrm>
            <a:off x="507950"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/chronicle standup</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recaps your last day.</a:t>
            </a:r>
            <a:endParaRPr lang="en-US" sz="1450" dirty="0"/>
          </a:p>
        </p:txBody>
      </p:sp>
      <p:sp>
        <p:nvSpPr>
          <p:cNvPr id="11" name="Text 6"/>
          <p:cNvSpPr/>
          <p:nvPr/>
        </p:nvSpPr>
        <p:spPr>
          <a:xfrm>
            <a:off x="4776341" y="1481882"/>
            <a:ext cx="3756571"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3" descr="/Users/danwahlin/.copilot/session-state/56a7a0da-def8-48d4-b5e8-0ac3878cb8dd/files/slides-build/img/02-context-crop.png">    </p:cNvPr>
          <p:cNvPicPr>
            <a:picLocks noChangeAspect="1"/>
          </p:cNvPicPr>
          <p:nvPr/>
        </p:nvPicPr>
        <p:blipFill>
          <a:blip r:embed="rId5"/>
          <a:stretch>
            <a:fillRect/>
          </a:stretch>
        </p:blipFill>
        <p:spPr>
          <a:xfrm>
            <a:off x="4823966" y="1529507"/>
            <a:ext cx="3661321" cy="2438400"/>
          </a:xfrm>
          <a:prstGeom prst="rect">
            <a:avLst/>
          </a:prstGeom>
        </p:spPr>
      </p:pic>
      <p:sp>
        <p:nvSpPr>
          <p:cNvPr id="13" name="Text 7"/>
          <p:cNvSpPr/>
          <p:nvPr/>
        </p:nvSpPr>
        <p:spPr>
          <a:xfrm>
            <a:off x="4673501"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/context</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shows context use and spend.</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 light and dark theme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attach the code this time. Keep the work in its worktree.</a:t>
            </a:r>
            <a:endParaRPr lang="en-US" sz="1650" dirty="0"/>
          </a:p>
        </p:txBody>
      </p:sp>
      <p:sp>
        <p:nvSpPr>
          <p:cNvPr id="9" name="Text 5"/>
          <p:cNvSpPr/>
          <p:nvPr/>
        </p:nvSpPr>
        <p:spPr>
          <a:xfrm>
            <a:off x="507950" y="1766143"/>
            <a:ext cx="5334000" cy="2690515"/>
          </a:xfrm>
          <a:prstGeom prst="roundRect">
            <a:avLst>
              <a:gd name="adj" fmla="val 4720"/>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461171"/>
            <a:ext cx="5314950" cy="0"/>
          </a:xfrm>
          <a:prstGeom prst="line">
            <a:avLst/>
          </a:prstGeom>
          <a:noFill/>
          <a:ln w="9525">
            <a:solidFill>
              <a:srgbClr val="D1D9E0"/>
            </a:solidFill>
            <a:prstDash val="solid"/>
          </a:ln>
        </p:spPr>
      </p:sp>
      <p:sp>
        <p:nvSpPr>
          <p:cNvPr id="11" name="Text 7"/>
          <p:cNvSpPr/>
          <p:nvPr/>
        </p:nvSpPr>
        <p:spPr>
          <a:xfrm>
            <a:off x="695176" y="19762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0206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00873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main</a:t>
            </a:r>
            <a:endParaRPr lang="en-US" sz="1500" dirty="0"/>
          </a:p>
        </p:txBody>
      </p:sp>
      <p:sp>
        <p:nvSpPr>
          <p:cNvPr id="14" name="Text 10"/>
          <p:cNvSpPr/>
          <p:nvPr/>
        </p:nvSpPr>
        <p:spPr>
          <a:xfrm>
            <a:off x="3234928" y="1889968"/>
            <a:ext cx="2468192" cy="45214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Check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/context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13336"/>
            <a:ext cx="5314950" cy="0"/>
          </a:xfrm>
          <a:prstGeom prst="line">
            <a:avLst/>
          </a:prstGeom>
          <a:noFill/>
          <a:ln w="9525">
            <a:solidFill>
              <a:srgbClr val="D1D9E0"/>
            </a:solidFill>
            <a:prstDash val="solid"/>
          </a:ln>
        </p:spPr>
      </p:sp>
      <p:sp>
        <p:nvSpPr>
          <p:cNvPr id="16" name="Text 12"/>
          <p:cNvSpPr/>
          <p:nvPr/>
        </p:nvSpPr>
        <p:spPr>
          <a:xfrm>
            <a:off x="695176" y="264750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691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9948"/>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@src</a:t>
            </a:r>
            <a:endParaRPr lang="en-US" sz="1500" dirty="0"/>
          </a:p>
        </p:txBody>
      </p:sp>
      <p:sp>
        <p:nvSpPr>
          <p:cNvPr id="19" name="Text 15"/>
          <p:cNvSpPr/>
          <p:nvPr/>
        </p:nvSpPr>
        <p:spPr>
          <a:xfrm>
            <a:off x="3234928" y="2580233"/>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Accessible toggle, readable in both themes.</a:t>
            </a:r>
            <a:endParaRPr lang="en-US" sz="1400" dirty="0"/>
          </a:p>
        </p:txBody>
      </p:sp>
      <p:sp>
        <p:nvSpPr>
          <p:cNvPr id="20" name="Shape 16"/>
          <p:cNvSpPr/>
          <p:nvPr/>
        </p:nvSpPr>
        <p:spPr>
          <a:xfrm>
            <a:off x="517475" y="3780681"/>
            <a:ext cx="5314950" cy="0"/>
          </a:xfrm>
          <a:prstGeom prst="line">
            <a:avLst/>
          </a:prstGeom>
          <a:noFill/>
          <a:ln w="9525">
            <a:solidFill>
              <a:srgbClr val="D1D9E0"/>
            </a:solidFill>
            <a:prstDash val="solid"/>
          </a:ln>
        </p:spPr>
      </p:sp>
      <p:sp>
        <p:nvSpPr>
          <p:cNvPr id="21" name="Text 17"/>
          <p:cNvSpPr/>
          <p:nvPr/>
        </p:nvSpPr>
        <p:spPr>
          <a:xfrm>
            <a:off x="695176" y="33072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516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32398"/>
            <a:ext cx="194310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inspect</a:t>
            </a:r>
            <a:endParaRPr lang="en-US" sz="1500" dirty="0"/>
          </a:p>
        </p:txBody>
      </p:sp>
      <p:sp>
        <p:nvSpPr>
          <p:cNvPr id="24" name="Text 20"/>
          <p:cNvSpPr/>
          <p:nvPr/>
        </p:nvSpPr>
        <p:spPr>
          <a:xfrm>
            <a:off x="3234928" y="3239988"/>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diff and both themes.</a:t>
            </a:r>
            <a:endParaRPr lang="en-US" sz="1400" dirty="0"/>
          </a:p>
        </p:txBody>
      </p:sp>
      <p:sp>
        <p:nvSpPr>
          <p:cNvPr id="25" name="Text 21"/>
          <p:cNvSpPr/>
          <p:nvPr/>
        </p:nvSpPr>
        <p:spPr>
          <a:xfrm>
            <a:off x="695176" y="39765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40208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400898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 and recap</a:t>
            </a:r>
            <a:endParaRPr lang="en-US" sz="1500" dirty="0"/>
          </a:p>
        </p:txBody>
      </p:sp>
      <p:sp>
        <p:nvSpPr>
          <p:cNvPr id="28" name="Text 24"/>
          <p:cNvSpPr/>
          <p:nvPr/>
        </p:nvSpPr>
        <p:spPr>
          <a:xfrm>
            <a:off x="3234928" y="3899743"/>
            <a:ext cx="2468192" cy="43309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/chronicle standup</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6045101" y="1766143"/>
            <a:ext cx="2590800" cy="2690515"/>
          </a:xfrm>
          <a:prstGeom prst="roundRect">
            <a:avLst>
              <a:gd name="adj" fmla="val 4902"/>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1953369"/>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314926" y="2035969"/>
            <a:ext cx="215801" cy="215801"/>
          </a:xfrm>
          <a:prstGeom prst="rect">
            <a:avLst/>
          </a:prstGeom>
        </p:spPr>
      </p:pic>
      <p:sp>
        <p:nvSpPr>
          <p:cNvPr id="32" name="Text 27"/>
          <p:cNvSpPr/>
          <p:nvPr/>
        </p:nvSpPr>
        <p:spPr>
          <a:xfrm>
            <a:off x="6727627" y="2029569"/>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410569"/>
            <a:ext cx="2260675" cy="867966"/>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name the branch, the context you attached, and your evidence.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 does not change.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Worktrees keep each session's changes away from your main checkout.</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They isolate files and branches, not ports or databases.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Use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to attach only the context that helps.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Capture a baseline before a change, then compare against it.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Open Chapter 02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03</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Development and GitHub Workflows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02: Sessions, Worktrees, and Context</dc:title>
  <dc:subject>PptxGenJS Presentation</dc:subject>
  <dc:creator>GitHub Copilot app for Beginners</dc:creator>
  <cp:lastModifiedBy>GitHub Copilot app for Beginners</cp:lastModifiedBy>
  <cp:revision>1</cp:revision>
  <dcterms:created xsi:type="dcterms:W3CDTF">2026-10-06T02:20:28Z</dcterms:created>
  <dcterms:modified xsi:type="dcterms:W3CDTF">2026-10-06T02:20:28Z</dcterms:modified>
</cp:coreProperties>
</file>