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01 named the shared working copy problem. This chapter solves it. Sessions get their own branch and folder through worktrees, and you learn to give the agent focused context with @, #, and slash commands. Then you run a full session from a GitHub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Worktrees keep work apart, Give Copilot focused context, From issue to verified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worktrees.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one song that three musicians record at the same time. Each gets a soundproof booth, and you mix the takes later. Each track can be edited separately. A worktree is that booth: same repository, its own folder and branch, so parallel work does not collide.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Git worktree is an additional working directory for the same repository, usually checked out to a different branch. You can work on several tasks without stashing changes or switching branches in one folder. The app uses worktrees so each session has its own folder, its branch is visible, and its diff stays tied to that session. That is what lets several sessions run in parallel. In this chapter, work through one session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choices. New worktree gives the session its own folder and branch beside your clone; it is the safe default this course uses. Current checkout works directly in your clone. Cloud runs in a GitHub-hosted sandbox and is in public preview. The menu also has Base branch, the branch a new worktree starts from. The app remembers your last choice, and you chose Current checkout in Chapter 00, so point to the project, select plus, and choose New worktree now. Sessions started with Create from always get a new worktree. Worktrees only separate files and branches, not ports, databases, or background processes. Two dev servers on the same port still collide, so use 5174 for a second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context. Isolation is half of a good session. The other half is giving the agent the right files, issues, and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sign attaches files or folders. The hash attaches issues or pull requests. The slash runs commands and skills. The ampersand references another session when the prompt box offers it. You can also drag files from your computer and drop them onto a session or agent in the sidebar; this is useful for files that are not in the repository. Give the smallest amount of useful context. Type slash to see what your app supports; commands vary by version, plugins, skills, and policy. You will use rubber-duck in Chapter 03, agent and skills in Chapter 04, and create-canvas in Chapter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Slash commands are shortcuts in the prompt box. This chapter uses chronicle and context. Others appear later in the course: rubber-duck in Chapter 03, agent and skills in Chapter 04, and create-canvas in Chapter 06. Review reviews the changes in the current session. Research produces a cited report. Orchestrate coordinates work across several sessions or repositories by delegating to child sessions. Usage shows usage and rate limits. An installed skill can also run as its own command, such as book-app-reviewer. Type a slash to see what your app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put isolation and context together. The practice branch has a less helpful empty-state message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project in the sidebar and select the Create from icon that appears. On the Branches tab, pick practice-empty-state-copy; the app starts a new worktree session. Set Plan mode, type hash 3 and pick Improve the empty state copy, then add: Investigate the issue and create a plan to address it. Copilot may ask a short scope question first; pick the recommended answer. The plan opens in the Plan tab, and a Review plan box replaces the prompt box. Choose Exit plan mode and I will prompt myself. The session returns to Interactive so you can capture a baseline before any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Copilot to run the Book App and open the preview. Search for hobbit and confirm The Hobbit appears. Then search for zzzz-no-match. The baseline says No results and Try again, which does not tell anyone what to do. Send Implement the plan; the plan checklist updates as Copilot works. Inspect the diff in the Changes tab. Reload and search again: the message should suggest changing the search term, genre, or reading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Run chronicle standup to review your recent work. Then run /context. It opens the usage popup below the prompt box. Expand Context to see how the current context window is used. The popup also shows plan usage, session AI credits, and token totals. The session's working branch, base branch, Remote control, path, project, name, and ID are available by selecting the session name at the top of the app. /context does not show those session details. Use it after at least one prompt, and check it before adding more context to a busy session. This practice branch has an intentional regression and main is already correct, so there is no pull request. Ask Copilot to stop the dev server.</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13</ns1:t>
            </ns1:fld>
            <ns1:endParaRPr lang="en-US"/>
          </ns1:p>
        </ns0:txBody>
      </ns0:sp>
    </ns0:spTree>
    <ns0:extLst>
      <ns0:ext uri="{BB962C8B-B14F-4D97-AF65-F5344CB8AC3E}">
        <ns2:creationId val="1024086991"/>
      </ns0:ext>
    </ns0:extLst>
  </ns0:cSld>
  <ns0:clrMapOvr>
    <ns1:masterClrMapping/>
  </ns0:clrMapOvr>
</ns0:notes>
</file>

<file path=ppt/notesSlides/notesSlide14.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assignment repeats the workflow with a new feature: a light and dark theme toggle. Start a new worktree session from main and inspect the session name and /context usage popup. Preview the app and confirm it only has a light theme. In Plan mode, attach samples/book-app-web/src with the at sign and ask for a small plan. Implement, inspect the diff, and try hobbit and zzzz-no-match in both themes. Run the tests and build, compare the chronicle standup with what you saw, and stop the dev server.</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14</ns1:t>
            </ns1:fld>
            <ns1:endParaRPr lang="en-US"/>
          </ns1:p>
        </ns0:txBody>
      </ns0:sp>
    </ns0:spTree>
    <ns0:extLst>
      <ns0:ext uri="{BB962C8B-B14F-4D97-AF65-F5344CB8AC3E}">
        <ns2:creationId val="1024086991"/>
      </ns0:ext>
    </ns0:extLst>
  </ns0:cSld>
  <ns0:clrMapOvr>
    <ns1:masterClrMapping/>
  </ns0:clrMapOvr>
</ns0: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Sessions are focused agent workspaces, and chronicle and context show what a session did and what it holds. Next, Chapter 03 uses isolated sessions for real development: the inner loop of review, test, and preview, and the outer loop of issues, pull requests, review comments, and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5"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jp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5" Type="http://schemas.openxmlformats.org/officeDocument/2006/relationships/hyperlink" Target="https://github.com/github/copilot-app-for-beginners/tree/main/02-sessions-worktrees-context" TargetMode="External"/><Relationship Id="rId6" Type="http://schemas.openxmlformats.org/officeDocument/2006/relationships/hyperlink" Target="https://github.com/github/copilot-app-for-beginners/tree/main/03-development-workflow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9891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02</a:t>
            </a:r>
            <a:endParaRPr lang="en-US" sz="1450" dirty="0"/>
          </a:p>
        </p:txBody>
      </p:sp>
      <p:sp>
        <p:nvSpPr>
          <p:cNvPr id="5" name="Text 1"/>
          <p:cNvSpPr/>
          <p:nvPr/>
        </p:nvSpPr>
        <p:spPr>
          <a:xfrm>
            <a:off x="1015901" y="13001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Sessions, Worktrees, and Context</a:t>
            </a:r>
            <a:endParaRPr lang="en-US" sz="4200" dirty="0"/>
          </a:p>
        </p:txBody>
      </p:sp>
      <p:sp>
        <p:nvSpPr>
          <p:cNvPr id="6" name="Text 2"/>
          <p:cNvSpPr/>
          <p:nvPr/>
        </p:nvSpPr>
        <p:spPr>
          <a:xfrm>
            <a:off x="1015901" y="27479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30399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every task had its own workspace, branch, context, and history?</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965525"/>
            <a:ext cx="177701" cy="177701"/>
          </a:xfrm>
          <a:prstGeom prst="rect">
            <a:avLst/>
          </a:prstGeom>
        </p:spPr>
      </p:pic>
      <p:sp>
        <p:nvSpPr>
          <p:cNvPr id="9" name="Text 4"/>
          <p:cNvSpPr/>
          <p:nvPr/>
        </p:nvSpPr>
        <p:spPr>
          <a:xfrm>
            <a:off x="1282452" y="39543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2-sessions-worktrees-context"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02</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495425"/>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500188"/>
            <a:ext cx="8127950" cy="0"/>
          </a:xfrm>
          <a:prstGeom prst="line">
            <a:avLst/>
          </a:prstGeom>
          <a:noFill/>
          <a:ln w="9525">
            <a:solidFill>
              <a:srgbClr val="9CD7FF"/>
            </a:solidFill>
            <a:prstDash val="solid"/>
          </a:ln>
        </p:spPr>
      </p:sp>
      <p:sp>
        <p:nvSpPr>
          <p:cNvPr id="10" name="Shape 6"/>
          <p:cNvSpPr/>
          <p:nvPr/>
        </p:nvSpPr>
        <p:spPr>
          <a:xfrm>
            <a:off x="8631138" y="1495425"/>
            <a:ext cx="0" cy="857250"/>
          </a:xfrm>
          <a:prstGeom prst="line">
            <a:avLst/>
          </a:prstGeom>
          <a:noFill/>
          <a:ln w="9525">
            <a:solidFill>
              <a:srgbClr val="9CD7FF"/>
            </a:solidFill>
            <a:prstDash val="solid"/>
          </a:ln>
        </p:spPr>
      </p:sp>
      <p:sp>
        <p:nvSpPr>
          <p:cNvPr id="11" name="Shape 7"/>
          <p:cNvSpPr/>
          <p:nvPr/>
        </p:nvSpPr>
        <p:spPr>
          <a:xfrm>
            <a:off x="507950" y="2347913"/>
            <a:ext cx="8127950" cy="0"/>
          </a:xfrm>
          <a:prstGeom prst="line">
            <a:avLst/>
          </a:prstGeom>
          <a:noFill/>
          <a:ln w="9525">
            <a:solidFill>
              <a:srgbClr val="9CD7FF"/>
            </a:solidFill>
            <a:prstDash val="solid"/>
          </a:ln>
        </p:spPr>
      </p:sp>
      <p:sp>
        <p:nvSpPr>
          <p:cNvPr id="12" name="Shape 8"/>
          <p:cNvSpPr/>
          <p:nvPr/>
        </p:nvSpPr>
        <p:spPr>
          <a:xfrm>
            <a:off x="546050" y="1495425"/>
            <a:ext cx="0" cy="857250"/>
          </a:xfrm>
          <a:prstGeom prst="line">
            <a:avLst/>
          </a:prstGeom>
          <a:noFill/>
          <a:ln w="76200">
            <a:solidFill>
              <a:srgbClr val="0969DA"/>
            </a:solidFill>
            <a:prstDash val="solid"/>
          </a:ln>
        </p:spPr>
      </p:sp>
      <p:sp>
        <p:nvSpPr>
          <p:cNvPr id="13" name="Text 9"/>
          <p:cNvSpPr/>
          <p:nvPr/>
        </p:nvSpPr>
        <p:spPr>
          <a:xfrm>
            <a:off x="812750" y="170973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657350"/>
            <a:ext cx="6106495"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Worktrees keep work apart</a:t>
            </a:r>
            <a:endParaRPr lang="en-US" sz="1800" dirty="0"/>
          </a:p>
        </p:txBody>
      </p:sp>
      <p:sp>
        <p:nvSpPr>
          <p:cNvPr id="15" name="Text 11"/>
          <p:cNvSpPr/>
          <p:nvPr/>
        </p:nvSpPr>
        <p:spPr>
          <a:xfrm>
            <a:off x="1625501" y="1974800"/>
            <a:ext cx="6106495"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Give every task its own folder and branch, so parallel work never collides.</a:t>
            </a:r>
            <a:endParaRPr lang="en-US" sz="1450" dirty="0"/>
          </a:p>
        </p:txBody>
      </p:sp>
      <p:sp>
        <p:nvSpPr>
          <p:cNvPr id="16" name="Text 12"/>
          <p:cNvSpPr/>
          <p:nvPr/>
        </p:nvSpPr>
        <p:spPr>
          <a:xfrm>
            <a:off x="507950" y="2505075"/>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857250"/>
          </a:xfrm>
          <a:prstGeom prst="line">
            <a:avLst/>
          </a:prstGeom>
          <a:noFill/>
          <a:ln w="9525">
            <a:solidFill>
              <a:srgbClr val="E0C5FF"/>
            </a:solidFill>
            <a:prstDash val="solid"/>
          </a:ln>
        </p:spPr>
      </p:sp>
      <p:sp>
        <p:nvSpPr>
          <p:cNvPr id="19" name="Shape 15"/>
          <p:cNvSpPr/>
          <p:nvPr/>
        </p:nvSpPr>
        <p:spPr>
          <a:xfrm>
            <a:off x="507950" y="3357563"/>
            <a:ext cx="8127950" cy="0"/>
          </a:xfrm>
          <a:prstGeom prst="line">
            <a:avLst/>
          </a:prstGeom>
          <a:noFill/>
          <a:ln w="9525">
            <a:solidFill>
              <a:srgbClr val="E0C5FF"/>
            </a:solidFill>
            <a:prstDash val="solid"/>
          </a:ln>
        </p:spPr>
      </p:sp>
      <p:sp>
        <p:nvSpPr>
          <p:cNvPr id="20" name="Shape 16"/>
          <p:cNvSpPr/>
          <p:nvPr/>
        </p:nvSpPr>
        <p:spPr>
          <a:xfrm>
            <a:off x="546050" y="2505075"/>
            <a:ext cx="0" cy="857250"/>
          </a:xfrm>
          <a:prstGeom prst="line">
            <a:avLst/>
          </a:prstGeom>
          <a:noFill/>
          <a:ln w="76200">
            <a:solidFill>
              <a:srgbClr val="8250DF"/>
            </a:solidFill>
            <a:prstDash val="solid"/>
          </a:ln>
        </p:spPr>
      </p:sp>
      <p:sp>
        <p:nvSpPr>
          <p:cNvPr id="21" name="Text 17"/>
          <p:cNvSpPr/>
          <p:nvPr/>
        </p:nvSpPr>
        <p:spPr>
          <a:xfrm>
            <a:off x="812750" y="27193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4582680"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Give Copilot focused context</a:t>
            </a:r>
            <a:endParaRPr lang="en-US" sz="1800" dirty="0"/>
          </a:p>
        </p:txBody>
      </p:sp>
      <p:sp>
        <p:nvSpPr>
          <p:cNvPr id="23" name="Text 19"/>
          <p:cNvSpPr/>
          <p:nvPr/>
        </p:nvSpPr>
        <p:spPr>
          <a:xfrm>
            <a:off x="1625501" y="2984450"/>
            <a:ext cx="4582680"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Attach exactly what the task needs. Less is often more.</a:t>
            </a:r>
            <a:endParaRPr lang="en-US" sz="1450" dirty="0"/>
          </a:p>
        </p:txBody>
      </p:sp>
      <p:sp>
        <p:nvSpPr>
          <p:cNvPr id="24" name="Text 20"/>
          <p:cNvSpPr/>
          <p:nvPr/>
        </p:nvSpPr>
        <p:spPr>
          <a:xfrm>
            <a:off x="507950" y="351472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519488"/>
            <a:ext cx="8127950" cy="0"/>
          </a:xfrm>
          <a:prstGeom prst="line">
            <a:avLst/>
          </a:prstGeom>
          <a:noFill/>
          <a:ln w="9525">
            <a:solidFill>
              <a:srgbClr val="8CE7A5"/>
            </a:solidFill>
            <a:prstDash val="solid"/>
          </a:ln>
        </p:spPr>
      </p:sp>
      <p:sp>
        <p:nvSpPr>
          <p:cNvPr id="26" name="Shape 22"/>
          <p:cNvSpPr/>
          <p:nvPr/>
        </p:nvSpPr>
        <p:spPr>
          <a:xfrm>
            <a:off x="8631138" y="3514725"/>
            <a:ext cx="0" cy="857250"/>
          </a:xfrm>
          <a:prstGeom prst="line">
            <a:avLst/>
          </a:prstGeom>
          <a:noFill/>
          <a:ln w="9525">
            <a:solidFill>
              <a:srgbClr val="8CE7A5"/>
            </a:solidFill>
            <a:prstDash val="solid"/>
          </a:ln>
        </p:spPr>
      </p:sp>
      <p:sp>
        <p:nvSpPr>
          <p:cNvPr id="27" name="Shape 23"/>
          <p:cNvSpPr/>
          <p:nvPr/>
        </p:nvSpPr>
        <p:spPr>
          <a:xfrm>
            <a:off x="507950" y="4367213"/>
            <a:ext cx="8127950" cy="0"/>
          </a:xfrm>
          <a:prstGeom prst="line">
            <a:avLst/>
          </a:prstGeom>
          <a:noFill/>
          <a:ln w="9525">
            <a:solidFill>
              <a:srgbClr val="8CE7A5"/>
            </a:solidFill>
            <a:prstDash val="solid"/>
          </a:ln>
        </p:spPr>
      </p:sp>
      <p:sp>
        <p:nvSpPr>
          <p:cNvPr id="28" name="Shape 24"/>
          <p:cNvSpPr/>
          <p:nvPr/>
        </p:nvSpPr>
        <p:spPr>
          <a:xfrm>
            <a:off x="546050" y="3514725"/>
            <a:ext cx="0" cy="857250"/>
          </a:xfrm>
          <a:prstGeom prst="line">
            <a:avLst/>
          </a:prstGeom>
          <a:noFill/>
          <a:ln w="76200">
            <a:solidFill>
              <a:srgbClr val="1A7F37"/>
            </a:solidFill>
            <a:prstDash val="solid"/>
          </a:ln>
        </p:spPr>
      </p:sp>
      <p:sp>
        <p:nvSpPr>
          <p:cNvPr id="29" name="Text 25"/>
          <p:cNvSpPr/>
          <p:nvPr/>
        </p:nvSpPr>
        <p:spPr>
          <a:xfrm>
            <a:off x="812750" y="3729038"/>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676650"/>
            <a:ext cx="5772525"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From issue to verified fix</a:t>
            </a:r>
            <a:endParaRPr lang="en-US" sz="1800" dirty="0"/>
          </a:p>
        </p:txBody>
      </p:sp>
      <p:sp>
        <p:nvSpPr>
          <p:cNvPr id="31" name="Text 27"/>
          <p:cNvSpPr/>
          <p:nvPr/>
        </p:nvSpPr>
        <p:spPr>
          <a:xfrm>
            <a:off x="1625501" y="3994100"/>
            <a:ext cx="5772525"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Start from a practice branch, attach the issue, plan, then verify the fix.</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8"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Worktrees keep work apart</a:t>
            </a:r>
            <a:endParaRPr lang="en-US" sz="4000" dirty="0"/>
          </a:p>
        </p:txBody>
      </p:sp>
      <p:sp>
        <p:nvSpPr>
          <p:cNvPr id="11" name="Text 7"/>
          <p:cNvSpPr/>
          <p:nvPr/>
        </p:nvSpPr>
        <p:spPr>
          <a:xfrm>
            <a:off x="711101" y="332803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One studio, many recording booths</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would not crowd three musicians around one microphone.</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Recording studio booths analogy for worktrees and focused context"/>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2166640"/>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2249239"/>
            <a:ext cx="215801" cy="215801"/>
          </a:xfrm>
          <a:prstGeom prst="rect">
            <a:avLst/>
          </a:prstGeom>
        </p:spPr>
      </p:pic>
      <p:sp>
        <p:nvSpPr>
          <p:cNvPr id="13" name="Text 7"/>
          <p:cNvSpPr/>
          <p:nvPr/>
        </p:nvSpPr>
        <p:spPr>
          <a:xfrm>
            <a:off x="5537150" y="2131219"/>
            <a:ext cx="301013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Same song</a:t>
            </a:r>
            <a:endParaRPr lang="en-US" sz="1550" dirty="0"/>
          </a:p>
        </p:txBody>
      </p:sp>
      <p:sp>
        <p:nvSpPr>
          <p:cNvPr id="14" name="Text 8"/>
          <p:cNvSpPr/>
          <p:nvPr/>
        </p:nvSpPr>
        <p:spPr>
          <a:xfrm>
            <a:off x="5537150" y="2385120"/>
            <a:ext cx="301013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Every booth records for one repository.</a:t>
            </a:r>
            <a:endParaRPr lang="en-US" sz="1350" dirty="0"/>
          </a:p>
        </p:txBody>
      </p:sp>
      <p:sp>
        <p:nvSpPr>
          <p:cNvPr id="15" name="Text 9"/>
          <p:cNvSpPr/>
          <p:nvPr/>
        </p:nvSpPr>
        <p:spPr>
          <a:xfrm>
            <a:off x="5003750" y="2920901"/>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3003500"/>
            <a:ext cx="215801" cy="215801"/>
          </a:xfrm>
          <a:prstGeom prst="rect">
            <a:avLst/>
          </a:prstGeom>
        </p:spPr>
      </p:pic>
      <p:sp>
        <p:nvSpPr>
          <p:cNvPr id="17" name="Text 10"/>
          <p:cNvSpPr/>
          <p:nvPr/>
        </p:nvSpPr>
        <p:spPr>
          <a:xfrm>
            <a:off x="5537150" y="2786360"/>
            <a:ext cx="316072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Own booth</a:t>
            </a:r>
            <a:endParaRPr lang="en-US" sz="1550" dirty="0"/>
          </a:p>
        </p:txBody>
      </p:sp>
      <p:sp>
        <p:nvSpPr>
          <p:cNvPr id="18" name="Text 11"/>
          <p:cNvSpPr/>
          <p:nvPr/>
        </p:nvSpPr>
        <p:spPr>
          <a:xfrm>
            <a:off x="5537150" y="3040261"/>
            <a:ext cx="3160725"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Each worktree has its own folder and branch.</a:t>
            </a:r>
            <a:endParaRPr lang="en-US" sz="1350" dirty="0"/>
          </a:p>
        </p:txBody>
      </p:sp>
      <p:sp>
        <p:nvSpPr>
          <p:cNvPr id="19" name="Text 12"/>
          <p:cNvSpPr/>
          <p:nvPr/>
        </p:nvSpPr>
        <p:spPr>
          <a:xfrm>
            <a:off x="5003750" y="3675013"/>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757613"/>
            <a:ext cx="215801" cy="215801"/>
          </a:xfrm>
          <a:prstGeom prst="rect">
            <a:avLst/>
          </a:prstGeom>
        </p:spPr>
      </p:pic>
      <p:sp>
        <p:nvSpPr>
          <p:cNvPr id="21" name="Text 13"/>
          <p:cNvSpPr/>
          <p:nvPr/>
        </p:nvSpPr>
        <p:spPr>
          <a:xfrm>
            <a:off x="5537150" y="3639592"/>
            <a:ext cx="2838596"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Mix later</a:t>
            </a:r>
            <a:endParaRPr lang="en-US" sz="1550" dirty="0"/>
          </a:p>
        </p:txBody>
      </p:sp>
      <p:sp>
        <p:nvSpPr>
          <p:cNvPr id="22" name="Text 14"/>
          <p:cNvSpPr/>
          <p:nvPr/>
        </p:nvSpPr>
        <p:spPr>
          <a:xfrm>
            <a:off x="5537150" y="3893493"/>
            <a:ext cx="2838596"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Combine the takes through a merge.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is a Git worktree?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An extra working folder for the same repository, on its own branch.</a:t>
            </a:r>
            <a:endParaRPr lang="en-US" sz="1650" dirty="0"/>
          </a:p>
        </p:txBody>
      </p:sp>
      <p:sp>
        <p:nvSpPr>
          <p:cNvPr id="9" name="Text 5"/>
          <p:cNvSpPr/>
          <p:nvPr/>
        </p:nvSpPr>
        <p:spPr>
          <a:xfrm>
            <a:off x="2194560" y="1527048"/>
            <a:ext cx="4754880" cy="3200400"/>
          </a:xfrm>
          <a:prstGeom prst="roundRect">
            <a:avLst>
              <a:gd name="adj" fmla="val 3069"/>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One repository with many safe worktrees"/>
          <p:cNvPicPr>
            <a:picLocks noChangeAspect="1"/>
          </p:cNvPicPr>
          <p:nvPr/>
        </p:nvPicPr>
        <p:blipFill>
          <a:blip r:embed="rId4"/>
          <a:stretch>
            <a:fillRect/>
          </a:stretch>
        </p:blipFill>
        <p:spPr>
          <a:xfrm>
            <a:off x="2240280" y="1572768"/>
            <a:ext cx="4663440" cy="3108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WHERE A SESSION RUNS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Choose speed or isolation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The workspace selector below the prompt box decides.</a:t>
            </a:r>
            <a:endParaRPr lang="en-US" sz="1650" dirty="0"/>
          </a:p>
        </p:txBody>
      </p:sp>
      <p:sp>
        <p:nvSpPr>
          <p:cNvPr id="9" name="Text 5"/>
          <p:cNvSpPr/>
          <p:nvPr/>
        </p:nvSpPr>
        <p:spPr>
          <a:xfrm>
            <a:off x="702915" y="1577876"/>
            <a:ext cx="3420070" cy="2990850"/>
          </a:xfrm>
          <a:prstGeom prst="roundRect">
            <a:avLst>
              <a:gd name="adj" fmla="val 254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Where to work menu in the GitHub Copilot app showing New worktree, Current checkout, Cloud, and Base branch"/>
          <p:cNvPicPr>
            <a:picLocks noChangeAspect="1"/>
          </p:cNvPicPr>
          <p:nvPr/>
        </p:nvPicPr>
        <p:blipFill>
          <a:blip r:embed="rId4"/>
          <a:stretch>
            <a:fillRect/>
          </a:stretch>
        </p:blipFill>
        <p:spPr>
          <a:xfrm>
            <a:off x="750540" y="1625501"/>
            <a:ext cx="3324820" cy="2895600"/>
          </a:xfrm>
          <a:prstGeom prst="rect">
            <a:avLst/>
          </a:prstGeom>
        </p:spPr>
      </p:pic>
      <p:sp>
        <p:nvSpPr>
          <p:cNvPr id="11" name="Text 6"/>
          <p:cNvSpPr/>
          <p:nvPr/>
        </p:nvSpPr>
        <p:spPr>
          <a:xfrm>
            <a:off x="4597301" y="1958280"/>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679900" y="2040880"/>
            <a:ext cx="215801" cy="215801"/>
          </a:xfrm>
          <a:prstGeom prst="rect">
            <a:avLst/>
          </a:prstGeom>
        </p:spPr>
      </p:pic>
      <p:sp>
        <p:nvSpPr>
          <p:cNvPr id="13" name="Text 7"/>
          <p:cNvSpPr/>
          <p:nvPr/>
        </p:nvSpPr>
        <p:spPr>
          <a:xfrm>
            <a:off x="5130701" y="1922859"/>
            <a:ext cx="3052489"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New worktree</a:t>
            </a:r>
            <a:endParaRPr lang="en-US" sz="1550" dirty="0"/>
          </a:p>
        </p:txBody>
      </p:sp>
      <p:sp>
        <p:nvSpPr>
          <p:cNvPr id="14" name="Text 8"/>
          <p:cNvSpPr/>
          <p:nvPr/>
        </p:nvSpPr>
        <p:spPr>
          <a:xfrm>
            <a:off x="5130701" y="2176760"/>
            <a:ext cx="3052489"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Own folder and branch. Course default.</a:t>
            </a:r>
            <a:endParaRPr lang="en-US" sz="1350" dirty="0"/>
          </a:p>
        </p:txBody>
      </p:sp>
      <p:sp>
        <p:nvSpPr>
          <p:cNvPr id="15" name="Text 9"/>
          <p:cNvSpPr/>
          <p:nvPr/>
        </p:nvSpPr>
        <p:spPr>
          <a:xfrm>
            <a:off x="4597301" y="2562671"/>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79900" y="2645271"/>
            <a:ext cx="215801" cy="215801"/>
          </a:xfrm>
          <a:prstGeom prst="rect">
            <a:avLst/>
          </a:prstGeom>
        </p:spPr>
      </p:pic>
      <p:sp>
        <p:nvSpPr>
          <p:cNvPr id="17" name="Text 10"/>
          <p:cNvSpPr/>
          <p:nvPr/>
        </p:nvSpPr>
        <p:spPr>
          <a:xfrm>
            <a:off x="5130701" y="2527250"/>
            <a:ext cx="229756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Current checkout</a:t>
            </a:r>
            <a:endParaRPr lang="en-US" sz="1550" dirty="0"/>
          </a:p>
        </p:txBody>
      </p:sp>
      <p:sp>
        <p:nvSpPr>
          <p:cNvPr id="18" name="Text 11"/>
          <p:cNvSpPr/>
          <p:nvPr/>
        </p:nvSpPr>
        <p:spPr>
          <a:xfrm>
            <a:off x="5130701" y="2781151"/>
            <a:ext cx="229756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Your clone. Fast, not isolated.</a:t>
            </a:r>
            <a:endParaRPr lang="en-US" sz="1350" dirty="0"/>
          </a:p>
        </p:txBody>
      </p:sp>
      <p:sp>
        <p:nvSpPr>
          <p:cNvPr id="19" name="Text 12"/>
          <p:cNvSpPr/>
          <p:nvPr/>
        </p:nvSpPr>
        <p:spPr>
          <a:xfrm>
            <a:off x="4597301" y="3167063"/>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679900" y="3249662"/>
            <a:ext cx="215801" cy="215801"/>
          </a:xfrm>
          <a:prstGeom prst="rect">
            <a:avLst/>
          </a:prstGeom>
        </p:spPr>
      </p:pic>
      <p:sp>
        <p:nvSpPr>
          <p:cNvPr id="21" name="Text 13"/>
          <p:cNvSpPr/>
          <p:nvPr/>
        </p:nvSpPr>
        <p:spPr>
          <a:xfrm>
            <a:off x="5130701" y="3131641"/>
            <a:ext cx="2041621"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Cloud</a:t>
            </a:r>
            <a:endParaRPr lang="en-US" sz="1550" dirty="0"/>
          </a:p>
        </p:txBody>
      </p:sp>
      <p:sp>
        <p:nvSpPr>
          <p:cNvPr id="22" name="Text 14"/>
          <p:cNvSpPr/>
          <p:nvPr/>
        </p:nvSpPr>
        <p:spPr>
          <a:xfrm>
            <a:off x="5130701" y="3385542"/>
            <a:ext cx="2041621"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 GitHub-hosted sandbox.</a:t>
            </a:r>
            <a:endParaRPr lang="en-US" sz="1350" dirty="0"/>
          </a:p>
        </p:txBody>
      </p:sp>
      <p:sp>
        <p:nvSpPr>
          <p:cNvPr id="23" name="Text 15"/>
          <p:cNvSpPr/>
          <p:nvPr/>
        </p:nvSpPr>
        <p:spPr>
          <a:xfrm>
            <a:off x="4597301" y="3736032"/>
            <a:ext cx="4038600" cy="487561"/>
          </a:xfrm>
          <a:prstGeom prst="roundRect">
            <a:avLst>
              <a:gd name="adj" fmla="val 20838"/>
            </a:avLst>
          </a:prstGeom>
          <a:solidFill>
            <a:srgbClr val="FFF8C5"/>
          </a:solidFill>
          <a:ln w="9525">
            <a:solidFill>
              <a:srgbClr val="E7C85A"/>
            </a:solidFill>
          </a:ln>
        </p:spPr>
        <p:txBody>
          <a:bodyPr wrap="square" rtlCol="0" anchor="ctr"/>
          <a:lstStyle/>
          <a:p>
            <a:pPr indent="0" marL="0">
              <a:buNone/>
            </a:pPr>
            <a:endParaRPr lang="en-US" dirty="0"/>
          </a:p>
        </p:txBody>
      </p:sp>
      <p:pic>
        <p:nvPicPr>
          <p:cNvPr id="24"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784527" y="3878163"/>
            <a:ext cx="203150" cy="203150"/>
          </a:xfrm>
          <a:prstGeom prst="rect">
            <a:avLst/>
          </a:prstGeom>
        </p:spPr>
      </p:pic>
      <p:sp>
        <p:nvSpPr>
          <p:cNvPr id="25" name="Text 16"/>
          <p:cNvSpPr/>
          <p:nvPr/>
        </p:nvSpPr>
        <p:spPr>
          <a:xfrm>
            <a:off x="5114627" y="3872508"/>
            <a:ext cx="2821594" cy="214610"/>
          </a:xfrm>
          <a:prstGeom prst="rect">
            <a:avLst/>
          </a:prstGeom>
          <a:noFill/>
          <a:ln/>
        </p:spPr>
        <p:txBody>
          <a:bodyPr wrap="square" lIns="0" tIns="0" rIns="0" bIns="0" rtlCol="0" anchor="t"/>
          <a:lstStyle/>
          <a:p>
            <a:pPr algn="l" indent="0" marL="0">
              <a:lnSpc>
                <a:spcPts val="1690"/>
              </a:lnSpc>
              <a:buNone/>
            </a:pPr>
            <a:r>
              <a:rPr lang="en-US" sz="1400" dirty="0">
                <a:solidFill>
                  <a:srgbClr val="1F2328"/>
                </a:solidFill>
                <a:latin typeface="Arial" pitchFamily="34" charset="0"/>
                <a:ea typeface="Arial" pitchFamily="34" charset="-122"/>
                <a:cs typeface="Arial" pitchFamily="34" charset="-120"/>
              </a:rPr>
              <a:t>Switch back to </a:t>
            </a:r>
            <a:pPr algn="l" indent="0" marL="0">
              <a:lnSpc>
                <a:spcPts val="1690"/>
              </a:lnSpc>
              <a:buNone/>
            </a:pPr>
            <a:r>
              <a:rPr lang="en-US" sz="1400" b="1" dirty="0">
                <a:solidFill>
                  <a:srgbClr val="1F2328"/>
                </a:solidFill>
                <a:latin typeface="Arial" pitchFamily="34" charset="0"/>
                <a:ea typeface="Arial" pitchFamily="34" charset="-122"/>
                <a:cs typeface="Arial" pitchFamily="34" charset="-120"/>
              </a:rPr>
              <a:t>New worktree</a:t>
            </a:r>
            <a:pPr algn="l" indent="0" marL="0">
              <a:lnSpc>
                <a:spcPts val="1690"/>
              </a:lnSpc>
              <a:buNone/>
            </a:pPr>
            <a:r>
              <a:rPr lang="en-US" sz="1400" dirty="0">
                <a:solidFill>
                  <a:srgbClr val="1F2328"/>
                </a:solidFill>
                <a:latin typeface="Arial" pitchFamily="34" charset="0"/>
                <a:ea typeface="Arial" pitchFamily="34" charset="-122"/>
                <a:cs typeface="Arial" pitchFamily="34" charset="-120"/>
              </a:rPr>
              <a:t> now.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8"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Give Copilot focused context</a:t>
            </a:r>
            <a:endParaRPr lang="en-US" sz="4000" dirty="0"/>
          </a:p>
        </p:txBody>
      </p:sp>
      <p:sp>
        <p:nvSpPr>
          <p:cNvPr id="11" name="Text 7"/>
          <p:cNvSpPr/>
          <p:nvPr/>
        </p:nvSpPr>
        <p:spPr>
          <a:xfrm>
            <a:off x="711101" y="332803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CONTEXT SYNTAX</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Four keys attach context</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Type one in the prompt box, then pick from the list.</a:t>
            </a:r>
            <a:endParaRPr lang="en-US" sz="1650" dirty="0"/>
          </a:p>
        </p:txBody>
      </p:sp>
      <p:sp>
        <p:nvSpPr>
          <p:cNvPr id="9" name="Text 5"/>
          <p:cNvSpPr/>
          <p:nvPr/>
        </p:nvSpPr>
        <p:spPr>
          <a:xfrm>
            <a:off x="507950" y="1574750"/>
            <a:ext cx="1910655" cy="2158901"/>
          </a:xfrm>
          <a:prstGeom prst="roundRect">
            <a:avLst>
              <a:gd name="adj" fmla="val 6647"/>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695176" y="1787426"/>
            <a:ext cx="584150" cy="584150"/>
          </a:xfrm>
          <a:prstGeom prst="roundRect">
            <a:avLst>
              <a:gd name="adj" fmla="val 21741"/>
            </a:avLst>
          </a:prstGeom>
          <a:solidFill>
            <a:srgbClr val="DDF4FF"/>
          </a:solidFill>
          <a:ln/>
        </p:spPr>
        <p:txBody>
          <a:bodyPr wrap="square" rtlCol="0" anchor="ctr"/>
          <a:lstStyle/>
          <a:p>
            <a:pPr indent="0" marL="0">
              <a:buNone/>
            </a:pPr>
            <a:endParaRPr lang="en-US" dirty="0"/>
          </a:p>
        </p:txBody>
      </p:sp>
      <p:sp>
        <p:nvSpPr>
          <p:cNvPr id="11" name="Text 7"/>
          <p:cNvSpPr/>
          <p:nvPr/>
        </p:nvSpPr>
        <p:spPr>
          <a:xfrm>
            <a:off x="878333" y="1879402"/>
            <a:ext cx="217688" cy="400050"/>
          </a:xfrm>
          <a:prstGeom prst="rect">
            <a:avLst/>
          </a:prstGeom>
          <a:noFill/>
          <a:ln/>
        </p:spPr>
        <p:txBody>
          <a:bodyPr wrap="square" lIns="0" tIns="0" rIns="0" bIns="0" rtlCol="0" anchor="t"/>
          <a:lstStyle/>
          <a:p>
            <a:pPr algn="ctr" indent="0" marL="0">
              <a:buNone/>
            </a:pPr>
            <a:r>
              <a:rPr lang="en-US" sz="2800" b="1" dirty="0">
                <a:solidFill>
                  <a:srgbClr val="0969DA"/>
                </a:solidFill>
                <a:latin typeface="Courier New" pitchFamily="34" charset="0"/>
                <a:ea typeface="Courier New" pitchFamily="34" charset="-122"/>
                <a:cs typeface="Courier New" pitchFamily="34" charset="-120"/>
              </a:rPr>
              <a:t>@</a:t>
            </a:r>
            <a:endParaRPr lang="en-US" sz="2800" dirty="0"/>
          </a:p>
        </p:txBody>
      </p:sp>
      <p:sp>
        <p:nvSpPr>
          <p:cNvPr id="12" name="Text 8"/>
          <p:cNvSpPr/>
          <p:nvPr/>
        </p:nvSpPr>
        <p:spPr>
          <a:xfrm>
            <a:off x="695176" y="2498527"/>
            <a:ext cx="1566928" cy="24765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Files or folders</a:t>
            </a:r>
            <a:endParaRPr lang="en-US" sz="1650" dirty="0"/>
          </a:p>
        </p:txBody>
      </p:sp>
      <p:sp>
        <p:nvSpPr>
          <p:cNvPr id="13" name="Text 9"/>
          <p:cNvSpPr/>
          <p:nvPr/>
        </p:nvSpPr>
        <p:spPr>
          <a:xfrm>
            <a:off x="695176" y="3006626"/>
            <a:ext cx="1536204" cy="514350"/>
          </a:xfrm>
          <a:prstGeom prst="roundRect">
            <a:avLst>
              <a:gd name="adj" fmla="val 14815"/>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96677" y="3082826"/>
            <a:ext cx="1359866" cy="361950"/>
          </a:xfrm>
          <a:prstGeom prst="rect">
            <a:avLst/>
          </a:prstGeom>
          <a:noFill/>
          <a:ln/>
        </p:spPr>
        <p:txBody>
          <a:bodyPr wrap="square" lIns="0" tIns="0" rIns="0" bIns="0" rtlCol="0" anchor="t"/>
          <a:lstStyle/>
          <a:p>
            <a:pPr algn="l" indent="0" marL="0">
              <a:buNone/>
            </a:pPr>
            <a:r>
              <a:rPr lang="en-US" sz="1250" dirty="0">
                <a:solidFill>
                  <a:srgbClr val="1F2328"/>
                </a:solidFill>
                <a:latin typeface="Courier New" pitchFamily="34" charset="0"/>
                <a:ea typeface="Courier New" pitchFamily="34" charset="-122"/>
                <a:cs typeface="Courier New" pitchFamily="34" charset="-120"/>
              </a:rPr>
              <a:t>@samples/book-app-web/src</a:t>
            </a:r>
            <a:endParaRPr lang="en-US" sz="1250" dirty="0"/>
          </a:p>
        </p:txBody>
      </p:sp>
      <p:sp>
        <p:nvSpPr>
          <p:cNvPr id="15" name="Text 11"/>
          <p:cNvSpPr/>
          <p:nvPr/>
        </p:nvSpPr>
        <p:spPr>
          <a:xfrm>
            <a:off x="2596307" y="1574750"/>
            <a:ext cx="1894731" cy="2158901"/>
          </a:xfrm>
          <a:prstGeom prst="roundRect">
            <a:avLst>
              <a:gd name="adj" fmla="val 6703"/>
            </a:avLst>
          </a:prstGeom>
          <a:solidFill>
            <a:srgbClr val="FFFFFF"/>
          </a:solidFill>
          <a:ln w="9525">
            <a:solidFill>
              <a:srgbClr val="D1D9E0"/>
            </a:solidFill>
          </a:ln>
        </p:spPr>
        <p:txBody>
          <a:bodyPr wrap="square" rtlCol="0" anchor="ctr"/>
          <a:lstStyle/>
          <a:p>
            <a:pPr indent="0" marL="0">
              <a:buNone/>
            </a:pPr>
            <a:endParaRPr lang="en-US" dirty="0"/>
          </a:p>
        </p:txBody>
      </p:sp>
      <p:sp>
        <p:nvSpPr>
          <p:cNvPr id="16" name="Text 12"/>
          <p:cNvSpPr/>
          <p:nvPr/>
        </p:nvSpPr>
        <p:spPr>
          <a:xfrm>
            <a:off x="2783532" y="1787426"/>
            <a:ext cx="584150" cy="584150"/>
          </a:xfrm>
          <a:prstGeom prst="roundRect">
            <a:avLst>
              <a:gd name="adj" fmla="val 21741"/>
            </a:avLst>
          </a:prstGeom>
          <a:solidFill>
            <a:srgbClr val="DAFBE1"/>
          </a:solidFill>
          <a:ln/>
        </p:spPr>
        <p:txBody>
          <a:bodyPr wrap="square" rtlCol="0" anchor="ctr"/>
          <a:lstStyle/>
          <a:p>
            <a:pPr indent="0" marL="0">
              <a:buNone/>
            </a:pPr>
            <a:endParaRPr lang="en-US" dirty="0"/>
          </a:p>
        </p:txBody>
      </p:sp>
      <p:sp>
        <p:nvSpPr>
          <p:cNvPr id="17" name="Text 13"/>
          <p:cNvSpPr/>
          <p:nvPr/>
        </p:nvSpPr>
        <p:spPr>
          <a:xfrm>
            <a:off x="2966689" y="1879402"/>
            <a:ext cx="217688" cy="400050"/>
          </a:xfrm>
          <a:prstGeom prst="rect">
            <a:avLst/>
          </a:prstGeom>
          <a:noFill/>
          <a:ln/>
        </p:spPr>
        <p:txBody>
          <a:bodyPr wrap="square" lIns="0" tIns="0" rIns="0" bIns="0" rtlCol="0" anchor="t"/>
          <a:lstStyle/>
          <a:p>
            <a:pPr algn="ctr" indent="0" marL="0">
              <a:buNone/>
            </a:pPr>
            <a:r>
              <a:rPr lang="en-US" sz="2800" b="1" dirty="0">
                <a:solidFill>
                  <a:srgbClr val="1A7F37"/>
                </a:solidFill>
                <a:latin typeface="Courier New" pitchFamily="34" charset="0"/>
                <a:ea typeface="Courier New" pitchFamily="34" charset="-122"/>
                <a:cs typeface="Courier New" pitchFamily="34" charset="-120"/>
              </a:rPr>
              <a:t>#</a:t>
            </a:r>
            <a:endParaRPr lang="en-US" sz="2800" dirty="0"/>
          </a:p>
        </p:txBody>
      </p:sp>
      <p:sp>
        <p:nvSpPr>
          <p:cNvPr id="18" name="Text 14"/>
          <p:cNvSpPr/>
          <p:nvPr/>
        </p:nvSpPr>
        <p:spPr>
          <a:xfrm>
            <a:off x="2783532" y="2498527"/>
            <a:ext cx="1550685" cy="24765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Issues or PRs</a:t>
            </a:r>
            <a:endParaRPr lang="en-US" sz="1650" dirty="0"/>
          </a:p>
        </p:txBody>
      </p:sp>
      <p:sp>
        <p:nvSpPr>
          <p:cNvPr id="19" name="Text 15"/>
          <p:cNvSpPr/>
          <p:nvPr/>
        </p:nvSpPr>
        <p:spPr>
          <a:xfrm>
            <a:off x="2783532" y="3187601"/>
            <a:ext cx="1520279" cy="333375"/>
          </a:xfrm>
          <a:prstGeom prst="roundRect">
            <a:avLst>
              <a:gd name="adj" fmla="val 22857"/>
            </a:avLst>
          </a:prstGeom>
          <a:solidFill>
            <a:srgbClr val="F6F8FA"/>
          </a:solidFill>
          <a:ln/>
        </p:spPr>
        <p:txBody>
          <a:bodyPr wrap="square" rtlCol="0" anchor="ctr"/>
          <a:lstStyle/>
          <a:p>
            <a:pPr indent="0" marL="0">
              <a:buNone/>
            </a:pPr>
            <a:endParaRPr lang="en-US" dirty="0"/>
          </a:p>
        </p:txBody>
      </p:sp>
      <p:sp>
        <p:nvSpPr>
          <p:cNvPr id="20" name="Text 16"/>
          <p:cNvSpPr/>
          <p:nvPr/>
        </p:nvSpPr>
        <p:spPr>
          <a:xfrm>
            <a:off x="2885033" y="3263801"/>
            <a:ext cx="1343623" cy="180975"/>
          </a:xfrm>
          <a:prstGeom prst="rect">
            <a:avLst/>
          </a:prstGeom>
          <a:noFill/>
          <a:ln/>
        </p:spPr>
        <p:txBody>
          <a:bodyPr wrap="square" lIns="0" tIns="0" rIns="0" bIns="0" rtlCol="0" anchor="t"/>
          <a:lstStyle/>
          <a:p>
            <a:pPr algn="l" indent="0" marL="0">
              <a:buNone/>
            </a:pPr>
            <a:r>
              <a:rPr lang="en-US" sz="1250" dirty="0">
                <a:solidFill>
                  <a:srgbClr val="1F2328"/>
                </a:solidFill>
                <a:latin typeface="Courier New" pitchFamily="34" charset="0"/>
                <a:ea typeface="Courier New" pitchFamily="34" charset="-122"/>
                <a:cs typeface="Courier New" pitchFamily="34" charset="-120"/>
              </a:rPr>
              <a:t>#3</a:t>
            </a:r>
            <a:endParaRPr lang="en-US" sz="1250" dirty="0"/>
          </a:p>
        </p:txBody>
      </p:sp>
      <p:sp>
        <p:nvSpPr>
          <p:cNvPr id="21" name="Text 17"/>
          <p:cNvSpPr/>
          <p:nvPr/>
        </p:nvSpPr>
        <p:spPr>
          <a:xfrm>
            <a:off x="4668738" y="1574750"/>
            <a:ext cx="1894731" cy="2158901"/>
          </a:xfrm>
          <a:prstGeom prst="roundRect">
            <a:avLst>
              <a:gd name="adj" fmla="val 6703"/>
            </a:avLst>
          </a:prstGeom>
          <a:solidFill>
            <a:srgbClr val="FFFFFF"/>
          </a:solidFill>
          <a:ln w="9525">
            <a:solidFill>
              <a:srgbClr val="D1D9E0"/>
            </a:solidFill>
          </a:ln>
        </p:spPr>
        <p:txBody>
          <a:bodyPr wrap="square" rtlCol="0" anchor="ctr"/>
          <a:lstStyle/>
          <a:p>
            <a:pPr indent="0" marL="0">
              <a:buNone/>
            </a:pPr>
            <a:endParaRPr lang="en-US" dirty="0"/>
          </a:p>
        </p:txBody>
      </p:sp>
      <p:sp>
        <p:nvSpPr>
          <p:cNvPr id="22" name="Text 18"/>
          <p:cNvSpPr/>
          <p:nvPr/>
        </p:nvSpPr>
        <p:spPr>
          <a:xfrm>
            <a:off x="4855964" y="1787426"/>
            <a:ext cx="584150" cy="469999"/>
          </a:xfrm>
          <a:prstGeom prst="roundRect">
            <a:avLst>
              <a:gd name="adj" fmla="val 27021"/>
            </a:avLst>
          </a:prstGeom>
          <a:solidFill>
            <a:srgbClr val="FBEFFF"/>
          </a:solidFill>
          <a:ln/>
        </p:spPr>
        <p:txBody>
          <a:bodyPr wrap="square" rtlCol="0" anchor="ctr"/>
          <a:lstStyle/>
          <a:p>
            <a:pPr indent="0" marL="0">
              <a:buNone/>
            </a:pPr>
            <a:endParaRPr lang="en-US" dirty="0"/>
          </a:p>
        </p:txBody>
      </p:sp>
      <p:sp>
        <p:nvSpPr>
          <p:cNvPr id="23" name="Text 19"/>
          <p:cNvSpPr/>
          <p:nvPr/>
        </p:nvSpPr>
        <p:spPr>
          <a:xfrm>
            <a:off x="5039121" y="1822400"/>
            <a:ext cx="217688" cy="400050"/>
          </a:xfrm>
          <a:prstGeom prst="rect">
            <a:avLst/>
          </a:prstGeom>
          <a:noFill/>
          <a:ln/>
        </p:spPr>
        <p:txBody>
          <a:bodyPr wrap="square" lIns="0" tIns="0" rIns="0" bIns="0" rtlCol="0" anchor="t"/>
          <a:lstStyle/>
          <a:p>
            <a:pPr algn="ctr" indent="0" marL="0">
              <a:buNone/>
            </a:pPr>
            <a:r>
              <a:rPr lang="en-US" sz="2800" b="1" dirty="0">
                <a:solidFill>
                  <a:srgbClr val="8250DF"/>
                </a:solidFill>
                <a:latin typeface="Courier New" pitchFamily="34" charset="0"/>
                <a:ea typeface="Courier New" pitchFamily="34" charset="-122"/>
                <a:cs typeface="Courier New" pitchFamily="34" charset="-120"/>
              </a:rPr>
              <a:t>/</a:t>
            </a:r>
            <a:endParaRPr lang="en-US" sz="2800" dirty="0"/>
          </a:p>
        </p:txBody>
      </p:sp>
      <p:sp>
        <p:nvSpPr>
          <p:cNvPr id="24" name="Text 20"/>
          <p:cNvSpPr/>
          <p:nvPr/>
        </p:nvSpPr>
        <p:spPr>
          <a:xfrm>
            <a:off x="4855964" y="2384375"/>
            <a:ext cx="1550685" cy="49530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Slash commands</a:t>
            </a:r>
            <a:endParaRPr lang="en-US" sz="1650" dirty="0"/>
          </a:p>
        </p:txBody>
      </p:sp>
      <p:sp>
        <p:nvSpPr>
          <p:cNvPr id="25" name="Text 21"/>
          <p:cNvSpPr/>
          <p:nvPr/>
        </p:nvSpPr>
        <p:spPr>
          <a:xfrm>
            <a:off x="4855964" y="3006626"/>
            <a:ext cx="1520279" cy="514350"/>
          </a:xfrm>
          <a:prstGeom prst="roundRect">
            <a:avLst>
              <a:gd name="adj" fmla="val 14815"/>
            </a:avLst>
          </a:prstGeom>
          <a:solidFill>
            <a:srgbClr val="F6F8FA"/>
          </a:solidFill>
          <a:ln/>
        </p:spPr>
        <p:txBody>
          <a:bodyPr wrap="square" rtlCol="0" anchor="ctr"/>
          <a:lstStyle/>
          <a:p>
            <a:pPr indent="0" marL="0">
              <a:buNone/>
            </a:pPr>
            <a:endParaRPr lang="en-US" dirty="0"/>
          </a:p>
        </p:txBody>
      </p:sp>
      <p:sp>
        <p:nvSpPr>
          <p:cNvPr id="26" name="Text 22"/>
          <p:cNvSpPr/>
          <p:nvPr/>
        </p:nvSpPr>
        <p:spPr>
          <a:xfrm>
            <a:off x="4957465" y="3082826"/>
            <a:ext cx="1343623" cy="361950"/>
          </a:xfrm>
          <a:prstGeom prst="rect">
            <a:avLst/>
          </a:prstGeom>
          <a:noFill/>
          <a:ln/>
        </p:spPr>
        <p:txBody>
          <a:bodyPr wrap="square" lIns="0" tIns="0" rIns="0" bIns="0" rtlCol="0" anchor="t"/>
          <a:lstStyle/>
          <a:p>
            <a:pPr algn="l" indent="0" marL="0">
              <a:buNone/>
            </a:pPr>
            <a:r>
              <a:rPr lang="en-US" sz="1250" dirty="0">
                <a:solidFill>
                  <a:srgbClr val="1F2328"/>
                </a:solidFill>
                <a:latin typeface="Courier New" pitchFamily="34" charset="0"/>
                <a:ea typeface="Courier New" pitchFamily="34" charset="-122"/>
                <a:cs typeface="Courier New" pitchFamily="34" charset="-120"/>
              </a:rPr>
              <a:t>/chronicle standup</a:t>
            </a:r>
            <a:endParaRPr lang="en-US" sz="1250" dirty="0"/>
          </a:p>
        </p:txBody>
      </p:sp>
      <p:sp>
        <p:nvSpPr>
          <p:cNvPr id="27" name="Text 23"/>
          <p:cNvSpPr/>
          <p:nvPr/>
        </p:nvSpPr>
        <p:spPr>
          <a:xfrm>
            <a:off x="6741170" y="1574750"/>
            <a:ext cx="1894731" cy="2158901"/>
          </a:xfrm>
          <a:prstGeom prst="roundRect">
            <a:avLst>
              <a:gd name="adj" fmla="val 6703"/>
            </a:avLst>
          </a:prstGeom>
          <a:solidFill>
            <a:srgbClr val="FFFFFF"/>
          </a:solidFill>
          <a:ln w="9525">
            <a:solidFill>
              <a:srgbClr val="D1D9E0"/>
            </a:solidFill>
          </a:ln>
        </p:spPr>
        <p:txBody>
          <a:bodyPr wrap="square" rtlCol="0" anchor="ctr"/>
          <a:lstStyle/>
          <a:p>
            <a:pPr indent="0" marL="0">
              <a:buNone/>
            </a:pPr>
            <a:endParaRPr lang="en-US" dirty="0"/>
          </a:p>
        </p:txBody>
      </p:sp>
      <p:sp>
        <p:nvSpPr>
          <p:cNvPr id="28" name="Text 24"/>
          <p:cNvSpPr/>
          <p:nvPr/>
        </p:nvSpPr>
        <p:spPr>
          <a:xfrm>
            <a:off x="6928396" y="1787426"/>
            <a:ext cx="584150" cy="584150"/>
          </a:xfrm>
          <a:prstGeom prst="roundRect">
            <a:avLst>
              <a:gd name="adj" fmla="val 21741"/>
            </a:avLst>
          </a:prstGeom>
          <a:solidFill>
            <a:srgbClr val="FFF1E5"/>
          </a:solidFill>
          <a:ln/>
        </p:spPr>
        <p:txBody>
          <a:bodyPr wrap="square" rtlCol="0" anchor="ctr"/>
          <a:lstStyle/>
          <a:p>
            <a:pPr indent="0" marL="0">
              <a:buNone/>
            </a:pPr>
            <a:endParaRPr lang="en-US" dirty="0"/>
          </a:p>
        </p:txBody>
      </p:sp>
      <p:sp>
        <p:nvSpPr>
          <p:cNvPr id="29" name="Text 25"/>
          <p:cNvSpPr/>
          <p:nvPr/>
        </p:nvSpPr>
        <p:spPr>
          <a:xfrm>
            <a:off x="7111553" y="1879402"/>
            <a:ext cx="217688" cy="400050"/>
          </a:xfrm>
          <a:prstGeom prst="rect">
            <a:avLst/>
          </a:prstGeom>
          <a:noFill/>
          <a:ln/>
        </p:spPr>
        <p:txBody>
          <a:bodyPr wrap="square" lIns="0" tIns="0" rIns="0" bIns="0" rtlCol="0" anchor="t"/>
          <a:lstStyle/>
          <a:p>
            <a:pPr algn="ctr" indent="0" marL="0">
              <a:buNone/>
            </a:pPr>
            <a:r>
              <a:rPr lang="en-US" sz="2800" b="1" dirty="0">
                <a:solidFill>
                  <a:srgbClr val="BC4C00"/>
                </a:solidFill>
                <a:latin typeface="Courier New" pitchFamily="34" charset="0"/>
                <a:ea typeface="Courier New" pitchFamily="34" charset="-122"/>
                <a:cs typeface="Courier New" pitchFamily="34" charset="-120"/>
              </a:rPr>
              <a:t>&amp;</a:t>
            </a:r>
            <a:endParaRPr lang="en-US" sz="2800" dirty="0"/>
          </a:p>
        </p:txBody>
      </p:sp>
      <p:sp>
        <p:nvSpPr>
          <p:cNvPr id="30" name="Text 26"/>
          <p:cNvSpPr/>
          <p:nvPr/>
        </p:nvSpPr>
        <p:spPr>
          <a:xfrm>
            <a:off x="6928396" y="2498527"/>
            <a:ext cx="1550685" cy="24765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Other sessions</a:t>
            </a:r>
            <a:endParaRPr lang="en-US" sz="1650" dirty="0"/>
          </a:p>
        </p:txBody>
      </p:sp>
      <p:sp>
        <p:nvSpPr>
          <p:cNvPr id="31" name="Text 27"/>
          <p:cNvSpPr/>
          <p:nvPr/>
        </p:nvSpPr>
        <p:spPr>
          <a:xfrm>
            <a:off x="6928396" y="3006626"/>
            <a:ext cx="1520279" cy="514350"/>
          </a:xfrm>
          <a:prstGeom prst="roundRect">
            <a:avLst>
              <a:gd name="adj" fmla="val 14815"/>
            </a:avLst>
          </a:prstGeom>
          <a:solidFill>
            <a:srgbClr val="F6F8FA"/>
          </a:solidFill>
          <a:ln/>
        </p:spPr>
        <p:txBody>
          <a:bodyPr wrap="square" rtlCol="0" anchor="ctr"/>
          <a:lstStyle/>
          <a:p>
            <a:pPr indent="0" marL="0">
              <a:buNone/>
            </a:pPr>
            <a:endParaRPr lang="en-US" dirty="0"/>
          </a:p>
        </p:txBody>
      </p:sp>
      <p:sp>
        <p:nvSpPr>
          <p:cNvPr id="32" name="Text 28"/>
          <p:cNvSpPr/>
          <p:nvPr/>
        </p:nvSpPr>
        <p:spPr>
          <a:xfrm>
            <a:off x="7029896" y="3082826"/>
            <a:ext cx="1343623" cy="361950"/>
          </a:xfrm>
          <a:prstGeom prst="rect">
            <a:avLst/>
          </a:prstGeom>
          <a:noFill/>
          <a:ln/>
        </p:spPr>
        <p:txBody>
          <a:bodyPr wrap="square" lIns="0" tIns="0" rIns="0" bIns="0" rtlCol="0" anchor="t"/>
          <a:lstStyle/>
          <a:p>
            <a:pPr algn="l" indent="0" marL="0">
              <a:buNone/>
            </a:pPr>
            <a:r>
              <a:rPr lang="en-US" sz="1250" dirty="0">
                <a:solidFill>
                  <a:srgbClr val="1F2328"/>
                </a:solidFill>
                <a:latin typeface="Courier New" pitchFamily="34" charset="0"/>
                <a:ea typeface="Courier New" pitchFamily="34" charset="-122"/>
                <a:cs typeface="Courier New" pitchFamily="34" charset="-120"/>
              </a:rPr>
              <a:t>&amp; then pick one</a:t>
            </a:r>
            <a:endParaRPr lang="en-US" sz="1250" dirty="0"/>
          </a:p>
        </p:txBody>
      </p:sp>
      <p:sp>
        <p:nvSpPr>
          <p:cNvPr id="33" name="Text 29"/>
          <p:cNvSpPr/>
          <p:nvPr/>
        </p:nvSpPr>
        <p:spPr>
          <a:xfrm>
            <a:off x="507950" y="3911352"/>
            <a:ext cx="8127950" cy="496491"/>
          </a:xfrm>
          <a:prstGeom prst="roundRect">
            <a:avLst>
              <a:gd name="adj" fmla="val 20464"/>
            </a:avLst>
          </a:prstGeom>
          <a:solidFill>
            <a:srgbClr val="DDF4FF"/>
          </a:solidFill>
          <a:ln w="9525">
            <a:solidFill>
              <a:srgbClr val="9CD7FF"/>
            </a:solidFill>
          </a:ln>
        </p:spPr>
        <p:txBody>
          <a:bodyPr wrap="square" rtlCol="0" anchor="ctr"/>
          <a:lstStyle/>
          <a:p>
            <a:pPr indent="0" marL="0">
              <a:buNone/>
            </a:pPr>
            <a:endParaRPr lang="en-US" dirty="0"/>
          </a:p>
        </p:txBody>
      </p:sp>
      <p:pic>
        <p:nvPicPr>
          <p:cNvPr id="34"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5176" y="4057948"/>
            <a:ext cx="203150" cy="203150"/>
          </a:xfrm>
          <a:prstGeom prst="rect">
            <a:avLst/>
          </a:prstGeom>
        </p:spPr>
      </p:pic>
      <p:sp>
        <p:nvSpPr>
          <p:cNvPr id="35" name="Text 30"/>
          <p:cNvSpPr/>
          <p:nvPr/>
        </p:nvSpPr>
        <p:spPr>
          <a:xfrm>
            <a:off x="1025277" y="4047827"/>
            <a:ext cx="7373457" cy="22354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You can also </a:t>
            </a:r>
            <a:pPr algn="l" indent="0" marL="0">
              <a:lnSpc>
                <a:spcPts val="1760"/>
              </a:lnSpc>
              <a:buNone/>
            </a:pPr>
            <a:r>
              <a:rPr lang="en-US" sz="1450" b="1" dirty="0">
                <a:solidFill>
                  <a:srgbClr val="1F2328"/>
                </a:solidFill>
                <a:latin typeface="Arial" pitchFamily="34" charset="0"/>
                <a:ea typeface="Arial" pitchFamily="34" charset="-122"/>
                <a:cs typeface="Arial" pitchFamily="34" charset="-120"/>
              </a:rPr>
              <a:t>drag files</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from your computer onto a session in the sidebar to attach them.</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SLASH COMMANDS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Type / to discover more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Commands vary by app version, plugins, skills, and policy.</a:t>
            </a:r>
            <a:endParaRPr lang="en-US" sz="1650" dirty="0"/>
          </a:p>
        </p:txBody>
      </p:sp>
      <p:sp>
        <p:nvSpPr>
          <p:cNvPr id="9" name="Text 5"/>
          <p:cNvSpPr/>
          <p:nvPr/>
        </p:nvSpPr>
        <p:spPr>
          <a:xfrm>
            <a:off x="507950" y="2041475"/>
            <a:ext cx="3936950" cy="2139851"/>
          </a:xfrm>
          <a:prstGeom prst="roundRect">
            <a:avLst>
              <a:gd name="adj" fmla="val 4748"/>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Shape 6"/>
          <p:cNvSpPr/>
          <p:nvPr/>
        </p:nvSpPr>
        <p:spPr>
          <a:xfrm>
            <a:off x="517475" y="2672804"/>
            <a:ext cx="3917900" cy="0"/>
          </a:xfrm>
          <a:prstGeom prst="line">
            <a:avLst/>
          </a:prstGeom>
          <a:noFill/>
          <a:ln w="9525">
            <a:solidFill>
              <a:srgbClr val="D1D9E0"/>
            </a:solidFill>
            <a:prstDash val="solid"/>
          </a:ln>
        </p:spPr>
      </p:sp>
      <p:sp>
        <p:nvSpPr>
          <p:cNvPr id="11" name="Text 7"/>
          <p:cNvSpPr/>
          <p:nvPr/>
        </p:nvSpPr>
        <p:spPr>
          <a:xfrm>
            <a:off x="669875" y="2246412"/>
            <a:ext cx="1632204"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/chronicle</a:t>
            </a:r>
            <a:endParaRPr lang="en-US" sz="1400" dirty="0"/>
          </a:p>
        </p:txBody>
      </p:sp>
      <p:sp>
        <p:nvSpPr>
          <p:cNvPr id="12" name="Text 8"/>
          <p:cNvSpPr/>
          <p:nvPr/>
        </p:nvSpPr>
        <p:spPr>
          <a:xfrm>
            <a:off x="2574875" y="2152501"/>
            <a:ext cx="176169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Recap your recent work</a:t>
            </a:r>
            <a:endParaRPr lang="en-US" sz="1400" dirty="0"/>
          </a:p>
        </p:txBody>
      </p:sp>
      <p:sp>
        <p:nvSpPr>
          <p:cNvPr id="13" name="Shape 9"/>
          <p:cNvSpPr/>
          <p:nvPr/>
        </p:nvSpPr>
        <p:spPr>
          <a:xfrm>
            <a:off x="517475" y="3299371"/>
            <a:ext cx="3917900" cy="0"/>
          </a:xfrm>
          <a:prstGeom prst="line">
            <a:avLst/>
          </a:prstGeom>
          <a:noFill/>
          <a:ln w="9525">
            <a:solidFill>
              <a:srgbClr val="D1D9E0"/>
            </a:solidFill>
            <a:prstDash val="solid"/>
          </a:ln>
        </p:spPr>
      </p:sp>
      <p:sp>
        <p:nvSpPr>
          <p:cNvPr id="14" name="Text 10"/>
          <p:cNvSpPr/>
          <p:nvPr/>
        </p:nvSpPr>
        <p:spPr>
          <a:xfrm>
            <a:off x="669875" y="2872978"/>
            <a:ext cx="1632204"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/context</a:t>
            </a:r>
            <a:endParaRPr lang="en-US" sz="1400" dirty="0"/>
          </a:p>
        </p:txBody>
      </p:sp>
      <p:sp>
        <p:nvSpPr>
          <p:cNvPr id="15" name="Text 11"/>
          <p:cNvSpPr/>
          <p:nvPr/>
        </p:nvSpPr>
        <p:spPr>
          <a:xfrm>
            <a:off x="2574875" y="2779068"/>
            <a:ext cx="176169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Tokens, context, spend</a:t>
            </a:r>
            <a:endParaRPr lang="en-US" sz="1400" dirty="0"/>
          </a:p>
        </p:txBody>
      </p:sp>
      <p:sp>
        <p:nvSpPr>
          <p:cNvPr id="16" name="Shape 12"/>
          <p:cNvSpPr/>
          <p:nvPr/>
        </p:nvSpPr>
        <p:spPr>
          <a:xfrm>
            <a:off x="517475" y="3737967"/>
            <a:ext cx="3917900" cy="0"/>
          </a:xfrm>
          <a:prstGeom prst="line">
            <a:avLst/>
          </a:prstGeom>
          <a:noFill/>
          <a:ln w="9525">
            <a:solidFill>
              <a:srgbClr val="D1D9E0"/>
            </a:solidFill>
            <a:prstDash val="solid"/>
          </a:ln>
        </p:spPr>
      </p:sp>
      <p:sp>
        <p:nvSpPr>
          <p:cNvPr id="17" name="Text 13"/>
          <p:cNvSpPr/>
          <p:nvPr/>
        </p:nvSpPr>
        <p:spPr>
          <a:xfrm>
            <a:off x="669875" y="3405634"/>
            <a:ext cx="1632204"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/review</a:t>
            </a:r>
            <a:endParaRPr lang="en-US" sz="1400" dirty="0"/>
          </a:p>
        </p:txBody>
      </p:sp>
      <p:sp>
        <p:nvSpPr>
          <p:cNvPr id="18" name="Text 14"/>
          <p:cNvSpPr/>
          <p:nvPr/>
        </p:nvSpPr>
        <p:spPr>
          <a:xfrm>
            <a:off x="2574875" y="3415159"/>
            <a:ext cx="176169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Review this session</a:t>
            </a:r>
            <a:endParaRPr lang="en-US" sz="1400" dirty="0"/>
          </a:p>
        </p:txBody>
      </p:sp>
      <p:sp>
        <p:nvSpPr>
          <p:cNvPr id="19" name="Text 15"/>
          <p:cNvSpPr/>
          <p:nvPr/>
        </p:nvSpPr>
        <p:spPr>
          <a:xfrm>
            <a:off x="669875" y="3844230"/>
            <a:ext cx="1632204"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/research</a:t>
            </a:r>
            <a:endParaRPr lang="en-US" sz="1400" dirty="0"/>
          </a:p>
        </p:txBody>
      </p:sp>
      <p:sp>
        <p:nvSpPr>
          <p:cNvPr id="20" name="Text 16"/>
          <p:cNvSpPr/>
          <p:nvPr/>
        </p:nvSpPr>
        <p:spPr>
          <a:xfrm>
            <a:off x="2574875" y="3853755"/>
            <a:ext cx="176169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Write a cited report</a:t>
            </a:r>
            <a:endParaRPr lang="en-US" sz="1400" dirty="0"/>
          </a:p>
        </p:txBody>
      </p:sp>
      <p:sp>
        <p:nvSpPr>
          <p:cNvPr id="21" name="Text 17"/>
          <p:cNvSpPr/>
          <p:nvPr/>
        </p:nvSpPr>
        <p:spPr>
          <a:xfrm>
            <a:off x="4648051" y="2041475"/>
            <a:ext cx="3987701" cy="2139851"/>
          </a:xfrm>
          <a:prstGeom prst="roundRect">
            <a:avLst>
              <a:gd name="adj" fmla="val 4748"/>
            </a:avLst>
          </a:prstGeom>
          <a:solidFill>
            <a:srgbClr val="FFFFFF"/>
          </a:solidFill>
          <a:ln w="9525">
            <a:solidFill>
              <a:srgbClr val="D1D9E0"/>
            </a:solidFill>
          </a:ln>
        </p:spPr>
        <p:txBody>
          <a:bodyPr wrap="square" rtlCol="0" anchor="ctr"/>
          <a:lstStyle/>
          <a:p>
            <a:pPr indent="0" marL="0">
              <a:buNone/>
            </a:pPr>
            <a:endParaRPr lang="en-US" dirty="0"/>
          </a:p>
        </p:txBody>
      </p:sp>
      <p:sp>
        <p:nvSpPr>
          <p:cNvPr id="22" name="Shape 18"/>
          <p:cNvSpPr/>
          <p:nvPr/>
        </p:nvSpPr>
        <p:spPr>
          <a:xfrm>
            <a:off x="4657576" y="2484834"/>
            <a:ext cx="3968651" cy="0"/>
          </a:xfrm>
          <a:prstGeom prst="line">
            <a:avLst/>
          </a:prstGeom>
          <a:noFill/>
          <a:ln w="9525">
            <a:solidFill>
              <a:srgbClr val="D1D9E0"/>
            </a:solidFill>
            <a:prstDash val="solid"/>
          </a:ln>
        </p:spPr>
      </p:sp>
      <p:sp>
        <p:nvSpPr>
          <p:cNvPr id="23" name="Text 19"/>
          <p:cNvSpPr/>
          <p:nvPr/>
        </p:nvSpPr>
        <p:spPr>
          <a:xfrm>
            <a:off x="4809976" y="2152501"/>
            <a:ext cx="176169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/rubber-duck</a:t>
            </a:r>
            <a:endParaRPr lang="en-US" sz="1400" dirty="0"/>
          </a:p>
        </p:txBody>
      </p:sp>
      <p:sp>
        <p:nvSpPr>
          <p:cNvPr id="24" name="Text 20"/>
          <p:cNvSpPr/>
          <p:nvPr/>
        </p:nvSpPr>
        <p:spPr>
          <a:xfrm>
            <a:off x="6841927" y="2162026"/>
            <a:ext cx="168396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Critique a plan or diff</a:t>
            </a:r>
            <a:endParaRPr lang="en-US" sz="1400" dirty="0"/>
          </a:p>
        </p:txBody>
      </p:sp>
      <p:sp>
        <p:nvSpPr>
          <p:cNvPr id="25" name="Shape 21"/>
          <p:cNvSpPr/>
          <p:nvPr/>
        </p:nvSpPr>
        <p:spPr>
          <a:xfrm>
            <a:off x="4657576" y="3111401"/>
            <a:ext cx="3968651" cy="0"/>
          </a:xfrm>
          <a:prstGeom prst="line">
            <a:avLst/>
          </a:prstGeom>
          <a:noFill/>
          <a:ln w="9525">
            <a:solidFill>
              <a:srgbClr val="D1D9E0"/>
            </a:solidFill>
            <a:prstDash val="solid"/>
          </a:ln>
        </p:spPr>
      </p:sp>
      <p:sp>
        <p:nvSpPr>
          <p:cNvPr id="26" name="Text 22"/>
          <p:cNvSpPr/>
          <p:nvPr/>
        </p:nvSpPr>
        <p:spPr>
          <a:xfrm>
            <a:off x="4809976" y="2685008"/>
            <a:ext cx="176169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/orchestrate</a:t>
            </a:r>
            <a:endParaRPr lang="en-US" sz="1400" dirty="0"/>
          </a:p>
        </p:txBody>
      </p:sp>
      <p:sp>
        <p:nvSpPr>
          <p:cNvPr id="27" name="Text 23"/>
          <p:cNvSpPr/>
          <p:nvPr/>
        </p:nvSpPr>
        <p:spPr>
          <a:xfrm>
            <a:off x="6841927" y="2591098"/>
            <a:ext cx="1683969"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Delegate to child sessions</a:t>
            </a:r>
            <a:endParaRPr lang="en-US" sz="1400" dirty="0"/>
          </a:p>
        </p:txBody>
      </p:sp>
      <p:sp>
        <p:nvSpPr>
          <p:cNvPr id="28" name="Shape 24"/>
          <p:cNvSpPr/>
          <p:nvPr/>
        </p:nvSpPr>
        <p:spPr>
          <a:xfrm>
            <a:off x="4657576" y="3737967"/>
            <a:ext cx="3968651" cy="0"/>
          </a:xfrm>
          <a:prstGeom prst="line">
            <a:avLst/>
          </a:prstGeom>
          <a:noFill/>
          <a:ln w="9525">
            <a:solidFill>
              <a:srgbClr val="D1D9E0"/>
            </a:solidFill>
            <a:prstDash val="solid"/>
          </a:ln>
        </p:spPr>
      </p:sp>
      <p:sp>
        <p:nvSpPr>
          <p:cNvPr id="29" name="Text 25"/>
          <p:cNvSpPr/>
          <p:nvPr/>
        </p:nvSpPr>
        <p:spPr>
          <a:xfrm>
            <a:off x="4809976" y="3311575"/>
            <a:ext cx="176169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/agent</a:t>
            </a:r>
            <a:endParaRPr lang="en-US" sz="1400" dirty="0"/>
          </a:p>
        </p:txBody>
      </p:sp>
      <p:sp>
        <p:nvSpPr>
          <p:cNvPr id="30" name="Text 26"/>
          <p:cNvSpPr/>
          <p:nvPr/>
        </p:nvSpPr>
        <p:spPr>
          <a:xfrm>
            <a:off x="6841927" y="3217664"/>
            <a:ext cx="1683969"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Switch custom agents</a:t>
            </a:r>
            <a:endParaRPr lang="en-US" sz="1400" dirty="0"/>
          </a:p>
        </p:txBody>
      </p:sp>
      <p:sp>
        <p:nvSpPr>
          <p:cNvPr id="31" name="Text 27"/>
          <p:cNvSpPr/>
          <p:nvPr/>
        </p:nvSpPr>
        <p:spPr>
          <a:xfrm>
            <a:off x="4809976" y="3844230"/>
            <a:ext cx="176169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/create-canvas</a:t>
            </a:r>
            <a:endParaRPr lang="en-US" sz="1400" dirty="0"/>
          </a:p>
        </p:txBody>
      </p:sp>
      <p:sp>
        <p:nvSpPr>
          <p:cNvPr id="32" name="Text 28"/>
          <p:cNvSpPr/>
          <p:nvPr/>
        </p:nvSpPr>
        <p:spPr>
          <a:xfrm>
            <a:off x="6841927" y="3853755"/>
            <a:ext cx="168396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Build a shared board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8"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From issue to verified fix</a:t>
            </a:r>
            <a:endParaRPr lang="en-US" sz="4000" dirty="0"/>
          </a:p>
        </p:txBody>
      </p:sp>
      <p:sp>
        <p:nvSpPr>
          <p:cNvPr id="11" name="Text 7"/>
          <p:cNvSpPr/>
          <p:nvPr/>
        </p:nvSpPr>
        <p:spPr>
          <a:xfrm>
            <a:off x="711101" y="332803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Plan a fix from issue #3</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Start from the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practice-empty-state-copy</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branch.</a:t>
            </a:r>
            <a:endParaRPr lang="en-US" sz="1650" dirty="0"/>
          </a:p>
        </p:txBody>
      </p:sp>
      <p:sp>
        <p:nvSpPr>
          <p:cNvPr id="9" name="Text 5"/>
          <p:cNvSpPr/>
          <p:nvPr/>
        </p:nvSpPr>
        <p:spPr>
          <a:xfrm>
            <a:off x="507950" y="2171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602615" y="2216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939701" y="2171700"/>
            <a:ext cx="2208455"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Create from the branch</a:t>
            </a:r>
            <a:endParaRPr lang="en-US" sz="1550" dirty="0"/>
          </a:p>
        </p:txBody>
      </p:sp>
      <p:sp>
        <p:nvSpPr>
          <p:cNvPr id="12" name="Text 8"/>
          <p:cNvSpPr/>
          <p:nvPr/>
        </p:nvSpPr>
        <p:spPr>
          <a:xfrm>
            <a:off x="939701" y="2419201"/>
            <a:ext cx="2208455" cy="198090"/>
          </a:xfrm>
          <a:prstGeom prst="rect">
            <a:avLst/>
          </a:prstGeom>
          <a:noFill/>
          <a:ln/>
        </p:spPr>
        <p:txBody>
          <a:bodyPr wrap="square" lIns="0" tIns="0" rIns="0" bIns="0" rtlCol="0" anchor="t"/>
          <a:lstStyle/>
          <a:p>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Create from</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&gt;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Branches</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13" name="Text 9"/>
          <p:cNvSpPr/>
          <p:nvPr/>
        </p:nvSpPr>
        <p:spPr>
          <a:xfrm>
            <a:off x="507950" y="2871192"/>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602615" y="291554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939701" y="2871192"/>
            <a:ext cx="2222421"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Attach it in Plan mode</a:t>
            </a:r>
            <a:endParaRPr lang="en-US" sz="1550" dirty="0"/>
          </a:p>
        </p:txBody>
      </p:sp>
      <p:sp>
        <p:nvSpPr>
          <p:cNvPr id="16" name="Text 12"/>
          <p:cNvSpPr/>
          <p:nvPr/>
        </p:nvSpPr>
        <p:spPr>
          <a:xfrm>
            <a:off x="939701" y="3118693"/>
            <a:ext cx="2222421" cy="207615"/>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Type </a:t>
            </a:r>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#3</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then ask for a plan.</a:t>
            </a:r>
            <a:endParaRPr lang="en-US" sz="1350" dirty="0"/>
          </a:p>
        </p:txBody>
      </p:sp>
      <p:sp>
        <p:nvSpPr>
          <p:cNvPr id="17" name="Text 13"/>
          <p:cNvSpPr/>
          <p:nvPr/>
        </p:nvSpPr>
        <p:spPr>
          <a:xfrm>
            <a:off x="507950" y="3580209"/>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602615" y="3624560"/>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939701" y="3580209"/>
            <a:ext cx="1944011"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Review the plan</a:t>
            </a:r>
            <a:endParaRPr lang="en-US" sz="1550" dirty="0"/>
          </a:p>
        </p:txBody>
      </p:sp>
      <p:sp>
        <p:nvSpPr>
          <p:cNvPr id="20" name="Text 16"/>
          <p:cNvSpPr/>
          <p:nvPr/>
        </p:nvSpPr>
        <p:spPr>
          <a:xfrm>
            <a:off x="939701" y="3827711"/>
            <a:ext cx="1944011"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Choose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Exit plan mode</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21" name="Text 17"/>
          <p:cNvSpPr/>
          <p:nvPr/>
        </p:nvSpPr>
        <p:spPr>
          <a:xfrm>
            <a:off x="3762077" y="2087761"/>
            <a:ext cx="4870400" cy="1767780"/>
          </a:xfrm>
          <a:prstGeom prst="roundRect">
            <a:avLst>
              <a:gd name="adj" fmla="val 431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2" name="Image 2" descr="Review plan box with the options Approve and implement this plan, Exit plan mode and I will prompt myself, and Suggest changes to the plan, next to the plan in the Plan tab"/>
          <p:cNvPicPr>
            <a:picLocks noChangeAspect="1"/>
          </p:cNvPicPr>
          <p:nvPr/>
        </p:nvPicPr>
        <p:blipFill>
          <a:blip r:embed="rId4"/>
          <a:stretch>
            <a:fillRect/>
          </a:stretch>
        </p:blipFill>
        <p:spPr>
          <a:xfrm>
            <a:off x="3809702" y="2135386"/>
            <a:ext cx="4775150" cy="16725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Capture a baseline, then compare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Know the current behavior before you change it.</a:t>
            </a:r>
            <a:endParaRPr lang="en-US" sz="1650" dirty="0"/>
          </a:p>
        </p:txBody>
      </p:sp>
      <p:sp>
        <p:nvSpPr>
          <p:cNvPr id="9" name="Text 5"/>
          <p:cNvSpPr/>
          <p:nvPr/>
        </p:nvSpPr>
        <p:spPr>
          <a:xfrm>
            <a:off x="507950" y="1603325"/>
            <a:ext cx="3886200" cy="171450"/>
          </a:xfrm>
          <a:prstGeom prst="rect">
            <a:avLst/>
          </a:prstGeom>
          <a:noFill/>
          <a:ln/>
        </p:spPr>
        <p:txBody>
          <a:bodyPr wrap="square" lIns="0" tIns="0" rIns="0" bIns="0" rtlCol="0" anchor="t"/>
          <a:lstStyle/>
          <a:p>
            <a:pPr algn="l" indent="0" marL="0">
              <a:buNone/>
            </a:pPr>
            <a:r>
              <a:rPr lang="en-US" sz="1150" b="1" dirty="0">
                <a:solidFill>
                  <a:srgbClr val="CF222E"/>
                </a:solidFill>
                <a:latin typeface="Arial" pitchFamily="34" charset="0"/>
                <a:ea typeface="Arial" pitchFamily="34" charset="-122"/>
                <a:cs typeface="Arial" pitchFamily="34" charset="-120"/>
              </a:rPr>
              <a:t>BEFORE: ZZZZ-NO-MATCH</a:t>
            </a:r>
            <a:endParaRPr lang="en-US" sz="1150" dirty="0"/>
          </a:p>
        </p:txBody>
      </p:sp>
      <p:sp>
        <p:nvSpPr>
          <p:cNvPr id="10" name="Text 6"/>
          <p:cNvSpPr/>
          <p:nvPr/>
        </p:nvSpPr>
        <p:spPr>
          <a:xfrm>
            <a:off x="511076" y="1885206"/>
            <a:ext cx="3803600" cy="2649141"/>
          </a:xfrm>
          <a:prstGeom prst="roundRect">
            <a:avLst>
              <a:gd name="adj" fmla="val 2876"/>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1" name="Image 2" descr="Book App preview in the browser tab with the search zzzz-no-match, 0 books shown, and the empty state No results, Try again"/>
          <p:cNvPicPr>
            <a:picLocks noChangeAspect="1"/>
          </p:cNvPicPr>
          <p:nvPr/>
        </p:nvPicPr>
        <p:blipFill>
          <a:blip r:embed="rId4"/>
          <a:stretch>
            <a:fillRect/>
          </a:stretch>
        </p:blipFill>
        <p:spPr>
          <a:xfrm>
            <a:off x="558701" y="1932831"/>
            <a:ext cx="3708350" cy="2553891"/>
          </a:xfrm>
          <a:prstGeom prst="rect">
            <a:avLst/>
          </a:prstGeom>
        </p:spPr>
      </p:pic>
      <p:sp>
        <p:nvSpPr>
          <p:cNvPr id="12" name="Text 7"/>
          <p:cNvSpPr/>
          <p:nvPr/>
        </p:nvSpPr>
        <p:spPr>
          <a:xfrm>
            <a:off x="4673501" y="2042368"/>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3" name="Text 8"/>
          <p:cNvSpPr/>
          <p:nvPr/>
        </p:nvSpPr>
        <p:spPr>
          <a:xfrm>
            <a:off x="4768166" y="208671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4" name="Text 9"/>
          <p:cNvSpPr/>
          <p:nvPr/>
        </p:nvSpPr>
        <p:spPr>
          <a:xfrm>
            <a:off x="5105251" y="2042368"/>
            <a:ext cx="2275400"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Run the app and search</a:t>
            </a:r>
            <a:endParaRPr lang="en-US" sz="1550" dirty="0"/>
          </a:p>
        </p:txBody>
      </p:sp>
      <p:sp>
        <p:nvSpPr>
          <p:cNvPr id="15" name="Text 10"/>
          <p:cNvSpPr/>
          <p:nvPr/>
        </p:nvSpPr>
        <p:spPr>
          <a:xfrm>
            <a:off x="5105251" y="2289870"/>
            <a:ext cx="227540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Only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No results. Try again.</a:t>
            </a:r>
            <a:endParaRPr lang="en-US" sz="1350" dirty="0"/>
          </a:p>
        </p:txBody>
      </p:sp>
      <p:sp>
        <p:nvSpPr>
          <p:cNvPr id="16" name="Text 11"/>
          <p:cNvSpPr/>
          <p:nvPr/>
        </p:nvSpPr>
        <p:spPr>
          <a:xfrm>
            <a:off x="4673501" y="274186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7" name="Text 12"/>
          <p:cNvSpPr/>
          <p:nvPr/>
        </p:nvSpPr>
        <p:spPr>
          <a:xfrm>
            <a:off x="4768166" y="278621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3"/>
          <p:cNvSpPr/>
          <p:nvPr/>
        </p:nvSpPr>
        <p:spPr>
          <a:xfrm>
            <a:off x="5105251" y="2741861"/>
            <a:ext cx="2714875" cy="241250"/>
          </a:xfrm>
          <a:prstGeom prst="rect">
            <a:avLst/>
          </a:prstGeom>
          <a:noFill/>
          <a:ln/>
        </p:spPr>
        <p:txBody>
          <a:bodyPr wrap="square" lIns="0" tIns="0" rIns="0" bIns="0" rtlCol="0" anchor="t"/>
          <a:lstStyle/>
          <a:p>
            <a:pPr algn="l" indent="0" marL="0">
              <a:lnSpc>
                <a:spcPts val="1750"/>
              </a:lnSpc>
              <a:buNone/>
            </a:pPr>
            <a:r>
              <a:rPr lang="en-US" sz="1550" dirty="0">
                <a:solidFill>
                  <a:srgbClr val="1F2328"/>
                </a:solidFill>
                <a:latin typeface="Arial" pitchFamily="34" charset="0"/>
                <a:ea typeface="Arial" pitchFamily="34" charset="-122"/>
                <a:cs typeface="Arial" pitchFamily="34" charset="-120"/>
              </a:rPr>
              <a:t>Send </a:t>
            </a:r>
            <a:pPr algn="l" indent="0" marL="0">
              <a:lnSpc>
                <a:spcPts val="1750"/>
              </a:lnSpc>
              <a:buNone/>
            </a:pPr>
            <a:r>
              <a:rPr lang="en-US" sz="1550" b="1" dirty="0">
                <a:solidFill>
                  <a:srgbClr val="0550AE"/>
                </a:solidFill>
                <a:latin typeface="Courier New" pitchFamily="34" charset="0"/>
                <a:ea typeface="Courier New" pitchFamily="34" charset="-122"/>
                <a:cs typeface="Courier New" pitchFamily="34" charset="-120"/>
              </a:rPr>
              <a:t>Implement the plan</a:t>
            </a:r>
            <a:endParaRPr lang="en-US" sz="1550" dirty="0"/>
          </a:p>
        </p:txBody>
      </p:sp>
      <p:sp>
        <p:nvSpPr>
          <p:cNvPr id="19" name="Text 14"/>
          <p:cNvSpPr/>
          <p:nvPr/>
        </p:nvSpPr>
        <p:spPr>
          <a:xfrm>
            <a:off x="5105251" y="3008412"/>
            <a:ext cx="271487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Inspect the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Changes</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tab.</a:t>
            </a:r>
            <a:endParaRPr lang="en-US" sz="1350" dirty="0"/>
          </a:p>
        </p:txBody>
      </p:sp>
      <p:sp>
        <p:nvSpPr>
          <p:cNvPr id="20" name="Text 15"/>
          <p:cNvSpPr/>
          <p:nvPr/>
        </p:nvSpPr>
        <p:spPr>
          <a:xfrm>
            <a:off x="4673501" y="3460403"/>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1" name="Text 16"/>
          <p:cNvSpPr/>
          <p:nvPr/>
        </p:nvSpPr>
        <p:spPr>
          <a:xfrm>
            <a:off x="4768166" y="350475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2" name="Text 17"/>
          <p:cNvSpPr/>
          <p:nvPr/>
        </p:nvSpPr>
        <p:spPr>
          <a:xfrm>
            <a:off x="5105251" y="3460403"/>
            <a:ext cx="3601263"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Reload and search again</a:t>
            </a:r>
            <a:endParaRPr lang="en-US" sz="1550" dirty="0"/>
          </a:p>
        </p:txBody>
      </p:sp>
      <p:sp>
        <p:nvSpPr>
          <p:cNvPr id="23" name="Text 18"/>
          <p:cNvSpPr/>
          <p:nvPr/>
        </p:nvSpPr>
        <p:spPr>
          <a:xfrm>
            <a:off x="5105251" y="3707904"/>
            <a:ext cx="3601263"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Now it suggests a new search, genre, or status.</a:t>
            </a:r>
            <a:endParaRPr lang="en-US" sz="1350" dirty="0"/>
          </a:p>
        </p:txBody>
      </p:sp>
    </p:spTree>
  </p:cSld>
  <p:clrMapOvr>
    <a:masterClrMapping/>
  </p:clrMapOvr>
</p:sld>
</file>

<file path=ppt/slides/slide13.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3">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02</ns1:t>
            </ns1:r>
            <ns1:endParaRPr lang="en-US" sz="1150" dirty="0"/>
          </ns1:p>
        </ns0:txBody>
      </ns0:sp>
      <ns0:pic>
        <ns0:nvPicPr>
          <ns0:cNvPr id="5" name="Image 1" descr="Open this chapter on GitHub">
            <ns1:hlinkClick ns3:id="rId3" tooltip="https://github.com/github/copilot-app-for-beginners/tree/main/02-sessions-worktrees-context"/>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INSPECT THE SESSION</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Ask the session what it did</ns1:t>
            </ns1:r>
            <ns1:endParaRPr lang="en-US" sz="2800" dirty="0"/>
          </ns1:p>
        </ns0:txBody>
      </ns0:sp>
      <ns0:sp>
        <ns0:nvSpPr>
          <ns0:cNvPr id="8" name="Text 4"/>
          <ns0:cNvSpPr/>
          <ns0:nvPr/>
        </ns0:nvSpPr>
        <ns0:spPr>
          <ns1:xfrm>
            <ns1:off x="511076" y="1937742"/>
            <ns1:ext cx="3956000" cy="1621780"/>
          </ns1:xfrm>
          <ns1:prstGeom prst="roundRect">
            <ns1:avLst>
              <ns1:gd name="adj" fmla="val 4699"/>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Chronicle standup report that lists this session's empty-state copy work under Done"/>
          <ns0:cNvPicPr>
            <ns1:picLocks noChangeAspect="1"/>
          </ns0:cNvPicPr>
          <ns0:nvPr/>
        </ns0:nvPicPr>
        <ns0:blipFill>
          <ns1:blip ns3:embed="rId4"/>
          <ns1:stretch>
            <ns1:fillRect/>
          </ns1:stretch>
        </ns0:blipFill>
        <ns0:spPr>
          <ns1:xfrm>
            <ns1:off x="558701" y="1985367"/>
            <ns1:ext cx="3860750" cy="1526530"/>
          </ns1:xfrm>
          <ns1:prstGeom prst="rect">
            <ns1:avLst/>
          </ns1:prstGeom>
        </ns0:spPr>
      </ns0:pic>
      <ns0:sp>
        <ns0:nvSpPr>
          <ns0:cNvPr id="10" name="Text 5"/>
          <ns0:cNvSpPr/>
          <ns0:nvPr/>
        </ns0:nvSpPr>
        <ns0:spPr>
          <ns1:xfrm>
            <ns1:off x="507950" y="4171057"/>
            <ns1:ext cx="4041648" cy="242590"/>
          </ns1:xfrm>
          <ns1:prstGeom prst="rect">
            <ns1:avLst/>
          </ns1:prstGeom>
          <ns1:noFill/>
          <ns1:ln/>
        </ns0:spPr>
        <ns0:txBody>
          <ns1:bodyPr wrap="square" lIns="0" tIns="0" rIns="0" bIns="0" rtlCol="0" anchor="t"/>
          <ns1:lstStyle/>
          <ns1:p>
            <ns1:pPr algn="l" indent="0" marL="0">
              <ns1:lnSpc>
                <ns1:spcPts val="1760"/>
              </ns1:lnSpc>
              <ns1:buNone/>
            </ns1:pPr>
            <ns1:r>
              <ns1:rPr lang="en-US" sz="1450" b="1" dirty="0">
                <ns1:solidFill>
                  <ns1:srgbClr val="0550AE"/>
                </ns1:solidFill>
                <ns1:latin typeface="Courier New" pitchFamily="34" charset="0"/>
                <ns1:ea typeface="Courier New" pitchFamily="34" charset="-122"/>
                <ns1:cs typeface="Courier New" pitchFamily="34" charset="-120"/>
              </ns1:rPr>
              <ns1:t>/chronicle standup</ns1:t>
            </ns1:r>
            <ns1:pPr algn="l" indent="0" marL="0">
              <ns1:lnSpc>
                <ns1:spcPts val="1760"/>
              </ns1:lnSpc>
              <ns1:buNone/>
            </ns1:pPr>
            <ns1:r>
              <ns1:rPr lang="en-US" sz="1450" dirty="0">
                <ns1:solidFill>
                  <ns1:srgbClr val="59636E"/>
                </ns1:solidFill>
                <ns1:latin typeface="Arial" pitchFamily="34" charset="0"/>
                <ns1:ea typeface="Arial" pitchFamily="34" charset="-122"/>
                <ns1:cs typeface="Arial" pitchFamily="34" charset="-120"/>
              </ns1:rPr>
              <ns1:t> recaps your last day.</ns1:t>
            </ns1:r>
            <ns1:endParaRPr lang="en-US" sz="1450" dirty="0"/>
          </ns1:p>
        </ns0:txBody>
      </ns0:sp>
      <ns0:sp>
        <ns0:nvSpPr>
          <ns0:cNvPr id="11" name="Text 6"/>
          <ns0:cNvSpPr/>
          <ns0:nvPr/>
        </ns0:nvSpPr>
        <ns0:spPr>
          <ns1:xfrm>
            <ns1:off x="4776341" y="1481882"/>
            <ns1:ext cx="3756571" cy="2533650"/>
          </ns1:xfrm>
          <ns1:prstGeom prst="roundRect">
            <ns1:avLst>
              <ns1:gd name="adj" fmla="val 300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2" name="Image 3" descr="Usage popup with plan usage, session AI credits, token totals, and the expanded Context breakdown"/>
          <ns0:cNvPicPr>
            <ns1:picLocks noChangeAspect="1"/>
          </ns0:cNvPicPr>
          <ns0:nvPr/>
        </ns0:nvPicPr>
        <ns0:blipFill>
          <ns1:blip ns3:embed="rId5"/>
          <ns1:stretch>
            <ns1:fillRect/>
          </ns1:stretch>
        </ns0:blipFill>
        <ns0:spPr>
          <ns1:xfrm>
            <ns1:off x="4823966" y="1529507"/>
            <ns1:ext cx="3661321" cy="2438400"/>
          </ns1:xfrm>
          <ns1:prstGeom prst="rect">
            <ns1:avLst/>
          </ns1:prstGeom>
        </ns0:spPr>
      </ns0:pic>
      <ns0:sp>
        <ns0:nvSpPr>
          <ns0:cNvPr id="13" name="Text 7"/>
          <ns0:cNvSpPr/>
          <ns0:nvPr/>
        </ns0:nvSpPr>
        <ns0:spPr>
          <ns1:xfrm>
            <ns1:off x="4673501" y="4171057"/>
            <ns1:ext cx="4041648" cy="242590"/>
          </ns1:xfrm>
          <ns1:prstGeom prst="rect">
            <ns1:avLst/>
          </ns1:prstGeom>
          <ns1:noFill/>
          <ns1:ln/>
        </ns0:spPr>
        <ns0:txBody>
          <ns1:bodyPr wrap="square" lIns="0" tIns="0" rIns="0" bIns="0" rtlCol="0" anchor="t"/>
          <ns1:lstStyle/>
          <ns1:p>
            <ns1:pPr algn="l" indent="0" marL="0">
              <ns1:lnSpc>
                <ns1:spcPts val="1760"/>
              </ns1:lnSpc>
              <ns1:buNone/>
            </ns1:pPr>
            <ns1:pPr algn="l" indent="0" marL="0">
              <ns1:lnSpc>
                <ns1:spcPts val="1760"/>
              </ns1:lnSpc>
              <ns1:buNone/>
            </ns1:pPr>
            <ns1:r>
              <ns1:rPr lang="en-US" sz="1450" b="1" dirty="0">
                <ns1:solidFill>
                  <ns1:srgbClr val="0550AE"/>
                </ns1:solidFill>
                <ns1:latin typeface="Courier New" pitchFamily="34" charset="0"/>
                <ns1:ea typeface="Courier New" pitchFamily="34" charset="-122"/>
                <ns1:cs typeface="Courier New" pitchFamily="34" charset="-120"/>
              </ns1:rPr>
              <ns1:t>/context</ns1:t>
            </ns1:r>
            <ns1:r>
              <ns1:rPr lang="en-US" sz="1450" dirty="0">
                <ns1:solidFill>
                  <ns1:srgbClr val="59636E"/>
                </ns1:solidFill>
                <ns1:latin typeface="Arial" pitchFamily="34" charset="0"/>
                <ns1:ea typeface="Arial" pitchFamily="34" charset="-122"/>
                <ns1:cs typeface="Arial" pitchFamily="34" charset="-120"/>
              </ns1:rPr>
              <ns1:t xml:space="preserve"> opens usage details.</ns1:t>
            </ns1:r>
            <ns1:endParaRPr lang="en-US" sz="1450" dirty="0"/>
          </ns1:p>
        </ns0:txBody>
      </ns0:sp>
    </ns0:spTree>
  </ns0:cSld>
  <ns0:clrMapOvr>
    <ns1:masterClrMapping/>
  </ns0:clrMapOvr>
</ns0:sld>
</file>

<file path=ppt/slides/slide14.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4">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02</ns1:t>
            </ns1:r>
            <ns1:endParaRPr lang="en-US" sz="1150" dirty="0"/>
          </ns1:p>
        </ns0:txBody>
      </ns0:sp>
      <ns0:pic>
        <ns0:nvPicPr>
          <ns0:cNvPr id="5" name="Image 1" descr="Open this chapter on GitHub">
            <ns1:hlinkClick ns3:id="rId3" tooltip="https://github.com/github/copilot-app-for-beginners/tree/main/02-sessions-worktrees-context"/>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YOUR TURN</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Add a light and dark theme</ns1:t>
            </ns1:r>
            <ns1:endParaRPr lang="en-US" sz="2800" dirty="0"/>
          </ns1:p>
        </ns0:txBody>
      </ns0:sp>
      <ns0:sp>
        <ns0:nvSpPr>
          <ns0:cNvPr id="8" name="Text 4"/>
          <ns0:cNvSpPr/>
          <ns0:nvPr/>
        </ns0:nvSpPr>
        <ns0:spPr>
          <ns1:xfrm>
            <ns1:off x="507950" y="1104751"/>
            <ns1:ext cx="8161020" cy="27310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Use </ns1:t>
            </ns1:r>
            <ns1:pPr algn="l" indent="0" marL="0">
              <ns1:lnSpc>
                <ns1:spcPts val="2000"/>
              </ns1:lnSpc>
              <ns1:spcBef>
                <ns1:spcPts val="500"/>
              </ns1:spcBef>
              <ns1:buNone/>
            </ns1:pPr>
            <ns1:r>
              <ns1:rPr lang="en-US" sz="1650" b="1" dirty="0">
                <ns1:solidFill>
                  <ns1:srgbClr val="0550AE"/>
                </ns1:solidFill>
                <ns1:latin typeface="Courier New" pitchFamily="34" charset="0"/>
                <ns1:ea typeface="Courier New" pitchFamily="34" charset="-122"/>
                <ns1:cs typeface="Courier New" pitchFamily="34" charset="-120"/>
              </ns1:rPr>
              <ns1:t>@</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to attach the code this time. Keep the work in its worktree.</ns1:t>
            </ns1:r>
            <ns1:endParaRPr lang="en-US" sz="1650" dirty="0"/>
          </ns1:p>
        </ns0:txBody>
      </ns0:sp>
      <ns0:sp>
        <ns0:nvSpPr>
          <ns0:cNvPr id="9" name="Text 5"/>
          <ns0:cNvSpPr/>
          <ns0:nvPr/>
        </ns0:nvSpPr>
        <ns0:spPr>
          <ns1:xfrm>
            <ns1:off x="507950" y="1766143"/>
            <ns1:ext cx="5334000" cy="2690515"/>
          </ns1:xfrm>
          <ns1:prstGeom prst="roundRect">
            <ns1:avLst>
              <ns1:gd name="adj" fmla="val 4720"/>
            </ns1:avLst>
          </ns1:prstGeom>
          <ns1:solidFill>
            <ns1:srgbClr val="FFFFFF"/>
          </ns1:solidFill>
          <ns1:ln w="9525">
            <ns1:solidFill>
              <ns1:srgbClr val="FFC49B"/>
            </ns1:solidFill>
          </ns1:ln>
        </ns0:spPr>
        <ns0:txBody>
          <ns1:bodyPr wrap="square" rtlCol="0" anchor="ctr"/>
          <ns1:lstStyle/>
          <ns1:p>
            <ns1:pPr indent="0" marL="0">
              <ns1:buNone/>
            </ns1:pPr>
            <ns1:endParaRPr lang="en-US" dirty="0"/>
          </ns1:p>
        </ns0:txBody>
      </ns0:sp>
      <ns0:sp>
        <ns0:nvSpPr>
          <ns0:cNvPr id="10" name="Shape 6"/>
          <ns0:cNvSpPr/>
          <ns0:nvPr/>
        </ns0:nvSpPr>
        <ns0:spPr>
          <ns1:xfrm>
            <ns1:off x="517475" y="2461171"/>
            <ns1:ext cx="5314950" cy="0"/>
          </ns1:xfrm>
          <ns1:prstGeom prst="line">
            <ns1:avLst/>
          </ns1:prstGeom>
          <ns1:noFill/>
          <ns1:ln w="9525">
            <ns1:solidFill>
              <ns1:srgbClr val="D1D9E0"/>
            </ns1:solidFill>
            <ns1:prstDash val="solid"/>
          </ns1:ln>
        </ns0:spPr>
      </ns0:sp>
      <ns0:sp>
        <ns0:nvSpPr>
          <ns0:cNvPr id="11" name="Text 7"/>
          <ns0:cNvSpPr/>
          <ns0:nvPr/>
        </ns0:nvSpPr>
        <ns0:spPr>
          <ns1:xfrm>
            <ns1:off x="695176" y="1976289"/>
            <ns1:ext cx="279350" cy="279350"/>
          </ns1:xfrm>
          <ns1:prstGeom prst="roundRect">
            <ns1:avLst>
              <ns1:gd name="adj" fmla="val 327331"/>
            </ns1:avLst>
          </ns1:prstGeom>
          <ns1:solidFill>
            <ns1:srgbClr val="BC4C00"/>
          </ns1:solidFill>
          <ns1:ln/>
        </ns0:spPr>
        <ns0:txBody>
          <ns1:bodyPr wrap="square" rtlCol="0" anchor="ctr"/>
          <ns1:lstStyle/>
          <ns1:p>
            <ns1:pPr indent="0" marL="0">
              <ns1:buNone/>
            </ns1:pPr>
            <ns1:endParaRPr lang="en-US" dirty="0"/>
          </ns1:p>
        </ns0:txBody>
      </ns0:sp>
      <ns0:sp>
        <ns0:nvSpPr>
          <ns0:cNvPr id="12" name="Text 8"/>
          <ns0:cNvSpPr/>
          <ns0:nvPr/>
        </ns0:nvSpPr>
        <ns0:spPr>
          <ns1:xfrm>
            <ns1:off x="789841" y="202063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3" name="Text 9"/>
          <ns0:cNvSpPr/>
          <ns0:nvPr/>
        </ns0:nvSpPr>
        <ns0:spPr>
          <ns1:xfrm>
            <ns1:off x="1152227" y="2008733"/>
            <ns1:ext cx="194310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Start from main</ns1:t>
            </ns1:r>
            <ns1:endParaRPr lang="en-US" sz="1500" dirty="0"/>
          </ns1:p>
        </ns0:txBody>
      </ns0:sp>
      <ns0:sp>
        <ns0:nvSpPr>
          <ns0:cNvPr id="14" name="Text 10"/>
          <ns0:cNvSpPr/>
          <ns0:nvPr/>
        </ns0:nvSpPr>
        <ns0:spPr>
          <ns1:xfrm>
            <ns1:off x="3234928" y="1889968"/>
            <ns1:ext cx="2468192" cy="45214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Create from main. Check usage with /context.</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b="1" dirty="0">
                <ns1:solidFill>
                  <ns1:srgbClr val="0550AE"/>
                </ns1:solidFill>
                <ns1:latin typeface="Courier New" pitchFamily="34" charset="0"/>
                <ns1:ea typeface="Courier New" pitchFamily="34" charset="-122"/>
                <ns1:cs typeface="Courier New" pitchFamily="34" charset="-120"/>
              </ns1:rPr>
              <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b="1" dirty="0">
                <ns1:solidFill>
                  <ns1:srgbClr val="0550AE"/>
                </ns1:solidFill>
                <ns1:latin typeface="Courier New" pitchFamily="34" charset="0"/>
                <ns1:ea typeface="Courier New" pitchFamily="34" charset="-122"/>
                <ns1:cs typeface="Courier New" pitchFamily="34" charset="-120"/>
              </ns1:rPr>
              <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
        <ns0:nvSpPr>
          <ns0:cNvPr id="15" name="Shape 11"/>
          <ns0:cNvSpPr/>
          <ns0:nvPr/>
        </ns0:nvSpPr>
        <ns0:spPr>
          <ns1:xfrm>
            <ns1:off x="517475" y="3113336"/>
            <ns1:ext cx="5314950" cy="0"/>
          </ns1:xfrm>
          <ns1:prstGeom prst="line">
            <ns1:avLst/>
          </ns1:prstGeom>
          <ns1:noFill/>
          <ns1:ln w="9525">
            <ns1:solidFill>
              <ns1:srgbClr val="D1D9E0"/>
            </ns1:solidFill>
            <ns1:prstDash val="solid"/>
          </ns1:ln>
        </ns0:spPr>
      </ns0:sp>
      <ns0:sp>
        <ns0:nvSpPr>
          <ns0:cNvPr id="16" name="Text 12"/>
          <ns0:cNvSpPr/>
          <ns0:nvPr/>
        </ns0:nvSpPr>
        <ns0:spPr>
          <ns1:xfrm>
            <ns1:off x="695176" y="2647504"/>
            <ns1:ext cx="279350" cy="279350"/>
          </ns1:xfrm>
          <ns1:prstGeom prst="roundRect">
            <ns1:avLst>
              <ns1:gd name="adj" fmla="val 327331"/>
            </ns1:avLst>
          </ns1:prstGeom>
          <ns1:solidFill>
            <ns1:srgbClr val="BC4C00"/>
          </ns1:solidFill>
          <ns1:ln/>
        </ns0:spPr>
        <ns0:txBody>
          <ns1:bodyPr wrap="square" rtlCol="0" anchor="ctr"/>
          <ns1:lstStyle/>
          <ns1:p>
            <ns1:pPr indent="0" marL="0">
              <ns1:buNone/>
            </ns1:pPr>
            <ns1:endParaRPr lang="en-US" dirty="0"/>
          </ns1:p>
        </ns0:txBody>
      </ns0:sp>
      <ns0:sp>
        <ns0:nvSpPr>
          <ns0:cNvPr id="17" name="Text 13"/>
          <ns0:cNvSpPr/>
          <ns0:nvPr/>
        </ns0:nvSpPr>
        <ns0:spPr>
          <ns1:xfrm>
            <ns1:off x="789841" y="269185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8" name="Text 14"/>
          <ns0:cNvSpPr/>
          <ns0:nvPr/>
        </ns0:nvSpPr>
        <ns0:spPr>
          <ns1:xfrm>
            <ns1:off x="1152227" y="2679948"/>
            <ns1:ext cx="194310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Plan with @src</ns1:t>
            </ns1:r>
            <ns1:endParaRPr lang="en-US" sz="1500" dirty="0"/>
          </ns1:p>
        </ns0:txBody>
      </ns0:sp>
      <ns0:sp>
        <ns0:nvSpPr>
          <ns0:cNvPr id="19" name="Text 15"/>
          <ns0:cNvSpPr/>
          <ns0:nvPr/>
        </ns0:nvSpPr>
        <ns0:spPr>
          <ns1:xfrm>
            <ns1:off x="3234928" y="2580233"/>
            <ns1:ext cx="2468192" cy="41404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Accessible toggle, readable in both themes.</ns1:t>
            </ns1:r>
            <ns1:endParaRPr lang="en-US" sz="1400" dirty="0"/>
          </ns1:p>
        </ns0:txBody>
      </ns0:sp>
      <ns0:sp>
        <ns0:nvSpPr>
          <ns0:cNvPr id="20" name="Shape 16"/>
          <ns0:cNvSpPr/>
          <ns0:nvPr/>
        </ns0:nvSpPr>
        <ns0:spPr>
          <ns1:xfrm>
            <ns1:off x="517475" y="3780681"/>
            <ns1:ext cx="5314950" cy="0"/>
          </ns1:xfrm>
          <ns1:prstGeom prst="line">
            <ns1:avLst/>
          </ns1:prstGeom>
          <ns1:noFill/>
          <ns1:ln w="9525">
            <ns1:solidFill>
              <ns1:srgbClr val="D1D9E0"/>
            </ns1:solidFill>
            <ns1:prstDash val="solid"/>
          </ns1:ln>
        </ns0:spPr>
      </ns0:sp>
      <ns0:sp>
        <ns0:nvSpPr>
          <ns0:cNvPr id="21" name="Text 17"/>
          <ns0:cNvSpPr/>
          <ns0:nvPr/>
        </ns0:nvSpPr>
        <ns0:spPr>
          <ns1:xfrm>
            <ns1:off x="695176" y="3307259"/>
            <ns1:ext cx="279350" cy="279350"/>
          </ns1:xfrm>
          <ns1:prstGeom prst="roundRect">
            <ns1:avLst>
              <ns1:gd name="adj" fmla="val 327331"/>
            </ns1:avLst>
          </ns1:prstGeom>
          <ns1:solidFill>
            <ns1:srgbClr val="BC4C00"/>
          </ns1:solidFill>
          <ns1:ln/>
        </ns0:spPr>
        <ns0:txBody>
          <ns1:bodyPr wrap="square" rtlCol="0" anchor="ctr"/>
          <ns1:lstStyle/>
          <ns1:p>
            <ns1:pPr indent="0" marL="0">
              <ns1:buNone/>
            </ns1:pPr>
            <ns1:endParaRPr lang="en-US" dirty="0"/>
          </ns1:p>
        </ns0:txBody>
      </ns0:sp>
      <ns0:sp>
        <ns0:nvSpPr>
          <ns0:cNvPr id="22" name="Text 18"/>
          <ns0:cNvSpPr/>
          <ns0:nvPr/>
        </ns0:nvSpPr>
        <ns0:spPr>
          <ns1:xfrm>
            <ns1:off x="789841" y="335160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3" name="Text 19"/>
          <ns0:cNvSpPr/>
          <ns0:nvPr/>
        </ns0:nvSpPr>
        <ns0:spPr>
          <ns1:xfrm>
            <ns1:off x="1152227" y="3232398"/>
            <ns1:ext cx="1943100" cy="42922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Implement and inspect</ns1:t>
            </ns1:r>
            <ns1:endParaRPr lang="en-US" sz="1500" dirty="0"/>
          </ns1:p>
        </ns0:txBody>
      </ns0:sp>
      <ns0:sp>
        <ns0:nvSpPr>
          <ns0:cNvPr id="24" name="Text 20"/>
          <ns0:cNvSpPr/>
          <ns0:nvPr/>
        </ns0:nvSpPr>
        <ns0:spPr>
          <ns1:xfrm>
            <ns1:off x="3234928" y="3239988"/>
            <ns1:ext cx="2468192" cy="41404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Check the diff and both themes.</ns1:t>
            </ns1:r>
            <ns1:endParaRPr lang="en-US" sz="1400" dirty="0"/>
          </ns1:p>
        </ns0:txBody>
      </ns0:sp>
      <ns0:sp>
        <ns0:nvSpPr>
          <ns0:cNvPr id="25" name="Text 21"/>
          <ns0:cNvSpPr/>
          <ns0:nvPr/>
        </ns0:nvSpPr>
        <ns0:spPr>
          <ns1:xfrm>
            <ns1:off x="695176" y="3976539"/>
            <ns1:ext cx="279350" cy="279350"/>
          </ns1:xfrm>
          <ns1:prstGeom prst="roundRect">
            <ns1:avLst>
              <ns1:gd name="adj" fmla="val 327331"/>
            </ns1:avLst>
          </ns1:prstGeom>
          <ns1:solidFill>
            <ns1:srgbClr val="BC4C00"/>
          </ns1:solidFill>
          <ns1:ln/>
        </ns0:spPr>
        <ns0:txBody>
          <ns1:bodyPr wrap="square" rtlCol="0" anchor="ctr"/>
          <ns1:lstStyle/>
          <ns1:p>
            <ns1:pPr indent="0" marL="0">
              <ns1:buNone/>
            </ns1:pPr>
            <ns1:endParaRPr lang="en-US" dirty="0"/>
          </ns1:p>
        </ns0:txBody>
      </ns0:sp>
      <ns0:sp>
        <ns0:nvSpPr>
          <ns0:cNvPr id="26" name="Text 22"/>
          <ns0:cNvSpPr/>
          <ns0:nvPr/>
        </ns0:nvSpPr>
        <ns0:spPr>
          <ns1:xfrm>
            <ns1:off x="789841" y="402088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7" name="Text 23"/>
          <ns0:cNvSpPr/>
          <ns0:nvPr/>
        </ns0:nvSpPr>
        <ns0:spPr>
          <ns1:xfrm>
            <ns1:off x="1152227" y="4008983"/>
            <ns1:ext cx="194310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Validate and recap</ns1:t>
            </ns1:r>
            <ns1:endParaRPr lang="en-US" sz="1500" dirty="0"/>
          </ns1:p>
        </ns0:txBody>
      </ns0:sp>
      <ns0:sp>
        <ns0:nvSpPr>
          <ns0:cNvPr id="28" name="Text 24"/>
          <ns0:cNvSpPr/>
          <ns0:nvPr/>
        </ns0:nvSpPr>
        <ns0:spPr>
          <ns1:xfrm>
            <ns1:off x="3234928" y="3899743"/>
            <ns1:ext cx="2468192" cy="43309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Tests, build, then </ns1:t>
            </ns1:r>
            <ns1:pPr algn="l" indent="0" marL="0">
              <ns1:lnSpc>
                <ns1:spcPts val="1630"/>
              </ns1:lnSpc>
              <ns1:buNone/>
            </ns1:pPr>
            <ns1:r>
              <ns1:rPr lang="en-US" sz="1400" b="1" dirty="0">
                <ns1:solidFill>
                  <ns1:srgbClr val="0550AE"/>
                </ns1:solidFill>
                <ns1:latin typeface="Courier New" pitchFamily="34" charset="0"/>
                <ns1:ea typeface="Courier New" pitchFamily="34" charset="-122"/>
                <ns1:cs typeface="Courier New" pitchFamily="34" charset="-120"/>
              </ns1:rPr>
              <ns1:t>/chronicle standup</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ns1:t>
            </ns1:r>
            <ns1:endParaRPr lang="en-US" sz="1400" dirty="0"/>
          </ns1:p>
        </ns0:txBody>
      </ns0:sp>
      <ns0:sp>
        <ns0:nvSpPr>
          <ns0:cNvPr id="29" name="Text 25"/>
          <ns0:cNvSpPr/>
          <ns0:nvPr/>
        </ns0:nvSpPr>
        <ns0:spPr>
          <ns1:xfrm>
            <ns1:off x="6045101" y="1766143"/>
            <ns1:ext cx="2590800" cy="2690515"/>
          </ns1:xfrm>
          <ns1:prstGeom prst="roundRect">
            <ns1:avLst>
              <ns1:gd name="adj" fmla="val 4902"/>
            </ns1:avLst>
          </ns1:prstGeom>
          <ns1:solidFill>
            <ns1:srgbClr val="FFFFFF"/>
          </ns1:solidFill>
          <ns1:ln w="9525">
            <ns1:solidFill>
              <ns1:srgbClr val="FFC49B"/>
            </ns1:solidFill>
          </ns1:ln>
        </ns0:spPr>
        <ns0:txBody>
          <ns1:bodyPr wrap="square" rtlCol="0" anchor="ctr"/>
          <ns1:lstStyle/>
          <ns1:p>
            <ns1:pPr indent="0" marL="0">
              <ns1:buNone/>
            </ns1:pPr>
            <ns1:endParaRPr lang="en-US" dirty="0"/>
          </ns1:p>
        </ns0:txBody>
      </ns0:sp>
      <ns0:sp>
        <ns0:nvSpPr>
          <ns0:cNvPr id="30" name="Text 26"/>
          <ns0:cNvSpPr/>
          <ns0:nvPr/>
        </ns0:nvSpPr>
        <ns0:spPr>
          <ns1:xfrm>
            <ns1:off x="6232327" y="1953369"/>
            <ns1:ext cx="381000" cy="381000"/>
          </ns1:xfrm>
          <ns1:prstGeom prst="roundRect">
            <ns1:avLst>
              <ns1:gd name="adj" fmla="val 23333"/>
            </ns1:avLst>
          </ns1:prstGeom>
          <ns1:solidFill>
            <ns1:srgbClr val="FFF1E5"/>
          </ns1:solidFill>
          <ns1:ln/>
        </ns0:spPr>
        <ns0:txBody>
          <ns1:bodyPr wrap="square" rtlCol="0" anchor="ctr"/>
          <ns1:lstStyle/>
          <ns1:p>
            <ns1:pPr indent="0" marL="0">
              <ns1:buNone/>
            </ns1:pPr>
            <ns1:endParaRPr lang="en-US" dirty="0"/>
          </ns1:p>
        </ns0:txBody>
      </ns0:sp>
      <ns0:pic>
        <ns0:nvPicPr>
          <ns0:cNvPr id="31"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6314926" y="2035969"/>
            <ns1:ext cx="215801" cy="215801"/>
          </ns1:xfrm>
          <ns1:prstGeom prst="rect">
            <ns1:avLst/>
          </ns1:prstGeom>
        </ns0:spPr>
      </ns0:pic>
      <ns0:sp>
        <ns0:nvSpPr>
          <ns0:cNvPr id="32" name="Text 27"/>
          <ns0:cNvSpPr/>
          <ns0:nvPr/>
        </ns0:nvSpPr>
        <ns0:spPr>
          <ns1:xfrm>
            <ns1:off x="6727627" y="2029569"/>
            <ns1:ext cx="867564"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Success</ns1:t>
            </ns1:r>
            <ns1:endParaRPr lang="en-US" sz="1650" dirty="0"/>
          </ns1:p>
        </ns0:txBody>
      </ns0:sp>
      <ns0:sp>
        <ns0:nvSpPr>
          <ns0:cNvPr id="33" name="Text 28"/>
          <ns0:cNvSpPr/>
          <ns0:nvPr/>
        </ns0:nvSpPr>
        <ns0:spPr>
          <ns1:xfrm>
            <ns1:off x="6232327" y="2410569"/>
            <ns1:ext cx="2260675" cy="867966"/>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You can name the branch, the context you attached, and your evidence. </ns1:t>
            </ns1:r>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main</ns1:t>
            </ns1:r>
            <ns1:pPr algn="l" indent="0" marL="0">
              <ns1:lnSpc>
                <ns1:spcPts val="1690"/>
              </ns1:lnSpc>
              <ns1:buNone/>
            </ns1:pPr>
            <ns1:r>
              <ns1:rPr lang="en-US" sz="1400" b="1" dirty="0">
                <ns1:solidFill>
                  <ns1:srgbClr val="59636E"/>
                </ns1:solidFill>
                <ns1:latin typeface="Arial" pitchFamily="34" charset="0"/>
                <ns1:ea typeface="Arial" pitchFamily="34" charset="-122"/>
                <ns1:cs typeface="Arial" pitchFamily="34" charset="-120"/>
              </ns1:rPr>
              <ns1:t> does not change.</ns1:t>
            </ns1:r>
            <ns1:endParaRPr lang="en-US" sz="1400" dirty="0"/>
          </ns1:p>
        </ns0:txBody>
      </ns0:sp>
    </ns0:spTree>
  </ns0:cSld>
  <ns0:clrMapOvr>
    <ns1:masterClrMapping/>
  </ns0:clrMapOvr>
</ns0: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606451"/>
            <a:ext cx="3219322" cy="64784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Worktrees keep each session's changes away from your main checkout.</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They isolate files and branches, not ports or databases.</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0040"/>
            <a:ext cx="3219322" cy="441424"/>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Use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and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to attach only the context that helps.</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Capture a baseline before a change, then compare against it.</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2-sessions-worktrees-context" history="1" highlightClick="0" endSnd="0">
                  <a:extLst>
                    <a:ext uri="{A12FA001-AC4F-418D-AE19-62706E023703}">
                      <ahyp:hlinkClr xmlns:ahyp="http://schemas.microsoft.com/office/drawing/2018/hyperlinkcolor" val="tx"/>
                    </a:ext>
                  </a:extLst>
                </a:hlinkClick>
              </a:rPr>
              <a:t>Open Chapter 02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03</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3-development-workflows" history="1" highlightClick="0" endSnd="0">
                  <a:extLst>
                    <a:ext uri="{A12FA001-AC4F-418D-AE19-62706E023703}">
                      <ahyp:hlinkClr xmlns:ahyp="http://schemas.microsoft.com/office/drawing/2018/hyperlinkcolor" val="tx"/>
                    </a:ext>
                  </a:extLst>
                </a:hlinkClick>
              </a:rPr>
              <a:t>Development and GitHub Workflows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02: Sessions, Worktrees, and Context</dc:title>
  <dc:subject>PptxGenJS Presentation</dc:subject>
  <dc:creator>GitHub Copilot app for Beginners</dc:creator>
  <cp:lastModifiedBy>GitHub Copilot app for Beginners</cp:lastModifiedBy>
  <cp:revision>1</cp:revision>
  <dcterms:created xsi:type="dcterms:W3CDTF">2026-10-06T21:17:28Z</dcterms:created>
  <dcterms:modified xsi:type="dcterms:W3CDTF">2026-10-06T21:17:28Z</dcterms:modified>
</cp:coreProperties>
</file>