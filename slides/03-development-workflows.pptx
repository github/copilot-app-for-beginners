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puts the app, sessions, worktrees, and context together into two connected loops. The inner loop happens on your machine. The outer loop happens on GitHub. The app connects both, and you stay responsible for the evidence and for what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Inner loop on your machine,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musician does not keep the first take just because it is finished. They record, listen, adjust, and record again. That is the inner loop: make a change, then inspect the evidence. A finished take still moves through production: the producer tracks the brief, feedback, quality checks, and final approval. That is the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inner loop is fast and local: understand, change, inspect the diff, run tests and the build, preview, and repeat. The outer loop moves validated work through GitHub: issue, pull request, feedback, and checks. The diagram puts human judgment between them and over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confident response from Copilot is not the same as validated software. These are the four evidence surfaces: the diff in the Changes tab, test and build output in the Terminal tab, the running app in the Browser tab, and continuous integration checks on the pull request. A change is ready only when all of them agree with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inner loop,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review panel and its Terminal tab. Install dependencies, run the tests once with the run flag so Vitest exits, and run the build. You should see four passing tests. The repository file .github/copilot-instructions.md tells Copilot about the sample app and its validation commands, so you can also ask Copilot to summarize the test framework and build tool. Dependencies are not shared between worktrees. When Copilot gives you a Bash or PowerShell snippet, you can copy it into the Terminal tab, or select the Run button next to the snippet to run it in the session terminal. The terminal reuses the existing shell, so the working folder and environment carry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02 you attached an issue for context. Now use that as the start of a full inner loop. Start from the practice branch and attach issue 2 in Plan mode with the prompt: use the attached issue as the source of truth, review samples/book-app-web/src, identify the root cause, and create a short fix and validation plan. The plan should connect the statistics to the books shown after filtering. Select Exit plan mode and I will prompt myself; the mode returns to Interactive. Ask Copilot to implement the plan, keep the fix small, explain the root cause, and run the relevant tests. Then inspect the diff. If it is not focused, ask Copilot to revise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Copilot already ran the tests and build, review its output. Otherwise run them, start the dev server, and open the Local URL in a Browser tab. Leave search empty, choose Fantasy and Unread. Only The Night Circus should appear and the unread count should be 1. With the bug, the count stays at 5 because stats use the full book list. Selecting Unread alone would not reveal the bug, since all five unread books would still be visible. That completes one inner-loop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regression test proves the bug would fail before the fix and pass after it. Inspect the test in Changes and confirm it checks visible filtered results rather than weakening an expectation. Then run tests and build again. Optionally, with tests in place, refactor filterBooks into small helpers. Then ask the rubber duck agent to critique the session. It uses a different AI model from your session, and Copilot uses it only when a suitable critic model is available. If the command is unavailable, choose a different model or send the same request without the slash command. Address any real gap before you open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and Polish is optional. Use Create from to start a session on the practice-card-polish branch, run the app, and open it in the Browser tab. Turn on Pick and Polish and select a book card. An article.book-card attachment appears in the prompt box. Ask for a small spacing and hierarchy improvement that keeps the design and accessible text. The attachment shows that Copilot got context from the rendered page. Finish with the same diff, test, build, and browser evidence as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outer loop: start from a GitHub issue, implement and validate in a session, review the diff and evidence, open and review a pull request, respond to feedback and failing checks, and merge only when the diff, local evidence, and checks agree. The approval gates in the diagram are where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Issues and Pull requests views list GitHub work that involves you. Select Issues and stay on Assigned to me. Select the filter icon, choose query mode, and enter repo:OWNER/copilot-app-for-beginners, replacing OWNER with your GitHub username. The query can also include state:open assignee:@me. Do the same in Pull requests, where state:open author:@me finds your open practice PRs. Each view has its own query. The repository picker has been replaced by query filtering.</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Make search case-insensitive issue in the Issues view and read it. The issue has a New session button, but it starts from main, where search already works. So use Create from and pick the practice-search-case-bug branch. Attach issue 1 in Plan mode, review the plan, exit plan mode, and implement it with a focused regression test. Run the inner loop, including a browser check that hobbit and HOBBIT return the same result. Ask Copilot to draft a pull request summary that includes only validation you actually saw. Then select Create PR at the top of the session. You can open it above the prompt box or in the Pull requests view. Do not merge it; main already has the correct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Pull requests in the sidebar; the practice PRs are on Authored by me. For the review comment: open Improve empty-state copy and select New session at the top of the pull request. Ask Copilot to address the comment with the smallest useful change. Inspect the diff, ask Copilot to commit and push, and confirm the update on the pull request. For the failing check: open Failing stats check practice and select New session. The session's PR tab has a Fix failing checks button, but this exercise uses your own prompt so you can see and steer each step. The fix should restore favorite counting for read and unread favorites. Validate locally, commit and push, and confirm the Book app web check passes on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Agent Merge, select the merge-readiness button at the top of a pull request, such as Ready to merge. The Merge pull request panel opens with an Agent merge toggle. It runs in the background, survives app restarts, and merges only when GitHub allows it. You will not use it in this course. Use it only for small, well-scoped changes that you reviewed, with meaningful passing checks, understood review comments and merge rules, and where your organization allows it. Avoid it for secrets, authentication, permissions, billing, production data, or deployment logic unless your team explicitly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runs both loops on a small UI task. If you skipped Pick and Polish, use issue 4 and Create from on the practice-card-polish branch. Otherwise start from main and improve filter-row labels or helper text. Plan, implement, inspect the diff, run tests and build, and preview at a wide and a narrow width by dragging the review panel edge. Open a pull request with an honest summary, and confirm the Book app web check passes in the Pull requests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two loops. The review panel keeps the diff, terminal, and preview together, and the Issues and Pull requests views connect GitHub work to sessions. Next, Chapter 04 makes this workflow reusable with a review skill and a read-only custom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5" Type="http://schemas.openxmlformats.org/officeDocument/2006/relationships/hyperlink" Target="https://github.com/github/copilot-app-for-beginners/tree/main/03-development-workflow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jpg"/><Relationship Id="rId7" Type="http://schemas.openxmlformats.org/officeDocument/2006/relationships/image" Target="../media/image-3-6.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4-1.png"/><Relationship Id="rId2" Type="http://schemas.openxmlformats.org/officeDocument/2006/relationships/image" Target="../media/image-14-2.png"/><Relationship Id="rId6" Type="http://schemas.openxmlformats.org/officeDocument/2006/relationships/slideLayout" Target="../slideLayouts/slideLayout1.xml"/><Relationship Id="rId7" Type="http://schemas.openxmlformats.org/officeDocument/2006/relationships/notesSlide" Target="../notesSlides/notesSlide14.xml"/><Relationship Id="rId8" Type="http://schemas.openxmlformats.org/officeDocument/2006/relationships/image" Target="../media/review-14-image-2.png"/></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7-1.png"/><Relationship Id="rId2" Type="http://schemas.openxmlformats.org/officeDocument/2006/relationships/image" Target="../media/image-17-2.png"/><Relationship Id="rId4" Type="http://schemas.openxmlformats.org/officeDocument/2006/relationships/image" Target="../media/image-17-3.jp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8-1.png"/><Relationship Id="rId2"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5" Type="http://schemas.openxmlformats.org/officeDocument/2006/relationships/hyperlink" Target="https://github.com/github/copilot-app-for-beginners/tree/main/03-development-workflows" TargetMode="External"/><Relationship Id="rId6" Type="http://schemas.openxmlformats.org/officeDocument/2006/relationships/hyperlink" Target="https://github.com/github/copilot-app-for-beginners/tree/main/04-skills-custom-agents" TargetMode="External"/><Relationship Id="rId1" Type="http://schemas.openxmlformats.org/officeDocument/2006/relationships/image" Target="../media/image-19-1.png"/><Relationship Id="rId2" Type="http://schemas.openxmlformats.org/officeDocument/2006/relationships/image" Target="../media/image-19-2.png"/><Relationship Id="rId4" Type="http://schemas.openxmlformats.org/officeDocument/2006/relationships/image" Target="../media/image-19-3.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03</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Development and GitHub Workflows</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one supervised workflow carried a change from the first edit to a merge-ready pull request?</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03</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892201"/>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896963"/>
            <a:ext cx="8127950" cy="0"/>
          </a:xfrm>
          <a:prstGeom prst="line">
            <a:avLst/>
          </a:prstGeom>
          <a:noFill/>
          <a:ln w="9525">
            <a:solidFill>
              <a:srgbClr val="9CD7FF"/>
            </a:solidFill>
            <a:prstDash val="solid"/>
          </a:ln>
        </p:spPr>
      </p:sp>
      <p:sp>
        <p:nvSpPr>
          <p:cNvPr id="10" name="Shape 6"/>
          <p:cNvSpPr/>
          <p:nvPr/>
        </p:nvSpPr>
        <p:spPr>
          <a:xfrm>
            <a:off x="8631138" y="1892201"/>
            <a:ext cx="0" cy="857250"/>
          </a:xfrm>
          <a:prstGeom prst="line">
            <a:avLst/>
          </a:prstGeom>
          <a:noFill/>
          <a:ln w="9525">
            <a:solidFill>
              <a:srgbClr val="9CD7FF"/>
            </a:solidFill>
            <a:prstDash val="solid"/>
          </a:ln>
        </p:spPr>
      </p:sp>
      <p:sp>
        <p:nvSpPr>
          <p:cNvPr id="11" name="Shape 7"/>
          <p:cNvSpPr/>
          <p:nvPr/>
        </p:nvSpPr>
        <p:spPr>
          <a:xfrm>
            <a:off x="507950" y="2744688"/>
            <a:ext cx="8127950" cy="0"/>
          </a:xfrm>
          <a:prstGeom prst="line">
            <a:avLst/>
          </a:prstGeom>
          <a:noFill/>
          <a:ln w="9525">
            <a:solidFill>
              <a:srgbClr val="9CD7FF"/>
            </a:solidFill>
            <a:prstDash val="solid"/>
          </a:ln>
        </p:spPr>
      </p:sp>
      <p:sp>
        <p:nvSpPr>
          <p:cNvPr id="12" name="Shape 8"/>
          <p:cNvSpPr/>
          <p:nvPr/>
        </p:nvSpPr>
        <p:spPr>
          <a:xfrm>
            <a:off x="546050" y="1892201"/>
            <a:ext cx="0" cy="857250"/>
          </a:xfrm>
          <a:prstGeom prst="line">
            <a:avLst/>
          </a:prstGeom>
          <a:noFill/>
          <a:ln w="76200">
            <a:solidFill>
              <a:srgbClr val="0969DA"/>
            </a:solidFill>
            <a:prstDash val="solid"/>
          </a:ln>
        </p:spPr>
      </p:sp>
      <p:sp>
        <p:nvSpPr>
          <p:cNvPr id="13" name="Text 9"/>
          <p:cNvSpPr/>
          <p:nvPr/>
        </p:nvSpPr>
        <p:spPr>
          <a:xfrm>
            <a:off x="812750" y="210651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054126"/>
            <a:ext cx="6775499"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Inner loop on your machine</a:t>
            </a:r>
            <a:endParaRPr lang="en-US" sz="1800" dirty="0"/>
          </a:p>
        </p:txBody>
      </p:sp>
      <p:sp>
        <p:nvSpPr>
          <p:cNvPr id="15" name="Text 11"/>
          <p:cNvSpPr/>
          <p:nvPr/>
        </p:nvSpPr>
        <p:spPr>
          <a:xfrm>
            <a:off x="1625501" y="2371576"/>
            <a:ext cx="6775499"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Plan, change, inspect, test, build, and preview. Repeat until the evidence is clean.</a:t>
            </a:r>
            <a:endParaRPr lang="en-US" sz="1450" dirty="0"/>
          </a:p>
        </p:txBody>
      </p:sp>
      <p:sp>
        <p:nvSpPr>
          <p:cNvPr id="16" name="Text 12"/>
          <p:cNvSpPr/>
          <p:nvPr/>
        </p:nvSpPr>
        <p:spPr>
          <a:xfrm>
            <a:off x="507950" y="2901851"/>
            <a:ext cx="8127950" cy="1073200"/>
          </a:xfrm>
          <a:prstGeom prst="roundRect">
            <a:avLst>
              <a:gd name="adj" fmla="val 9467"/>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906613"/>
            <a:ext cx="8127950" cy="0"/>
          </a:xfrm>
          <a:prstGeom prst="line">
            <a:avLst/>
          </a:prstGeom>
          <a:noFill/>
          <a:ln w="9525">
            <a:solidFill>
              <a:srgbClr val="E0C5FF"/>
            </a:solidFill>
            <a:prstDash val="solid"/>
          </a:ln>
        </p:spPr>
      </p:sp>
      <p:sp>
        <p:nvSpPr>
          <p:cNvPr id="18" name="Shape 14"/>
          <p:cNvSpPr/>
          <p:nvPr/>
        </p:nvSpPr>
        <p:spPr>
          <a:xfrm>
            <a:off x="8631138" y="2901851"/>
            <a:ext cx="0" cy="1073200"/>
          </a:xfrm>
          <a:prstGeom prst="line">
            <a:avLst/>
          </a:prstGeom>
          <a:noFill/>
          <a:ln w="9525">
            <a:solidFill>
              <a:srgbClr val="E0C5FF"/>
            </a:solidFill>
            <a:prstDash val="solid"/>
          </a:ln>
        </p:spPr>
      </p:sp>
      <p:sp>
        <p:nvSpPr>
          <p:cNvPr id="19" name="Shape 15"/>
          <p:cNvSpPr/>
          <p:nvPr/>
        </p:nvSpPr>
        <p:spPr>
          <a:xfrm>
            <a:off x="507950" y="3970288"/>
            <a:ext cx="8127950" cy="0"/>
          </a:xfrm>
          <a:prstGeom prst="line">
            <a:avLst/>
          </a:prstGeom>
          <a:noFill/>
          <a:ln w="9525">
            <a:solidFill>
              <a:srgbClr val="E0C5FF"/>
            </a:solidFill>
            <a:prstDash val="solid"/>
          </a:ln>
        </p:spPr>
      </p:sp>
      <p:sp>
        <p:nvSpPr>
          <p:cNvPr id="20" name="Shape 16"/>
          <p:cNvSpPr/>
          <p:nvPr/>
        </p:nvSpPr>
        <p:spPr>
          <a:xfrm>
            <a:off x="546050" y="2901851"/>
            <a:ext cx="0" cy="1073200"/>
          </a:xfrm>
          <a:prstGeom prst="line">
            <a:avLst/>
          </a:prstGeom>
          <a:noFill/>
          <a:ln w="76200">
            <a:solidFill>
              <a:srgbClr val="8250DF"/>
            </a:solidFill>
            <a:prstDash val="solid"/>
          </a:ln>
        </p:spPr>
      </p:sp>
      <p:sp>
        <p:nvSpPr>
          <p:cNvPr id="21" name="Text 17"/>
          <p:cNvSpPr/>
          <p:nvPr/>
        </p:nvSpPr>
        <p:spPr>
          <a:xfrm>
            <a:off x="812750" y="3224064"/>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063776"/>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Outer loop on GitHub</a:t>
            </a:r>
            <a:endParaRPr lang="en-US" sz="1800" dirty="0"/>
          </a:p>
        </p:txBody>
      </p:sp>
      <p:sp>
        <p:nvSpPr>
          <p:cNvPr id="23" name="Text 19"/>
          <p:cNvSpPr/>
          <p:nvPr/>
        </p:nvSpPr>
        <p:spPr>
          <a:xfrm>
            <a:off x="1625501" y="3381226"/>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Issue, pull request, review feedback, and checks. Merge only when everything agrees.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From take to final mix</a:t>
            </a:r>
            <a:endParaRPr lang="en-US" sz="2800" dirty="0"/>
          </a:p>
        </p:txBody>
      </p:sp>
      <p:sp>
        <p:nvSpPr>
          <p:cNvPr id="8" name="Text 4"/>
          <p:cNvSpPr/>
          <p:nvPr/>
        </p:nvSpPr>
        <p:spPr>
          <a:xfrm>
            <a:off x="536525" y="1377255"/>
            <a:ext cx="3752850" cy="2533650"/>
          </a:xfrm>
          <a:prstGeom prst="roundRect">
            <a:avLst>
              <a:gd name="adj" fmla="val 300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Record, play back, and re-take analogy for the development loop"/>
          <p:cNvPicPr>
            <a:picLocks noChangeAspect="1"/>
          </p:cNvPicPr>
          <p:nvPr/>
        </p:nvPicPr>
        <p:blipFill>
          <a:blip r:embed="rId4"/>
          <a:stretch>
            <a:fillRect/>
          </a:stretch>
        </p:blipFill>
        <p:spPr>
          <a:xfrm>
            <a:off x="584150" y="1424880"/>
            <a:ext cx="3657600" cy="2438400"/>
          </a:xfrm>
          <a:prstGeom prst="rect">
            <a:avLst/>
          </a:prstGeom>
        </p:spPr>
      </p:pic>
      <p:sp>
        <p:nvSpPr>
          <p:cNvPr id="10" name="Text 5"/>
          <p:cNvSpPr/>
          <p:nvPr/>
        </p:nvSpPr>
        <p:spPr>
          <a:xfrm>
            <a:off x="507950" y="410185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90550" y="4184452"/>
            <a:ext cx="215801" cy="215801"/>
          </a:xfrm>
          <a:prstGeom prst="rect">
            <a:avLst/>
          </a:prstGeom>
        </p:spPr>
      </p:pic>
      <p:sp>
        <p:nvSpPr>
          <p:cNvPr id="12" name="Text 6"/>
          <p:cNvSpPr/>
          <p:nvPr/>
        </p:nvSpPr>
        <p:spPr>
          <a:xfrm>
            <a:off x="1041350" y="4066431"/>
            <a:ext cx="237194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Inner loop</a:t>
            </a:r>
            <a:endParaRPr lang="en-US" sz="1550" dirty="0"/>
          </a:p>
        </p:txBody>
      </p:sp>
      <p:sp>
        <p:nvSpPr>
          <p:cNvPr id="13" name="Text 7"/>
          <p:cNvSpPr/>
          <p:nvPr/>
        </p:nvSpPr>
        <p:spPr>
          <a:xfrm>
            <a:off x="1041350" y="4320332"/>
            <a:ext cx="237194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Record, play back, and retake.</a:t>
            </a:r>
            <a:endParaRPr lang="en-US" sz="1350" dirty="0"/>
          </a:p>
        </p:txBody>
      </p:sp>
      <p:sp>
        <p:nvSpPr>
          <p:cNvPr id="14" name="Text 8"/>
          <p:cNvSpPr/>
          <p:nvPr/>
        </p:nvSpPr>
        <p:spPr>
          <a:xfrm>
            <a:off x="4854476" y="1377255"/>
            <a:ext cx="3752850" cy="2533650"/>
          </a:xfrm>
          <a:prstGeom prst="roundRect">
            <a:avLst>
              <a:gd name="adj" fmla="val 300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5" name="Image 4" descr="Producer review desk analogy for GitHub issues and pull requests"/>
          <p:cNvPicPr>
            <a:picLocks noChangeAspect="1"/>
          </p:cNvPicPr>
          <p:nvPr/>
        </p:nvPicPr>
        <p:blipFill>
          <a:blip r:embed="rId6"/>
          <a:stretch>
            <a:fillRect/>
          </a:stretch>
        </p:blipFill>
        <p:spPr>
          <a:xfrm>
            <a:off x="4902101" y="1424880"/>
            <a:ext cx="3657600" cy="2438400"/>
          </a:xfrm>
          <a:prstGeom prst="rect">
            <a:avLst/>
          </a:prstGeom>
        </p:spPr>
      </p:pic>
      <p:sp>
        <p:nvSpPr>
          <p:cNvPr id="16" name="Text 9"/>
          <p:cNvSpPr/>
          <p:nvPr/>
        </p:nvSpPr>
        <p:spPr>
          <a:xfrm>
            <a:off x="4825901" y="4101852"/>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08500" y="4184452"/>
            <a:ext cx="215801" cy="215801"/>
          </a:xfrm>
          <a:prstGeom prst="rect">
            <a:avLst/>
          </a:prstGeom>
        </p:spPr>
      </p:pic>
      <p:sp>
        <p:nvSpPr>
          <p:cNvPr id="18" name="Text 10"/>
          <p:cNvSpPr/>
          <p:nvPr/>
        </p:nvSpPr>
        <p:spPr>
          <a:xfrm>
            <a:off x="5359301" y="4066431"/>
            <a:ext cx="283844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Outer loop</a:t>
            </a:r>
            <a:endParaRPr lang="en-US" sz="1550" dirty="0"/>
          </a:p>
        </p:txBody>
      </p:sp>
      <p:sp>
        <p:nvSpPr>
          <p:cNvPr id="19" name="Text 11"/>
          <p:cNvSpPr/>
          <p:nvPr/>
        </p:nvSpPr>
        <p:spPr>
          <a:xfrm>
            <a:off x="5359301" y="4320332"/>
            <a:ext cx="283844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The producer approves the final mix.</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THE BIG PICTURE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Two connected loops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app runs both. You judge the evidence and decide what ships.</a:t>
            </a:r>
            <a:endParaRPr lang="en-US" sz="1650" dirty="0"/>
          </a:p>
        </p:txBody>
      </p:sp>
      <p:sp>
        <p:nvSpPr>
          <p:cNvPr id="9" name="Text 5"/>
          <p:cNvSpPr/>
          <p:nvPr/>
        </p:nvSpPr>
        <p:spPr>
          <a:xfrm>
            <a:off x="2263140" y="1508760"/>
            <a:ext cx="4617720" cy="3118104"/>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Development loop. Inner loop on your machine: understand, change, inspect, test and build, and preview. Outer loop on GitHub: issue, pull request, feedback, checks, and merge. Human judgment applies to both loops."/>
          <p:cNvPicPr>
            <a:picLocks noChangeAspect="1"/>
          </p:cNvPicPr>
          <p:nvPr/>
        </p:nvPicPr>
        <p:blipFill>
          <a:blip r:embed="rId4"/>
          <a:stretch>
            <a:fillRect/>
          </a:stretch>
        </p:blipFill>
        <p:spPr>
          <a:xfrm>
            <a:off x="2308860" y="1554480"/>
            <a:ext cx="4526280" cy="3017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Trust the evidence, not the confidence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change is ready only when all four agree with your review.</a:t>
            </a:r>
            <a:endParaRPr lang="en-US" sz="1650" dirty="0"/>
          </a:p>
        </p:txBody>
      </p:sp>
      <p:sp>
        <p:nvSpPr>
          <p:cNvPr id="9" name="Text 5"/>
          <p:cNvSpPr/>
          <p:nvPr/>
        </p:nvSpPr>
        <p:spPr>
          <a:xfrm>
            <a:off x="507950" y="2233315"/>
            <a:ext cx="1917650" cy="1756172"/>
          </a:xfrm>
          <a:prstGeom prst="roundRect">
            <a:avLst>
              <a:gd name="adj" fmla="val 7232"/>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2420541"/>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503140"/>
            <a:ext cx="215801" cy="215801"/>
          </a:xfrm>
          <a:prstGeom prst="rect">
            <a:avLst/>
          </a:prstGeom>
        </p:spPr>
      </p:pic>
      <p:sp>
        <p:nvSpPr>
          <p:cNvPr id="12" name="Text 7"/>
          <p:cNvSpPr/>
          <p:nvPr/>
        </p:nvSpPr>
        <p:spPr>
          <a:xfrm>
            <a:off x="1190476" y="2496741"/>
            <a:ext cx="35613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Diff</a:t>
            </a:r>
            <a:endParaRPr lang="en-US" sz="1650" dirty="0"/>
          </a:p>
        </p:txBody>
      </p:sp>
      <p:sp>
        <p:nvSpPr>
          <p:cNvPr id="13" name="Text 8"/>
          <p:cNvSpPr/>
          <p:nvPr/>
        </p:nvSpPr>
        <p:spPr>
          <a:xfrm>
            <a:off x="695176" y="2877741"/>
            <a:ext cx="1574063"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CHANGES TAB</a:t>
            </a:r>
            <a:endParaRPr lang="en-US" sz="1150" dirty="0"/>
          </a:p>
        </p:txBody>
      </p:sp>
      <p:sp>
        <p:nvSpPr>
          <p:cNvPr id="14" name="Text 9"/>
          <p:cNvSpPr/>
          <p:nvPr/>
        </p:nvSpPr>
        <p:spPr>
          <a:xfrm>
            <a:off x="695176" y="312539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Focused and understandable.</a:t>
            </a:r>
            <a:endParaRPr lang="en-US" sz="1400" dirty="0"/>
          </a:p>
        </p:txBody>
      </p:sp>
      <p:sp>
        <p:nvSpPr>
          <p:cNvPr id="15" name="Text 10"/>
          <p:cNvSpPr/>
          <p:nvPr/>
        </p:nvSpPr>
        <p:spPr>
          <a:xfrm>
            <a:off x="2578001" y="2233315"/>
            <a:ext cx="1917799" cy="1756172"/>
          </a:xfrm>
          <a:prstGeom prst="roundRect">
            <a:avLst>
              <a:gd name="adj" fmla="val 7232"/>
            </a:avLst>
          </a:prstGeom>
          <a:solidFill>
            <a:srgbClr val="FFFFFF"/>
          </a:solidFill>
          <a:ln w="9525">
            <a:solidFill>
              <a:srgbClr val="E0C5FF"/>
            </a:solidFill>
          </a:ln>
        </p:spPr>
        <p:txBody>
          <a:bodyPr wrap="square" rtlCol="0" anchor="ctr"/>
          <a:lstStyle/>
          <a:p>
            <a:pPr indent="0" marL="0">
              <a:buNone/>
            </a:pPr>
            <a:endParaRPr lang="en-US" dirty="0"/>
          </a:p>
        </p:txBody>
      </p:sp>
      <p:sp>
        <p:nvSpPr>
          <p:cNvPr id="16" name="Text 11"/>
          <p:cNvSpPr/>
          <p:nvPr/>
        </p:nvSpPr>
        <p:spPr>
          <a:xfrm>
            <a:off x="2765227" y="2458641"/>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847826" y="2541240"/>
            <a:ext cx="215801" cy="215801"/>
          </a:xfrm>
          <a:prstGeom prst="rect">
            <a:avLst/>
          </a:prstGeom>
        </p:spPr>
      </p:pic>
      <p:sp>
        <p:nvSpPr>
          <p:cNvPr id="18" name="Text 12"/>
          <p:cNvSpPr/>
          <p:nvPr/>
        </p:nvSpPr>
        <p:spPr>
          <a:xfrm>
            <a:off x="3260527" y="2420541"/>
            <a:ext cx="1069009"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Tests and build</a:t>
            </a:r>
            <a:endParaRPr lang="en-US" sz="1650" dirty="0"/>
          </a:p>
        </p:txBody>
      </p:sp>
      <p:sp>
        <p:nvSpPr>
          <p:cNvPr id="19" name="Text 13"/>
          <p:cNvSpPr/>
          <p:nvPr/>
        </p:nvSpPr>
        <p:spPr>
          <a:xfrm>
            <a:off x="2765227" y="2953941"/>
            <a:ext cx="1574215"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TERMINAL TAB</a:t>
            </a:r>
            <a:endParaRPr lang="en-US" sz="1150" dirty="0"/>
          </a:p>
        </p:txBody>
      </p:sp>
      <p:sp>
        <p:nvSpPr>
          <p:cNvPr id="20" name="Text 14"/>
          <p:cNvSpPr/>
          <p:nvPr/>
        </p:nvSpPr>
        <p:spPr>
          <a:xfrm>
            <a:off x="2765227" y="3201591"/>
            <a:ext cx="1574215"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Complete successfully.</a:t>
            </a:r>
            <a:endParaRPr lang="en-US" sz="1400" dirty="0"/>
          </a:p>
        </p:txBody>
      </p:sp>
      <p:sp>
        <p:nvSpPr>
          <p:cNvPr id="21" name="Text 15"/>
          <p:cNvSpPr/>
          <p:nvPr/>
        </p:nvSpPr>
        <p:spPr>
          <a:xfrm>
            <a:off x="4648200" y="2233315"/>
            <a:ext cx="1917650" cy="1756172"/>
          </a:xfrm>
          <a:prstGeom prst="roundRect">
            <a:avLst>
              <a:gd name="adj" fmla="val 7232"/>
            </a:avLst>
          </a:prstGeom>
          <a:solidFill>
            <a:srgbClr val="FFFFFF"/>
          </a:solidFill>
          <a:ln w="9525">
            <a:solidFill>
              <a:srgbClr val="FFC49B"/>
            </a:solidFill>
          </a:ln>
        </p:spPr>
        <p:txBody>
          <a:bodyPr wrap="square" rtlCol="0" anchor="ctr"/>
          <a:lstStyle/>
          <a:p>
            <a:pPr indent="0" marL="0">
              <a:buNone/>
            </a:pPr>
            <a:endParaRPr lang="en-US" dirty="0"/>
          </a:p>
        </p:txBody>
      </p:sp>
      <p:sp>
        <p:nvSpPr>
          <p:cNvPr id="22" name="Text 16"/>
          <p:cNvSpPr/>
          <p:nvPr/>
        </p:nvSpPr>
        <p:spPr>
          <a:xfrm>
            <a:off x="4835426" y="245864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18025" y="2541240"/>
            <a:ext cx="215801" cy="215801"/>
          </a:xfrm>
          <a:prstGeom prst="rect">
            <a:avLst/>
          </a:prstGeom>
        </p:spPr>
      </p:pic>
      <p:sp>
        <p:nvSpPr>
          <p:cNvPr id="24" name="Text 17"/>
          <p:cNvSpPr/>
          <p:nvPr/>
        </p:nvSpPr>
        <p:spPr>
          <a:xfrm>
            <a:off x="5330726" y="2420541"/>
            <a:ext cx="1068857"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Running app</a:t>
            </a:r>
            <a:endParaRPr lang="en-US" sz="1650" dirty="0"/>
          </a:p>
        </p:txBody>
      </p:sp>
      <p:sp>
        <p:nvSpPr>
          <p:cNvPr id="25" name="Text 18"/>
          <p:cNvSpPr/>
          <p:nvPr/>
        </p:nvSpPr>
        <p:spPr>
          <a:xfrm>
            <a:off x="4835426" y="2953941"/>
            <a:ext cx="1574063" cy="171450"/>
          </a:xfrm>
          <a:prstGeom prst="rect">
            <a:avLst/>
          </a:prstGeom>
          <a:noFill/>
          <a:ln/>
        </p:spPr>
        <p:txBody>
          <a:bodyPr wrap="square" lIns="0" tIns="0" rIns="0" bIns="0" rtlCol="0" anchor="t"/>
          <a:lstStyle/>
          <a:p>
            <a:pPr algn="l" indent="0" marL="0">
              <a:buNone/>
            </a:pPr>
            <a:r>
              <a:rPr lang="en-US" sz="1150" b="1" dirty="0">
                <a:solidFill>
                  <a:srgbClr val="BC4C00"/>
                </a:solidFill>
                <a:latin typeface="Arial" pitchFamily="34" charset="0"/>
                <a:ea typeface="Arial" pitchFamily="34" charset="-122"/>
                <a:cs typeface="Arial" pitchFamily="34" charset="-120"/>
              </a:rPr>
              <a:t>BROWSER TAB</a:t>
            </a:r>
            <a:endParaRPr lang="en-US" sz="1150" dirty="0"/>
          </a:p>
        </p:txBody>
      </p:sp>
      <p:sp>
        <p:nvSpPr>
          <p:cNvPr id="26" name="Text 19"/>
          <p:cNvSpPr/>
          <p:nvPr/>
        </p:nvSpPr>
        <p:spPr>
          <a:xfrm>
            <a:off x="4835426" y="320159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Behaves as expected.</a:t>
            </a:r>
            <a:endParaRPr lang="en-US" sz="1400" dirty="0"/>
          </a:p>
        </p:txBody>
      </p:sp>
      <p:sp>
        <p:nvSpPr>
          <p:cNvPr id="27" name="Text 20"/>
          <p:cNvSpPr/>
          <p:nvPr/>
        </p:nvSpPr>
        <p:spPr>
          <a:xfrm>
            <a:off x="6718250" y="2233315"/>
            <a:ext cx="1917650" cy="1756172"/>
          </a:xfrm>
          <a:prstGeom prst="roundRect">
            <a:avLst>
              <a:gd name="adj" fmla="val 7232"/>
            </a:avLst>
          </a:prstGeom>
          <a:solidFill>
            <a:srgbClr val="FFFFFF"/>
          </a:solidFill>
          <a:ln w="9525">
            <a:solidFill>
              <a:srgbClr val="8CE7A5"/>
            </a:solidFill>
          </a:ln>
        </p:spPr>
        <p:txBody>
          <a:bodyPr wrap="square" rtlCol="0" anchor="ctr"/>
          <a:lstStyle/>
          <a:p>
            <a:pPr indent="0" marL="0">
              <a:buNone/>
            </a:pPr>
            <a:endParaRPr lang="en-US" dirty="0"/>
          </a:p>
        </p:txBody>
      </p:sp>
      <p:sp>
        <p:nvSpPr>
          <p:cNvPr id="28" name="Text 21"/>
          <p:cNvSpPr/>
          <p:nvPr/>
        </p:nvSpPr>
        <p:spPr>
          <a:xfrm>
            <a:off x="6905476" y="245864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9"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988076" y="2541240"/>
            <a:ext cx="215801" cy="215801"/>
          </a:xfrm>
          <a:prstGeom prst="rect">
            <a:avLst/>
          </a:prstGeom>
        </p:spPr>
      </p:pic>
      <p:sp>
        <p:nvSpPr>
          <p:cNvPr id="30" name="Text 22"/>
          <p:cNvSpPr/>
          <p:nvPr/>
        </p:nvSpPr>
        <p:spPr>
          <a:xfrm>
            <a:off x="7400776" y="2420541"/>
            <a:ext cx="1068857"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GitHub checks</a:t>
            </a:r>
            <a:endParaRPr lang="en-US" sz="1650" dirty="0"/>
          </a:p>
        </p:txBody>
      </p:sp>
      <p:sp>
        <p:nvSpPr>
          <p:cNvPr id="31" name="Text 23"/>
          <p:cNvSpPr/>
          <p:nvPr/>
        </p:nvSpPr>
        <p:spPr>
          <a:xfrm>
            <a:off x="6905476" y="2953941"/>
            <a:ext cx="1574063" cy="34290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PULL REQUESTS VIEW</a:t>
            </a:r>
            <a:endParaRPr lang="en-US" sz="1150" dirty="0"/>
          </a:p>
        </p:txBody>
      </p:sp>
      <p:sp>
        <p:nvSpPr>
          <p:cNvPr id="32" name="Text 24"/>
          <p:cNvSpPr/>
          <p:nvPr/>
        </p:nvSpPr>
        <p:spPr>
          <a:xfrm>
            <a:off x="6905476" y="337304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CI agrees with your local results.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8"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Inner loop on your machine</a:t>
            </a:r>
            <a:endParaRPr lang="en-US" sz="4000" dirty="0"/>
          </a:p>
        </p:txBody>
      </p:sp>
      <p:sp>
        <p:nvSpPr>
          <p:cNvPr id="11" name="Text 7"/>
          <p:cNvSpPr/>
          <p:nvPr/>
        </p:nvSpPr>
        <p:spPr>
          <a:xfrm>
            <a:off x="711101" y="33280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BEFORE ANY CHANGE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from a known-good baseline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If tests pass now, a later failure means something.</a:t>
            </a:r>
            <a:endParaRPr lang="en-US" sz="1650" dirty="0"/>
          </a:p>
        </p:txBody>
      </p:sp>
      <p:sp>
        <p:nvSpPr>
          <p:cNvPr id="9" name="Text 5"/>
          <p:cNvSpPr/>
          <p:nvPr/>
        </p:nvSpPr>
        <p:spPr>
          <a:xfrm>
            <a:off x="507950" y="2378422"/>
            <a:ext cx="3810000" cy="1465957"/>
          </a:xfrm>
          <a:prstGeom prst="roundRect">
            <a:avLst>
              <a:gd name="adj" fmla="val 6931"/>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387947"/>
            <a:ext cx="3790950" cy="238125"/>
          </a:xfrm>
          <a:prstGeom prst="rect">
            <a:avLst/>
          </a:prstGeom>
          <a:solidFill>
            <a:srgbClr val="EFF2F5"/>
          </a:solidFill>
          <a:ln/>
        </p:spPr>
        <p:txBody>
          <a:bodyPr wrap="square" rtlCol="0" anchor="ctr"/>
          <a:lstStyle/>
          <a:p>
            <a:pPr indent="0" marL="0">
              <a:buNone/>
            </a:pPr>
            <a:endParaRPr lang="en-US" dirty="0"/>
          </a:p>
        </p:txBody>
      </p:sp>
      <p:sp>
        <p:nvSpPr>
          <p:cNvPr id="11" name="Shape 7"/>
          <p:cNvSpPr/>
          <p:nvPr/>
        </p:nvSpPr>
        <p:spPr>
          <a:xfrm>
            <a:off x="517475" y="2621310"/>
            <a:ext cx="3790950" cy="0"/>
          </a:xfrm>
          <a:prstGeom prst="line">
            <a:avLst/>
          </a:prstGeom>
          <a:noFill/>
          <a:ln w="9525">
            <a:solidFill>
              <a:srgbClr val="D1D9E0"/>
            </a:solidFill>
            <a:prstDash val="solid"/>
          </a:ln>
        </p:spPr>
      </p:sp>
      <p:sp>
        <p:nvSpPr>
          <p:cNvPr id="12" name="Text 8"/>
          <p:cNvSpPr/>
          <p:nvPr/>
        </p:nvSpPr>
        <p:spPr>
          <a:xfrm>
            <a:off x="631775" y="2457748"/>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3" name="Text 9"/>
          <p:cNvSpPr/>
          <p:nvPr/>
        </p:nvSpPr>
        <p:spPr>
          <a:xfrm>
            <a:off x="771376" y="2457748"/>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4" name="Text 10"/>
          <p:cNvSpPr/>
          <p:nvPr/>
        </p:nvSpPr>
        <p:spPr>
          <a:xfrm>
            <a:off x="910977" y="2457748"/>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5" name="Text 11"/>
          <p:cNvSpPr/>
          <p:nvPr/>
        </p:nvSpPr>
        <p:spPr>
          <a:xfrm>
            <a:off x="1126778" y="2416522"/>
            <a:ext cx="715152" cy="171450"/>
          </a:xfrm>
          <a:prstGeom prst="rect">
            <a:avLst/>
          </a:prstGeom>
          <a:noFill/>
          <a:ln/>
        </p:spPr>
        <p:txBody>
          <a:bodyPr wrap="square" lIns="0" tIns="0" rIns="0" bIns="0" rtlCol="0" anchor="t"/>
          <a:lstStyle/>
          <a:p>
            <a:pPr algn="l" indent="0" marL="0">
              <a:buNone/>
            </a:pPr>
            <a:r>
              <a:rPr lang="en-US" sz="1150" dirty="0">
                <a:solidFill>
                  <a:srgbClr val="59636E"/>
                </a:solidFill>
                <a:latin typeface="Courier New" pitchFamily="34" charset="0"/>
                <a:ea typeface="Courier New" pitchFamily="34" charset="-122"/>
                <a:cs typeface="Courier New" pitchFamily="34" charset="-120"/>
              </a:rPr>
              <a:t>Terminal</a:t>
            </a:r>
            <a:endParaRPr lang="en-US" sz="1150" dirty="0"/>
          </a:p>
        </p:txBody>
      </p:sp>
      <p:sp>
        <p:nvSpPr>
          <p:cNvPr id="16" name="Text 12"/>
          <p:cNvSpPr/>
          <p:nvPr/>
        </p:nvSpPr>
        <p:spPr>
          <a:xfrm>
            <a:off x="669875" y="275302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cd samples/book-app-web</a:t>
            </a:r>
            <a:endParaRPr lang="en-US" sz="1450" dirty="0"/>
          </a:p>
        </p:txBody>
      </p:sp>
      <p:sp>
        <p:nvSpPr>
          <p:cNvPr id="17" name="Text 13"/>
          <p:cNvSpPr/>
          <p:nvPr/>
        </p:nvSpPr>
        <p:spPr>
          <a:xfrm>
            <a:off x="669875" y="299174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install</a:t>
            </a:r>
            <a:endParaRPr lang="en-US" sz="1450" dirty="0"/>
          </a:p>
        </p:txBody>
      </p:sp>
      <p:sp>
        <p:nvSpPr>
          <p:cNvPr id="18" name="Text 14"/>
          <p:cNvSpPr/>
          <p:nvPr/>
        </p:nvSpPr>
        <p:spPr>
          <a:xfrm>
            <a:off x="669875" y="323046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test -- --run</a:t>
            </a:r>
            <a:endParaRPr lang="en-US" sz="1450" dirty="0"/>
          </a:p>
        </p:txBody>
      </p:sp>
      <p:sp>
        <p:nvSpPr>
          <p:cNvPr id="19" name="Text 15"/>
          <p:cNvSpPr/>
          <p:nvPr/>
        </p:nvSpPr>
        <p:spPr>
          <a:xfrm>
            <a:off x="669875" y="3469184"/>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build</a:t>
            </a:r>
            <a:endParaRPr lang="en-US" sz="1450" dirty="0"/>
          </a:p>
        </p:txBody>
      </p:sp>
      <p:sp>
        <p:nvSpPr>
          <p:cNvPr id="20" name="Text 16"/>
          <p:cNvSpPr/>
          <p:nvPr/>
        </p:nvSpPr>
        <p:spPr>
          <a:xfrm>
            <a:off x="4622750" y="1764209"/>
            <a:ext cx="4013150" cy="984052"/>
          </a:xfrm>
          <a:prstGeom prst="roundRect">
            <a:avLst>
              <a:gd name="adj" fmla="val 12906"/>
            </a:avLst>
          </a:prstGeom>
          <a:solidFill>
            <a:srgbClr val="DAFBE1"/>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875" y="1951434"/>
            <a:ext cx="316968" cy="609600"/>
          </a:xfrm>
          <a:prstGeom prst="rect">
            <a:avLst/>
          </a:prstGeom>
          <a:noFill/>
          <a:ln/>
        </p:spPr>
        <p:txBody>
          <a:bodyPr wrap="square" lIns="0" tIns="0" rIns="0" bIns="0" rtlCol="0" anchor="t"/>
          <a:lstStyle/>
          <a:p>
            <a:pPr algn="l" indent="0" marL="0">
              <a:lnSpc>
                <a:spcPts val="4800"/>
              </a:lnSpc>
              <a:buNone/>
            </a:pPr>
            <a:r>
              <a:rPr lang="en-US" sz="4400" b="1" dirty="0">
                <a:solidFill>
                  <a:srgbClr val="1A7F37"/>
                </a:solidFill>
                <a:latin typeface="Arial" pitchFamily="34" charset="0"/>
                <a:ea typeface="Arial" pitchFamily="34" charset="-122"/>
                <a:cs typeface="Arial" pitchFamily="34" charset="-120"/>
              </a:rPr>
              <a:t>4</a:t>
            </a:r>
            <a:endParaRPr lang="en-US" sz="4400" dirty="0"/>
          </a:p>
        </p:txBody>
      </p:sp>
      <p:sp>
        <p:nvSpPr>
          <p:cNvPr id="22" name="Text 18"/>
          <p:cNvSpPr/>
          <p:nvPr/>
        </p:nvSpPr>
        <p:spPr>
          <a:xfrm>
            <a:off x="5374779" y="2019746"/>
            <a:ext cx="2436769"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tests pass</a:t>
            </a:r>
            <a:endParaRPr lang="en-US" sz="1650" dirty="0"/>
          </a:p>
        </p:txBody>
      </p:sp>
      <p:sp>
        <p:nvSpPr>
          <p:cNvPr id="23" name="Text 19"/>
          <p:cNvSpPr/>
          <p:nvPr/>
        </p:nvSpPr>
        <p:spPr>
          <a:xfrm>
            <a:off x="5374779" y="2292697"/>
            <a:ext cx="2436769" cy="200025"/>
          </a:xfrm>
          <a:prstGeom prst="rect">
            <a:avLst/>
          </a:prstGeom>
          <a:noFill/>
          <a:ln/>
        </p:spPr>
        <p:txBody>
          <a:bodyPr wrap="square" lIns="0" tIns="0" rIns="0" bIns="0" rtlCol="0" anchor="t"/>
          <a:lstStyle/>
          <a:p>
            <a:pPr algn="l" indent="0" marL="0">
              <a:buNone/>
            </a:pPr>
            <a:r>
              <a:rPr lang="en-US" sz="1350" dirty="0">
                <a:solidFill>
                  <a:srgbClr val="59636E"/>
                </a:solidFill>
                <a:latin typeface="Arial" pitchFamily="34" charset="0"/>
                <a:ea typeface="Arial" pitchFamily="34" charset="-122"/>
                <a:cs typeface="Arial" pitchFamily="34" charset="-120"/>
              </a:rPr>
              <a:t>2 test files. The build succeeds.</a:t>
            </a:r>
            <a:endParaRPr lang="en-US" sz="1350" dirty="0"/>
          </a:p>
        </p:txBody>
      </p:sp>
      <p:sp>
        <p:nvSpPr>
          <p:cNvPr id="24" name="Text 20"/>
          <p:cNvSpPr/>
          <p:nvPr/>
        </p:nvSpPr>
        <p:spPr>
          <a:xfrm>
            <a:off x="4622750" y="2900660"/>
            <a:ext cx="4013150" cy="515541"/>
          </a:xfrm>
          <a:prstGeom prst="roundRect">
            <a:avLst>
              <a:gd name="adj" fmla="val 19708"/>
            </a:avLst>
          </a:prstGeom>
          <a:solidFill>
            <a:srgbClr val="FFF8C5"/>
          </a:solidFill>
          <a:ln w="9525">
            <a:solidFill>
              <a:srgbClr val="E7C85A"/>
            </a:solidFill>
          </a:ln>
        </p:spPr>
        <p:txBody>
          <a:bodyPr wrap="square" rtlCol="0" anchor="ctr"/>
          <a:lstStyle/>
          <a:p>
            <a:pPr indent="0" marL="0">
              <a:buNone/>
            </a:pPr>
            <a:endParaRPr lang="en-US" dirty="0"/>
          </a:p>
        </p:txBody>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09976" y="3056781"/>
            <a:ext cx="203150" cy="203150"/>
          </a:xfrm>
          <a:prstGeom prst="rect">
            <a:avLst/>
          </a:prstGeom>
        </p:spPr>
      </p:pic>
      <p:sp>
        <p:nvSpPr>
          <p:cNvPr id="26" name="Text 21"/>
          <p:cNvSpPr/>
          <p:nvPr/>
        </p:nvSpPr>
        <p:spPr>
          <a:xfrm>
            <a:off x="5140077" y="3037136"/>
            <a:ext cx="3348204" cy="24259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New worktree? Run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npm install</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first.</a:t>
            </a:r>
            <a:endParaRPr lang="en-US" sz="1450" dirty="0"/>
          </a:p>
        </p:txBody>
      </p:sp>
      <p:sp>
        <p:nvSpPr>
          <p:cNvPr id="27" name="Text 22"/>
          <p:cNvSpPr/>
          <p:nvPr/>
        </p:nvSpPr>
        <p:spPr>
          <a:xfrm>
            <a:off x="4622750" y="3568601"/>
            <a:ext cx="4013150" cy="889992"/>
          </a:xfrm>
          <a:prstGeom prst="roundRect">
            <a:avLst>
              <a:gd name="adj" fmla="val 11416"/>
            </a:avLst>
          </a:prstGeom>
          <a:solidFill>
            <a:srgbClr val="DDF4FF"/>
          </a:solidFill>
          <a:ln w="9525">
            <a:solidFill>
              <a:srgbClr val="9CD7FF"/>
            </a:solidFill>
          </a:ln>
        </p:spPr>
        <p:txBody>
          <a:bodyPr wrap="square" rtlCol="0" anchor="ctr"/>
          <a:lstStyle/>
          <a:p>
            <a:pPr indent="0" marL="0">
              <a:buNone/>
            </a:pPr>
            <a:endParaRPr lang="en-US" dirty="0"/>
          </a:p>
        </p:txBody>
      </p:sp>
      <p:pic>
        <p:nvPicPr>
          <p:cNvPr id="2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09976" y="3911947"/>
            <a:ext cx="203150" cy="203150"/>
          </a:xfrm>
          <a:prstGeom prst="rect">
            <a:avLst/>
          </a:prstGeom>
        </p:spPr>
      </p:pic>
      <p:sp>
        <p:nvSpPr>
          <p:cNvPr id="29" name="Text 23"/>
          <p:cNvSpPr/>
          <p:nvPr/>
        </p:nvSpPr>
        <p:spPr>
          <a:xfrm>
            <a:off x="5140077" y="3705076"/>
            <a:ext cx="3374770" cy="617041"/>
          </a:xfrm>
          <a:prstGeom prst="rect">
            <a:avLst/>
          </a:prstGeom>
          <a:noFill/>
          <a:ln/>
        </p:spPr>
        <p:txBody>
          <a:bodyPr wrap="square" lIns="0" tIns="0" rIns="0" bIns="0" rtlCol="0" anchor="t"/>
          <a:lstStyle/>
          <a:p>
            <a:pPr algn="l" indent="0" marL="0">
              <a:lnSpc>
                <a:spcPts val="1620"/>
              </a:lnSpc>
              <a:buNone/>
            </a:pPr>
            <a:r>
              <a:rPr lang="en-US" sz="1350" dirty="0">
                <a:solidFill>
                  <a:srgbClr val="1F2328"/>
                </a:solidFill>
                <a:latin typeface="Arial" pitchFamily="34" charset="0"/>
                <a:ea typeface="Arial" pitchFamily="34" charset="-122"/>
                <a:cs typeface="Arial" pitchFamily="34" charset="-120"/>
              </a:rPr>
              <a:t>Bash and PowerShell snippets in a response have a </a:t>
            </a:r>
            <a:pPr algn="l" indent="0" marL="0">
              <a:lnSpc>
                <a:spcPts val="1620"/>
              </a:lnSpc>
              <a:buNone/>
            </a:pPr>
            <a:r>
              <a:rPr lang="en-US" sz="1350" b="1" dirty="0">
                <a:solidFill>
                  <a:srgbClr val="1F2328"/>
                </a:solidFill>
                <a:latin typeface="Arial" pitchFamily="34" charset="0"/>
                <a:ea typeface="Arial" pitchFamily="34" charset="-122"/>
                <a:cs typeface="Arial" pitchFamily="34" charset="-120"/>
              </a:rPr>
              <a:t>Run</a:t>
            </a:r>
            <a:pPr algn="l" indent="0" marL="0">
              <a:lnSpc>
                <a:spcPts val="1620"/>
              </a:lnSpc>
              <a:buNone/>
            </a:pPr>
            <a:r>
              <a:rPr lang="en-US" sz="1350" dirty="0">
                <a:solidFill>
                  <a:srgbClr val="1F2328"/>
                </a:solidFill>
                <a:latin typeface="Arial" pitchFamily="34" charset="0"/>
                <a:ea typeface="Arial" pitchFamily="34" charset="-122"/>
                <a:cs typeface="Arial" pitchFamily="34" charset="-120"/>
              </a:rPr>
              <a:t> button that runs them in this terminal.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REVIEW AND FIX A BUG</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Reading stats ignore active filters</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Branch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practice-unread-count-bug</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issue #2.</a:t>
            </a:r>
            <a:endParaRPr lang="en-US" sz="1650" dirty="0"/>
          </a:p>
        </p:txBody>
      </p:sp>
      <p:sp>
        <p:nvSpPr>
          <p:cNvPr id="9" name="Text 5"/>
          <p:cNvSpPr/>
          <p:nvPr/>
        </p:nvSpPr>
        <p:spPr>
          <a:xfrm>
            <a:off x="507950" y="1996678"/>
            <a:ext cx="8127950" cy="2229296"/>
          </a:xfrm>
          <a:prstGeom prst="roundRect">
            <a:avLst>
              <a:gd name="adj" fmla="val 5697"/>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Shape 6"/>
          <p:cNvSpPr/>
          <p:nvPr/>
        </p:nvSpPr>
        <p:spPr>
          <a:xfrm>
            <a:off x="517475" y="2518916"/>
            <a:ext cx="8108900" cy="0"/>
          </a:xfrm>
          <a:prstGeom prst="line">
            <a:avLst/>
          </a:prstGeom>
          <a:noFill/>
          <a:ln w="9525">
            <a:solidFill>
              <a:srgbClr val="D1D9E0"/>
            </a:solidFill>
            <a:prstDash val="solid"/>
          </a:ln>
        </p:spPr>
      </p:sp>
      <p:sp>
        <p:nvSpPr>
          <p:cNvPr id="11" name="Text 7"/>
          <p:cNvSpPr/>
          <p:nvPr/>
        </p:nvSpPr>
        <p:spPr>
          <a:xfrm>
            <a:off x="695176" y="2120503"/>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2" name="Text 8"/>
          <p:cNvSpPr/>
          <p:nvPr/>
        </p:nvSpPr>
        <p:spPr>
          <a:xfrm>
            <a:off x="789841" y="216485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152799"/>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Start from the branch</a:t>
            </a:r>
            <a:endParaRPr lang="en-US" sz="1500" dirty="0"/>
          </a:p>
        </p:txBody>
      </p:sp>
      <p:sp>
        <p:nvSpPr>
          <p:cNvPr id="14" name="Text 10"/>
          <p:cNvSpPr/>
          <p:nvPr/>
        </p:nvSpPr>
        <p:spPr>
          <a:xfrm>
            <a:off x="3615928" y="2156668"/>
            <a:ext cx="4929402" cy="207020"/>
          </a:xfrm>
          <a:prstGeom prst="rect">
            <a:avLst/>
          </a:prstGeom>
          <a:noFill/>
          <a:ln/>
        </p:spPr>
        <p:txBody>
          <a:bodyPr wrap="square" lIns="0" tIns="0" rIns="0" bIns="0" rtlCol="0" anchor="t"/>
          <a:lstStyle/>
          <a:p>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Create from</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Branches</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the practice branch.</a:t>
            </a:r>
            <a:endParaRPr lang="en-US" sz="1400" dirty="0"/>
          </a:p>
        </p:txBody>
      </p:sp>
      <p:sp>
        <p:nvSpPr>
          <p:cNvPr id="15" name="Shape 11"/>
          <p:cNvSpPr/>
          <p:nvPr/>
        </p:nvSpPr>
        <p:spPr>
          <a:xfrm>
            <a:off x="517475" y="3036391"/>
            <a:ext cx="8108900" cy="0"/>
          </a:xfrm>
          <a:prstGeom prst="line">
            <a:avLst/>
          </a:prstGeom>
          <a:noFill/>
          <a:ln w="9525">
            <a:solidFill>
              <a:srgbClr val="D1D9E0"/>
            </a:solidFill>
            <a:prstDash val="solid"/>
          </a:ln>
        </p:spPr>
      </p:sp>
      <p:sp>
        <p:nvSpPr>
          <p:cNvPr id="16" name="Text 12"/>
          <p:cNvSpPr/>
          <p:nvPr/>
        </p:nvSpPr>
        <p:spPr>
          <a:xfrm>
            <a:off x="695176" y="263797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7" name="Text 13"/>
          <p:cNvSpPr/>
          <p:nvPr/>
        </p:nvSpPr>
        <p:spPr>
          <a:xfrm>
            <a:off x="789841" y="268232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670274"/>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from the issue</a:t>
            </a:r>
            <a:endParaRPr lang="en-US" sz="1500" dirty="0"/>
          </a:p>
        </p:txBody>
      </p:sp>
      <p:sp>
        <p:nvSpPr>
          <p:cNvPr id="19" name="Text 15"/>
          <p:cNvSpPr/>
          <p:nvPr/>
        </p:nvSpPr>
        <p:spPr>
          <a:xfrm>
            <a:off x="3615928" y="2664619"/>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Attach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#2</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Plan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mode. Ask for the root cause.</a:t>
            </a:r>
            <a:endParaRPr lang="en-US" sz="1400" dirty="0"/>
          </a:p>
        </p:txBody>
      </p:sp>
      <p:sp>
        <p:nvSpPr>
          <p:cNvPr id="20" name="Shape 16"/>
          <p:cNvSpPr/>
          <p:nvPr/>
        </p:nvSpPr>
        <p:spPr>
          <a:xfrm>
            <a:off x="517475" y="3703737"/>
            <a:ext cx="8108900" cy="0"/>
          </a:xfrm>
          <a:prstGeom prst="line">
            <a:avLst/>
          </a:prstGeom>
          <a:noFill/>
          <a:ln w="9525">
            <a:solidFill>
              <a:srgbClr val="D1D9E0"/>
            </a:solidFill>
            <a:prstDash val="solid"/>
          </a:ln>
        </p:spPr>
      </p:sp>
      <p:sp>
        <p:nvSpPr>
          <p:cNvPr id="21" name="Text 17"/>
          <p:cNvSpPr/>
          <p:nvPr/>
        </p:nvSpPr>
        <p:spPr>
          <a:xfrm>
            <a:off x="695176" y="3230314"/>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2" name="Text 18"/>
          <p:cNvSpPr/>
          <p:nvPr/>
        </p:nvSpPr>
        <p:spPr>
          <a:xfrm>
            <a:off x="789841" y="3274665"/>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155454"/>
            <a:ext cx="2331720" cy="42922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Exit plan mode, implement</a:t>
            </a:r>
            <a:endParaRPr lang="en-US" sz="1500" dirty="0"/>
          </a:p>
        </p:txBody>
      </p:sp>
      <p:sp>
        <p:nvSpPr>
          <p:cNvPr id="24" name="Text 20"/>
          <p:cNvSpPr/>
          <p:nvPr/>
        </p:nvSpPr>
        <p:spPr>
          <a:xfrm>
            <a:off x="3615928" y="3266480"/>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Back 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Interactive</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Keep the fix small.</a:t>
            </a:r>
            <a:endParaRPr lang="en-US" sz="1400" dirty="0"/>
          </a:p>
        </p:txBody>
      </p:sp>
      <p:sp>
        <p:nvSpPr>
          <p:cNvPr id="25" name="Text 21"/>
          <p:cNvSpPr/>
          <p:nvPr/>
        </p:nvSpPr>
        <p:spPr>
          <a:xfrm>
            <a:off x="695176" y="382279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6" name="Text 22"/>
          <p:cNvSpPr/>
          <p:nvPr/>
        </p:nvSpPr>
        <p:spPr>
          <a:xfrm>
            <a:off x="789841" y="386715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855095"/>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Inspect the diff</a:t>
            </a:r>
            <a:endParaRPr lang="en-US" sz="1500" dirty="0"/>
          </a:p>
        </p:txBody>
      </p:sp>
      <p:sp>
        <p:nvSpPr>
          <p:cNvPr id="28" name="Text 24"/>
          <p:cNvSpPr/>
          <p:nvPr/>
        </p:nvSpPr>
        <p:spPr>
          <a:xfrm>
            <a:off x="3615928" y="3858964"/>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It should only touch the filtered-book data flow.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VALIDATE THE FIX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Prove it in the browser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Genre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Fantasy</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 Status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Unread</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with an empty search.</a:t>
            </a:r>
            <a:endParaRPr lang="en-US" sz="1650" dirty="0"/>
          </a:p>
        </p:txBody>
      </p:sp>
      <p:sp>
        <p:nvSpPr>
          <p:cNvPr id="9" name="Text 5"/>
          <p:cNvSpPr/>
          <p:nvPr/>
        </p:nvSpPr>
        <p:spPr>
          <a:xfrm>
            <a:off x="507950" y="2137767"/>
            <a:ext cx="3429000" cy="1227237"/>
          </a:xfrm>
          <a:prstGeom prst="roundRect">
            <a:avLst>
              <a:gd name="adj" fmla="val 8279"/>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47292"/>
            <a:ext cx="3409950" cy="238125"/>
          </a:xfrm>
          <a:prstGeom prst="rect">
            <a:avLst/>
          </a:prstGeom>
          <a:solidFill>
            <a:srgbClr val="EFF2F5"/>
          </a:solidFill>
          <a:ln/>
        </p:spPr>
        <p:txBody>
          <a:bodyPr wrap="square" rtlCol="0" anchor="ctr"/>
          <a:lstStyle/>
          <a:p>
            <a:pPr indent="0" marL="0">
              <a:buNone/>
            </a:pPr>
            <a:endParaRPr lang="en-US" dirty="0"/>
          </a:p>
        </p:txBody>
      </p:sp>
      <p:sp>
        <p:nvSpPr>
          <p:cNvPr id="11" name="Shape 7"/>
          <p:cNvSpPr/>
          <p:nvPr/>
        </p:nvSpPr>
        <p:spPr>
          <a:xfrm>
            <a:off x="517475" y="2380655"/>
            <a:ext cx="3409950" cy="0"/>
          </a:xfrm>
          <a:prstGeom prst="line">
            <a:avLst/>
          </a:prstGeom>
          <a:noFill/>
          <a:ln w="9525">
            <a:solidFill>
              <a:srgbClr val="D1D9E0"/>
            </a:solidFill>
            <a:prstDash val="solid"/>
          </a:ln>
        </p:spPr>
      </p:sp>
      <p:sp>
        <p:nvSpPr>
          <p:cNvPr id="12" name="Text 8"/>
          <p:cNvSpPr/>
          <p:nvPr/>
        </p:nvSpPr>
        <p:spPr>
          <a:xfrm>
            <a:off x="631775" y="2217093"/>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3" name="Text 9"/>
          <p:cNvSpPr/>
          <p:nvPr/>
        </p:nvSpPr>
        <p:spPr>
          <a:xfrm>
            <a:off x="771376" y="2217093"/>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4" name="Text 10"/>
          <p:cNvSpPr/>
          <p:nvPr/>
        </p:nvSpPr>
        <p:spPr>
          <a:xfrm>
            <a:off x="910977" y="2217093"/>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5" name="Text 11"/>
          <p:cNvSpPr/>
          <p:nvPr/>
        </p:nvSpPr>
        <p:spPr>
          <a:xfrm>
            <a:off x="1126778" y="2175867"/>
            <a:ext cx="715152" cy="171450"/>
          </a:xfrm>
          <a:prstGeom prst="rect">
            <a:avLst/>
          </a:prstGeom>
          <a:noFill/>
          <a:ln/>
        </p:spPr>
        <p:txBody>
          <a:bodyPr wrap="square" lIns="0" tIns="0" rIns="0" bIns="0" rtlCol="0" anchor="t"/>
          <a:lstStyle/>
          <a:p>
            <a:pPr algn="l" indent="0" marL="0">
              <a:buNone/>
            </a:pPr>
            <a:r>
              <a:rPr lang="en-US" sz="1150" dirty="0">
                <a:solidFill>
                  <a:srgbClr val="59636E"/>
                </a:solidFill>
                <a:latin typeface="Courier New" pitchFamily="34" charset="0"/>
                <a:ea typeface="Courier New" pitchFamily="34" charset="-122"/>
                <a:cs typeface="Courier New" pitchFamily="34" charset="-120"/>
              </a:rPr>
              <a:t>Terminal</a:t>
            </a:r>
            <a:endParaRPr lang="en-US" sz="1150" dirty="0"/>
          </a:p>
        </p:txBody>
      </p:sp>
      <p:sp>
        <p:nvSpPr>
          <p:cNvPr id="16" name="Text 12"/>
          <p:cNvSpPr/>
          <p:nvPr/>
        </p:nvSpPr>
        <p:spPr>
          <a:xfrm>
            <a:off x="669875" y="251236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test -- --run</a:t>
            </a:r>
            <a:endParaRPr lang="en-US" sz="1450" dirty="0"/>
          </a:p>
        </p:txBody>
      </p:sp>
      <p:sp>
        <p:nvSpPr>
          <p:cNvPr id="17" name="Text 13"/>
          <p:cNvSpPr/>
          <p:nvPr/>
        </p:nvSpPr>
        <p:spPr>
          <a:xfrm>
            <a:off x="669875" y="275108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build</a:t>
            </a:r>
            <a:endParaRPr lang="en-US" sz="1450" dirty="0"/>
          </a:p>
        </p:txBody>
      </p:sp>
      <p:sp>
        <p:nvSpPr>
          <p:cNvPr id="18" name="Text 14"/>
          <p:cNvSpPr/>
          <p:nvPr/>
        </p:nvSpPr>
        <p:spPr>
          <a:xfrm>
            <a:off x="669875" y="298980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dev</a:t>
            </a:r>
            <a:endParaRPr lang="en-US" sz="1450" dirty="0"/>
          </a:p>
        </p:txBody>
      </p:sp>
      <p:sp>
        <p:nvSpPr>
          <p:cNvPr id="19" name="Text 15"/>
          <p:cNvSpPr/>
          <p:nvPr/>
        </p:nvSpPr>
        <p:spPr>
          <a:xfrm>
            <a:off x="507950" y="3542705"/>
            <a:ext cx="3497580" cy="466130"/>
          </a:xfrm>
          <a:prstGeom prst="rect">
            <a:avLst/>
          </a:prstGeom>
          <a:noFill/>
          <a:ln/>
        </p:spPr>
        <p:txBody>
          <a:bodyPr wrap="square" lIns="0" tIns="0" rIns="0" bIns="0" rtlCol="0" anchor="t"/>
          <a:lstStyle/>
          <a:p>
            <a:pPr algn="l" indent="0" marL="0">
              <a:lnSpc>
                <a:spcPts val="1760"/>
              </a:lnSpc>
              <a:buNone/>
            </a:pPr>
            <a:r>
              <a:rPr lang="en-US" sz="1450" dirty="0">
                <a:solidFill>
                  <a:srgbClr val="59636E"/>
                </a:solidFill>
                <a:latin typeface="Arial" pitchFamily="34" charset="0"/>
                <a:ea typeface="Arial" pitchFamily="34" charset="-122"/>
                <a:cs typeface="Arial" pitchFamily="34" charset="-120"/>
              </a:rPr>
              <a:t>Open the </a:t>
            </a:r>
            <a:pPr algn="l" indent="0" marL="0">
              <a:lnSpc>
                <a:spcPts val="1760"/>
              </a:lnSpc>
              <a:buNone/>
            </a:pPr>
            <a:r>
              <a:rPr lang="en-US" sz="1450" b="1" dirty="0">
                <a:solidFill>
                  <a:srgbClr val="59636E"/>
                </a:solidFill>
                <a:latin typeface="Arial" pitchFamily="34" charset="0"/>
                <a:ea typeface="Arial" pitchFamily="34" charset="-122"/>
                <a:cs typeface="Arial" pitchFamily="34" charset="-120"/>
              </a:rPr>
              <a:t>Local</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 URL in a </a:t>
            </a:r>
            <a:pPr algn="l" indent="0" marL="0">
              <a:lnSpc>
                <a:spcPts val="1760"/>
              </a:lnSpc>
              <a:buNone/>
            </a:pPr>
            <a:r>
              <a:rPr lang="en-US" sz="1450" b="1" dirty="0">
                <a:solidFill>
                  <a:srgbClr val="59636E"/>
                </a:solidFill>
                <a:latin typeface="Arial" pitchFamily="34" charset="0"/>
                <a:ea typeface="Arial" pitchFamily="34" charset="-122"/>
                <a:cs typeface="Arial" pitchFamily="34" charset="-120"/>
              </a:rPr>
              <a:t>Browser</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 tab. Stop the server with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Ctrl+C</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a:t>
            </a:r>
            <a:endParaRPr lang="en-US" sz="1450" dirty="0"/>
          </a:p>
        </p:txBody>
      </p:sp>
      <p:sp>
        <p:nvSpPr>
          <p:cNvPr id="20" name="Text 16"/>
          <p:cNvSpPr/>
          <p:nvPr/>
        </p:nvSpPr>
        <p:spPr>
          <a:xfrm>
            <a:off x="4241750" y="2259062"/>
            <a:ext cx="4482033" cy="171450"/>
          </a:xfrm>
          <a:prstGeom prst="rect">
            <a:avLst/>
          </a:prstGeom>
          <a:noFill/>
          <a:ln/>
        </p:spPr>
        <p:txBody>
          <a:bodyPr wrap="square" lIns="0" tIns="0" rIns="0" bIns="0" rtlCol="0" anchor="t"/>
          <a:lstStyle/>
          <a:p>
            <a:pPr algn="l" indent="0" marL="0">
              <a:buNone/>
            </a:pPr>
            <a:r>
              <a:rPr lang="en-US" sz="1150" b="1" dirty="0">
                <a:solidFill>
                  <a:srgbClr val="59636E"/>
                </a:solidFill>
                <a:latin typeface="Arial" pitchFamily="34" charset="0"/>
                <a:ea typeface="Arial" pitchFamily="34" charset="-122"/>
                <a:cs typeface="Arial" pitchFamily="34" charset="-120"/>
              </a:rPr>
              <a:t>UNREAD COUNT</a:t>
            </a:r>
            <a:endParaRPr lang="en-US" sz="1150" dirty="0"/>
          </a:p>
        </p:txBody>
      </p:sp>
      <p:sp>
        <p:nvSpPr>
          <p:cNvPr id="21" name="Text 17"/>
          <p:cNvSpPr/>
          <p:nvPr/>
        </p:nvSpPr>
        <p:spPr>
          <a:xfrm>
            <a:off x="4241750" y="2532013"/>
            <a:ext cx="2120801" cy="1355527"/>
          </a:xfrm>
          <a:prstGeom prst="roundRect">
            <a:avLst>
              <a:gd name="adj" fmla="val 9369"/>
            </a:avLst>
          </a:prstGeom>
          <a:solidFill>
            <a:srgbClr val="FFEBE9"/>
          </a:solidFill>
          <a:ln w="9525">
            <a:solidFill>
              <a:srgbClr val="FFCECB"/>
            </a:solidFill>
          </a:ln>
        </p:spPr>
        <p:txBody>
          <a:bodyPr wrap="square" rtlCol="0" anchor="ctr"/>
          <a:lstStyle/>
          <a:p>
            <a:pPr indent="0" marL="0">
              <a:buNone/>
            </a:pPr>
            <a:endParaRPr lang="en-US" dirty="0"/>
          </a:p>
        </p:txBody>
      </p:sp>
      <p:sp>
        <p:nvSpPr>
          <p:cNvPr id="22" name="Text 18"/>
          <p:cNvSpPr/>
          <p:nvPr/>
        </p:nvSpPr>
        <p:spPr>
          <a:xfrm>
            <a:off x="4755959" y="2693938"/>
            <a:ext cx="1092235" cy="171450"/>
          </a:xfrm>
          <a:prstGeom prst="rect">
            <a:avLst/>
          </a:prstGeom>
          <a:noFill/>
          <a:ln/>
        </p:spPr>
        <p:txBody>
          <a:bodyPr wrap="square" lIns="0" tIns="0" rIns="0" bIns="0" rtlCol="0" anchor="t"/>
          <a:lstStyle/>
          <a:p>
            <a:pPr algn="ctr" indent="0" marL="0">
              <a:buNone/>
            </a:pPr>
            <a:r>
              <a:rPr lang="en-US" sz="1150" b="1" dirty="0">
                <a:solidFill>
                  <a:srgbClr val="CF222E"/>
                </a:solidFill>
                <a:latin typeface="Arial" pitchFamily="34" charset="0"/>
                <a:ea typeface="Arial" pitchFamily="34" charset="-122"/>
                <a:cs typeface="Arial" pitchFamily="34" charset="-120"/>
              </a:rPr>
              <a:t>WITH THE BUG</a:t>
            </a:r>
            <a:endParaRPr lang="en-US" sz="1150" dirty="0"/>
          </a:p>
        </p:txBody>
      </p:sp>
      <p:sp>
        <p:nvSpPr>
          <p:cNvPr id="23" name="Text 19"/>
          <p:cNvSpPr/>
          <p:nvPr/>
        </p:nvSpPr>
        <p:spPr>
          <a:xfrm>
            <a:off x="5143667" y="2890689"/>
            <a:ext cx="316968" cy="609600"/>
          </a:xfrm>
          <a:prstGeom prst="rect">
            <a:avLst/>
          </a:prstGeom>
          <a:noFill/>
          <a:ln/>
        </p:spPr>
        <p:txBody>
          <a:bodyPr wrap="square" lIns="0" tIns="0" rIns="0" bIns="0" rtlCol="0" anchor="t"/>
          <a:lstStyle/>
          <a:p>
            <a:pPr algn="ctr" indent="0" marL="0">
              <a:lnSpc>
                <a:spcPts val="4800"/>
              </a:lnSpc>
              <a:buNone/>
            </a:pPr>
            <a:r>
              <a:rPr lang="en-US" sz="4400" b="1" dirty="0">
                <a:solidFill>
                  <a:srgbClr val="CF222E"/>
                </a:solidFill>
                <a:latin typeface="Arial" pitchFamily="34" charset="0"/>
                <a:ea typeface="Arial" pitchFamily="34" charset="-122"/>
                <a:cs typeface="Arial" pitchFamily="34" charset="-120"/>
              </a:rPr>
              <a:t>5</a:t>
            </a:r>
            <a:endParaRPr lang="en-US" sz="4400" dirty="0"/>
          </a:p>
        </p:txBody>
      </p:sp>
      <p:sp>
        <p:nvSpPr>
          <p:cNvPr id="24" name="Text 20"/>
          <p:cNvSpPr/>
          <p:nvPr/>
        </p:nvSpPr>
        <p:spPr>
          <a:xfrm>
            <a:off x="4689772" y="3525589"/>
            <a:ext cx="1224608" cy="200025"/>
          </a:xfrm>
          <a:prstGeom prst="rect">
            <a:avLst/>
          </a:prstGeom>
          <a:noFill/>
          <a:ln/>
        </p:spPr>
        <p:txBody>
          <a:bodyPr wrap="square" lIns="0" tIns="0" rIns="0" bIns="0" rtlCol="0" anchor="t"/>
          <a:lstStyle/>
          <a:p>
            <a:pPr algn="ctr" indent="0" marL="0">
              <a:buNone/>
            </a:pPr>
            <a:r>
              <a:rPr lang="en-US" sz="1350" dirty="0">
                <a:solidFill>
                  <a:srgbClr val="1F2328"/>
                </a:solidFill>
                <a:latin typeface="Arial" pitchFamily="34" charset="0"/>
                <a:ea typeface="Arial" pitchFamily="34" charset="-122"/>
                <a:cs typeface="Arial" pitchFamily="34" charset="-120"/>
              </a:rPr>
              <a:t>Uses the full list</a:t>
            </a:r>
            <a:endParaRPr lang="en-US" sz="1350" dirty="0"/>
          </a:p>
        </p:txBody>
      </p:sp>
      <p:sp>
        <p:nvSpPr>
          <p:cNvPr id="25" name="Text 21"/>
          <p:cNvSpPr/>
          <p:nvPr/>
        </p:nvSpPr>
        <p:spPr>
          <a:xfrm>
            <a:off x="6514951" y="2532013"/>
            <a:ext cx="2120950" cy="1355527"/>
          </a:xfrm>
          <a:prstGeom prst="roundRect">
            <a:avLst>
              <a:gd name="adj" fmla="val 9369"/>
            </a:avLst>
          </a:prstGeom>
          <a:solidFill>
            <a:srgbClr val="DAFBE1"/>
          </a:solidFill>
          <a:ln w="9525">
            <a:solidFill>
              <a:srgbClr val="8CE7A5"/>
            </a:solidFill>
          </a:ln>
        </p:spPr>
        <p:txBody>
          <a:bodyPr wrap="square" rtlCol="0" anchor="ctr"/>
          <a:lstStyle/>
          <a:p>
            <a:pPr indent="0" marL="0">
              <a:buNone/>
            </a:pPr>
            <a:endParaRPr lang="en-US" dirty="0"/>
          </a:p>
        </p:txBody>
      </p:sp>
      <p:sp>
        <p:nvSpPr>
          <p:cNvPr id="26" name="Text 22"/>
          <p:cNvSpPr/>
          <p:nvPr/>
        </p:nvSpPr>
        <p:spPr>
          <a:xfrm>
            <a:off x="7020961" y="2693938"/>
            <a:ext cx="1108781" cy="171450"/>
          </a:xfrm>
          <a:prstGeom prst="rect">
            <a:avLst/>
          </a:prstGeom>
          <a:noFill/>
          <a:ln/>
        </p:spPr>
        <p:txBody>
          <a:bodyPr wrap="square" lIns="0" tIns="0" rIns="0" bIns="0" rtlCol="0" anchor="t"/>
          <a:lstStyle/>
          <a:p>
            <a:pPr algn="ctr" indent="0" marL="0">
              <a:buNone/>
            </a:pPr>
            <a:r>
              <a:rPr lang="en-US" sz="1150" b="1" dirty="0">
                <a:solidFill>
                  <a:srgbClr val="1A7F37"/>
                </a:solidFill>
                <a:latin typeface="Arial" pitchFamily="34" charset="0"/>
                <a:ea typeface="Arial" pitchFamily="34" charset="-122"/>
                <a:cs typeface="Arial" pitchFamily="34" charset="-120"/>
              </a:rPr>
              <a:t>AFTER THE FIX</a:t>
            </a:r>
            <a:endParaRPr lang="en-US" sz="1150" dirty="0"/>
          </a:p>
        </p:txBody>
      </p:sp>
      <p:sp>
        <p:nvSpPr>
          <p:cNvPr id="27" name="Text 23"/>
          <p:cNvSpPr/>
          <p:nvPr/>
        </p:nvSpPr>
        <p:spPr>
          <a:xfrm>
            <a:off x="7416867" y="2890689"/>
            <a:ext cx="316968" cy="609600"/>
          </a:xfrm>
          <a:prstGeom prst="rect">
            <a:avLst/>
          </a:prstGeom>
          <a:noFill/>
          <a:ln/>
        </p:spPr>
        <p:txBody>
          <a:bodyPr wrap="square" lIns="0" tIns="0" rIns="0" bIns="0" rtlCol="0" anchor="t"/>
          <a:lstStyle/>
          <a:p>
            <a:pPr algn="ctr" indent="0" marL="0">
              <a:lnSpc>
                <a:spcPts val="4800"/>
              </a:lnSpc>
              <a:buNone/>
            </a:pPr>
            <a:r>
              <a:rPr lang="en-US" sz="4400" b="1" dirty="0">
                <a:solidFill>
                  <a:srgbClr val="1A7F37"/>
                </a:solidFill>
                <a:latin typeface="Arial" pitchFamily="34" charset="0"/>
                <a:ea typeface="Arial" pitchFamily="34" charset="-122"/>
                <a:cs typeface="Arial" pitchFamily="34" charset="-120"/>
              </a:rPr>
              <a:t>1</a:t>
            </a:r>
            <a:endParaRPr lang="en-US" sz="4400" dirty="0"/>
          </a:p>
        </p:txBody>
      </p:sp>
      <p:sp>
        <p:nvSpPr>
          <p:cNvPr id="28" name="Text 24"/>
          <p:cNvSpPr/>
          <p:nvPr/>
        </p:nvSpPr>
        <p:spPr>
          <a:xfrm>
            <a:off x="6924260" y="3525589"/>
            <a:ext cx="1302332" cy="200025"/>
          </a:xfrm>
          <a:prstGeom prst="rect">
            <a:avLst/>
          </a:prstGeom>
          <a:noFill/>
          <a:ln/>
        </p:spPr>
        <p:txBody>
          <a:bodyPr wrap="square" lIns="0" tIns="0" rIns="0" bIns="0" rtlCol="0" anchor="t"/>
          <a:lstStyle/>
          <a:p>
            <a:pPr algn="ctr" indent="0" marL="0">
              <a:buNone/>
            </a:pPr>
            <a:r>
              <a:rPr lang="en-US" sz="1350" dirty="0">
                <a:solidFill>
                  <a:srgbClr val="1F2328"/>
                </a:solidFill>
                <a:latin typeface="Arial" pitchFamily="34" charset="0"/>
                <a:ea typeface="Arial" pitchFamily="34" charset="-122"/>
                <a:cs typeface="Arial" pitchFamily="34" charset="-120"/>
              </a:rPr>
              <a:t>The Night Circus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PROTECT THE FIX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Lock it in, then get a second opinion</a:t>
            </a:r>
            <a:endParaRPr lang="en-US" sz="2800" dirty="0"/>
          </a:p>
        </p:txBody>
      </p:sp>
      <p:sp>
        <p:nvSpPr>
          <p:cNvPr id="8" name="Text 4"/>
          <p:cNvSpPr/>
          <p:nvPr/>
        </p:nvSpPr>
        <p:spPr>
          <a:xfrm>
            <a:off x="507950" y="1807964"/>
            <a:ext cx="3962400" cy="2276624"/>
          </a:xfrm>
          <a:prstGeom prst="roundRect">
            <a:avLst>
              <a:gd name="adj" fmla="val 5578"/>
            </a:avLst>
          </a:prstGeom>
          <a:solidFill>
            <a:srgbClr val="FFFFFF"/>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99519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077789"/>
            <a:ext cx="215801" cy="215801"/>
          </a:xfrm>
          <a:prstGeom prst="rect">
            <a:avLst/>
          </a:prstGeom>
        </p:spPr>
      </p:pic>
      <p:sp>
        <p:nvSpPr>
          <p:cNvPr id="11" name="Text 6"/>
          <p:cNvSpPr/>
          <p:nvPr/>
        </p:nvSpPr>
        <p:spPr>
          <a:xfrm>
            <a:off x="1190476" y="2071390"/>
            <a:ext cx="2185532"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Add a regression test</a:t>
            </a:r>
            <a:endParaRPr lang="en-US" sz="1650" dirty="0"/>
          </a:p>
        </p:txBody>
      </p:sp>
      <p:sp>
        <p:nvSpPr>
          <p:cNvPr id="12" name="Text 7"/>
          <p:cNvSpPr/>
          <p:nvPr/>
        </p:nvSpPr>
        <p:spPr>
          <a:xfrm>
            <a:off x="695176" y="2452390"/>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It must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fail with the bug</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and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pass with the fix</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Never weaken an existing test.</a:t>
            </a:r>
            <a:endParaRPr lang="en-US" sz="1400" dirty="0"/>
          </a:p>
        </p:txBody>
      </p:sp>
      <p:sp>
        <p:nvSpPr>
          <p:cNvPr id="13" name="Text 8"/>
          <p:cNvSpPr/>
          <p:nvPr/>
        </p:nvSpPr>
        <p:spPr>
          <a:xfrm>
            <a:off x="695176" y="2957810"/>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4" name="Shape 9"/>
          <p:cNvSpPr/>
          <p:nvPr/>
        </p:nvSpPr>
        <p:spPr>
          <a:xfrm>
            <a:off x="695176" y="2962573"/>
            <a:ext cx="3587948" cy="0"/>
          </a:xfrm>
          <a:prstGeom prst="line">
            <a:avLst/>
          </a:prstGeom>
          <a:noFill/>
          <a:ln w="9525">
            <a:solidFill>
              <a:srgbClr val="8CE7A5"/>
            </a:solidFill>
            <a:prstDash val="solid"/>
          </a:ln>
        </p:spPr>
      </p:sp>
      <p:sp>
        <p:nvSpPr>
          <p:cNvPr id="15" name="Shape 10"/>
          <p:cNvSpPr/>
          <p:nvPr/>
        </p:nvSpPr>
        <p:spPr>
          <a:xfrm>
            <a:off x="4278362" y="2957810"/>
            <a:ext cx="0" cy="939552"/>
          </a:xfrm>
          <a:prstGeom prst="line">
            <a:avLst/>
          </a:prstGeom>
          <a:noFill/>
          <a:ln w="9525">
            <a:solidFill>
              <a:srgbClr val="8CE7A5"/>
            </a:solidFill>
            <a:prstDash val="solid"/>
          </a:ln>
        </p:spPr>
      </p:sp>
      <p:sp>
        <p:nvSpPr>
          <p:cNvPr id="16" name="Shape 11"/>
          <p:cNvSpPr/>
          <p:nvPr/>
        </p:nvSpPr>
        <p:spPr>
          <a:xfrm>
            <a:off x="695176" y="3892600"/>
            <a:ext cx="3587948" cy="0"/>
          </a:xfrm>
          <a:prstGeom prst="line">
            <a:avLst/>
          </a:prstGeom>
          <a:noFill/>
          <a:ln w="9525">
            <a:solidFill>
              <a:srgbClr val="8CE7A5"/>
            </a:solidFill>
            <a:prstDash val="solid"/>
          </a:ln>
        </p:spPr>
      </p:sp>
      <p:sp>
        <p:nvSpPr>
          <p:cNvPr id="17" name="Shape 12"/>
          <p:cNvSpPr/>
          <p:nvPr/>
        </p:nvSpPr>
        <p:spPr>
          <a:xfrm>
            <a:off x="718989" y="2957810"/>
            <a:ext cx="0" cy="939552"/>
          </a:xfrm>
          <a:prstGeom prst="line">
            <a:avLst/>
          </a:prstGeom>
          <a:noFill/>
          <a:ln w="47625">
            <a:solidFill>
              <a:srgbClr val="1A7F37"/>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0502" y="3097411"/>
            <a:ext cx="165050" cy="165050"/>
          </a:xfrm>
          <a:prstGeom prst="rect">
            <a:avLst/>
          </a:prstGeom>
        </p:spPr>
      </p:pic>
      <p:sp>
        <p:nvSpPr>
          <p:cNvPr id="19" name="Text 13"/>
          <p:cNvSpPr/>
          <p:nvPr/>
        </p:nvSpPr>
        <p:spPr>
          <a:xfrm>
            <a:off x="1161752" y="3094286"/>
            <a:ext cx="637276"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PROMPT</a:t>
            </a:r>
            <a:endParaRPr lang="en-US" sz="1150" dirty="0"/>
          </a:p>
        </p:txBody>
      </p:sp>
      <p:sp>
        <p:nvSpPr>
          <p:cNvPr id="20" name="Text 14"/>
          <p:cNvSpPr/>
          <p:nvPr/>
        </p:nvSpPr>
        <p:spPr>
          <a:xfrm>
            <a:off x="920502" y="3316486"/>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Test Fantasy + Unread with an empty search. Expect an unread count of 1.</a:t>
            </a:r>
            <a:endParaRPr lang="en-US" sz="1400" dirty="0"/>
          </a:p>
        </p:txBody>
      </p:sp>
      <p:sp>
        <p:nvSpPr>
          <p:cNvPr id="21" name="Text 15"/>
          <p:cNvSpPr/>
          <p:nvPr/>
        </p:nvSpPr>
        <p:spPr>
          <a:xfrm>
            <a:off x="4673501" y="1807964"/>
            <a:ext cx="3962400" cy="2276624"/>
          </a:xfrm>
          <a:prstGeom prst="roundRect">
            <a:avLst>
              <a:gd name="adj" fmla="val 5578"/>
            </a:avLst>
          </a:prstGeom>
          <a:solidFill>
            <a:srgbClr val="FFFFFF"/>
          </a:solidFill>
          <a:ln w="9525">
            <a:solidFill>
              <a:srgbClr val="E0C5FF"/>
            </a:solidFill>
          </a:ln>
        </p:spPr>
        <p:txBody>
          <a:bodyPr wrap="square" rtlCol="0" anchor="ctr"/>
          <a:lstStyle/>
          <a:p>
            <a:pPr indent="0" marL="0">
              <a:buNone/>
            </a:pPr>
            <a:endParaRPr lang="en-US" dirty="0"/>
          </a:p>
        </p:txBody>
      </p:sp>
      <p:sp>
        <p:nvSpPr>
          <p:cNvPr id="22" name="Text 16"/>
          <p:cNvSpPr/>
          <p:nvPr/>
        </p:nvSpPr>
        <p:spPr>
          <a:xfrm>
            <a:off x="4860727" y="199519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43326" y="2077789"/>
            <a:ext cx="215801" cy="215801"/>
          </a:xfrm>
          <a:prstGeom prst="rect">
            <a:avLst/>
          </a:prstGeom>
        </p:spPr>
      </p:pic>
      <p:sp>
        <p:nvSpPr>
          <p:cNvPr id="24" name="Text 17"/>
          <p:cNvSpPr/>
          <p:nvPr/>
        </p:nvSpPr>
        <p:spPr>
          <a:xfrm>
            <a:off x="5356027" y="2071390"/>
            <a:ext cx="206666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Ask the rubber duck</a:t>
            </a:r>
            <a:endParaRPr lang="en-US" sz="1650" dirty="0"/>
          </a:p>
        </p:txBody>
      </p:sp>
      <p:sp>
        <p:nvSpPr>
          <p:cNvPr id="25" name="Text 18"/>
          <p:cNvSpPr/>
          <p:nvPr/>
        </p:nvSpPr>
        <p:spPr>
          <a:xfrm>
            <a:off x="4860727" y="2452390"/>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critic that uses a different model to find gaps in your evidence.</a:t>
            </a:r>
            <a:endParaRPr lang="en-US" sz="1400" dirty="0"/>
          </a:p>
        </p:txBody>
      </p:sp>
      <p:sp>
        <p:nvSpPr>
          <p:cNvPr id="26" name="Text 19"/>
          <p:cNvSpPr/>
          <p:nvPr/>
        </p:nvSpPr>
        <p:spPr>
          <a:xfrm>
            <a:off x="4860727" y="2957810"/>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27" name="Shape 20"/>
          <p:cNvSpPr/>
          <p:nvPr/>
        </p:nvSpPr>
        <p:spPr>
          <a:xfrm>
            <a:off x="4860727" y="2962573"/>
            <a:ext cx="3587948" cy="0"/>
          </a:xfrm>
          <a:prstGeom prst="line">
            <a:avLst/>
          </a:prstGeom>
          <a:noFill/>
          <a:ln w="9525">
            <a:solidFill>
              <a:srgbClr val="E0C5FF"/>
            </a:solidFill>
            <a:prstDash val="solid"/>
          </a:ln>
        </p:spPr>
      </p:sp>
      <p:sp>
        <p:nvSpPr>
          <p:cNvPr id="28" name="Shape 21"/>
          <p:cNvSpPr/>
          <p:nvPr/>
        </p:nvSpPr>
        <p:spPr>
          <a:xfrm>
            <a:off x="8443912" y="2957810"/>
            <a:ext cx="0" cy="939552"/>
          </a:xfrm>
          <a:prstGeom prst="line">
            <a:avLst/>
          </a:prstGeom>
          <a:noFill/>
          <a:ln w="9525">
            <a:solidFill>
              <a:srgbClr val="E0C5FF"/>
            </a:solidFill>
            <a:prstDash val="solid"/>
          </a:ln>
        </p:spPr>
      </p:sp>
      <p:sp>
        <p:nvSpPr>
          <p:cNvPr id="29" name="Shape 22"/>
          <p:cNvSpPr/>
          <p:nvPr/>
        </p:nvSpPr>
        <p:spPr>
          <a:xfrm>
            <a:off x="4860727" y="3892600"/>
            <a:ext cx="3587948" cy="0"/>
          </a:xfrm>
          <a:prstGeom prst="line">
            <a:avLst/>
          </a:prstGeom>
          <a:noFill/>
          <a:ln w="9525">
            <a:solidFill>
              <a:srgbClr val="E0C5FF"/>
            </a:solidFill>
            <a:prstDash val="solid"/>
          </a:ln>
        </p:spPr>
      </p:sp>
      <p:sp>
        <p:nvSpPr>
          <p:cNvPr id="30" name="Shape 23"/>
          <p:cNvSpPr/>
          <p:nvPr/>
        </p:nvSpPr>
        <p:spPr>
          <a:xfrm>
            <a:off x="4884539" y="2957810"/>
            <a:ext cx="0" cy="939552"/>
          </a:xfrm>
          <a:prstGeom prst="line">
            <a:avLst/>
          </a:prstGeom>
          <a:noFill/>
          <a:ln w="47625">
            <a:solidFill>
              <a:srgbClr val="8250DF"/>
            </a:solidFill>
            <a:prstDash val="solid"/>
          </a:ln>
        </p:spPr>
      </p:sp>
      <p:pic>
        <p:nvPicPr>
          <p:cNvPr id="31"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052" y="3097411"/>
            <a:ext cx="165050" cy="165050"/>
          </a:xfrm>
          <a:prstGeom prst="rect">
            <a:avLst/>
          </a:prstGeom>
        </p:spPr>
      </p:pic>
      <p:sp>
        <p:nvSpPr>
          <p:cNvPr id="32" name="Text 24"/>
          <p:cNvSpPr/>
          <p:nvPr/>
        </p:nvSpPr>
        <p:spPr>
          <a:xfrm>
            <a:off x="5327303" y="3094286"/>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33" name="Text 25"/>
          <p:cNvSpPr/>
          <p:nvPr/>
        </p:nvSpPr>
        <p:spPr>
          <a:xfrm>
            <a:off x="5086052" y="3316486"/>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/rubber-duck Critique this session's diff, tests, and browser check.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OPTIONAL · UI CHANGES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Point at it with Pick &amp; Polish</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Attach a live page element to your next prompt.</a:t>
            </a:r>
            <a:endParaRPr lang="en-US" sz="1650" dirty="0"/>
          </a:p>
        </p:txBody>
      </p:sp>
      <p:sp>
        <p:nvSpPr>
          <p:cNvPr id="9" name="Text 5"/>
          <p:cNvSpPr/>
          <p:nvPr/>
        </p:nvSpPr>
        <p:spPr>
          <a:xfrm>
            <a:off x="867370" y="1577876"/>
            <a:ext cx="3472160" cy="3041600"/>
          </a:xfrm>
          <a:prstGeom prst="roundRect">
            <a:avLst>
              <a:gd name="adj" fmla="val 2505"/>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ick &amp; Polish with an article.book-card attachment in the prompt box"/>
          <p:cNvPicPr>
            <a:picLocks noChangeAspect="1"/>
          </p:cNvPicPr>
          <p:nvPr/>
        </p:nvPicPr>
        <p:blipFill>
          <a:blip r:embed="rId4"/>
          <a:stretch>
            <a:fillRect/>
          </a:stretch>
        </p:blipFill>
        <p:spPr>
          <a:xfrm>
            <a:off x="914995" y="1625501"/>
            <a:ext cx="3376910" cy="2946350"/>
          </a:xfrm>
          <a:prstGeom prst="rect">
            <a:avLst/>
          </a:prstGeom>
        </p:spPr>
      </p:pic>
      <p:sp>
        <p:nvSpPr>
          <p:cNvPr id="11" name="Text 6"/>
          <p:cNvSpPr/>
          <p:nvPr/>
        </p:nvSpPr>
        <p:spPr>
          <a:xfrm>
            <a:off x="5003750" y="1739801"/>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2" name="Text 7"/>
          <p:cNvSpPr/>
          <p:nvPr/>
        </p:nvSpPr>
        <p:spPr>
          <a:xfrm>
            <a:off x="5098415" y="178415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5435501" y="1739801"/>
            <a:ext cx="205953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Turn on Pick &amp; Polish</a:t>
            </a:r>
            <a:endParaRPr lang="en-US" sz="1550" dirty="0"/>
          </a:p>
        </p:txBody>
      </p:sp>
      <p:sp>
        <p:nvSpPr>
          <p:cNvPr id="14" name="Text 9"/>
          <p:cNvSpPr/>
          <p:nvPr/>
        </p:nvSpPr>
        <p:spPr>
          <a:xfrm>
            <a:off x="5435501" y="1987302"/>
            <a:ext cx="205953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 the preview toolbar.</a:t>
            </a:r>
            <a:endParaRPr lang="en-US" sz="1350" dirty="0"/>
          </a:p>
        </p:txBody>
      </p:sp>
      <p:sp>
        <p:nvSpPr>
          <p:cNvPr id="15" name="Text 10"/>
          <p:cNvSpPr/>
          <p:nvPr/>
        </p:nvSpPr>
        <p:spPr>
          <a:xfrm>
            <a:off x="5003750" y="2388543"/>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6" name="Text 11"/>
          <p:cNvSpPr/>
          <p:nvPr/>
        </p:nvSpPr>
        <p:spPr>
          <a:xfrm>
            <a:off x="5098415" y="243289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5435501" y="2388543"/>
            <a:ext cx="213832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Select a book card</a:t>
            </a:r>
            <a:endParaRPr lang="en-US" sz="1550" dirty="0"/>
          </a:p>
        </p:txBody>
      </p:sp>
      <p:sp>
        <p:nvSpPr>
          <p:cNvPr id="18" name="Text 13"/>
          <p:cNvSpPr/>
          <p:nvPr/>
        </p:nvSpPr>
        <p:spPr>
          <a:xfrm>
            <a:off x="5435501" y="2636044"/>
            <a:ext cx="213832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Click its empty background.</a:t>
            </a:r>
            <a:endParaRPr lang="en-US" sz="1350" dirty="0"/>
          </a:p>
        </p:txBody>
      </p:sp>
      <p:sp>
        <p:nvSpPr>
          <p:cNvPr id="19" name="Text 14"/>
          <p:cNvSpPr/>
          <p:nvPr/>
        </p:nvSpPr>
        <p:spPr>
          <a:xfrm>
            <a:off x="5003750" y="3037284"/>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0" name="Text 15"/>
          <p:cNvSpPr/>
          <p:nvPr/>
        </p:nvSpPr>
        <p:spPr>
          <a:xfrm>
            <a:off x="5098415" y="3081635"/>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5435501" y="3037284"/>
            <a:ext cx="2513430"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Prompt with it attached</a:t>
            </a:r>
            <a:endParaRPr lang="en-US" sz="1550" dirty="0"/>
          </a:p>
        </p:txBody>
      </p:sp>
      <p:sp>
        <p:nvSpPr>
          <p:cNvPr id="22" name="Text 17"/>
          <p:cNvSpPr/>
          <p:nvPr/>
        </p:nvSpPr>
        <p:spPr>
          <a:xfrm>
            <a:off x="5435501" y="3284786"/>
            <a:ext cx="2513430" cy="207615"/>
          </a:xfrm>
          <a:prstGeom prst="rect">
            <a:avLst/>
          </a:prstGeom>
          <a:noFill/>
          <a:ln/>
        </p:spPr>
        <p:txBody>
          <a:bodyPr wrap="square" lIns="0" tIns="0" rIns="0" bIns="0" rtlCol="0" anchor="t"/>
          <a:lstStyle/>
          <a:p>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article.book-card</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appears.</a:t>
            </a:r>
            <a:endParaRPr lang="en-US" sz="1350" dirty="0"/>
          </a:p>
        </p:txBody>
      </p:sp>
      <p:sp>
        <p:nvSpPr>
          <p:cNvPr id="23" name="Text 18"/>
          <p:cNvSpPr/>
          <p:nvPr/>
        </p:nvSpPr>
        <p:spPr>
          <a:xfrm>
            <a:off x="5003750" y="3698677"/>
            <a:ext cx="2834580" cy="755600"/>
          </a:xfrm>
          <a:prstGeom prst="roundRect">
            <a:avLst>
              <a:gd name="adj" fmla="val 10085"/>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4" name="Image 3" descr="Pick &amp; Polish with an article.book-card attachment in the prompt box"/>
          <p:cNvPicPr>
            <a:picLocks noChangeAspect="1"/>
          </p:cNvPicPr>
          <p:nvPr/>
        </p:nvPicPr>
        <p:blipFill>
          <a:blip r:embed="rId5"/>
          <a:stretch>
            <a:fillRect/>
          </a:stretch>
        </p:blipFill>
        <p:spPr>
          <a:xfrm>
            <a:off x="5051375" y="3746302"/>
            <a:ext cx="2739330" cy="660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8"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Outer loop on GitHub</a:t>
            </a:r>
            <a:endParaRPr lang="en-US" sz="4000" dirty="0"/>
          </a:p>
        </p:txBody>
      </p:sp>
      <p:sp>
        <p:nvSpPr>
          <p:cNvPr id="11" name="Text 7"/>
          <p:cNvSpPr/>
          <p:nvPr/>
        </p:nvSpPr>
        <p:spPr>
          <a:xfrm>
            <a:off x="711101" y="303588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THE OUTER LOOP</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From issue to merge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Feedback or a failed check sends the work back to the session.</a:t>
            </a:r>
            <a:endParaRPr lang="en-US" sz="1650" dirty="0"/>
          </a:p>
        </p:txBody>
      </p:sp>
      <p:pic>
        <p:nvPicPr>
          <p:cNvPr id="9" name="Image 2" descr="Issue-to-merge workflow: issue, session, diff, approval gate, pull request, checks, approval gate, and merge. Feedback or a failed check goes back to the session."/>
          <p:cNvPicPr>
            <a:picLocks noChangeAspect="1"/>
          </p:cNvPicPr>
          <p:nvPr/>
        </p:nvPicPr>
        <p:blipFill>
          <a:blip r:embed="rId4"/>
          <a:stretch>
            <a:fillRect/>
          </a:stretch>
        </p:blipFill>
        <p:spPr>
          <a:xfrm>
            <a:off x="1692771" y="1752451"/>
            <a:ext cx="5758160" cy="2717750"/>
          </a:xfrm>
          <a:prstGeom prst="rect">
            <a:avLst/>
          </a:prstGeom>
        </p:spPr>
      </p:pic>
    </p:spTree>
  </p:cSld>
  <p:clrMapOvr>
    <a:masterClrMapping/>
  </p:clrMapOvr>
</p: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03</ns1:t>
            </ns1:r>
            <ns1:endParaRPr lang="en-US" sz="1150" dirty="0"/>
          </ns1:p>
        </ns0:txBody>
      </ns0:sp>
      <ns0:pic>
        <ns0:nvPicPr>
          <ns0:cNvPr id="5" name="Image 1" descr="Open this chapter on GitHub">
            <ns1:hlinkClick ns3:id="rId3" tooltip="https://github.com/github/copilot-app-for-beginners/tree/main/03-development-workflow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ISSUES AND PULL REQUESTS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Find the course work</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Use query filter mode to find your fork.</ns1:t>
            </ns1:r>
            <ns1:endParaRPr lang="en-US" sz="1650" dirty="0"/>
          </ns1:p>
        </ns0:txBody>
      </ns0:sp>
      <ns0:sp>
        <ns0:nvSpPr>
          <ns0:cNvPr id="9" name="Text 5"/>
          <ns0:cNvSpPr/>
          <ns0:nvPr/>
        </ns0:nvSpPr>
        <ns0:spPr>
          <ns1:xfrm>
            <ns1:off x="512064" y="3200400"/>
            <ns1:ext cx="283464" cy="283464"/>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0" name="Text 6"/>
          <ns0:cNvSpPr/>
          <ns0:nvPr/>
        </ns0:nvSpPr>
        <ns0:spPr>
          <ns1:xfrm>
            <ns1:off x="603504" y="3246120"/>
            <ns1:ext cx="91440" cy="192024"/>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941832" y="3200400"/>
            <ns1:ext cx="7406640" cy="265176"/>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Issues &gt; Assigned to me</ns1:t>
            </ns1:r>
            <ns1:endParaRPr lang="en-US" sz="1550" dirty="0"/>
          </ns1:p>
        </ns0:txBody>
      </ns0:sp>
      <ns0:sp>
        <ns0:nvSpPr>
          <ns0:cNvPr id="12" name="Text 8"/>
          <ns0:cNvSpPr/>
          <ns0:nvPr/>
        </ns0:nvSpPr>
        <ns0:spPr>
          <ns1:xfrm>
            <ns1:off x="941832" y="3493008"/>
            <ns1:ext cx="7406640" cy="27432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Use repo:OWNER/copilot-app-for-beginners.</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3" name="Text 9"/>
          <ns0:cNvSpPr/>
          <ns0:nvPr/>
        </ns0:nvSpPr>
        <ns0:spPr>
          <ns1:xfrm>
            <ns1:off x="512064" y="4005072"/>
            <ns1:ext cx="283464" cy="283464"/>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4" name="Text 10"/>
          <ns0:cNvSpPr/>
          <ns0:nvPr/>
        </ns0:nvSpPr>
        <ns0:spPr>
          <ns1:xfrm>
            <ns1:off x="603504" y="4050792"/>
            <ns1:ext cx="91440" cy="192024"/>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941832" y="4005072"/>
            <ns1:ext cx="7406640" cy="265176"/>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Pull requests &gt; Authored by me</ns1:t>
            </ns1:r>
            <ns1:endParaRPr lang="en-US" sz="1550" dirty="0"/>
          </ns1:p>
        </ns0:txBody>
      </ns0:sp>
      <ns0:sp>
        <ns0:nvSpPr>
          <ns0:cNvPr id="16" name="Text 12"/>
          <ns0:cNvSpPr/>
          <ns0:nvPr/>
        </ns0:nvSpPr>
        <ns0:spPr>
          <ns1:xfrm>
            <ns1:off x="941832" y="4297680"/>
            <ns1:ext cx="7406640" cy="27432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Use the same query in Pull requests.</ns1:t>
            </ns1:r>
            <ns1:endParaRPr lang="en-US" sz="1350" dirty="0"/>
          </ns1:p>
        </ns0:txBody>
      </ns0:sp>
      <ns0:sp>
        <ns0:nvSpPr>
          <ns0:cNvPr id="17" name="Text 13"/>
          <ns0:cNvSpPr/>
          <ns0:nvPr/>
        </ns0:nvSpPr>
        <ns0:spPr>
          <ns1:xfrm>
            <ns1:off x="512064" y="1554480"/>
            <ns1:ext cx="8119872" cy="1385496"/>
          </ns1:xfrm>
          <ns1:prstGeom prst="roundRect">
            <ns1:avLst>
              <ns1:gd name="adj" fmla="val 6283"/>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8" name="Image 2" descr="Issues filter toolbar: filter icon, Query mode, and repository query. All three red callouts are visible."/>
          <ns0:cNvPicPr>
            <ns1:picLocks noChangeAspect="1"/>
          </ns0:cNvPicPr>
          <ns0:nvPr/>
        </ns0:nvPicPr>
        <ns0:blipFill>
          <ns1:blip ns3:embed="rId8"/>
          <ns1:stretch>
            <ns1:fillRect/>
          </ns1:stretch>
        </ns0:blipFill>
        <ns0:spPr>
          <ns1:xfrm>
            <ns1:off x="557784" y="1600200"/>
            <ns1:ext cx="8028432" cy="1294056"/>
          </ns1:xfrm>
          <ns1:prstGeom prst="rect">
            <ns1:avLst/>
          </ns1:prstGeom>
        </ns0:spPr>
      </ns0:pic>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ISSUE TO PULL REQUEST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Make search case-insensitive</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Branch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practice-search-case-bug</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issue #1.</a:t>
            </a:r>
            <a:endParaRPr lang="en-US" sz="1650" dirty="0"/>
          </a:p>
        </p:txBody>
      </p:sp>
      <p:sp>
        <p:nvSpPr>
          <p:cNvPr id="9" name="Text 5"/>
          <p:cNvSpPr/>
          <p:nvPr/>
        </p:nvSpPr>
        <p:spPr>
          <a:xfrm>
            <a:off x="507950" y="1734592"/>
            <a:ext cx="8127950" cy="2079427"/>
          </a:xfrm>
          <a:prstGeom prst="roundRect">
            <a:avLst>
              <a:gd name="adj" fmla="val 6107"/>
            </a:avLst>
          </a:prstGeom>
          <a:solidFill>
            <a:srgbClr val="FFFFFF"/>
          </a:solidFill>
          <a:ln w="9525">
            <a:solidFill>
              <a:srgbClr val="E0C5FF"/>
            </a:solidFill>
          </a:ln>
        </p:spPr>
        <p:txBody>
          <a:bodyPr wrap="square" rtlCol="0" anchor="ctr"/>
          <a:lstStyle/>
          <a:p>
            <a:pPr indent="0" marL="0">
              <a:buNone/>
            </a:pPr>
            <a:endParaRPr lang="en-US" dirty="0"/>
          </a:p>
        </p:txBody>
      </p:sp>
      <p:sp>
        <p:nvSpPr>
          <p:cNvPr id="10" name="Shape 6"/>
          <p:cNvSpPr/>
          <p:nvPr/>
        </p:nvSpPr>
        <p:spPr>
          <a:xfrm>
            <a:off x="517475" y="2256830"/>
            <a:ext cx="8108900" cy="0"/>
          </a:xfrm>
          <a:prstGeom prst="line">
            <a:avLst/>
          </a:prstGeom>
          <a:noFill/>
          <a:ln w="9525">
            <a:solidFill>
              <a:srgbClr val="D1D9E0"/>
            </a:solidFill>
            <a:prstDash val="solid"/>
          </a:ln>
        </p:spPr>
      </p:sp>
      <p:sp>
        <p:nvSpPr>
          <p:cNvPr id="11" name="Text 7"/>
          <p:cNvSpPr/>
          <p:nvPr/>
        </p:nvSpPr>
        <p:spPr>
          <a:xfrm>
            <a:off x="695176" y="1858417"/>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2" name="Text 8"/>
          <p:cNvSpPr/>
          <p:nvPr/>
        </p:nvSpPr>
        <p:spPr>
          <a:xfrm>
            <a:off x="789841" y="190276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1890713"/>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Create from the branch</a:t>
            </a:r>
            <a:endParaRPr lang="en-US" sz="1500" dirty="0"/>
          </a:p>
        </p:txBody>
      </p:sp>
      <p:sp>
        <p:nvSpPr>
          <p:cNvPr id="14" name="Text 10"/>
          <p:cNvSpPr/>
          <p:nvPr/>
        </p:nvSpPr>
        <p:spPr>
          <a:xfrm>
            <a:off x="3615928" y="1885057"/>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Not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New session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that starts from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main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15" name="Shape 11"/>
          <p:cNvSpPr/>
          <p:nvPr/>
        </p:nvSpPr>
        <p:spPr>
          <a:xfrm>
            <a:off x="517475" y="2774305"/>
            <a:ext cx="8108900" cy="0"/>
          </a:xfrm>
          <a:prstGeom prst="line">
            <a:avLst/>
          </a:prstGeom>
          <a:noFill/>
          <a:ln w="9525">
            <a:solidFill>
              <a:srgbClr val="D1D9E0"/>
            </a:solidFill>
            <a:prstDash val="solid"/>
          </a:ln>
        </p:spPr>
      </p:sp>
      <p:sp>
        <p:nvSpPr>
          <p:cNvPr id="16" name="Text 12"/>
          <p:cNvSpPr/>
          <p:nvPr/>
        </p:nvSpPr>
        <p:spPr>
          <a:xfrm>
            <a:off x="695176" y="2375892"/>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7" name="Text 13"/>
          <p:cNvSpPr/>
          <p:nvPr/>
        </p:nvSpPr>
        <p:spPr>
          <a:xfrm>
            <a:off x="789841" y="242024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408188"/>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then implement</a:t>
            </a:r>
            <a:endParaRPr lang="en-US" sz="1500" dirty="0"/>
          </a:p>
        </p:txBody>
      </p:sp>
      <p:sp>
        <p:nvSpPr>
          <p:cNvPr id="19" name="Text 15"/>
          <p:cNvSpPr/>
          <p:nvPr/>
        </p:nvSpPr>
        <p:spPr>
          <a:xfrm>
            <a:off x="3615928" y="2402532"/>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Attach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#1</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Add a test for upper and lower case.</a:t>
            </a:r>
            <a:endParaRPr lang="en-US" sz="1400" dirty="0"/>
          </a:p>
        </p:txBody>
      </p:sp>
      <p:sp>
        <p:nvSpPr>
          <p:cNvPr id="20" name="Shape 16"/>
          <p:cNvSpPr/>
          <p:nvPr/>
        </p:nvSpPr>
        <p:spPr>
          <a:xfrm>
            <a:off x="517475" y="3291780"/>
            <a:ext cx="8108900" cy="0"/>
          </a:xfrm>
          <a:prstGeom prst="line">
            <a:avLst/>
          </a:prstGeom>
          <a:noFill/>
          <a:ln w="9525">
            <a:solidFill>
              <a:srgbClr val="D1D9E0"/>
            </a:solidFill>
            <a:prstDash val="solid"/>
          </a:ln>
        </p:spPr>
      </p:sp>
      <p:sp>
        <p:nvSpPr>
          <p:cNvPr id="21" name="Text 17"/>
          <p:cNvSpPr/>
          <p:nvPr/>
        </p:nvSpPr>
        <p:spPr>
          <a:xfrm>
            <a:off x="695176" y="2893368"/>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2" name="Text 18"/>
          <p:cNvSpPr/>
          <p:nvPr/>
        </p:nvSpPr>
        <p:spPr>
          <a:xfrm>
            <a:off x="789841" y="293771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2925663"/>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Run the inner loop</a:t>
            </a:r>
            <a:endParaRPr lang="en-US" sz="1500" dirty="0"/>
          </a:p>
        </p:txBody>
      </p:sp>
      <p:sp>
        <p:nvSpPr>
          <p:cNvPr id="24" name="Text 20"/>
          <p:cNvSpPr/>
          <p:nvPr/>
        </p:nvSpPr>
        <p:spPr>
          <a:xfrm>
            <a:off x="3615928" y="2920008"/>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Diff, tests, build, then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hobbit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vs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HOBBIT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5" name="Text 21"/>
          <p:cNvSpPr/>
          <p:nvPr/>
        </p:nvSpPr>
        <p:spPr>
          <a:xfrm>
            <a:off x="695176" y="3410843"/>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6" name="Text 22"/>
          <p:cNvSpPr/>
          <p:nvPr/>
        </p:nvSpPr>
        <p:spPr>
          <a:xfrm>
            <a:off x="789841" y="345519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443139"/>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Create the PR</a:t>
            </a:r>
            <a:endParaRPr lang="en-US" sz="1500" dirty="0"/>
          </a:p>
        </p:txBody>
      </p:sp>
      <p:sp>
        <p:nvSpPr>
          <p:cNvPr id="28" name="Text 24"/>
          <p:cNvSpPr/>
          <p:nvPr/>
        </p:nvSpPr>
        <p:spPr>
          <a:xfrm>
            <a:off x="3615928" y="3447008"/>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Draft an honest summary, then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Create PR</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9" name="Text 25"/>
          <p:cNvSpPr/>
          <p:nvPr/>
        </p:nvSpPr>
        <p:spPr>
          <a:xfrm>
            <a:off x="507950" y="3991719"/>
            <a:ext cx="8127950" cy="496491"/>
          </a:xfrm>
          <a:prstGeom prst="roundRect">
            <a:avLst>
              <a:gd name="adj" fmla="val 20464"/>
            </a:avLst>
          </a:prstGeom>
          <a:solidFill>
            <a:srgbClr val="FFF8C5"/>
          </a:solidFill>
          <a:ln w="9525">
            <a:solidFill>
              <a:srgbClr val="E7C85A"/>
            </a:solidFill>
          </a:ln>
        </p:spPr>
        <p:txBody>
          <a:bodyPr wrap="square" rtlCol="0" anchor="ctr"/>
          <a:lstStyle/>
          <a:p>
            <a:pPr indent="0" marL="0">
              <a:buNone/>
            </a:pPr>
            <a:endParaRPr lang="en-US" dirty="0"/>
          </a:p>
        </p:txBody>
      </p:sp>
      <p:pic>
        <p:nvPicPr>
          <p:cNvPr id="3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138315"/>
            <a:ext cx="203150" cy="203150"/>
          </a:xfrm>
          <a:prstGeom prst="rect">
            <a:avLst/>
          </a:prstGeom>
        </p:spPr>
      </p:pic>
      <p:sp>
        <p:nvSpPr>
          <p:cNvPr id="31" name="Text 26"/>
          <p:cNvSpPr/>
          <p:nvPr/>
        </p:nvSpPr>
        <p:spPr>
          <a:xfrm>
            <a:off x="1025277" y="4128195"/>
            <a:ext cx="7129204"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Only claim checks that appear in terminal or CI output. Do not merge this practice PR.</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FEEDBACK AND CHECKS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Respond to comments and failed checks</a:t>
            </a:r>
            <a:endParaRPr lang="en-US" sz="2800" dirty="0"/>
          </a:p>
        </p:txBody>
      </p:sp>
      <p:sp>
        <p:nvSpPr>
          <p:cNvPr id="8" name="Text 4"/>
          <p:cNvSpPr/>
          <p:nvPr/>
        </p:nvSpPr>
        <p:spPr>
          <a:xfrm>
            <a:off x="507950" y="1565374"/>
            <a:ext cx="3937965"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IMPROVE EMPTY-STATE COPY</a:t>
            </a:r>
            <a:endParaRPr lang="en-US" sz="1150" dirty="0"/>
          </a:p>
        </p:txBody>
      </p:sp>
      <p:sp>
        <p:nvSpPr>
          <p:cNvPr id="9" name="Text 5"/>
          <p:cNvSpPr/>
          <p:nvPr/>
        </p:nvSpPr>
        <p:spPr>
          <a:xfrm>
            <a:off x="511076" y="2163514"/>
            <a:ext cx="3854351" cy="797421"/>
          </a:xfrm>
          <a:prstGeom prst="roundRect">
            <a:avLst>
              <a:gd name="adj" fmla="val 9556"/>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ull request conversation with the empty-state copy comment"/>
          <p:cNvPicPr>
            <a:picLocks noChangeAspect="1"/>
          </p:cNvPicPr>
          <p:nvPr/>
        </p:nvPicPr>
        <p:blipFill>
          <a:blip r:embed="rId4"/>
          <a:stretch>
            <a:fillRect/>
          </a:stretch>
        </p:blipFill>
        <p:spPr>
          <a:xfrm>
            <a:off x="558701" y="2211139"/>
            <a:ext cx="3759101" cy="702171"/>
          </a:xfrm>
          <a:prstGeom prst="rect">
            <a:avLst/>
          </a:prstGeom>
        </p:spPr>
      </p:pic>
      <p:sp>
        <p:nvSpPr>
          <p:cNvPr id="11" name="Text 6"/>
          <p:cNvSpPr/>
          <p:nvPr/>
        </p:nvSpPr>
        <p:spPr>
          <a:xfrm>
            <a:off x="507950" y="3387626"/>
            <a:ext cx="3860750"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2" name="Shape 7"/>
          <p:cNvSpPr/>
          <p:nvPr/>
        </p:nvSpPr>
        <p:spPr>
          <a:xfrm>
            <a:off x="507950" y="3392388"/>
            <a:ext cx="3860750" cy="0"/>
          </a:xfrm>
          <a:prstGeom prst="line">
            <a:avLst/>
          </a:prstGeom>
          <a:noFill/>
          <a:ln w="9525">
            <a:solidFill>
              <a:srgbClr val="9CD7FF"/>
            </a:solidFill>
            <a:prstDash val="solid"/>
          </a:ln>
        </p:spPr>
      </p:sp>
      <p:sp>
        <p:nvSpPr>
          <p:cNvPr id="13" name="Shape 8"/>
          <p:cNvSpPr/>
          <p:nvPr/>
        </p:nvSpPr>
        <p:spPr>
          <a:xfrm>
            <a:off x="4363938" y="3387626"/>
            <a:ext cx="0" cy="939552"/>
          </a:xfrm>
          <a:prstGeom prst="line">
            <a:avLst/>
          </a:prstGeom>
          <a:noFill/>
          <a:ln w="9525">
            <a:solidFill>
              <a:srgbClr val="9CD7FF"/>
            </a:solidFill>
            <a:prstDash val="solid"/>
          </a:ln>
        </p:spPr>
      </p:sp>
      <p:sp>
        <p:nvSpPr>
          <p:cNvPr id="14" name="Shape 9"/>
          <p:cNvSpPr/>
          <p:nvPr/>
        </p:nvSpPr>
        <p:spPr>
          <a:xfrm>
            <a:off x="507950" y="4322415"/>
            <a:ext cx="3860750" cy="0"/>
          </a:xfrm>
          <a:prstGeom prst="line">
            <a:avLst/>
          </a:prstGeom>
          <a:noFill/>
          <a:ln w="9525">
            <a:solidFill>
              <a:srgbClr val="9CD7FF"/>
            </a:solidFill>
            <a:prstDash val="solid"/>
          </a:ln>
        </p:spPr>
      </p:sp>
      <p:sp>
        <p:nvSpPr>
          <p:cNvPr id="15" name="Shape 10"/>
          <p:cNvSpPr/>
          <p:nvPr/>
        </p:nvSpPr>
        <p:spPr>
          <a:xfrm>
            <a:off x="531763" y="3387626"/>
            <a:ext cx="0" cy="939552"/>
          </a:xfrm>
          <a:prstGeom prst="line">
            <a:avLst/>
          </a:prstGeom>
          <a:noFill/>
          <a:ln w="47625">
            <a:solidFill>
              <a:srgbClr val="0969DA"/>
            </a:solidFill>
            <a:prstDash val="solid"/>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3276" y="3527227"/>
            <a:ext cx="165050" cy="165050"/>
          </a:xfrm>
          <a:prstGeom prst="rect">
            <a:avLst/>
          </a:prstGeom>
        </p:spPr>
      </p:pic>
      <p:sp>
        <p:nvSpPr>
          <p:cNvPr id="17" name="Text 11"/>
          <p:cNvSpPr/>
          <p:nvPr/>
        </p:nvSpPr>
        <p:spPr>
          <a:xfrm>
            <a:off x="974527" y="3524101"/>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18" name="Text 12"/>
          <p:cNvSpPr/>
          <p:nvPr/>
        </p:nvSpPr>
        <p:spPr>
          <a:xfrm>
            <a:off x="733276" y="3746302"/>
            <a:ext cx="3517163"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Address this PR comment with the smallest useful change. Show me the diff first.</a:t>
            </a:r>
            <a:endParaRPr lang="en-US" sz="1400" dirty="0"/>
          </a:p>
        </p:txBody>
      </p:sp>
      <p:sp>
        <p:nvSpPr>
          <p:cNvPr id="19" name="Text 13"/>
          <p:cNvSpPr/>
          <p:nvPr/>
        </p:nvSpPr>
        <p:spPr>
          <a:xfrm>
            <a:off x="4775002" y="1565374"/>
            <a:ext cx="3937965"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FAILING STATS CHECK PRACTICE</a:t>
            </a:r>
            <a:endParaRPr lang="en-US" sz="1150" dirty="0"/>
          </a:p>
        </p:txBody>
      </p:sp>
      <p:sp>
        <p:nvSpPr>
          <p:cNvPr id="20" name="Text 14"/>
          <p:cNvSpPr/>
          <p:nvPr/>
        </p:nvSpPr>
        <p:spPr>
          <a:xfrm>
            <a:off x="4778127" y="2073920"/>
            <a:ext cx="3854351" cy="976610"/>
          </a:xfrm>
          <a:prstGeom prst="roundRect">
            <a:avLst>
              <a:gd name="adj" fmla="val 7803"/>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4" descr="Failing stats check practice pull request showing the failed Book app web validation check"/>
          <p:cNvPicPr>
            <a:picLocks noChangeAspect="1"/>
          </p:cNvPicPr>
          <p:nvPr/>
        </p:nvPicPr>
        <p:blipFill>
          <a:blip r:embed="rId6"/>
          <a:stretch>
            <a:fillRect/>
          </a:stretch>
        </p:blipFill>
        <p:spPr>
          <a:xfrm>
            <a:off x="4825752" y="2121545"/>
            <a:ext cx="3759101" cy="881360"/>
          </a:xfrm>
          <a:prstGeom prst="rect">
            <a:avLst/>
          </a:prstGeom>
        </p:spPr>
      </p:pic>
      <p:sp>
        <p:nvSpPr>
          <p:cNvPr id="22" name="Text 15"/>
          <p:cNvSpPr/>
          <p:nvPr/>
        </p:nvSpPr>
        <p:spPr>
          <a:xfrm>
            <a:off x="4775002" y="3387626"/>
            <a:ext cx="3860750"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23" name="Shape 16"/>
          <p:cNvSpPr/>
          <p:nvPr/>
        </p:nvSpPr>
        <p:spPr>
          <a:xfrm>
            <a:off x="4775002" y="3392388"/>
            <a:ext cx="3860750" cy="0"/>
          </a:xfrm>
          <a:prstGeom prst="line">
            <a:avLst/>
          </a:prstGeom>
          <a:noFill/>
          <a:ln w="9525">
            <a:solidFill>
              <a:srgbClr val="FFCECB"/>
            </a:solidFill>
            <a:prstDash val="solid"/>
          </a:ln>
        </p:spPr>
      </p:sp>
      <p:sp>
        <p:nvSpPr>
          <p:cNvPr id="24" name="Shape 17"/>
          <p:cNvSpPr/>
          <p:nvPr/>
        </p:nvSpPr>
        <p:spPr>
          <a:xfrm>
            <a:off x="8630989" y="3387626"/>
            <a:ext cx="0" cy="939552"/>
          </a:xfrm>
          <a:prstGeom prst="line">
            <a:avLst/>
          </a:prstGeom>
          <a:noFill/>
          <a:ln w="9525">
            <a:solidFill>
              <a:srgbClr val="FFCECB"/>
            </a:solidFill>
            <a:prstDash val="solid"/>
          </a:ln>
        </p:spPr>
      </p:sp>
      <p:sp>
        <p:nvSpPr>
          <p:cNvPr id="25" name="Shape 18"/>
          <p:cNvSpPr/>
          <p:nvPr/>
        </p:nvSpPr>
        <p:spPr>
          <a:xfrm>
            <a:off x="4775002" y="4322415"/>
            <a:ext cx="3860750" cy="0"/>
          </a:xfrm>
          <a:prstGeom prst="line">
            <a:avLst/>
          </a:prstGeom>
          <a:noFill/>
          <a:ln w="9525">
            <a:solidFill>
              <a:srgbClr val="FFCECB"/>
            </a:solidFill>
            <a:prstDash val="solid"/>
          </a:ln>
        </p:spPr>
      </p:sp>
      <p:sp>
        <p:nvSpPr>
          <p:cNvPr id="26" name="Shape 19"/>
          <p:cNvSpPr/>
          <p:nvPr/>
        </p:nvSpPr>
        <p:spPr>
          <a:xfrm>
            <a:off x="4798814" y="3387626"/>
            <a:ext cx="0" cy="939552"/>
          </a:xfrm>
          <a:prstGeom prst="line">
            <a:avLst/>
          </a:prstGeom>
          <a:noFill/>
          <a:ln w="47625">
            <a:solidFill>
              <a:srgbClr val="CF222E"/>
            </a:solidFill>
            <a:prstDash val="solid"/>
          </a:ln>
        </p:spPr>
      </p:sp>
      <p:pic>
        <p:nvPicPr>
          <p:cNvPr id="27"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00327" y="3527227"/>
            <a:ext cx="165050" cy="165050"/>
          </a:xfrm>
          <a:prstGeom prst="rect">
            <a:avLst/>
          </a:prstGeom>
        </p:spPr>
      </p:pic>
      <p:sp>
        <p:nvSpPr>
          <p:cNvPr id="28" name="Text 20"/>
          <p:cNvSpPr/>
          <p:nvPr/>
        </p:nvSpPr>
        <p:spPr>
          <a:xfrm>
            <a:off x="5241578" y="3524101"/>
            <a:ext cx="637276"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PROMPT</a:t>
            </a:r>
            <a:endParaRPr lang="en-US" sz="1150" dirty="0"/>
          </a:p>
        </p:txBody>
      </p:sp>
      <p:sp>
        <p:nvSpPr>
          <p:cNvPr id="29" name="Text 21"/>
          <p:cNvSpPr/>
          <p:nvPr/>
        </p:nvSpPr>
        <p:spPr>
          <a:xfrm>
            <a:off x="5000327" y="3746302"/>
            <a:ext cx="3517163"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Analyze the failing check. Propose the smallest fix. Don't weaken the test.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OPTIONAL · AGENT MERGE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finishing aid, not a reviewer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Agent Merge carries a PR through checks to merge. You still decide.</a:t>
            </a:r>
            <a:endParaRPr lang="en-US" sz="1650" dirty="0"/>
          </a:p>
        </p:txBody>
      </p:sp>
      <p:sp>
        <p:nvSpPr>
          <p:cNvPr id="9" name="Text 5"/>
          <p:cNvSpPr/>
          <p:nvPr/>
        </p:nvSpPr>
        <p:spPr>
          <a:xfrm>
            <a:off x="511076"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Human judgment stays in the loop"/>
          <p:cNvPicPr>
            <a:picLocks noChangeAspect="1"/>
          </p:cNvPicPr>
          <p:nvPr/>
        </p:nvPicPr>
        <p:blipFill>
          <a:blip r:embed="rId4"/>
          <a:stretch>
            <a:fillRect/>
          </a:stretch>
        </p:blipFill>
        <p:spPr>
          <a:xfrm>
            <a:off x="558701" y="1879550"/>
            <a:ext cx="3581400" cy="2387501"/>
          </a:xfrm>
          <a:prstGeom prst="rect">
            <a:avLst/>
          </a:prstGeom>
        </p:spPr>
      </p:pic>
      <p:sp>
        <p:nvSpPr>
          <p:cNvPr id="11" name="Text 6"/>
          <p:cNvSpPr/>
          <p:nvPr/>
        </p:nvSpPr>
        <p:spPr>
          <a:xfrm>
            <a:off x="4444752" y="1574750"/>
            <a:ext cx="4191149" cy="1422350"/>
          </a:xfrm>
          <a:prstGeom prst="roundRect">
            <a:avLst>
              <a:gd name="adj" fmla="val 8929"/>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460667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89277" y="1819275"/>
            <a:ext cx="215801" cy="215801"/>
          </a:xfrm>
          <a:prstGeom prst="rect">
            <a:avLst/>
          </a:prstGeom>
        </p:spPr>
      </p:pic>
      <p:sp>
        <p:nvSpPr>
          <p:cNvPr id="14" name="Text 8"/>
          <p:cNvSpPr/>
          <p:nvPr/>
        </p:nvSpPr>
        <p:spPr>
          <a:xfrm>
            <a:off x="5101977" y="1812875"/>
            <a:ext cx="1187720"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Use it when</a:t>
            </a:r>
            <a:endParaRPr lang="en-US" sz="1650" dirty="0"/>
          </a:p>
        </p:txBody>
      </p:sp>
      <p:sp>
        <p:nvSpPr>
          <p:cNvPr id="15" name="Text 9"/>
          <p:cNvSpPr/>
          <p:nvPr/>
        </p:nvSpPr>
        <p:spPr>
          <a:xfrm>
            <a:off x="4606677" y="2273796"/>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6" name="Text 10"/>
          <p:cNvSpPr/>
          <p:nvPr/>
        </p:nvSpPr>
        <p:spPr>
          <a:xfrm>
            <a:off x="4765328" y="2193875"/>
            <a:ext cx="239805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PR is small and reviewed</a:t>
            </a:r>
            <a:endParaRPr lang="en-US" sz="1400" dirty="0"/>
          </a:p>
        </p:txBody>
      </p:sp>
      <p:sp>
        <p:nvSpPr>
          <p:cNvPr id="17" name="Text 11"/>
          <p:cNvSpPr/>
          <p:nvPr/>
        </p:nvSpPr>
        <p:spPr>
          <a:xfrm>
            <a:off x="4606677" y="254421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8" name="Text 12"/>
          <p:cNvSpPr/>
          <p:nvPr/>
        </p:nvSpPr>
        <p:spPr>
          <a:xfrm>
            <a:off x="4765328" y="2464296"/>
            <a:ext cx="264033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Checks are meaningful and pass</a:t>
            </a:r>
            <a:endParaRPr lang="en-US" sz="1400" dirty="0"/>
          </a:p>
        </p:txBody>
      </p:sp>
      <p:sp>
        <p:nvSpPr>
          <p:cNvPr id="19" name="Text 13"/>
          <p:cNvSpPr/>
          <p:nvPr/>
        </p:nvSpPr>
        <p:spPr>
          <a:xfrm>
            <a:off x="4444752" y="3149501"/>
            <a:ext cx="4191149" cy="1422350"/>
          </a:xfrm>
          <a:prstGeom prst="roundRect">
            <a:avLst>
              <a:gd name="adj" fmla="val 8929"/>
            </a:avLst>
          </a:prstGeom>
          <a:solidFill>
            <a:srgbClr val="FFFFFF"/>
          </a:solidFill>
          <a:ln w="9525">
            <a:solidFill>
              <a:srgbClr val="FFCECB"/>
            </a:solidFill>
          </a:ln>
        </p:spPr>
        <p:txBody>
          <a:bodyPr wrap="square" rtlCol="0" anchor="ctr"/>
          <a:lstStyle/>
          <a:p>
            <a:pPr indent="0" marL="0">
              <a:buNone/>
            </a:pPr>
            <a:endParaRPr lang="en-US" dirty="0"/>
          </a:p>
        </p:txBody>
      </p:sp>
      <p:sp>
        <p:nvSpPr>
          <p:cNvPr id="20" name="Text 14"/>
          <p:cNvSpPr/>
          <p:nvPr/>
        </p:nvSpPr>
        <p:spPr>
          <a:xfrm>
            <a:off x="4606677" y="3311426"/>
            <a:ext cx="381000" cy="381000"/>
          </a:xfrm>
          <a:prstGeom prst="roundRect">
            <a:avLst>
              <a:gd name="adj" fmla="val 23333"/>
            </a:avLst>
          </a:prstGeom>
          <a:solidFill>
            <a:srgbClr val="FFEBE9"/>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89277" y="3394025"/>
            <a:ext cx="215801" cy="215801"/>
          </a:xfrm>
          <a:prstGeom prst="rect">
            <a:avLst/>
          </a:prstGeom>
        </p:spPr>
      </p:pic>
      <p:sp>
        <p:nvSpPr>
          <p:cNvPr id="22" name="Text 15"/>
          <p:cNvSpPr/>
          <p:nvPr/>
        </p:nvSpPr>
        <p:spPr>
          <a:xfrm>
            <a:off x="5101977" y="3387626"/>
            <a:ext cx="112016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Avoid it for</a:t>
            </a:r>
            <a:endParaRPr lang="en-US" sz="1650" dirty="0"/>
          </a:p>
        </p:txBody>
      </p:sp>
      <p:sp>
        <p:nvSpPr>
          <p:cNvPr id="23" name="Text 16"/>
          <p:cNvSpPr/>
          <p:nvPr/>
        </p:nvSpPr>
        <p:spPr>
          <a:xfrm>
            <a:off x="4606677" y="3768626"/>
            <a:ext cx="3944645"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Secrets, auth, billing, or deployments.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Run both loops on a small UI task</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Card polish from issue #4, or better filter-row labels.</a:t>
            </a:r>
            <a:endParaRPr lang="en-US" sz="1650" dirty="0"/>
          </a:p>
        </p:txBody>
      </p:sp>
      <p:sp>
        <p:nvSpPr>
          <p:cNvPr id="9" name="Text 5"/>
          <p:cNvSpPr/>
          <p:nvPr/>
        </p:nvSpPr>
        <p:spPr>
          <a:xfrm>
            <a:off x="507950" y="2071688"/>
            <a:ext cx="5079950" cy="2079427"/>
          </a:xfrm>
          <a:prstGeom prst="roundRect">
            <a:avLst>
              <a:gd name="adj" fmla="val 6107"/>
            </a:avLst>
          </a:prstGeom>
          <a:solidFill>
            <a:srgbClr val="FFFFFF"/>
          </a:solidFill>
          <a:ln w="9525">
            <a:solidFill>
              <a:srgbClr val="FFC49B"/>
            </a:solidFill>
          </a:ln>
        </p:spPr>
        <p:txBody>
          <a:bodyPr wrap="square" rtlCol="0" anchor="ctr"/>
          <a:lstStyle/>
          <a:p>
            <a:pPr indent="0" marL="0">
              <a:buNone/>
            </a:pPr>
            <a:endParaRPr lang="en-US" dirty="0"/>
          </a:p>
        </p:txBody>
      </p:sp>
      <p:sp>
        <p:nvSpPr>
          <p:cNvPr id="10" name="Shape 6"/>
          <p:cNvSpPr/>
          <p:nvPr/>
        </p:nvSpPr>
        <p:spPr>
          <a:xfrm>
            <a:off x="517475" y="2593925"/>
            <a:ext cx="5060900" cy="0"/>
          </a:xfrm>
          <a:prstGeom prst="line">
            <a:avLst/>
          </a:prstGeom>
          <a:noFill/>
          <a:ln w="9525">
            <a:solidFill>
              <a:srgbClr val="D1D9E0"/>
            </a:solidFill>
            <a:prstDash val="solid"/>
          </a:ln>
        </p:spPr>
      </p:sp>
      <p:sp>
        <p:nvSpPr>
          <p:cNvPr id="11" name="Text 7"/>
          <p:cNvSpPr/>
          <p:nvPr/>
        </p:nvSpPr>
        <p:spPr>
          <a:xfrm>
            <a:off x="695176" y="219551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2" name="Text 8"/>
          <p:cNvSpPr/>
          <p:nvPr/>
        </p:nvSpPr>
        <p:spPr>
          <a:xfrm>
            <a:off x="789841" y="223986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227808"/>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a:t>
            </a:r>
            <a:endParaRPr lang="en-US" sz="1500" dirty="0"/>
          </a:p>
        </p:txBody>
      </p:sp>
      <p:sp>
        <p:nvSpPr>
          <p:cNvPr id="14" name="Text 10"/>
          <p:cNvSpPr/>
          <p:nvPr/>
        </p:nvSpPr>
        <p:spPr>
          <a:xfrm>
            <a:off x="2599879" y="2231678"/>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small UI improvement.</a:t>
            </a:r>
            <a:endParaRPr lang="en-US" sz="1400" dirty="0"/>
          </a:p>
        </p:txBody>
      </p:sp>
      <p:sp>
        <p:nvSpPr>
          <p:cNvPr id="15" name="Shape 11"/>
          <p:cNvSpPr/>
          <p:nvPr/>
        </p:nvSpPr>
        <p:spPr>
          <a:xfrm>
            <a:off x="517475" y="3111401"/>
            <a:ext cx="5060900" cy="0"/>
          </a:xfrm>
          <a:prstGeom prst="line">
            <a:avLst/>
          </a:prstGeom>
          <a:noFill/>
          <a:ln w="9525">
            <a:solidFill>
              <a:srgbClr val="D1D9E0"/>
            </a:solidFill>
            <a:prstDash val="solid"/>
          </a:ln>
        </p:spPr>
      </p:sp>
      <p:sp>
        <p:nvSpPr>
          <p:cNvPr id="16" name="Text 12"/>
          <p:cNvSpPr/>
          <p:nvPr/>
        </p:nvSpPr>
        <p:spPr>
          <a:xfrm>
            <a:off x="695176" y="271298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7" name="Text 13"/>
          <p:cNvSpPr/>
          <p:nvPr/>
        </p:nvSpPr>
        <p:spPr>
          <a:xfrm>
            <a:off x="789841" y="275733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745284"/>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Implement</a:t>
            </a:r>
            <a:endParaRPr lang="en-US" sz="1500" dirty="0"/>
          </a:p>
        </p:txBody>
      </p:sp>
      <p:sp>
        <p:nvSpPr>
          <p:cNvPr id="19" name="Text 15"/>
          <p:cNvSpPr/>
          <p:nvPr/>
        </p:nvSpPr>
        <p:spPr>
          <a:xfrm>
            <a:off x="2599879" y="2749153"/>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Interactive</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mode.</a:t>
            </a:r>
            <a:endParaRPr lang="en-US" sz="1400" dirty="0"/>
          </a:p>
        </p:txBody>
      </p:sp>
      <p:sp>
        <p:nvSpPr>
          <p:cNvPr id="20" name="Shape 16"/>
          <p:cNvSpPr/>
          <p:nvPr/>
        </p:nvSpPr>
        <p:spPr>
          <a:xfrm>
            <a:off x="517475" y="3628876"/>
            <a:ext cx="5060900" cy="0"/>
          </a:xfrm>
          <a:prstGeom prst="line">
            <a:avLst/>
          </a:prstGeom>
          <a:noFill/>
          <a:ln w="9525">
            <a:solidFill>
              <a:srgbClr val="D1D9E0"/>
            </a:solidFill>
            <a:prstDash val="solid"/>
          </a:ln>
        </p:spPr>
      </p:sp>
      <p:sp>
        <p:nvSpPr>
          <p:cNvPr id="21" name="Text 17"/>
          <p:cNvSpPr/>
          <p:nvPr/>
        </p:nvSpPr>
        <p:spPr>
          <a:xfrm>
            <a:off x="695176" y="323046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2" name="Text 18"/>
          <p:cNvSpPr/>
          <p:nvPr/>
        </p:nvSpPr>
        <p:spPr>
          <a:xfrm>
            <a:off x="789841" y="327481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262759"/>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Validate</a:t>
            </a:r>
            <a:endParaRPr lang="en-US" sz="1500" dirty="0"/>
          </a:p>
        </p:txBody>
      </p:sp>
      <p:sp>
        <p:nvSpPr>
          <p:cNvPr id="24" name="Text 20"/>
          <p:cNvSpPr/>
          <p:nvPr/>
        </p:nvSpPr>
        <p:spPr>
          <a:xfrm>
            <a:off x="2599879" y="3266629"/>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Tests, build, wide and narrow.</a:t>
            </a:r>
            <a:endParaRPr lang="en-US" sz="1400" dirty="0"/>
          </a:p>
        </p:txBody>
      </p:sp>
      <p:sp>
        <p:nvSpPr>
          <p:cNvPr id="25" name="Text 21"/>
          <p:cNvSpPr/>
          <p:nvPr/>
        </p:nvSpPr>
        <p:spPr>
          <a:xfrm>
            <a:off x="695176" y="374793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6" name="Text 22"/>
          <p:cNvSpPr/>
          <p:nvPr/>
        </p:nvSpPr>
        <p:spPr>
          <a:xfrm>
            <a:off x="789841" y="379228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780234"/>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Ship</a:t>
            </a:r>
            <a:endParaRPr lang="en-US" sz="1500" dirty="0"/>
          </a:p>
        </p:txBody>
      </p:sp>
      <p:sp>
        <p:nvSpPr>
          <p:cNvPr id="28" name="Text 24"/>
          <p:cNvSpPr/>
          <p:nvPr/>
        </p:nvSpPr>
        <p:spPr>
          <a:xfrm>
            <a:off x="2599879" y="3784104"/>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An honest PR. Checks pass.</a:t>
            </a:r>
            <a:endParaRPr lang="en-US" sz="1400" dirty="0"/>
          </a:p>
        </p:txBody>
      </p:sp>
      <p:sp>
        <p:nvSpPr>
          <p:cNvPr id="29" name="Text 25"/>
          <p:cNvSpPr/>
          <p:nvPr/>
        </p:nvSpPr>
        <p:spPr>
          <a:xfrm>
            <a:off x="5791051" y="2071688"/>
            <a:ext cx="2844850" cy="2079427"/>
          </a:xfrm>
          <a:prstGeom prst="roundRect">
            <a:avLst>
              <a:gd name="adj" fmla="val 6107"/>
            </a:avLst>
          </a:prstGeom>
          <a:solidFill>
            <a:srgbClr val="FFFFFF"/>
          </a:solidFill>
          <a:ln w="9525">
            <a:solidFill>
              <a:srgbClr val="FFC49B"/>
            </a:solidFill>
          </a:ln>
        </p:spPr>
        <p:txBody>
          <a:bodyPr wrap="square" rtlCol="0" anchor="ctr"/>
          <a:lstStyle/>
          <a:p>
            <a:pPr indent="0" marL="0">
              <a:buNone/>
            </a:pPr>
            <a:endParaRPr lang="en-US" dirty="0"/>
          </a:p>
        </p:txBody>
      </p:sp>
      <p:sp>
        <p:nvSpPr>
          <p:cNvPr id="30" name="Text 26"/>
          <p:cNvSpPr/>
          <p:nvPr/>
        </p:nvSpPr>
        <p:spPr>
          <a:xfrm>
            <a:off x="5978277" y="2258913"/>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0877" y="2341513"/>
            <a:ext cx="215801" cy="215801"/>
          </a:xfrm>
          <a:prstGeom prst="rect">
            <a:avLst/>
          </a:prstGeom>
        </p:spPr>
      </p:pic>
      <p:sp>
        <p:nvSpPr>
          <p:cNvPr id="32" name="Text 27"/>
          <p:cNvSpPr/>
          <p:nvPr/>
        </p:nvSpPr>
        <p:spPr>
          <a:xfrm>
            <a:off x="6473577" y="2335113"/>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3" name="Text 28"/>
          <p:cNvSpPr/>
          <p:nvPr/>
        </p:nvSpPr>
        <p:spPr>
          <a:xfrm>
            <a:off x="5978277" y="2716113"/>
            <a:ext cx="2519806" cy="64383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focused diff, passing checks, and a PR summary that only claims what you saw.</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Inner loop: understand, change, inspect, test, build, and preview.</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Outer loop: issue, pull request, feedback, checks, and merge.</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Tests protect behavior. Never weaken a failing test.</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Ready means the diff, local results, CI, and your review all agree.</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Open Chapter 03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04</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Skills and Custom Agents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03: Development and GitHub Workflows</dc:title>
  <dc:subject>PptxGenJS Presentation</dc:subject>
  <dc:creator>GitHub Copilot app for Beginners</dc:creator>
  <cp:lastModifiedBy>GitHub Copilot app for Beginners</cp:lastModifiedBy>
  <cp:revision>1</cp:revision>
  <dcterms:created xsi:type="dcterms:W3CDTF">2026-10-06T21:17:54Z</dcterms:created>
  <dcterms:modified xsi:type="dcterms:W3CDTF">2026-10-06T21:17:54Z</dcterms:modified>
</cp:coreProperties>
</file>