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04 introduced reusable instructions and roles. This chapter extends what the app can access. You connect Context7, an MCP server for up-to-date documentation, and install a plugin that supplies a web-guidance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MCP servers connect services, Plugins package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agents customize how the app works. MCP servers and plugins extend what it can reach. An MCP server is like connecting a piece of equipment: it exposes tools. A plugin is a packaged set of additions you install. Check what is included and what access it needs before you enable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supplies tools that connect the app to a service or data source; it can run locally or at a remote service. A plugin is a package that can contain skills, agents, MCP servers, or canvas extensions. A plugin can include an MCP server, and you can connect a server directly without a plugin. Installed tools are not isolated by worktrees, so check whether an integration is already installed before adding another. Add an integration only when the task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tools you already have. Add an integration only when it supplies something the task needs. Every extra tool is more noise for the agent and more access to review. Before adding an MCP connection or plugin, check whether it is already installed and enabled; do not create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Context Protocol defines how an AI application connects to tools and data. An MCP server supplies those tools. The graphic shows example connections, not required installations. The app already reads and searches local files, and you do not need another GitHub server for the Chapter 03 work. Configure MCP under Customize, MCP, not the Extensions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Customize, then MCP. Search for context7 and select Add server on the Context7 row. Review the configuration: server name context7, server type HTTP, and the URL https://mcp.context7.com/mcp. HTTP means the app connects to a hosted server instead of starting a local process. After adding it, confirm that Context7 appears under Installed in the MCP tab with its connected icon and enabled toggle. An enabled toggle alone does not prove it is connected. Use one connection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React, a label htmlFor value can match an input id. A label can also wrap its input. Ask Context7 a general question about the two patterns, with no repository code or paths. Expand the tool activity, confirm a Context7 tool returned documentation, and open a source link. Then compare that guidance with BookFilters.tsx locally. The inputs and selects are nested inside label elements, so a missing htmlFor is not a defect. No source files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marketplace is a catalog of plugins. Read a plugin's contents, not only its description; some start processes, call services, or run hooks, which are commands triggered by agent events. In Customize, Plugins, search for modern-web-guidance, then expand the awesome-copilot marketplace under Available; the app searches a marketplace only after you expand it. If it is missing and policy allows, select the gear icon, Manage marketplaces, and add github/awesome-copilot. Confirm the source, then install it and check that it appears under Installed in the Plugins tab with its toggle on. The skill uses npx, so it needs Node.js and internet access. If enterprise policy blocks it, record the exercise as blocked and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command can include a plugin prefix. The full prompt in the chapter also asks the skill to name the guide, explain browser support, and give a browser check. Inspect the skill activity and guide-search output. The recommendation should refer to the current book-title element and CSS. Unlike the repository skill in Chapter 04, this one arrived in an installed package. You still invoke it, inspect it, and check it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assignment, ask the default agent to summarize both exercises in a table with the capability, the evidence it ran, the source evidence, and what you learned. The rows here are examples of good answers. Compare the table with the actual tool activity and correct unsupported claims. Confirm that Changes is empty. Explain why Context7 is an MCP server and Modern Web Guidance is a plugin that supplies a skill. Disable only what you added if you do not want to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now connect external tools and use packaged capabilities without confusing installation with successful execution. Add only what you need; worktrees do not isolate installed tools. Next, Chapter 06 uses canvases, starting with a community canvas installed through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jp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6"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05</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MCP Servers and Plugins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the agent could look up the documentation it needs instead of relying only on what it already knows?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05</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51261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MCP servers connect services</a:t>
            </a:r>
            <a:endParaRPr lang="en-US" sz="1800" dirty="0"/>
          </a:p>
        </p:txBody>
      </p:sp>
      <p:sp>
        <p:nvSpPr>
          <p:cNvPr id="15" name="Text 11"/>
          <p:cNvSpPr/>
          <p:nvPr/>
        </p:nvSpPr>
        <p:spPr>
          <a:xfrm>
            <a:off x="1625501" y="2479625"/>
            <a:ext cx="51261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the agent a live connection to up-to-date documentation.</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638915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Plugins package capabilities</a:t>
            </a:r>
            <a:endParaRPr lang="en-US" sz="1800" dirty="0"/>
          </a:p>
        </p:txBody>
      </p:sp>
      <p:sp>
        <p:nvSpPr>
          <p:cNvPr id="23" name="Text 19"/>
          <p:cNvSpPr/>
          <p:nvPr/>
        </p:nvSpPr>
        <p:spPr>
          <a:xfrm>
            <a:off x="1625501" y="3489275"/>
            <a:ext cx="638915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Connecting the gear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song chart says what to play. It does not plug in a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extending-copilot-app.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103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Skills and agents</a:t>
            </a:r>
            <a:endParaRPr lang="en-US" sz="1550" dirty="0"/>
          </a:p>
        </p:txBody>
      </p:sp>
      <p:sp>
        <p:nvSpPr>
          <p:cNvPr id="14" name="Text 8"/>
          <p:cNvSpPr/>
          <p:nvPr/>
        </p:nvSpPr>
        <p:spPr>
          <a:xfrm>
            <a:off x="5537150" y="2204740"/>
            <a:ext cx="24103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Customize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how</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 app works.</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MCP servers</a:t>
            </a:r>
            <a:endParaRPr lang="en-US" sz="1550" dirty="0"/>
          </a:p>
        </p:txBody>
      </p:sp>
      <p:sp>
        <p:nvSpPr>
          <p:cNvPr id="18" name="Text 11"/>
          <p:cNvSpPr/>
          <p:nvPr/>
        </p:nvSpPr>
        <p:spPr>
          <a:xfrm>
            <a:off x="5537150" y="3139232"/>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it to services and data.</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22621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Plugins</a:t>
            </a:r>
            <a:endParaRPr lang="en-US" sz="1550" dirty="0"/>
          </a:p>
        </p:txBody>
      </p:sp>
      <p:sp>
        <p:nvSpPr>
          <p:cNvPr id="22" name="Text 14"/>
          <p:cNvSpPr/>
          <p:nvPr/>
        </p:nvSpPr>
        <p:spPr>
          <a:xfrm>
            <a:off x="5537150" y="4073723"/>
            <a:ext cx="222621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Install packaged capabilities.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MCP server or plugin?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Both live under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Customize</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They are not the same thing.</a:t>
            </a:r>
            <a:endParaRPr lang="en-US" sz="1650" dirty="0"/>
          </a:p>
        </p:txBody>
      </p:sp>
      <p:sp>
        <p:nvSpPr>
          <p:cNvPr id="9" name="Text 5"/>
          <p:cNvSpPr/>
          <p:nvPr/>
        </p:nvSpPr>
        <p:spPr>
          <a:xfrm>
            <a:off x="507950" y="1809006"/>
            <a:ext cx="3962400" cy="1905000"/>
          </a:xfrm>
          <a:prstGeom prst="roundRect">
            <a:avLst>
              <a:gd name="adj" fmla="val 666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199623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Plug-0969DA.png">    </p:cNvPr>
          <p:cNvPicPr>
            <a:picLocks noChangeAspect="1"/>
          </p:cNvPicPr>
          <p:nvPr/>
        </p:nvPicPr>
        <p:blipFill>
          <a:blip r:embed="rId4"/>
          <a:stretch>
            <a:fillRect/>
          </a:stretch>
        </p:blipFill>
        <p:spPr>
          <a:xfrm>
            <a:off x="777776" y="2078831"/>
            <a:ext cx="215801" cy="215801"/>
          </a:xfrm>
          <a:prstGeom prst="rect">
            <a:avLst/>
          </a:prstGeom>
        </p:spPr>
      </p:pic>
      <p:sp>
        <p:nvSpPr>
          <p:cNvPr id="12" name="Text 7"/>
          <p:cNvSpPr/>
          <p:nvPr/>
        </p:nvSpPr>
        <p:spPr>
          <a:xfrm>
            <a:off x="1190476" y="2072432"/>
            <a:ext cx="11723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MCP server</a:t>
            </a:r>
            <a:endParaRPr lang="en-US" sz="1650" dirty="0"/>
          </a:p>
        </p:txBody>
      </p:sp>
      <p:sp>
        <p:nvSpPr>
          <p:cNvPr id="13" name="Text 8"/>
          <p:cNvSpPr/>
          <p:nvPr/>
        </p:nvSpPr>
        <p:spPr>
          <a:xfrm>
            <a:off x="695176"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Supplies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tools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that connect the app to a service or data source.</a:t>
            </a:r>
            <a:endParaRPr lang="en-US" sz="1400" dirty="0"/>
          </a:p>
        </p:txBody>
      </p:sp>
      <p:sp>
        <p:nvSpPr>
          <p:cNvPr id="14" name="Text 9"/>
          <p:cNvSpPr/>
          <p:nvPr/>
        </p:nvSpPr>
        <p:spPr>
          <a:xfrm>
            <a:off x="695176"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Context7 for React docs</a:t>
            </a:r>
            <a:endParaRPr lang="en-US" sz="1400" dirty="0"/>
          </a:p>
        </p:txBody>
      </p:sp>
      <p:sp>
        <p:nvSpPr>
          <p:cNvPr id="15" name="Text 10"/>
          <p:cNvSpPr/>
          <p:nvPr/>
        </p:nvSpPr>
        <p:spPr>
          <a:xfrm>
            <a:off x="4673501" y="1809006"/>
            <a:ext cx="3962400" cy="1905000"/>
          </a:xfrm>
          <a:prstGeom prst="roundRect">
            <a:avLst>
              <a:gd name="adj" fmla="val 6667"/>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4860727" y="199623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Package-1A7F37.png">    </p:cNvPr>
          <p:cNvPicPr>
            <a:picLocks noChangeAspect="1"/>
          </p:cNvPicPr>
          <p:nvPr/>
        </p:nvPicPr>
        <p:blipFill>
          <a:blip r:embed="rId5"/>
          <a:stretch>
            <a:fillRect/>
          </a:stretch>
        </p:blipFill>
        <p:spPr>
          <a:xfrm>
            <a:off x="4943326" y="2078831"/>
            <a:ext cx="215801" cy="215801"/>
          </a:xfrm>
          <a:prstGeom prst="rect">
            <a:avLst/>
          </a:prstGeom>
        </p:spPr>
      </p:pic>
      <p:sp>
        <p:nvSpPr>
          <p:cNvPr id="18" name="Text 12"/>
          <p:cNvSpPr/>
          <p:nvPr/>
        </p:nvSpPr>
        <p:spPr>
          <a:xfrm>
            <a:off x="5356027" y="2072432"/>
            <a:ext cx="6530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Plugin</a:t>
            </a:r>
            <a:endParaRPr lang="en-US" sz="1650" dirty="0"/>
          </a:p>
        </p:txBody>
      </p:sp>
      <p:sp>
        <p:nvSpPr>
          <p:cNvPr id="19" name="Text 13"/>
          <p:cNvSpPr/>
          <p:nvPr/>
        </p:nvSpPr>
        <p:spPr>
          <a:xfrm>
            <a:off x="4860727"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An installable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package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of skills, agents, MCP servers, or canvases.</a:t>
            </a:r>
            <a:endParaRPr lang="en-US" sz="1400" dirty="0"/>
          </a:p>
        </p:txBody>
      </p:sp>
      <p:sp>
        <p:nvSpPr>
          <p:cNvPr id="20" name="Text 14"/>
          <p:cNvSpPr/>
          <p:nvPr/>
        </p:nvSpPr>
        <p:spPr>
          <a:xfrm>
            <a:off x="4860727"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Modern Web Guidance</a:t>
            </a:r>
            <a:endParaRPr lang="en-US" sz="1400" dirty="0"/>
          </a:p>
        </p:txBody>
      </p:sp>
      <p:sp>
        <p:nvSpPr>
          <p:cNvPr id="21" name="Text 15"/>
          <p:cNvSpPr/>
          <p:nvPr/>
        </p:nvSpPr>
        <p:spPr>
          <a:xfrm>
            <a:off x="507950" y="3917156"/>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Alert-9A6700.png">    </p:cNvPr>
          <p:cNvPicPr>
            <a:picLocks noChangeAspect="1"/>
          </p:cNvPicPr>
          <p:nvPr/>
        </p:nvPicPr>
        <p:blipFill>
          <a:blip r:embed="rId6"/>
          <a:stretch>
            <a:fillRect/>
          </a:stretch>
        </p:blipFill>
        <p:spPr>
          <a:xfrm>
            <a:off x="695176" y="4063752"/>
            <a:ext cx="203150" cy="203150"/>
          </a:xfrm>
          <a:prstGeom prst="rect">
            <a:avLst/>
          </a:prstGeom>
        </p:spPr>
      </p:pic>
      <p:sp>
        <p:nvSpPr>
          <p:cNvPr id="23" name="Text 16"/>
          <p:cNvSpPr/>
          <p:nvPr/>
        </p:nvSpPr>
        <p:spPr>
          <a:xfrm>
            <a:off x="1025277" y="4053632"/>
            <a:ext cx="5876815"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Worktrees do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not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isolate installed tools. They can affect every session.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extra tool is more noise for the agent and more access to review.</a:t>
            </a:r>
            <a:endParaRPr lang="en-US" sz="1650" dirty="0"/>
          </a:p>
        </p:txBody>
      </p:sp>
      <p:sp>
        <p:nvSpPr>
          <p:cNvPr id="9" name="Text 5"/>
          <p:cNvSpPr/>
          <p:nvPr/>
        </p:nvSpPr>
        <p:spPr>
          <a:xfrm>
            <a:off x="511076" y="170482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least-tool-principle.jpg">    </p:cNvPr>
          <p:cNvPicPr>
            <a:picLocks noChangeAspect="1"/>
          </p:cNvPicPr>
          <p:nvPr/>
        </p:nvPicPr>
        <p:blipFill>
          <a:blip r:embed="rId4"/>
          <a:stretch>
            <a:fillRect/>
          </a:stretch>
        </p:blipFill>
        <p:spPr>
          <a:xfrm>
            <a:off x="558701" y="1752451"/>
            <a:ext cx="3962400" cy="2641550"/>
          </a:xfrm>
          <a:prstGeom prst="rect">
            <a:avLst/>
          </a:prstGeom>
        </p:spPr>
      </p:pic>
      <p:sp>
        <p:nvSpPr>
          <p:cNvPr id="11" name="Text 6"/>
          <p:cNvSpPr/>
          <p:nvPr/>
        </p:nvSpPr>
        <p:spPr>
          <a:xfrm>
            <a:off x="4876651" y="22020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Tools-1A7F37.png">    </p:cNvPr>
          <p:cNvPicPr>
            <a:picLocks noChangeAspect="1"/>
          </p:cNvPicPr>
          <p:nvPr/>
        </p:nvPicPr>
        <p:blipFill>
          <a:blip r:embed="rId5"/>
          <a:stretch>
            <a:fillRect/>
          </a:stretch>
        </p:blipFill>
        <p:spPr>
          <a:xfrm>
            <a:off x="4959251" y="2284661"/>
            <a:ext cx="215801" cy="215801"/>
          </a:xfrm>
          <a:prstGeom prst="rect">
            <a:avLst/>
          </a:prstGeom>
        </p:spPr>
      </p:pic>
      <p:sp>
        <p:nvSpPr>
          <p:cNvPr id="13" name="Text 7"/>
          <p:cNvSpPr/>
          <p:nvPr/>
        </p:nvSpPr>
        <p:spPr>
          <a:xfrm>
            <a:off x="5410051" y="2166640"/>
            <a:ext cx="325666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Start with what you have</a:t>
            </a:r>
            <a:endParaRPr lang="en-US" sz="1550" dirty="0"/>
          </a:p>
        </p:txBody>
      </p:sp>
      <p:sp>
        <p:nvSpPr>
          <p:cNvPr id="14" name="Text 8"/>
          <p:cNvSpPr/>
          <p:nvPr/>
        </p:nvSpPr>
        <p:spPr>
          <a:xfrm>
            <a:off x="5410051" y="2420541"/>
            <a:ext cx="325666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app already reads and searches files.</a:t>
            </a:r>
            <a:endParaRPr lang="en-US" sz="1350" dirty="0"/>
          </a:p>
        </p:txBody>
      </p:sp>
      <p:sp>
        <p:nvSpPr>
          <p:cNvPr id="15" name="Text 9"/>
          <p:cNvSpPr/>
          <p:nvPr/>
        </p:nvSpPr>
        <p:spPr>
          <a:xfrm>
            <a:off x="4876651" y="28826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1A7F37.png">    </p:cNvPr>
          <p:cNvPicPr>
            <a:picLocks noChangeAspect="1"/>
          </p:cNvPicPr>
          <p:nvPr/>
        </p:nvPicPr>
        <p:blipFill>
          <a:blip r:embed="rId6"/>
          <a:stretch>
            <a:fillRect/>
          </a:stretch>
        </p:blipFill>
        <p:spPr>
          <a:xfrm>
            <a:off x="4959251" y="2965252"/>
            <a:ext cx="215801" cy="215801"/>
          </a:xfrm>
          <a:prstGeom prst="rect">
            <a:avLst/>
          </a:prstGeom>
        </p:spPr>
      </p:pic>
      <p:sp>
        <p:nvSpPr>
          <p:cNvPr id="17" name="Text 10"/>
          <p:cNvSpPr/>
          <p:nvPr/>
        </p:nvSpPr>
        <p:spPr>
          <a:xfrm>
            <a:off x="5410051" y="2847231"/>
            <a:ext cx="282189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Add only what the task needs</a:t>
            </a:r>
            <a:endParaRPr lang="en-US" sz="1550" dirty="0"/>
          </a:p>
        </p:txBody>
      </p:sp>
      <p:sp>
        <p:nvSpPr>
          <p:cNvPr id="18" name="Text 11"/>
          <p:cNvSpPr/>
          <p:nvPr/>
        </p:nvSpPr>
        <p:spPr>
          <a:xfrm>
            <a:off x="5410051" y="3101132"/>
            <a:ext cx="282189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connection per service.</a:t>
            </a:r>
            <a:endParaRPr lang="en-US" sz="1350" dirty="0"/>
          </a:p>
        </p:txBody>
      </p:sp>
      <p:sp>
        <p:nvSpPr>
          <p:cNvPr id="19" name="Text 12"/>
          <p:cNvSpPr/>
          <p:nvPr/>
        </p:nvSpPr>
        <p:spPr>
          <a:xfrm>
            <a:off x="4876651" y="356324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ShieldCheck-1A7F37.png">    </p:cNvPr>
          <p:cNvPicPr>
            <a:picLocks noChangeAspect="1"/>
          </p:cNvPicPr>
          <p:nvPr/>
        </p:nvPicPr>
        <p:blipFill>
          <a:blip r:embed="rId7"/>
          <a:stretch>
            <a:fillRect/>
          </a:stretch>
        </p:blipFill>
        <p:spPr>
          <a:xfrm>
            <a:off x="4959251" y="3645843"/>
            <a:ext cx="215801" cy="215801"/>
          </a:xfrm>
          <a:prstGeom prst="rect">
            <a:avLst/>
          </a:prstGeom>
        </p:spPr>
      </p:pic>
      <p:sp>
        <p:nvSpPr>
          <p:cNvPr id="21" name="Text 13"/>
          <p:cNvSpPr/>
          <p:nvPr/>
        </p:nvSpPr>
        <p:spPr>
          <a:xfrm>
            <a:off x="5410051" y="3527822"/>
            <a:ext cx="30042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the access</a:t>
            </a:r>
            <a:endParaRPr lang="en-US" sz="1550" dirty="0"/>
          </a:p>
        </p:txBody>
      </p:sp>
      <p:sp>
        <p:nvSpPr>
          <p:cNvPr id="22" name="Text 14"/>
          <p:cNvSpPr/>
          <p:nvPr/>
        </p:nvSpPr>
        <p:spPr>
          <a:xfrm>
            <a:off x="5410051" y="3781723"/>
            <a:ext cx="300421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Know what each tool can do and send.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connect services</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the agent a live connection to up-to-date documentation.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Like a browser extension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extension connects a browser to a service. MCP does that for the app.</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browser-extension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lug-0969DA.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2067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server supplies tools</a:t>
            </a:r>
            <a:endParaRPr lang="en-US" sz="1550" dirty="0"/>
          </a:p>
        </p:txBody>
      </p:sp>
      <p:sp>
        <p:nvSpPr>
          <p:cNvPr id="14" name="Text 8"/>
          <p:cNvSpPr/>
          <p:nvPr/>
        </p:nvSpPr>
        <p:spPr>
          <a:xfrm>
            <a:off x="5537150" y="2204740"/>
            <a:ext cx="242067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or hosted at a service.</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Book-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3330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Context7 supplies docs</a:t>
            </a:r>
            <a:endParaRPr lang="en-US" sz="1550" dirty="0"/>
          </a:p>
        </p:txBody>
      </p:sp>
      <p:sp>
        <p:nvSpPr>
          <p:cNvPr id="18" name="Text 11"/>
          <p:cNvSpPr/>
          <p:nvPr/>
        </p:nvSpPr>
        <p:spPr>
          <a:xfrm>
            <a:off x="5537150" y="3139232"/>
            <a:ext cx="23330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Current React documentation.</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91692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Not an app dependency</a:t>
            </a:r>
            <a:endParaRPr lang="en-US" sz="1550" dirty="0"/>
          </a:p>
        </p:txBody>
      </p:sp>
      <p:sp>
        <p:nvSpPr>
          <p:cNvPr id="22" name="Text 14"/>
          <p:cNvSpPr/>
          <p:nvPr/>
        </p:nvSpPr>
        <p:spPr>
          <a:xfrm>
            <a:off x="5537150" y="4073723"/>
            <a:ext cx="291692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Book App code does not change.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 Context7</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Skip this if it is already connected.</a:t>
            </a:r>
            <a:endParaRPr lang="en-US" sz="1650" dirty="0"/>
          </a:p>
        </p:txBody>
      </p:sp>
      <p:sp>
        <p:nvSpPr>
          <p:cNvPr id="9" name="Text 5"/>
          <p:cNvSpPr/>
          <p:nvPr/>
        </p:nvSpPr>
        <p:spPr>
          <a:xfrm>
            <a:off x="612725" y="1564928"/>
            <a:ext cx="7918400"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context7-crop.png">    </p:cNvPr>
          <p:cNvPicPr>
            <a:picLocks noChangeAspect="1"/>
          </p:cNvPicPr>
          <p:nvPr/>
        </p:nvPicPr>
        <p:blipFill>
          <a:blip r:embed="rId4"/>
          <a:stretch>
            <a:fillRect/>
          </a:stretch>
        </p:blipFill>
        <p:spPr>
          <a:xfrm>
            <a:off x="660350" y="1612553"/>
            <a:ext cx="7823150" cy="1676400"/>
          </a:xfrm>
          <a:prstGeom prst="rect">
            <a:avLst/>
          </a:prstGeom>
        </p:spPr>
      </p:pic>
      <p:sp>
        <p:nvSpPr>
          <p:cNvPr id="11" name="Text 6"/>
          <p:cNvSpPr/>
          <p:nvPr/>
        </p:nvSpPr>
        <p:spPr>
          <a:xfrm>
            <a:off x="507950" y="3542854"/>
            <a:ext cx="2607618"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669875"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8"/>
          <p:cNvSpPr/>
          <p:nvPr/>
        </p:nvSpPr>
        <p:spPr>
          <a:xfrm>
            <a:off x="764540"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30079"/>
            <a:ext cx="179934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Customize &gt; MCP</a:t>
            </a:r>
            <a:endParaRPr lang="en-US" sz="1650" dirty="0"/>
          </a:p>
        </p:txBody>
      </p:sp>
      <p:sp>
        <p:nvSpPr>
          <p:cNvPr id="15" name="Text 10"/>
          <p:cNvSpPr/>
          <p:nvPr/>
        </p:nvSpPr>
        <p:spPr>
          <a:xfrm>
            <a:off x="669875" y="4060329"/>
            <a:ext cx="2329443" cy="43874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context7</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Add server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2"/>
          <p:cNvSpPr/>
          <p:nvPr/>
        </p:nvSpPr>
        <p:spPr>
          <a:xfrm>
            <a:off x="3429893"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8" name="Text 13"/>
          <p:cNvSpPr/>
          <p:nvPr/>
        </p:nvSpPr>
        <p:spPr>
          <a:xfrm>
            <a:off x="3524558"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30079"/>
            <a:ext cx="184154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Review the values</a:t>
            </a:r>
            <a:endParaRPr lang="en-US" sz="1650" dirty="0"/>
          </a:p>
        </p:txBody>
      </p:sp>
      <p:sp>
        <p:nvSpPr>
          <p:cNvPr id="20" name="Text 15"/>
          <p:cNvSpPr/>
          <p:nvPr/>
        </p:nvSpPr>
        <p:spPr>
          <a:xfrm>
            <a:off x="3429893" y="4060329"/>
            <a:ext cx="232959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HTTP</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means a hosted server.</a:t>
            </a:r>
            <a:endParaRPr lang="en-US" sz="1400" dirty="0"/>
          </a:p>
        </p:txBody>
      </p:sp>
      <p:sp>
        <p:nvSpPr>
          <p:cNvPr id="21" name="Text 16"/>
          <p:cNvSpPr/>
          <p:nvPr/>
        </p:nvSpPr>
        <p:spPr>
          <a:xfrm>
            <a:off x="6028134"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22" name="Text 17"/>
          <p:cNvSpPr/>
          <p:nvPr/>
        </p:nvSpPr>
        <p:spPr>
          <a:xfrm>
            <a:off x="6190059"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3" name="Text 18"/>
          <p:cNvSpPr/>
          <p:nvPr/>
        </p:nvSpPr>
        <p:spPr>
          <a:xfrm>
            <a:off x="6284724"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30079"/>
            <a:ext cx="10093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Confirm it</a:t>
            </a:r>
            <a:endParaRPr lang="en-US" sz="1650" dirty="0"/>
          </a:p>
        </p:txBody>
      </p:sp>
      <p:sp>
        <p:nvSpPr>
          <p:cNvPr id="25" name="Text 20"/>
          <p:cNvSpPr/>
          <p:nvPr/>
        </p:nvSpPr>
        <p:spPr>
          <a:xfrm>
            <a:off x="6190059" y="4060329"/>
            <a:ext cx="232959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Connected icon, toggle 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a general question. Compare locally.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docs without sending your code to the service.</a:t>
            </a:r>
            <a:endParaRPr lang="en-US" sz="1650" dirty="0"/>
          </a:p>
        </p:txBody>
      </p:sp>
      <p:sp>
        <p:nvSpPr>
          <p:cNvPr id="9" name="Text 5"/>
          <p:cNvSpPr/>
          <p:nvPr/>
        </p:nvSpPr>
        <p:spPr>
          <a:xfrm>
            <a:off x="507950" y="157475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Globe-0969DA.png">    </p:cNvPr>
          <p:cNvPicPr>
            <a:picLocks noChangeAspect="1"/>
          </p:cNvPicPr>
          <p:nvPr/>
        </p:nvPicPr>
        <p:blipFill>
          <a:blip r:embed="rId4"/>
          <a:stretch>
            <a:fillRect/>
          </a:stretch>
        </p:blipFill>
        <p:spPr>
          <a:xfrm>
            <a:off x="590550" y="1657350"/>
            <a:ext cx="215801" cy="215801"/>
          </a:xfrm>
          <a:prstGeom prst="rect">
            <a:avLst/>
          </a:prstGeom>
        </p:spPr>
      </p:pic>
      <p:sp>
        <p:nvSpPr>
          <p:cNvPr id="11" name="Text 6"/>
          <p:cNvSpPr/>
          <p:nvPr/>
        </p:nvSpPr>
        <p:spPr>
          <a:xfrm>
            <a:off x="1041350" y="1650950"/>
            <a:ext cx="244253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1 · Goes to Context7</a:t>
            </a:r>
            <a:endParaRPr lang="en-US" sz="1550" dirty="0"/>
          </a:p>
        </p:txBody>
      </p:sp>
      <p:sp>
        <p:nvSpPr>
          <p:cNvPr id="12" name="Text 7"/>
          <p:cNvSpPr/>
          <p:nvPr/>
        </p:nvSpPr>
        <p:spPr>
          <a:xfrm>
            <a:off x="507950" y="2108150"/>
            <a:ext cx="39369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13" name="Shape 8"/>
          <p:cNvSpPr/>
          <p:nvPr/>
        </p:nvSpPr>
        <p:spPr>
          <a:xfrm>
            <a:off x="507950" y="2112913"/>
            <a:ext cx="3936950" cy="0"/>
          </a:xfrm>
          <a:prstGeom prst="line">
            <a:avLst/>
          </a:prstGeom>
          <a:noFill/>
          <a:ln w="9525">
            <a:solidFill>
              <a:srgbClr val="9CD7FF"/>
            </a:solidFill>
            <a:prstDash val="solid"/>
          </a:ln>
        </p:spPr>
      </p:sp>
      <p:sp>
        <p:nvSpPr>
          <p:cNvPr id="14" name="Shape 9"/>
          <p:cNvSpPr/>
          <p:nvPr/>
        </p:nvSpPr>
        <p:spPr>
          <a:xfrm>
            <a:off x="4440138" y="2108150"/>
            <a:ext cx="0" cy="1383953"/>
          </a:xfrm>
          <a:prstGeom prst="line">
            <a:avLst/>
          </a:prstGeom>
          <a:noFill/>
          <a:ln w="9525">
            <a:solidFill>
              <a:srgbClr val="9CD7FF"/>
            </a:solidFill>
            <a:prstDash val="solid"/>
          </a:ln>
        </p:spPr>
      </p:sp>
      <p:sp>
        <p:nvSpPr>
          <p:cNvPr id="15" name="Shape 10"/>
          <p:cNvSpPr/>
          <p:nvPr/>
        </p:nvSpPr>
        <p:spPr>
          <a:xfrm>
            <a:off x="507950" y="3487341"/>
            <a:ext cx="3936950" cy="0"/>
          </a:xfrm>
          <a:prstGeom prst="line">
            <a:avLst/>
          </a:prstGeom>
          <a:noFill/>
          <a:ln w="9525">
            <a:solidFill>
              <a:srgbClr val="9CD7FF"/>
            </a:solidFill>
            <a:prstDash val="solid"/>
          </a:ln>
        </p:spPr>
      </p:sp>
      <p:sp>
        <p:nvSpPr>
          <p:cNvPr id="16" name="Shape 11"/>
          <p:cNvSpPr/>
          <p:nvPr/>
        </p:nvSpPr>
        <p:spPr>
          <a:xfrm>
            <a:off x="531763" y="2108150"/>
            <a:ext cx="0" cy="1383953"/>
          </a:xfrm>
          <a:prstGeom prst="line">
            <a:avLst/>
          </a:prstGeom>
          <a:noFill/>
          <a:ln w="47625">
            <a:solidFill>
              <a:srgbClr val="0969DA"/>
            </a:solidFill>
            <a:prstDash val="solid"/>
          </a:ln>
        </p:spPr>
      </p:sp>
      <p:pic>
        <p:nvPicPr>
          <p:cNvPr id="17"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2247751"/>
            <a:ext cx="165050" cy="165050"/>
          </a:xfrm>
          <a:prstGeom prst="rect">
            <a:avLst/>
          </a:prstGeom>
        </p:spPr>
      </p:pic>
      <p:sp>
        <p:nvSpPr>
          <p:cNvPr id="18" name="Text 12"/>
          <p:cNvSpPr/>
          <p:nvPr/>
        </p:nvSpPr>
        <p:spPr>
          <a:xfrm>
            <a:off x="974527" y="2244626"/>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9" name="Text 13"/>
          <p:cNvSpPr/>
          <p:nvPr/>
        </p:nvSpPr>
        <p:spPr>
          <a:xfrm>
            <a:off x="733276" y="2466826"/>
            <a:ext cx="3594887"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Context7 MCP tools to find React guidance on input labels: nested labels vs. htmlFor and id. Include source links. Do not send repository code.</a:t>
            </a:r>
            <a:endParaRPr lang="en-US" sz="1400" dirty="0"/>
          </a:p>
        </p:txBody>
      </p:sp>
      <p:sp>
        <p:nvSpPr>
          <p:cNvPr id="20" name="Text 14"/>
          <p:cNvSpPr/>
          <p:nvPr/>
        </p:nvSpPr>
        <p:spPr>
          <a:xfrm>
            <a:off x="4698802" y="157475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Lock-1A7F37.png">    </p:cNvPr>
          <p:cNvPicPr>
            <a:picLocks noChangeAspect="1"/>
          </p:cNvPicPr>
          <p:nvPr/>
        </p:nvPicPr>
        <p:blipFill>
          <a:blip r:embed="rId6"/>
          <a:stretch>
            <a:fillRect/>
          </a:stretch>
        </p:blipFill>
        <p:spPr>
          <a:xfrm>
            <a:off x="4781401" y="1657350"/>
            <a:ext cx="215801" cy="215801"/>
          </a:xfrm>
          <a:prstGeom prst="rect">
            <a:avLst/>
          </a:prstGeom>
        </p:spPr>
      </p:pic>
      <p:sp>
        <p:nvSpPr>
          <p:cNvPr id="22" name="Text 15"/>
          <p:cNvSpPr/>
          <p:nvPr/>
        </p:nvSpPr>
        <p:spPr>
          <a:xfrm>
            <a:off x="5232202" y="1650950"/>
            <a:ext cx="182955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2 · Stays local</a:t>
            </a:r>
            <a:endParaRPr lang="en-US" sz="1550" dirty="0"/>
          </a:p>
        </p:txBody>
      </p:sp>
      <p:sp>
        <p:nvSpPr>
          <p:cNvPr id="23" name="Text 16"/>
          <p:cNvSpPr/>
          <p:nvPr/>
        </p:nvSpPr>
        <p:spPr>
          <a:xfrm>
            <a:off x="4698802" y="2108150"/>
            <a:ext cx="3937099"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4" name="Shape 17"/>
          <p:cNvSpPr/>
          <p:nvPr/>
        </p:nvSpPr>
        <p:spPr>
          <a:xfrm>
            <a:off x="4698802" y="2112913"/>
            <a:ext cx="3937099" cy="0"/>
          </a:xfrm>
          <a:prstGeom prst="line">
            <a:avLst/>
          </a:prstGeom>
          <a:noFill/>
          <a:ln w="9525">
            <a:solidFill>
              <a:srgbClr val="8CE7A5"/>
            </a:solidFill>
            <a:prstDash val="solid"/>
          </a:ln>
        </p:spPr>
      </p:sp>
      <p:sp>
        <p:nvSpPr>
          <p:cNvPr id="25" name="Shape 18"/>
          <p:cNvSpPr/>
          <p:nvPr/>
        </p:nvSpPr>
        <p:spPr>
          <a:xfrm>
            <a:off x="8631138" y="2108150"/>
            <a:ext cx="0" cy="1383953"/>
          </a:xfrm>
          <a:prstGeom prst="line">
            <a:avLst/>
          </a:prstGeom>
          <a:noFill/>
          <a:ln w="9525">
            <a:solidFill>
              <a:srgbClr val="8CE7A5"/>
            </a:solidFill>
            <a:prstDash val="solid"/>
          </a:ln>
        </p:spPr>
      </p:sp>
      <p:sp>
        <p:nvSpPr>
          <p:cNvPr id="26" name="Shape 19"/>
          <p:cNvSpPr/>
          <p:nvPr/>
        </p:nvSpPr>
        <p:spPr>
          <a:xfrm>
            <a:off x="4698802" y="3487341"/>
            <a:ext cx="3937099" cy="0"/>
          </a:xfrm>
          <a:prstGeom prst="line">
            <a:avLst/>
          </a:prstGeom>
          <a:noFill/>
          <a:ln w="9525">
            <a:solidFill>
              <a:srgbClr val="8CE7A5"/>
            </a:solidFill>
            <a:prstDash val="solid"/>
          </a:ln>
        </p:spPr>
      </p:sp>
      <p:sp>
        <p:nvSpPr>
          <p:cNvPr id="27" name="Shape 20"/>
          <p:cNvSpPr/>
          <p:nvPr/>
        </p:nvSpPr>
        <p:spPr>
          <a:xfrm>
            <a:off x="4722614" y="2108150"/>
            <a:ext cx="0" cy="1383953"/>
          </a:xfrm>
          <a:prstGeom prst="line">
            <a:avLst/>
          </a:prstGeom>
          <a:noFill/>
          <a:ln w="47625">
            <a:solidFill>
              <a:srgbClr val="1A7F37"/>
            </a:solidFill>
            <a:prstDash val="solid"/>
          </a:ln>
        </p:spPr>
      </p:sp>
      <p:pic>
        <p:nvPicPr>
          <p:cNvPr id="28" name="Image 5" descr="/Users/danwahlin/.copilot/session-state/56a7a0da-def8-48d4-b5e8-0ac3878cb8dd/files/slides-build/icons/GoCopilot-1A7F37.png">    </p:cNvPr>
          <p:cNvPicPr>
            <a:picLocks noChangeAspect="1"/>
          </p:cNvPicPr>
          <p:nvPr/>
        </p:nvPicPr>
        <p:blipFill>
          <a:blip r:embed="rId7"/>
          <a:stretch>
            <a:fillRect/>
          </a:stretch>
        </p:blipFill>
        <p:spPr>
          <a:xfrm>
            <a:off x="4924127" y="2247751"/>
            <a:ext cx="165050" cy="165050"/>
          </a:xfrm>
          <a:prstGeom prst="rect">
            <a:avLst/>
          </a:prstGeom>
        </p:spPr>
      </p:pic>
      <p:sp>
        <p:nvSpPr>
          <p:cNvPr id="29" name="Text 21"/>
          <p:cNvSpPr/>
          <p:nvPr/>
        </p:nvSpPr>
        <p:spPr>
          <a:xfrm>
            <a:off x="5165378" y="224462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30" name="Text 22"/>
          <p:cNvSpPr/>
          <p:nvPr/>
        </p:nvSpPr>
        <p:spPr>
          <a:xfrm>
            <a:off x="4924127" y="2466826"/>
            <a:ext cx="3595039"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Compare that guidance with @samples/book-app-web/src/components/BookFilters.tsx. Keep this comparison local. Do not edit files.</a:t>
            </a:r>
            <a:endParaRPr lang="en-US" sz="1400" dirty="0"/>
          </a:p>
        </p:txBody>
      </p:sp>
      <p:sp>
        <p:nvSpPr>
          <p:cNvPr id="31" name="Text 23"/>
          <p:cNvSpPr/>
          <p:nvPr/>
        </p:nvSpPr>
        <p:spPr>
          <a:xfrm>
            <a:off x="4698802" y="3644503"/>
            <a:ext cx="3937099"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Users/danwahlin/.copilot/session-state/56a7a0da-def8-48d4-b5e8-0ac3878cb8dd/files/slides-build/icons/GoCheckCircle-1A7F37.png">    </p:cNvPr>
          <p:cNvPicPr>
            <a:picLocks noChangeAspect="1"/>
          </p:cNvPicPr>
          <p:nvPr/>
        </p:nvPicPr>
        <p:blipFill>
          <a:blip r:embed="rId8"/>
          <a:stretch>
            <a:fillRect/>
          </a:stretch>
        </p:blipFill>
        <p:spPr>
          <a:xfrm>
            <a:off x="4886027" y="3912394"/>
            <a:ext cx="203150" cy="203150"/>
          </a:xfrm>
          <a:prstGeom prst="rect">
            <a:avLst/>
          </a:prstGeom>
        </p:spPr>
      </p:pic>
      <p:sp>
        <p:nvSpPr>
          <p:cNvPr id="33" name="Text 24"/>
          <p:cNvSpPr/>
          <p:nvPr/>
        </p:nvSpPr>
        <p:spPr>
          <a:xfrm>
            <a:off x="5216128" y="3780979"/>
            <a:ext cx="3297198"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Inputs are nested in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&lt;label&gt;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so they are labeled.</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Plugins package capabilities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Install Modern Web Guidance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Read what a plugin contains before you install it.</a:t>
            </a:r>
            <a:endParaRPr lang="en-US" sz="1650" dirty="0"/>
          </a:p>
        </p:txBody>
      </p:sp>
      <p:sp>
        <p:nvSpPr>
          <p:cNvPr id="9" name="Text 5"/>
          <p:cNvSpPr/>
          <p:nvPr/>
        </p:nvSpPr>
        <p:spPr>
          <a:xfrm>
            <a:off x="507950" y="1574750"/>
            <a:ext cx="8127950" cy="1222177"/>
          </a:xfrm>
          <a:prstGeom prst="roundRect">
            <a:avLst>
              <a:gd name="adj" fmla="val 1039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sp>
        <p:nvSpPr>
          <p:cNvPr id="10" name="Text 6"/>
          <p:cNvSpPr/>
          <p:nvPr/>
        </p:nvSpPr>
        <p:spPr>
          <a:xfrm>
            <a:off x="517475" y="1584275"/>
            <a:ext cx="8108900" cy="412552"/>
          </a:xfrm>
          <a:prstGeom prst="roundRect">
            <a:avLst>
              <a:gd name="adj" fmla="val 30784"/>
            </a:avLst>
          </a:prstGeom>
          <a:solidFill>
            <a:srgbClr val="F6F8FA"/>
          </a:solidFill>
          <a:ln/>
        </p:spPr>
        <p:txBody>
          <a:bodyPr wrap="square" rtlCol="0" anchor="ctr"/>
          <a:lstStyle/>
          <a:p>
            <a:pPr indent="0" marL="0">
              <a:buNone/>
            </a:pPr>
            <a:endParaRPr lang="en-US" dirty="0"/>
          </a:p>
        </p:txBody>
      </p:sp>
      <p:sp>
        <p:nvSpPr>
          <p:cNvPr id="11" name="Shape 7"/>
          <p:cNvSpPr/>
          <p:nvPr/>
        </p:nvSpPr>
        <p:spPr>
          <a:xfrm>
            <a:off x="517475" y="1992064"/>
            <a:ext cx="8108900" cy="0"/>
          </a:xfrm>
          <a:prstGeom prst="line">
            <a:avLst/>
          </a:prstGeom>
          <a:noFill/>
          <a:ln w="9525">
            <a:solidFill>
              <a:srgbClr val="D1D9E0"/>
            </a:solidFill>
            <a:prstDash val="solid"/>
          </a:ln>
        </p:spPr>
      </p:sp>
      <p:pic>
        <p:nvPicPr>
          <p:cNvPr id="12" name="Image 2" descr="/Users/danwahlin/.copilot/session-state/56a7a0da-def8-48d4-b5e8-0ac3878cb8dd/files/slides-build/icons/GoChevronDown-59636E.png">    </p:cNvPr>
          <p:cNvPicPr>
            <a:picLocks noChangeAspect="1"/>
          </p:cNvPicPr>
          <p:nvPr/>
        </p:nvPicPr>
        <p:blipFill>
          <a:blip r:embed="rId4"/>
          <a:stretch>
            <a:fillRect/>
          </a:stretch>
        </p:blipFill>
        <p:spPr>
          <a:xfrm>
            <a:off x="695176" y="1709589"/>
            <a:ext cx="152400" cy="152400"/>
          </a:xfrm>
          <a:prstGeom prst="rect">
            <a:avLst/>
          </a:prstGeom>
        </p:spPr>
      </p:pic>
      <p:sp>
        <p:nvSpPr>
          <p:cNvPr id="13" name="Text 8"/>
          <p:cNvSpPr/>
          <p:nvPr/>
        </p:nvSpPr>
        <p:spPr>
          <a:xfrm>
            <a:off x="949077" y="1685776"/>
            <a:ext cx="1418767" cy="200025"/>
          </a:xfrm>
          <a:prstGeom prst="rect">
            <a:avLst/>
          </a:prstGeom>
          <a:noFill/>
          <a:ln/>
        </p:spPr>
        <p:txBody>
          <a:bodyPr wrap="square" lIns="0" tIns="0" rIns="0" bIns="0" rtlCol="0" anchor="t"/>
          <a:lstStyle/>
          <a:p>
            <a:pPr algn="l" indent="0" marL="0">
              <a:buNone/>
            </a:pPr>
            <a:r>
              <a:rPr lang="en-US" sz="1350" b="1" dirty="0">
                <a:solidFill>
                  <a:srgbClr val="1F2328"/>
                </a:solidFill>
                <a:latin typeface="Arial" pitchFamily="34" charset="0"/>
                <a:ea typeface="Arial" pitchFamily="34" charset="-122"/>
                <a:cs typeface="Arial" pitchFamily="34" charset="-120"/>
              </a:rPr>
              <a:t>awesome-copilot</a:t>
            </a:r>
            <a:endParaRPr lang="en-US" sz="1350" dirty="0"/>
          </a:p>
        </p:txBody>
      </p:sp>
      <p:sp>
        <p:nvSpPr>
          <p:cNvPr id="14" name="Text 9"/>
          <p:cNvSpPr/>
          <p:nvPr/>
        </p:nvSpPr>
        <p:spPr>
          <a:xfrm>
            <a:off x="2441525" y="1690539"/>
            <a:ext cx="881682" cy="190500"/>
          </a:xfrm>
          <a:prstGeom prst="rect">
            <a:avLst/>
          </a:prstGeom>
          <a:noFill/>
          <a:ln/>
        </p:spPr>
        <p:txBody>
          <a:bodyPr wrap="square" lIns="0" tIns="0" rIns="0" bIns="0" rtlCol="0" anchor="t"/>
          <a:lstStyle/>
          <a:p>
            <a:pPr algn="l" indent="0" marL="0">
              <a:buNone/>
            </a:pPr>
            <a:r>
              <a:rPr lang="en-US" sz="1250" dirty="0">
                <a:solidFill>
                  <a:srgbClr val="59636E"/>
                </a:solidFill>
                <a:latin typeface="Arial" pitchFamily="34" charset="0"/>
                <a:ea typeface="Arial" pitchFamily="34" charset="-122"/>
                <a:cs typeface="Arial" pitchFamily="34" charset="-120"/>
              </a:rPr>
              <a:t>Marketplace</a:t>
            </a:r>
            <a:endParaRPr lang="en-US" sz="1250" dirty="0"/>
          </a:p>
        </p:txBody>
      </p:sp>
      <p:sp>
        <p:nvSpPr>
          <p:cNvPr id="15" name="Text 10"/>
          <p:cNvSpPr/>
          <p:nvPr/>
        </p:nvSpPr>
        <p:spPr>
          <a:xfrm>
            <a:off x="695176" y="2176165"/>
            <a:ext cx="431750" cy="431750"/>
          </a:xfrm>
          <a:prstGeom prst="roundRect">
            <a:avLst>
              <a:gd name="adj" fmla="val 20591"/>
            </a:avLst>
          </a:prstGeom>
          <a:solidFill>
            <a:srgbClr val="FBEF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Plug-8250DF.png">    </p:cNvPr>
          <p:cNvPicPr>
            <a:picLocks noChangeAspect="1"/>
          </p:cNvPicPr>
          <p:nvPr/>
        </p:nvPicPr>
        <p:blipFill>
          <a:blip r:embed="rId5"/>
          <a:stretch>
            <a:fillRect/>
          </a:stretch>
        </p:blipFill>
        <p:spPr>
          <a:xfrm>
            <a:off x="790426" y="2271415"/>
            <a:ext cx="241250" cy="241250"/>
          </a:xfrm>
          <a:prstGeom prst="rect">
            <a:avLst/>
          </a:prstGeom>
        </p:spPr>
      </p:pic>
      <p:sp>
        <p:nvSpPr>
          <p:cNvPr id="17" name="Text 11"/>
          <p:cNvSpPr/>
          <p:nvPr/>
        </p:nvSpPr>
        <p:spPr>
          <a:xfrm>
            <a:off x="1304627" y="2149227"/>
            <a:ext cx="6043496"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modern-web-guidance</a:t>
            </a:r>
            <a:endParaRPr lang="en-US" sz="1650" dirty="0"/>
          </a:p>
        </p:txBody>
      </p:sp>
      <p:sp>
        <p:nvSpPr>
          <p:cNvPr id="18" name="Text 12"/>
          <p:cNvSpPr/>
          <p:nvPr/>
        </p:nvSpPr>
        <p:spPr>
          <a:xfrm>
            <a:off x="1304627" y="2434977"/>
            <a:ext cx="6043496"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A skill and CLI tool that help agents build web apps with modern, secure APIs.</a:t>
            </a:r>
            <a:endParaRPr lang="en-US" sz="1350" dirty="0"/>
          </a:p>
        </p:txBody>
      </p:sp>
      <p:sp>
        <p:nvSpPr>
          <p:cNvPr id="19" name="Text 13"/>
          <p:cNvSpPr/>
          <p:nvPr/>
        </p:nvSpPr>
        <p:spPr>
          <a:xfrm>
            <a:off x="7407325" y="2214414"/>
            <a:ext cx="1041350" cy="355402"/>
          </a:xfrm>
          <a:prstGeom prst="roundRect">
            <a:avLst>
              <a:gd name="adj" fmla="val 21441"/>
            </a:avLst>
          </a:prstGeom>
          <a:solidFill>
            <a:srgbClr val="FFFFFF"/>
          </a:solidFill>
          <a:ln w="9525">
            <a:solidFill>
              <a:srgbClr val="D1D9E0"/>
            </a:solidFill>
          </a:ln>
        </p:spPr>
        <p:txBody>
          <a:bodyPr wrap="square" rtlCol="0" anchor="ctr"/>
          <a:lstStyle/>
          <a:p>
            <a:pPr indent="0" marL="0">
              <a:buNone/>
            </a:pPr>
            <a:endParaRPr lang="en-US" dirty="0"/>
          </a:p>
        </p:txBody>
      </p:sp>
      <p:sp>
        <p:nvSpPr>
          <p:cNvPr id="20" name="Text 14"/>
          <p:cNvSpPr/>
          <p:nvPr/>
        </p:nvSpPr>
        <p:spPr>
          <a:xfrm>
            <a:off x="7594550" y="2287339"/>
            <a:ext cx="680237"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 Install</a:t>
            </a:r>
            <a:endParaRPr lang="en-US" sz="1400" dirty="0"/>
          </a:p>
        </p:txBody>
      </p:sp>
      <p:sp>
        <p:nvSpPr>
          <p:cNvPr id="21" name="Text 15"/>
          <p:cNvSpPr/>
          <p:nvPr/>
        </p:nvSpPr>
        <p:spPr>
          <a:xfrm>
            <a:off x="507950" y="2974628"/>
            <a:ext cx="2607618"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669875"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7"/>
          <p:cNvSpPr/>
          <p:nvPr/>
        </p:nvSpPr>
        <p:spPr>
          <a:xfrm>
            <a:off x="764540"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24" name="Text 18"/>
          <p:cNvSpPr/>
          <p:nvPr/>
        </p:nvSpPr>
        <p:spPr>
          <a:xfrm>
            <a:off x="1063526" y="3161854"/>
            <a:ext cx="64107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Find it</a:t>
            </a:r>
            <a:endParaRPr lang="en-US" sz="1650" dirty="0"/>
          </a:p>
        </p:txBody>
      </p:sp>
      <p:sp>
        <p:nvSpPr>
          <p:cNvPr id="25" name="Text 19"/>
          <p:cNvSpPr/>
          <p:nvPr/>
        </p:nvSpPr>
        <p:spPr>
          <a:xfrm>
            <a:off x="669875" y="3492103"/>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then expand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awesome-copilot</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0"/>
          <p:cNvSpPr/>
          <p:nvPr/>
        </p:nvSpPr>
        <p:spPr>
          <a:xfrm>
            <a:off x="3267968" y="2974628"/>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3429893"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8" name="Text 22"/>
          <p:cNvSpPr/>
          <p:nvPr/>
        </p:nvSpPr>
        <p:spPr>
          <a:xfrm>
            <a:off x="3524558"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9" name="Text 23"/>
          <p:cNvSpPr/>
          <p:nvPr/>
        </p:nvSpPr>
        <p:spPr>
          <a:xfrm>
            <a:off x="3823543" y="3161854"/>
            <a:ext cx="1781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source</a:t>
            </a:r>
            <a:endParaRPr lang="en-US" sz="1650" dirty="0"/>
          </a:p>
        </p:txBody>
      </p:sp>
      <p:sp>
        <p:nvSpPr>
          <p:cNvPr id="30" name="Text 24"/>
          <p:cNvSpPr/>
          <p:nvPr/>
        </p:nvSpPr>
        <p:spPr>
          <a:xfrm>
            <a:off x="3429893" y="3492103"/>
            <a:ext cx="2329595" cy="448270"/>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GoogleChrome/modern-web-guidance</a:t>
            </a:r>
            <a:endParaRPr lang="en-US" sz="1400" dirty="0"/>
          </a:p>
        </p:txBody>
      </p:sp>
      <p:sp>
        <p:nvSpPr>
          <p:cNvPr id="31" name="Text 25"/>
          <p:cNvSpPr/>
          <p:nvPr/>
        </p:nvSpPr>
        <p:spPr>
          <a:xfrm>
            <a:off x="6028134" y="2974628"/>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32" name="Text 26"/>
          <p:cNvSpPr/>
          <p:nvPr/>
        </p:nvSpPr>
        <p:spPr>
          <a:xfrm>
            <a:off x="6190059"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33" name="Text 27"/>
          <p:cNvSpPr/>
          <p:nvPr/>
        </p:nvSpPr>
        <p:spPr>
          <a:xfrm>
            <a:off x="6284724"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34" name="Text 28"/>
          <p:cNvSpPr/>
          <p:nvPr/>
        </p:nvSpPr>
        <p:spPr>
          <a:xfrm>
            <a:off x="6583710" y="3161854"/>
            <a:ext cx="190029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Install and confirm</a:t>
            </a:r>
            <a:endParaRPr lang="en-US" sz="1650" dirty="0"/>
          </a:p>
        </p:txBody>
      </p:sp>
      <p:sp>
        <p:nvSpPr>
          <p:cNvPr id="35" name="Text 29"/>
          <p:cNvSpPr/>
          <p:nvPr/>
        </p:nvSpPr>
        <p:spPr>
          <a:xfrm>
            <a:off x="6190059" y="3492103"/>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Listed under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Installed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toggle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Invoke the plugin's skill</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Run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/skills reload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select the skill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menu.</a:t>
            </a:r>
            <a:endParaRPr lang="en-US" sz="1650" dirty="0"/>
          </a:p>
        </p:txBody>
      </p:sp>
      <p:sp>
        <p:nvSpPr>
          <p:cNvPr id="9" name="Text 5"/>
          <p:cNvSpPr/>
          <p:nvPr/>
        </p:nvSpPr>
        <p:spPr>
          <a:xfrm>
            <a:off x="507950" y="2146399"/>
            <a:ext cx="4572000" cy="1929854"/>
          </a:xfrm>
          <a:prstGeom prst="roundRect">
            <a:avLst>
              <a:gd name="adj" fmla="val 394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51162"/>
            <a:ext cx="4572000" cy="0"/>
          </a:xfrm>
          <a:prstGeom prst="line">
            <a:avLst/>
          </a:prstGeom>
          <a:noFill/>
          <a:ln w="9525">
            <a:solidFill>
              <a:srgbClr val="E0C5FF"/>
            </a:solidFill>
            <a:prstDash val="solid"/>
          </a:ln>
        </p:spPr>
      </p:sp>
      <p:sp>
        <p:nvSpPr>
          <p:cNvPr id="11" name="Shape 7"/>
          <p:cNvSpPr/>
          <p:nvPr/>
        </p:nvSpPr>
        <p:spPr>
          <a:xfrm>
            <a:off x="5075188" y="2146399"/>
            <a:ext cx="0" cy="1929854"/>
          </a:xfrm>
          <a:prstGeom prst="line">
            <a:avLst/>
          </a:prstGeom>
          <a:noFill/>
          <a:ln w="9525">
            <a:solidFill>
              <a:srgbClr val="E0C5FF"/>
            </a:solidFill>
            <a:prstDash val="solid"/>
          </a:ln>
        </p:spPr>
      </p:sp>
      <p:sp>
        <p:nvSpPr>
          <p:cNvPr id="12" name="Shape 8"/>
          <p:cNvSpPr/>
          <p:nvPr/>
        </p:nvSpPr>
        <p:spPr>
          <a:xfrm>
            <a:off x="507950" y="4071491"/>
            <a:ext cx="4572000" cy="0"/>
          </a:xfrm>
          <a:prstGeom prst="line">
            <a:avLst/>
          </a:prstGeom>
          <a:noFill/>
          <a:ln w="9525">
            <a:solidFill>
              <a:srgbClr val="E0C5FF"/>
            </a:solidFill>
            <a:prstDash val="solid"/>
          </a:ln>
        </p:spPr>
      </p:sp>
      <p:sp>
        <p:nvSpPr>
          <p:cNvPr id="13" name="Shape 9"/>
          <p:cNvSpPr/>
          <p:nvPr/>
        </p:nvSpPr>
        <p:spPr>
          <a:xfrm>
            <a:off x="531763" y="2146399"/>
            <a:ext cx="0" cy="1929854"/>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86000"/>
            <a:ext cx="165050" cy="165050"/>
          </a:xfrm>
          <a:prstGeom prst="rect">
            <a:avLst/>
          </a:prstGeom>
        </p:spPr>
      </p:pic>
      <p:sp>
        <p:nvSpPr>
          <p:cNvPr id="15" name="Text 10"/>
          <p:cNvSpPr/>
          <p:nvPr/>
        </p:nvSpPr>
        <p:spPr>
          <a:xfrm>
            <a:off x="974527" y="228287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505075"/>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modern-web-guidance skill to look up guidance for wrapping short headings. Use only general terms in external queries.</a:t>
            </a:r>
            <a:endParaRPr lang="en-US" sz="1400" dirty="0"/>
          </a:p>
        </p:txBody>
      </p:sp>
      <p:sp>
        <p:nvSpPr>
          <p:cNvPr id="17" name="Text 12"/>
          <p:cNvSpPr/>
          <p:nvPr/>
        </p:nvSpPr>
        <p:spPr>
          <a:xfrm>
            <a:off x="733276" y="3273177"/>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Then inspect BookCard.tsx and app.css locally. Propose at most one CSS-only improvement for long titles on narrow screens. Do not change files.</a:t>
            </a:r>
            <a:endParaRPr lang="en-US" sz="1400" dirty="0"/>
          </a:p>
        </p:txBody>
      </p:sp>
      <p:sp>
        <p:nvSpPr>
          <p:cNvPr id="18" name="Text 13"/>
          <p:cNvSpPr/>
          <p:nvPr/>
        </p:nvSpPr>
        <p:spPr>
          <a:xfrm>
            <a:off x="5308550" y="1754535"/>
            <a:ext cx="3327350" cy="1579513"/>
          </a:xfrm>
          <a:prstGeom prst="roundRect">
            <a:avLst>
              <a:gd name="adj" fmla="val 8040"/>
            </a:avLst>
          </a:prstGeom>
          <a:solidFill>
            <a:srgbClr val="FFFFFF"/>
          </a:solidFill>
          <a:ln w="9525">
            <a:solidFill>
              <a:srgbClr val="8CE7A5"/>
            </a:solidFill>
          </a:ln>
        </p:spPr>
        <p:txBody>
          <a:bodyPr wrap="square" rtlCol="0" anchor="ctr"/>
          <a:lstStyle/>
          <a:p>
            <a:pPr indent="0" marL="0">
              <a:buNone/>
            </a:pPr>
            <a:endParaRPr lang="en-US" dirty="0"/>
          </a:p>
        </p:txBody>
      </p:sp>
      <p:sp>
        <p:nvSpPr>
          <p:cNvPr id="19" name="Text 14"/>
          <p:cNvSpPr/>
          <p:nvPr/>
        </p:nvSpPr>
        <p:spPr>
          <a:xfrm>
            <a:off x="5495776" y="19417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3" descr="/Users/danwahlin/.copilot/session-state/56a7a0da-def8-48d4-b5e8-0ac3878cb8dd/files/slides-build/icons/GoCheckCircle-1A7F37.png">    </p:cNvPr>
          <p:cNvPicPr>
            <a:picLocks noChangeAspect="1"/>
          </p:cNvPicPr>
          <p:nvPr/>
        </p:nvPicPr>
        <p:blipFill>
          <a:blip r:embed="rId5"/>
          <a:stretch>
            <a:fillRect/>
          </a:stretch>
        </p:blipFill>
        <p:spPr>
          <a:xfrm>
            <a:off x="5578376" y="2024360"/>
            <a:ext cx="215801" cy="215801"/>
          </a:xfrm>
          <a:prstGeom prst="rect">
            <a:avLst/>
          </a:prstGeom>
        </p:spPr>
      </p:pic>
      <p:sp>
        <p:nvSpPr>
          <p:cNvPr id="21" name="Text 15"/>
          <p:cNvSpPr/>
          <p:nvPr/>
        </p:nvSpPr>
        <p:spPr>
          <a:xfrm>
            <a:off x="5991076" y="2017961"/>
            <a:ext cx="9504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Expected</a:t>
            </a:r>
            <a:endParaRPr lang="en-US" sz="1650" dirty="0"/>
          </a:p>
        </p:txBody>
      </p:sp>
      <p:sp>
        <p:nvSpPr>
          <p:cNvPr id="22" name="Text 16"/>
          <p:cNvSpPr/>
          <p:nvPr/>
        </p:nvSpPr>
        <p:spPr>
          <a:xfrm>
            <a:off x="5495776" y="2478881"/>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3" name="Text 17"/>
          <p:cNvSpPr/>
          <p:nvPr/>
        </p:nvSpPr>
        <p:spPr>
          <a:xfrm>
            <a:off x="5654427" y="2398961"/>
            <a:ext cx="258007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skill loads and finds a guide</a:t>
            </a:r>
            <a:endParaRPr lang="en-US" sz="1400" dirty="0"/>
          </a:p>
        </p:txBody>
      </p:sp>
      <p:sp>
        <p:nvSpPr>
          <p:cNvPr id="24" name="Text 18"/>
          <p:cNvSpPr/>
          <p:nvPr/>
        </p:nvSpPr>
        <p:spPr>
          <a:xfrm>
            <a:off x="5495776" y="2749302"/>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5" name="Text 19"/>
          <p:cNvSpPr/>
          <p:nvPr/>
        </p:nvSpPr>
        <p:spPr>
          <a:xfrm>
            <a:off x="5654427" y="2669381"/>
            <a:ext cx="234796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CSS idea, or none</a:t>
            </a:r>
            <a:endParaRPr lang="en-US" sz="1400" dirty="0"/>
          </a:p>
        </p:txBody>
      </p:sp>
      <p:sp>
        <p:nvSpPr>
          <p:cNvPr id="26" name="Text 20"/>
          <p:cNvSpPr/>
          <p:nvPr/>
        </p:nvSpPr>
        <p:spPr>
          <a:xfrm>
            <a:off x="5495776" y="3019723"/>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7" name="Text 21"/>
          <p:cNvSpPr/>
          <p:nvPr/>
        </p:nvSpPr>
        <p:spPr>
          <a:xfrm>
            <a:off x="5654427" y="2939802"/>
            <a:ext cx="124965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 files change</a:t>
            </a:r>
            <a:endParaRPr lang="en-US" sz="1400" dirty="0"/>
          </a:p>
        </p:txBody>
      </p:sp>
      <p:sp>
        <p:nvSpPr>
          <p:cNvPr id="28" name="Text 22"/>
          <p:cNvSpPr/>
          <p:nvPr/>
        </p:nvSpPr>
        <p:spPr>
          <a:xfrm>
            <a:off x="5308550" y="3486448"/>
            <a:ext cx="3327350" cy="981670"/>
          </a:xfrm>
          <a:prstGeom prst="roundRect">
            <a:avLst>
              <a:gd name="adj" fmla="val 10350"/>
            </a:avLst>
          </a:prstGeom>
          <a:solidFill>
            <a:srgbClr val="DDF4FF"/>
          </a:solidFill>
          <a:ln w="9525">
            <a:solidFill>
              <a:srgbClr val="9CD7FF"/>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Info-0969DA.png">    </p:cNvPr>
          <p:cNvPicPr>
            <a:picLocks noChangeAspect="1"/>
          </p:cNvPicPr>
          <p:nvPr/>
        </p:nvPicPr>
        <p:blipFill>
          <a:blip r:embed="rId6"/>
          <a:stretch>
            <a:fillRect/>
          </a:stretch>
        </p:blipFill>
        <p:spPr>
          <a:xfrm>
            <a:off x="5495776" y="3875633"/>
            <a:ext cx="203150" cy="203150"/>
          </a:xfrm>
          <a:prstGeom prst="rect">
            <a:avLst/>
          </a:prstGeom>
        </p:spPr>
      </p:pic>
      <p:sp>
        <p:nvSpPr>
          <p:cNvPr id="30" name="Text 23"/>
          <p:cNvSpPr/>
          <p:nvPr/>
        </p:nvSpPr>
        <p:spPr>
          <a:xfrm>
            <a:off x="5825877" y="3622923"/>
            <a:ext cx="2675254" cy="7087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Ideas like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text-wrap: balance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cover older browsers.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Summarize the evidence, not the claims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Ask for a table built only from this session. Then check it.</a:t>
            </a:r>
            <a:endParaRPr lang="en-US" sz="1650" dirty="0"/>
          </a:p>
        </p:txBody>
      </p:sp>
      <p:sp>
        <p:nvSpPr>
          <p:cNvPr id="9" name="Text 5"/>
          <p:cNvSpPr/>
          <p:nvPr/>
        </p:nvSpPr>
        <p:spPr>
          <a:xfrm>
            <a:off x="507950" y="2122884"/>
            <a:ext cx="8127950" cy="1277392"/>
          </a:xfrm>
          <a:prstGeom prst="roundRect">
            <a:avLst>
              <a:gd name="adj" fmla="val 7954"/>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32409"/>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54622"/>
            <a:ext cx="8108900" cy="0"/>
          </a:xfrm>
          <a:prstGeom prst="line">
            <a:avLst/>
          </a:prstGeom>
          <a:noFill/>
          <a:ln w="9525">
            <a:solidFill>
              <a:srgbClr val="9CD7FF"/>
            </a:solidFill>
            <a:prstDash val="solid"/>
          </a:ln>
        </p:spPr>
      </p:sp>
      <p:sp>
        <p:nvSpPr>
          <p:cNvPr id="12" name="Text 8"/>
          <p:cNvSpPr/>
          <p:nvPr/>
        </p:nvSpPr>
        <p:spPr>
          <a:xfrm>
            <a:off x="669875" y="2208609"/>
            <a:ext cx="202082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CAPABILITY</a:t>
            </a:r>
            <a:endParaRPr lang="en-US" sz="1150" dirty="0"/>
          </a:p>
        </p:txBody>
      </p:sp>
      <p:sp>
        <p:nvSpPr>
          <p:cNvPr id="13" name="Text 9"/>
          <p:cNvSpPr/>
          <p:nvPr/>
        </p:nvSpPr>
        <p:spPr>
          <a:xfrm>
            <a:off x="2955875"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EVIDENCE IT RAN</a:t>
            </a:r>
            <a:endParaRPr lang="en-US" sz="1150" dirty="0"/>
          </a:p>
        </p:txBody>
      </p:sp>
      <p:sp>
        <p:nvSpPr>
          <p:cNvPr id="14" name="Text 10"/>
          <p:cNvSpPr/>
          <p:nvPr/>
        </p:nvSpPr>
        <p:spPr>
          <a:xfrm>
            <a:off x="5876776"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WE LEARNED</a:t>
            </a:r>
            <a:endParaRPr lang="en-US" sz="1150" dirty="0"/>
          </a:p>
        </p:txBody>
      </p:sp>
      <p:sp>
        <p:nvSpPr>
          <p:cNvPr id="15" name="Shape 11"/>
          <p:cNvSpPr/>
          <p:nvPr/>
        </p:nvSpPr>
        <p:spPr>
          <a:xfrm>
            <a:off x="517475" y="2925068"/>
            <a:ext cx="8108900" cy="0"/>
          </a:xfrm>
          <a:prstGeom prst="line">
            <a:avLst/>
          </a:prstGeom>
          <a:noFill/>
          <a:ln w="9525">
            <a:solidFill>
              <a:srgbClr val="D1D9E0"/>
            </a:solidFill>
            <a:prstDash val="solid"/>
          </a:ln>
        </p:spPr>
      </p:sp>
      <p:sp>
        <p:nvSpPr>
          <p:cNvPr id="16" name="Text 12"/>
          <p:cNvSpPr/>
          <p:nvPr/>
        </p:nvSpPr>
        <p:spPr>
          <a:xfrm>
            <a:off x="669875" y="2586335"/>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Context7 · MCP</a:t>
            </a:r>
            <a:endParaRPr lang="en-US" sz="1400" dirty="0"/>
          </a:p>
        </p:txBody>
      </p:sp>
      <p:sp>
        <p:nvSpPr>
          <p:cNvPr id="17" name="Text 13"/>
          <p:cNvSpPr/>
          <p:nvPr/>
        </p:nvSpPr>
        <p:spPr>
          <a:xfrm>
            <a:off x="2955875"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Tool call and a source link</a:t>
            </a:r>
            <a:endParaRPr lang="en-US" sz="1400" dirty="0"/>
          </a:p>
        </p:txBody>
      </p:sp>
      <p:sp>
        <p:nvSpPr>
          <p:cNvPr id="18" name="Text 14"/>
          <p:cNvSpPr/>
          <p:nvPr/>
        </p:nvSpPr>
        <p:spPr>
          <a:xfrm>
            <a:off x="5876776"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inputs are already labeled</a:t>
            </a:r>
            <a:endParaRPr lang="en-US" sz="1400" dirty="0"/>
          </a:p>
        </p:txBody>
      </p:sp>
      <p:sp>
        <p:nvSpPr>
          <p:cNvPr id="19" name="Text 15"/>
          <p:cNvSpPr/>
          <p:nvPr/>
        </p:nvSpPr>
        <p:spPr>
          <a:xfrm>
            <a:off x="669875" y="3056781"/>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Modern Web · plugin</a:t>
            </a:r>
            <a:endParaRPr lang="en-US" sz="1400" dirty="0"/>
          </a:p>
        </p:txBody>
      </p:sp>
      <p:sp>
        <p:nvSpPr>
          <p:cNvPr id="20" name="Text 16"/>
          <p:cNvSpPr/>
          <p:nvPr/>
        </p:nvSpPr>
        <p:spPr>
          <a:xfrm>
            <a:off x="2955875"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Skill loaded, guide found</a:t>
            </a:r>
            <a:endParaRPr lang="en-US" sz="1400" dirty="0"/>
          </a:p>
        </p:txBody>
      </p:sp>
      <p:sp>
        <p:nvSpPr>
          <p:cNvPr id="21" name="Text 17"/>
          <p:cNvSpPr/>
          <p:nvPr/>
        </p:nvSpPr>
        <p:spPr>
          <a:xfrm>
            <a:off x="5876776"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CSS idea, with a fallback</a:t>
            </a:r>
            <a:endParaRPr lang="en-US" sz="1400" dirty="0"/>
          </a:p>
        </p:txBody>
      </p:sp>
      <p:sp>
        <p:nvSpPr>
          <p:cNvPr id="22" name="Text 18"/>
          <p:cNvSpPr/>
          <p:nvPr/>
        </p:nvSpPr>
        <p:spPr>
          <a:xfrm>
            <a:off x="507950" y="3603427"/>
            <a:ext cx="8127950" cy="496491"/>
          </a:xfrm>
          <a:prstGeom prst="roundRect">
            <a:avLst>
              <a:gd name="adj" fmla="val 20464"/>
            </a:avLst>
          </a:prstGeom>
          <a:solidFill>
            <a:srgbClr val="FFF1E5"/>
          </a:solidFill>
          <a:ln w="9525">
            <a:solidFill>
              <a:srgbClr val="FFC49B"/>
            </a:solidFill>
          </a:ln>
        </p:spPr>
        <p:txBody>
          <a:bodyPr wrap="square" rtlCol="0" anchor="ctr"/>
          <a:lstStyle/>
          <a:p>
            <a:pPr indent="0" marL="0">
              <a:buNone/>
            </a:pPr>
            <a:endParaRPr lang="en-US" dirty="0"/>
          </a:p>
        </p:txBody>
      </p:sp>
      <p:pic>
        <p:nvPicPr>
          <p:cNvPr id="23" name="Image 2" descr="/Users/danwahlin/.copilot/session-state/56a7a0da-def8-48d4-b5e8-0ac3878cb8dd/files/slides-build/icons/GoShieldCheck-BC4C00.png">    </p:cNvPr>
          <p:cNvPicPr>
            <a:picLocks noChangeAspect="1"/>
          </p:cNvPicPr>
          <p:nvPr/>
        </p:nvPicPr>
        <p:blipFill>
          <a:blip r:embed="rId4"/>
          <a:stretch>
            <a:fillRect/>
          </a:stretch>
        </p:blipFill>
        <p:spPr>
          <a:xfrm>
            <a:off x="695176" y="3750022"/>
            <a:ext cx="203150" cy="203150"/>
          </a:xfrm>
          <a:prstGeom prst="rect">
            <a:avLst/>
          </a:prstGeom>
        </p:spPr>
      </p:pic>
      <p:sp>
        <p:nvSpPr>
          <p:cNvPr id="24" name="Text 19"/>
          <p:cNvSpPr/>
          <p:nvPr/>
        </p:nvSpPr>
        <p:spPr>
          <a:xfrm>
            <a:off x="1025277" y="3739902"/>
            <a:ext cx="5330166"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No invented links. Blocked exercises say 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empty.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MCP server supplies tools that connect to a service.</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plugin packages capabilities. Installing it does not run it.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General questions do not need your repository code.</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tool activity and sources, not only the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Open Chapter 05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06</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Canvases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05: MCP Servers and Plugins</dc:title>
  <dc:subject>PptxGenJS Presentation</dc:subject>
  <dc:creator>GitHub Copilot app for Beginners</dc:creator>
  <cp:lastModifiedBy>GitHub Copilot app for Beginners</cp:lastModifiedBy>
  <cp:revision>1</cp:revision>
  <dcterms:created xsi:type="dcterms:W3CDTF">2026-10-06T07:11:37Z</dcterms:created>
  <dcterms:modified xsi:type="dcterms:W3CDTF">2026-10-06T07:11:37Z</dcterms:modified>
</cp:coreProperties>
</file>