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session is doing real work, a long chat thread gets hard to scan. A canvas is a shared board in the side panel. You create one with slash create-canvas and a description, and both you and the agent can read and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a shared board, Try and create a canvas, Build a Feature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why canvases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band planning a song. They could argue their options in a long group chat, where decisions get buried, or use a shared arrangement board that keeps everything visible. A canvas is the app's arrangement board for human-agent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are bidirectional. The agent writes to the board, you write to the board, and the agent continues from your change. A custom canvas can include visible state, controls, agent-callable actions such as updating a checklist item, and artifacts such as plans and dashboards. The built-in surfaces you already use, Plan, Terminal, Browser, and Changes, still come first. Use chat for quick answers and short tasks. Use a canvas when the task has recurring steps and needs visible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try one someone else built, then create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exercises, prepare a worktree session from main and record the baseline test and build totals. On the Repository Issues Kanban page of the Awesome Copilot website, select Open in Copilot app. Allow the Install plugin dialog, confirm the name accessibility-kanban@awesome-copilot, and select Install. Confirm it is listed under Installed in Customize, Plugins. Ask the session to restart canvas extensions. Then in the review panel select plus, Canvas, Repository Issues Kanban. Drag an issue between columns. If your organization blocks plugins, read this exercise and continue to Exercise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small board works like a shared checklist. Create it with slash create-canvas and the full prompt from the chapter. Confirm it has the proposal, checklist, and notes with Next decision and Blocker fields. Enter a proposal, mark Plan complete, and add a next decision. Ask the agent to summarize the board and check that its answer matches your changes. The canvas is user scoped, so Changes should show no repository edits. This board does not run tests or edit the app. The next exercise adds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Feature Workbench manages the local inner loop for a new Book App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dense because it is written for the app, not for you to memorize. It asks for a progress rail with five stages, a proposal field with one Generate plan button, eight checklist items, action buttons that ask the agent to do real work with long timeouts, and a read-only evidence area. Use your most capable model for the first generation. Results differ between runs. If a part is missing, use one of the focused repair prompts in the chapter. After two failed repairs, use the Markdown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Clear filters proposal and select Generate plan. The session switches to Plan mode and the status pill shows Working. Review the plan in the Plan tab. In the Review plan box at the bottom of the chat, choose Exit plan mode and I will prompt myself, then select the Feature Workbench tab; the canvas shows Approved. Then select Run baseline. The canvas records the Vitest total and build result. Expand the tool calls in chat to confirm Copilot ran npm test and npm run build, and that the evidence matches their output. The board is only useful if it stays linked to evidence from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Implement. When it finishes, the canvas marks Implement complete, checks off the implementation items, and adds a Diff row to the evidence, as shown. Select the Changes pill above the prompt box and confirm the changes are limited to the approved feature. Then select Browser validation. The agent starts or reuses the dev server, exercises the feature, and captures screenshots. Check it yourself too: with no filters the control is hidden; with a search, genre, or status it appears; selecting it resets all three; afterward it disappears and the full list and statistics return. When you finish, select Background above the prompt box and stop the dev server; until it stops, Browser validation can keep showing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Run final checks and compare with the baseline. Test counts can go up when implementation adds focused tests, but the final total must never be lower than the baseline. In this example, 4 baseline tests became 9. Use your own numbers from this worktree, not from the screenshot. Confirm the baseline matches the original terminal output, the diff is limited to the feature, all browser states were checked, and final tests and build pass. Uncheck anything that lacks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 the workbench with an Assess stage after Propose. Type slash, select create-canvas, and send a focused change request: keep the current canvas, add an Assess stage between Propose and Plan that compares the proposal with current behavior and records the result as evidence, and do not redesign parts that work. Pick a small improvement you have not shipped yet and run it through every stage with evidence from this session. Success means you can see evidence-backed progress and name the next decision without rereading the chat. If you have permission, the optional challenge adds the Chapter 03 outer loop: an issue, a linked pull request, and a Copilot review if it is available to you. Do not merge the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made session work visible. Next, Chapter 07 makes repeatable work reusable with automations, starting with a manual review readiness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6" Type="http://schemas.openxmlformats.org/officeDocument/2006/relationships/hyperlink" Target="https://github.com/github/copilot-app-for-beginners/tree/main/07-automation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06</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Canvases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and the agent shared a real-time progress board instead of a buried chat thread?</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06</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98171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a shared board</a:t>
            </a:r>
            <a:endParaRPr lang="en-US" sz="1800" dirty="0"/>
          </a:p>
        </p:txBody>
      </p:sp>
      <p:sp>
        <p:nvSpPr>
          <p:cNvPr id="15" name="Text 11"/>
          <p:cNvSpPr/>
          <p:nvPr/>
        </p:nvSpPr>
        <p:spPr>
          <a:xfrm>
            <a:off x="1625501" y="1974800"/>
            <a:ext cx="598171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30618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Try and create a canvas</a:t>
            </a:r>
            <a:endParaRPr lang="en-US" sz="1800" dirty="0"/>
          </a:p>
        </p:txBody>
      </p:sp>
      <p:sp>
        <p:nvSpPr>
          <p:cNvPr id="23" name="Text 19"/>
          <p:cNvSpPr/>
          <p:nvPr/>
        </p:nvSpPr>
        <p:spPr>
          <a:xfrm>
            <a:off x="1625501" y="2984450"/>
            <a:ext cx="530618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Try a community canvas, then build a simple board of your own.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373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Feature Workbench</a:t>
            </a:r>
            <a:endParaRPr lang="en-US" sz="1800" dirty="0"/>
          </a:p>
        </p:txBody>
      </p:sp>
      <p:sp>
        <p:nvSpPr>
          <p:cNvPr id="31" name="Text 27"/>
          <p:cNvSpPr/>
          <p:nvPr/>
        </p:nvSpPr>
        <p:spPr>
          <a:xfrm>
            <a:off x="1625501" y="3994100"/>
            <a:ext cx="648373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a shared board</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band's arrangement board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Decisions get buried in a group chat. A board keeps them visible.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arrangement-board-canva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882378"/>
            <a:ext cx="3555950" cy="2458045"/>
          </a:xfrm>
          <a:prstGeom prst="roundRect">
            <a:avLst>
              <a:gd name="adj" fmla="val 413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1891903"/>
            <a:ext cx="3536900" cy="492026"/>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79166"/>
            <a:ext cx="3536900" cy="0"/>
          </a:xfrm>
          <a:prstGeom prst="line">
            <a:avLst/>
          </a:prstGeom>
          <a:noFill/>
          <a:ln w="9525">
            <a:solidFill>
              <a:srgbClr val="9CD7FF"/>
            </a:solidFill>
            <a:prstDash val="solid"/>
          </a:ln>
        </p:spPr>
      </p:sp>
      <p:sp>
        <p:nvSpPr>
          <p:cNvPr id="14" name="Text 9"/>
          <p:cNvSpPr/>
          <p:nvPr/>
        </p:nvSpPr>
        <p:spPr>
          <a:xfrm>
            <a:off x="5165675" y="196810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GROUP CHAT</a:t>
            </a:r>
            <a:endParaRPr lang="en-US" sz="1150" dirty="0"/>
          </a:p>
        </p:txBody>
      </p:sp>
      <p:sp>
        <p:nvSpPr>
          <p:cNvPr id="15" name="Text 10"/>
          <p:cNvSpPr/>
          <p:nvPr/>
        </p:nvSpPr>
        <p:spPr>
          <a:xfrm>
            <a:off x="6816626" y="1968103"/>
            <a:ext cx="1632204" cy="330101"/>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ARRANGEMENT BOARD</a:t>
            </a:r>
            <a:endParaRPr lang="en-US" sz="1150" dirty="0"/>
          </a:p>
        </p:txBody>
      </p:sp>
      <p:sp>
        <p:nvSpPr>
          <p:cNvPr id="16" name="Shape 11"/>
          <p:cNvSpPr/>
          <p:nvPr/>
        </p:nvSpPr>
        <p:spPr>
          <a:xfrm>
            <a:off x="5013275" y="3031331"/>
            <a:ext cx="3536900" cy="0"/>
          </a:xfrm>
          <a:prstGeom prst="line">
            <a:avLst/>
          </a:prstGeom>
          <a:noFill/>
          <a:ln w="9525">
            <a:solidFill>
              <a:srgbClr val="D1D9E0"/>
            </a:solidFill>
            <a:prstDash val="solid"/>
          </a:ln>
        </p:spPr>
      </p:sp>
      <p:sp>
        <p:nvSpPr>
          <p:cNvPr id="17" name="Text 12"/>
          <p:cNvSpPr/>
          <p:nvPr/>
        </p:nvSpPr>
        <p:spPr>
          <a:xfrm>
            <a:off x="5165675" y="249822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Good for discussion</a:t>
            </a:r>
            <a:endParaRPr lang="en-US" sz="1400" dirty="0"/>
          </a:p>
        </p:txBody>
      </p:sp>
      <p:sp>
        <p:nvSpPr>
          <p:cNvPr id="18" name="Text 13"/>
          <p:cNvSpPr/>
          <p:nvPr/>
        </p:nvSpPr>
        <p:spPr>
          <a:xfrm>
            <a:off x="6816626" y="2498229"/>
            <a:ext cx="1632204"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Shared, current state</a:t>
            </a:r>
            <a:endParaRPr lang="en-US" sz="1400" dirty="0"/>
          </a:p>
        </p:txBody>
      </p:sp>
      <p:sp>
        <p:nvSpPr>
          <p:cNvPr id="19" name="Shape 14"/>
          <p:cNvSpPr/>
          <p:nvPr/>
        </p:nvSpPr>
        <p:spPr>
          <a:xfrm>
            <a:off x="5013275" y="3683496"/>
            <a:ext cx="3536900" cy="0"/>
          </a:xfrm>
          <a:prstGeom prst="line">
            <a:avLst/>
          </a:prstGeom>
          <a:noFill/>
          <a:ln w="9525">
            <a:solidFill>
              <a:srgbClr val="D1D9E0"/>
            </a:solidFill>
            <a:prstDash val="solid"/>
          </a:ln>
        </p:spPr>
      </p:sp>
      <p:sp>
        <p:nvSpPr>
          <p:cNvPr id="20" name="Text 15"/>
          <p:cNvSpPr/>
          <p:nvPr/>
        </p:nvSpPr>
        <p:spPr>
          <a:xfrm>
            <a:off x="5165675" y="3150394"/>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Hard to scan later</a:t>
            </a:r>
            <a:endParaRPr lang="en-US" sz="1400" dirty="0"/>
          </a:p>
        </p:txBody>
      </p:sp>
      <p:sp>
        <p:nvSpPr>
          <p:cNvPr id="21" name="Text 16"/>
          <p:cNvSpPr/>
          <p:nvPr/>
        </p:nvSpPr>
        <p:spPr>
          <a:xfrm>
            <a:off x="6816626" y="3253829"/>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Easy to inspect</a:t>
            </a:r>
            <a:endParaRPr lang="en-US" sz="1400" dirty="0"/>
          </a:p>
        </p:txBody>
      </p:sp>
      <p:sp>
        <p:nvSpPr>
          <p:cNvPr id="22" name="Text 17"/>
          <p:cNvSpPr/>
          <p:nvPr/>
        </p:nvSpPr>
        <p:spPr>
          <a:xfrm>
            <a:off x="5165675" y="380255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Updates get buried</a:t>
            </a:r>
            <a:endParaRPr lang="en-US" sz="1400" dirty="0"/>
          </a:p>
        </p:txBody>
      </p:sp>
      <p:sp>
        <p:nvSpPr>
          <p:cNvPr id="23" name="Text 18"/>
          <p:cNvSpPr/>
          <p:nvPr/>
        </p:nvSpPr>
        <p:spPr>
          <a:xfrm>
            <a:off x="6816626" y="390599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Updates stay visible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canvas is a shared control panel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and the agent change the same board.</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human-agent-shared-surface.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68701" y="213374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7"/>
          <p:cNvSpPr/>
          <p:nvPr/>
        </p:nvSpPr>
        <p:spPr>
          <a:xfrm>
            <a:off x="4463366" y="21781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4775002" y="2133749"/>
            <a:ext cx="22640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adds plan steps</a:t>
            </a:r>
            <a:endParaRPr lang="en-US" sz="1550" dirty="0"/>
          </a:p>
        </p:txBody>
      </p:sp>
      <p:sp>
        <p:nvSpPr>
          <p:cNvPr id="14" name="Text 9"/>
          <p:cNvSpPr/>
          <p:nvPr/>
        </p:nvSpPr>
        <p:spPr>
          <a:xfrm>
            <a:off x="4775002" y="2387650"/>
            <a:ext cx="2264015"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They appear on the board.</a:t>
            </a:r>
            <a:endParaRPr lang="en-US" sz="1350" dirty="0"/>
          </a:p>
        </p:txBody>
      </p:sp>
      <p:sp>
        <p:nvSpPr>
          <p:cNvPr id="15" name="Text 10"/>
          <p:cNvSpPr/>
          <p:nvPr/>
        </p:nvSpPr>
        <p:spPr>
          <a:xfrm>
            <a:off x="4368701" y="284470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6" name="Text 11"/>
          <p:cNvSpPr/>
          <p:nvPr/>
        </p:nvSpPr>
        <p:spPr>
          <a:xfrm>
            <a:off x="4463366" y="28890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4775002" y="2844701"/>
            <a:ext cx="233323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change the board</a:t>
            </a:r>
            <a:endParaRPr lang="en-US" sz="1550" dirty="0"/>
          </a:p>
        </p:txBody>
      </p:sp>
      <p:sp>
        <p:nvSpPr>
          <p:cNvPr id="18" name="Text 13"/>
          <p:cNvSpPr/>
          <p:nvPr/>
        </p:nvSpPr>
        <p:spPr>
          <a:xfrm>
            <a:off x="4775002" y="3098602"/>
            <a:ext cx="2333238"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Uncheck a step or add a note.</a:t>
            </a:r>
            <a:endParaRPr lang="en-US" sz="1350" dirty="0"/>
          </a:p>
        </p:txBody>
      </p:sp>
      <p:sp>
        <p:nvSpPr>
          <p:cNvPr id="19" name="Text 14"/>
          <p:cNvSpPr/>
          <p:nvPr/>
        </p:nvSpPr>
        <p:spPr>
          <a:xfrm>
            <a:off x="4368701" y="355565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5"/>
          <p:cNvSpPr/>
          <p:nvPr/>
        </p:nvSpPr>
        <p:spPr>
          <a:xfrm>
            <a:off x="4463366" y="36000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4775002" y="3555653"/>
            <a:ext cx="340118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continues from your update</a:t>
            </a:r>
            <a:endParaRPr lang="en-US" sz="1550" dirty="0"/>
          </a:p>
        </p:txBody>
      </p:sp>
      <p:sp>
        <p:nvSpPr>
          <p:cNvPr id="22" name="Text 17"/>
          <p:cNvSpPr/>
          <p:nvPr/>
        </p:nvSpPr>
        <p:spPr>
          <a:xfrm>
            <a:off x="4775002" y="3809554"/>
            <a:ext cx="3401184"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Not from a buried chat line.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Try and create a canvas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Try a community canvas, then build a simple board of your own.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Try a community canvas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Repository Issues Kanban turns issues into a board.</a:t>
            </a:r>
            <a:endParaRPr lang="en-US" sz="1650" dirty="0"/>
          </a:p>
        </p:txBody>
      </p:sp>
      <p:sp>
        <p:nvSpPr>
          <p:cNvPr id="9" name="Text 5"/>
          <p:cNvSpPr/>
          <p:nvPr/>
        </p:nvSpPr>
        <p:spPr>
          <a:xfrm>
            <a:off x="511076" y="1920776"/>
            <a:ext cx="4311551" cy="2305050"/>
          </a:xfrm>
          <a:prstGeom prst="roundRect">
            <a:avLst>
              <a:gd name="adj" fmla="val 330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kanban-crop.png">    </p:cNvPr>
          <p:cNvPicPr>
            <a:picLocks noChangeAspect="1"/>
          </p:cNvPicPr>
          <p:nvPr/>
        </p:nvPicPr>
        <p:blipFill>
          <a:blip r:embed="rId4"/>
          <a:stretch>
            <a:fillRect/>
          </a:stretch>
        </p:blipFill>
        <p:spPr>
          <a:xfrm>
            <a:off x="558701" y="1968401"/>
            <a:ext cx="4216301" cy="2209800"/>
          </a:xfrm>
          <a:prstGeom prst="rect">
            <a:avLst/>
          </a:prstGeom>
        </p:spPr>
      </p:pic>
      <p:sp>
        <p:nvSpPr>
          <p:cNvPr id="11" name="Text 6"/>
          <p:cNvSpPr/>
          <p:nvPr/>
        </p:nvSpPr>
        <p:spPr>
          <a:xfrm>
            <a:off x="5079802" y="2120801"/>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174467" y="2165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511552" y="2120801"/>
            <a:ext cx="270151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Install it</a:t>
            </a:r>
            <a:endParaRPr lang="en-US" sz="1550" dirty="0"/>
          </a:p>
        </p:txBody>
      </p:sp>
      <p:sp>
        <p:nvSpPr>
          <p:cNvPr id="14" name="Text 9"/>
          <p:cNvSpPr/>
          <p:nvPr/>
        </p:nvSpPr>
        <p:spPr>
          <a:xfrm>
            <a:off x="5511552" y="2368302"/>
            <a:ext cx="2701516"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Open in Copilot app</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Install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79802" y="28457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174467" y="28900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511552" y="2845743"/>
            <a:ext cx="312945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extensions</a:t>
            </a:r>
            <a:endParaRPr lang="en-US" sz="1550" dirty="0"/>
          </a:p>
        </p:txBody>
      </p:sp>
      <p:sp>
        <p:nvSpPr>
          <p:cNvPr id="18" name="Text 13"/>
          <p:cNvSpPr/>
          <p:nvPr/>
        </p:nvSpPr>
        <p:spPr>
          <a:xfrm>
            <a:off x="5511552" y="3093244"/>
            <a:ext cx="312945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Restart canvas extensions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9" name="Text 14"/>
          <p:cNvSpPr/>
          <p:nvPr/>
        </p:nvSpPr>
        <p:spPr>
          <a:xfrm>
            <a:off x="5079802" y="358020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174467"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511552" y="3580209"/>
            <a:ext cx="245377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Open it and drag an issue</a:t>
            </a:r>
            <a:endParaRPr lang="en-US" sz="1550" dirty="0"/>
          </a:p>
        </p:txBody>
      </p:sp>
      <p:sp>
        <p:nvSpPr>
          <p:cNvPr id="22" name="Text 17"/>
          <p:cNvSpPr/>
          <p:nvPr/>
        </p:nvSpPr>
        <p:spPr>
          <a:xfrm>
            <a:off x="5511552" y="3827711"/>
            <a:ext cx="245377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panel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Canvas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session board</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describe the board.</a:t>
            </a:r>
            <a:endParaRPr lang="en-US" sz="1650" dirty="0"/>
          </a:p>
        </p:txBody>
      </p:sp>
      <p:sp>
        <p:nvSpPr>
          <p:cNvPr id="9" name="Text 5"/>
          <p:cNvSpPr/>
          <p:nvPr/>
        </p:nvSpPr>
        <p:spPr>
          <a:xfrm>
            <a:off x="507950" y="1821359"/>
            <a:ext cx="4191000" cy="1606153"/>
          </a:xfrm>
          <a:prstGeom prst="roundRect">
            <a:avLst>
              <a:gd name="adj" fmla="val 4744"/>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1826121"/>
            <a:ext cx="4191000" cy="0"/>
          </a:xfrm>
          <a:prstGeom prst="line">
            <a:avLst/>
          </a:prstGeom>
          <a:noFill/>
          <a:ln w="9525">
            <a:solidFill>
              <a:srgbClr val="E0C5FF"/>
            </a:solidFill>
            <a:prstDash val="solid"/>
          </a:ln>
        </p:spPr>
      </p:sp>
      <p:sp>
        <p:nvSpPr>
          <p:cNvPr id="11" name="Shape 7"/>
          <p:cNvSpPr/>
          <p:nvPr/>
        </p:nvSpPr>
        <p:spPr>
          <a:xfrm>
            <a:off x="4694188" y="1821359"/>
            <a:ext cx="0" cy="1606153"/>
          </a:xfrm>
          <a:prstGeom prst="line">
            <a:avLst/>
          </a:prstGeom>
          <a:noFill/>
          <a:ln w="9525">
            <a:solidFill>
              <a:srgbClr val="E0C5FF"/>
            </a:solidFill>
            <a:prstDash val="solid"/>
          </a:ln>
        </p:spPr>
      </p:sp>
      <p:sp>
        <p:nvSpPr>
          <p:cNvPr id="12" name="Shape 8"/>
          <p:cNvSpPr/>
          <p:nvPr/>
        </p:nvSpPr>
        <p:spPr>
          <a:xfrm>
            <a:off x="507950" y="3422749"/>
            <a:ext cx="4191000" cy="0"/>
          </a:xfrm>
          <a:prstGeom prst="line">
            <a:avLst/>
          </a:prstGeom>
          <a:noFill/>
          <a:ln w="9525">
            <a:solidFill>
              <a:srgbClr val="E0C5FF"/>
            </a:solidFill>
            <a:prstDash val="solid"/>
          </a:ln>
        </p:spPr>
      </p:sp>
      <p:sp>
        <p:nvSpPr>
          <p:cNvPr id="13" name="Shape 9"/>
          <p:cNvSpPr/>
          <p:nvPr/>
        </p:nvSpPr>
        <p:spPr>
          <a:xfrm>
            <a:off x="531763" y="1821359"/>
            <a:ext cx="0" cy="1606153"/>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1960959"/>
            <a:ext cx="165050" cy="165050"/>
          </a:xfrm>
          <a:prstGeom prst="rect">
            <a:avLst/>
          </a:prstGeom>
        </p:spPr>
      </p:pic>
      <p:sp>
        <p:nvSpPr>
          <p:cNvPr id="15" name="Text 10"/>
          <p:cNvSpPr/>
          <p:nvPr/>
        </p:nvSpPr>
        <p:spPr>
          <a:xfrm>
            <a:off x="974527" y="1957834"/>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180034"/>
            <a:ext cx="3854017" cy="11110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Create a simple, user-scoped Session Board canvas with a Feature proposal field, a Plan / Implement / Validate checklist, and Notes. Let the user and the agent both update it. Do not edit repository files.</a:t>
            </a:r>
            <a:endParaRPr lang="en-US" sz="1400" dirty="0"/>
          </a:p>
        </p:txBody>
      </p:sp>
      <p:sp>
        <p:nvSpPr>
          <p:cNvPr id="17" name="Text 12"/>
          <p:cNvSpPr/>
          <p:nvPr/>
        </p:nvSpPr>
        <p:spPr>
          <a:xfrm>
            <a:off x="507950" y="3605213"/>
            <a:ext cx="4191000"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Circle-1A7F37.png">    </p:cNvPr>
          <p:cNvPicPr>
            <a:picLocks noChangeAspect="1"/>
          </p:cNvPicPr>
          <p:nvPr/>
        </p:nvPicPr>
        <p:blipFill>
          <a:blip r:embed="rId5"/>
          <a:stretch>
            <a:fillRect/>
          </a:stretch>
        </p:blipFill>
        <p:spPr>
          <a:xfrm>
            <a:off x="695176" y="3863578"/>
            <a:ext cx="203150" cy="203150"/>
          </a:xfrm>
          <a:prstGeom prst="rect">
            <a:avLst/>
          </a:prstGeom>
        </p:spPr>
      </p:pic>
      <p:sp>
        <p:nvSpPr>
          <p:cNvPr id="19" name="Text 13"/>
          <p:cNvSpPr/>
          <p:nvPr/>
        </p:nvSpPr>
        <p:spPr>
          <a:xfrm>
            <a:off x="1025277" y="3741688"/>
            <a:ext cx="355617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Update the board, then ask the agent to summarize it. They should match.</a:t>
            </a:r>
            <a:endParaRPr lang="en-US" sz="1450" dirty="0"/>
          </a:p>
        </p:txBody>
      </p:sp>
      <p:sp>
        <p:nvSpPr>
          <p:cNvPr id="20" name="Text 14"/>
          <p:cNvSpPr/>
          <p:nvPr/>
        </p:nvSpPr>
        <p:spPr>
          <a:xfrm>
            <a:off x="4955977"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Users/danwahlin/.copilot/session-state/56a7a0da-def8-48d4-b5e8-0ac3878cb8dd/files/slides-build/img/06-session-board-collaboration.jpg">    </p:cNvPr>
          <p:cNvPicPr>
            <a:picLocks noChangeAspect="1"/>
          </p:cNvPicPr>
          <p:nvPr/>
        </p:nvPicPr>
        <p:blipFill>
          <a:blip r:embed="rId6"/>
          <a:stretch>
            <a:fillRect/>
          </a:stretch>
        </p:blipFill>
        <p:spPr>
          <a:xfrm>
            <a:off x="5003602" y="1879550"/>
            <a:ext cx="3581400" cy="23875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Feature Workbench</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 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Feature Workbench</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prompt builds it.</a:t>
            </a:r>
            <a:endParaRPr lang="en-US" sz="1650" dirty="0"/>
          </a:p>
        </p:txBody>
      </p:sp>
      <p:sp>
        <p:nvSpPr>
          <p:cNvPr id="9" name="Text 5"/>
          <p:cNvSpPr/>
          <p:nvPr/>
        </p:nvSpPr>
        <p:spPr>
          <a:xfrm>
            <a:off x="507950" y="1765548"/>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Milestone-1A7F37.png">    </p:cNvPr>
          <p:cNvPicPr>
            <a:picLocks noChangeAspect="1"/>
          </p:cNvPicPr>
          <p:nvPr/>
        </p:nvPicPr>
        <p:blipFill>
          <a:blip r:embed="rId4"/>
          <a:stretch>
            <a:fillRect/>
          </a:stretch>
        </p:blipFill>
        <p:spPr>
          <a:xfrm>
            <a:off x="590550" y="1848148"/>
            <a:ext cx="215801" cy="215801"/>
          </a:xfrm>
          <a:prstGeom prst="rect">
            <a:avLst/>
          </a:prstGeom>
        </p:spPr>
      </p:pic>
      <p:sp>
        <p:nvSpPr>
          <p:cNvPr id="11" name="Text 6"/>
          <p:cNvSpPr/>
          <p:nvPr/>
        </p:nvSpPr>
        <p:spPr>
          <a:xfrm>
            <a:off x="1041350" y="1730127"/>
            <a:ext cx="15620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Five stages</a:t>
            </a:r>
            <a:endParaRPr lang="en-US" sz="1550" dirty="0"/>
          </a:p>
        </p:txBody>
      </p:sp>
      <p:sp>
        <p:nvSpPr>
          <p:cNvPr id="12" name="Text 7"/>
          <p:cNvSpPr/>
          <p:nvPr/>
        </p:nvSpPr>
        <p:spPr>
          <a:xfrm>
            <a:off x="1041350" y="1984028"/>
            <a:ext cx="15620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Propose to Validate.</a:t>
            </a:r>
            <a:endParaRPr lang="en-US" sz="1350" dirty="0"/>
          </a:p>
        </p:txBody>
      </p:sp>
      <p:sp>
        <p:nvSpPr>
          <p:cNvPr id="13" name="Text 8"/>
          <p:cNvSpPr/>
          <p:nvPr/>
        </p:nvSpPr>
        <p:spPr>
          <a:xfrm>
            <a:off x="507950" y="249435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4" name="Image 3" descr="/Users/danwahlin/.copilot/session-state/56a7a0da-def8-48d4-b5e8-0ac3878cb8dd/files/slides-build/icons/GoPencil-1A7F37.png">    </p:cNvPr>
          <p:cNvPicPr>
            <a:picLocks noChangeAspect="1"/>
          </p:cNvPicPr>
          <p:nvPr/>
        </p:nvPicPr>
        <p:blipFill>
          <a:blip r:embed="rId5"/>
          <a:stretch>
            <a:fillRect/>
          </a:stretch>
        </p:blipFill>
        <p:spPr>
          <a:xfrm>
            <a:off x="590550" y="2576959"/>
            <a:ext cx="215801" cy="215801"/>
          </a:xfrm>
          <a:prstGeom prst="rect">
            <a:avLst/>
          </a:prstGeom>
        </p:spPr>
      </p:pic>
      <p:sp>
        <p:nvSpPr>
          <p:cNvPr id="15" name="Text 9"/>
          <p:cNvSpPr/>
          <p:nvPr/>
        </p:nvSpPr>
        <p:spPr>
          <a:xfrm>
            <a:off x="1041350" y="2359819"/>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Proposal</a:t>
            </a:r>
            <a:endParaRPr lang="en-US" sz="1550" dirty="0"/>
          </a:p>
        </p:txBody>
      </p:sp>
      <p:sp>
        <p:nvSpPr>
          <p:cNvPr id="16" name="Text 10"/>
          <p:cNvSpPr/>
          <p:nvPr/>
        </p:nvSpPr>
        <p:spPr>
          <a:xfrm>
            <a:off x="1041350" y="2613720"/>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field, one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Generate plan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button.</a:t>
            </a:r>
            <a:endParaRPr lang="en-US" sz="1350" dirty="0"/>
          </a:p>
        </p:txBody>
      </p:sp>
      <p:sp>
        <p:nvSpPr>
          <p:cNvPr id="17" name="Text 11"/>
          <p:cNvSpPr/>
          <p:nvPr/>
        </p:nvSpPr>
        <p:spPr>
          <a:xfrm>
            <a:off x="507950" y="33221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Play-1A7F37.png">    </p:cNvPr>
          <p:cNvPicPr>
            <a:picLocks noChangeAspect="1"/>
          </p:cNvPicPr>
          <p:nvPr/>
        </p:nvPicPr>
        <p:blipFill>
          <a:blip r:embed="rId6"/>
          <a:stretch>
            <a:fillRect/>
          </a:stretch>
        </p:blipFill>
        <p:spPr>
          <a:xfrm>
            <a:off x="590550" y="3404741"/>
            <a:ext cx="215801" cy="215801"/>
          </a:xfrm>
          <a:prstGeom prst="rect">
            <a:avLst/>
          </a:prstGeom>
        </p:spPr>
      </p:pic>
      <p:sp>
        <p:nvSpPr>
          <p:cNvPr id="19" name="Text 12"/>
          <p:cNvSpPr/>
          <p:nvPr/>
        </p:nvSpPr>
        <p:spPr>
          <a:xfrm>
            <a:off x="1041350" y="3187601"/>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Actions</a:t>
            </a:r>
            <a:endParaRPr lang="en-US" sz="1550" dirty="0"/>
          </a:p>
        </p:txBody>
      </p:sp>
      <p:sp>
        <p:nvSpPr>
          <p:cNvPr id="20" name="Text 13"/>
          <p:cNvSpPr/>
          <p:nvPr/>
        </p:nvSpPr>
        <p:spPr>
          <a:xfrm>
            <a:off x="1041350" y="3441502"/>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one asks the agent to do work.</a:t>
            </a:r>
            <a:endParaRPr lang="en-US" sz="1350" dirty="0"/>
          </a:p>
        </p:txBody>
      </p:sp>
      <p:sp>
        <p:nvSpPr>
          <p:cNvPr id="21" name="Text 14"/>
          <p:cNvSpPr/>
          <p:nvPr/>
        </p:nvSpPr>
        <p:spPr>
          <a:xfrm>
            <a:off x="507950" y="405080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Users/danwahlin/.copilot/session-state/56a7a0da-def8-48d4-b5e8-0ac3878cb8dd/files/slides-build/icons/GoTasklist-1A7F37.png">    </p:cNvPr>
          <p:cNvPicPr>
            <a:picLocks noChangeAspect="1"/>
          </p:cNvPicPr>
          <p:nvPr/>
        </p:nvPicPr>
        <p:blipFill>
          <a:blip r:embed="rId7"/>
          <a:stretch>
            <a:fillRect/>
          </a:stretch>
        </p:blipFill>
        <p:spPr>
          <a:xfrm>
            <a:off x="590550" y="4133404"/>
            <a:ext cx="215801" cy="215801"/>
          </a:xfrm>
          <a:prstGeom prst="rect">
            <a:avLst/>
          </a:prstGeom>
        </p:spPr>
      </p:pic>
      <p:sp>
        <p:nvSpPr>
          <p:cNvPr id="23" name="Text 15"/>
          <p:cNvSpPr/>
          <p:nvPr/>
        </p:nvSpPr>
        <p:spPr>
          <a:xfrm>
            <a:off x="1041350" y="4015383"/>
            <a:ext cx="227449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Checklist and evidence</a:t>
            </a:r>
            <a:endParaRPr lang="en-US" sz="1550" dirty="0"/>
          </a:p>
        </p:txBody>
      </p:sp>
      <p:sp>
        <p:nvSpPr>
          <p:cNvPr id="24" name="Text 16"/>
          <p:cNvSpPr/>
          <p:nvPr/>
        </p:nvSpPr>
        <p:spPr>
          <a:xfrm>
            <a:off x="1041350" y="4269284"/>
            <a:ext cx="227449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Marked only from real output.</a:t>
            </a:r>
            <a:endParaRPr lang="en-US" sz="1350" dirty="0"/>
          </a:p>
        </p:txBody>
      </p:sp>
      <p:sp>
        <p:nvSpPr>
          <p:cNvPr id="25" name="Text 17"/>
          <p:cNvSpPr/>
          <p:nvPr/>
        </p:nvSpPr>
        <p:spPr>
          <a:xfrm>
            <a:off x="3762226" y="1624905"/>
            <a:ext cx="4870400" cy="2947541"/>
          </a:xfrm>
          <a:prstGeom prst="roundRect">
            <a:avLst>
              <a:gd name="adj" fmla="val 25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6" name="Image 6" descr="/Users/danwahlin/.copilot/session-state/56a7a0da-def8-48d4-b5e8-0ac3878cb8dd/files/slides-build/img/06-workbench-crop.png">    </p:cNvPr>
          <p:cNvPicPr>
            <a:picLocks noChangeAspect="1"/>
          </p:cNvPicPr>
          <p:nvPr/>
        </p:nvPicPr>
        <p:blipFill>
          <a:blip r:embed="rId8"/>
          <a:stretch>
            <a:fillRect/>
          </a:stretch>
        </p:blipFill>
        <p:spPr>
          <a:xfrm>
            <a:off x="3809851" y="1672530"/>
            <a:ext cx="4775150" cy="285229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PROPOSE, PLAN, AND BASELINE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on the board. Approve in the Plan tab.</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Proposal: a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Clear filters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control, shown only when a filter is active.</a:t>
            </a:r>
            <a:endParaRPr lang="en-US" sz="1650" dirty="0"/>
          </a:p>
        </p:txBody>
      </p:sp>
      <p:sp>
        <p:nvSpPr>
          <p:cNvPr id="9" name="Text 5"/>
          <p:cNvSpPr/>
          <p:nvPr/>
        </p:nvSpPr>
        <p:spPr>
          <a:xfrm>
            <a:off x="507950" y="23139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0" name="Text 6"/>
          <p:cNvSpPr/>
          <p:nvPr/>
        </p:nvSpPr>
        <p:spPr>
          <a:xfrm>
            <a:off x="620630" y="2374255"/>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1</a:t>
            </a:r>
            <a:endParaRPr lang="en-US" sz="1450" dirty="0"/>
          </a:p>
        </p:txBody>
      </p:sp>
      <p:sp>
        <p:nvSpPr>
          <p:cNvPr id="11" name="Text 7"/>
          <p:cNvSpPr/>
          <p:nvPr/>
        </p:nvSpPr>
        <p:spPr>
          <a:xfrm>
            <a:off x="1015752" y="1872555"/>
            <a:ext cx="6475661"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2" descr="/Users/danwahlin/.copilot/session-state/56a7a0da-def8-48d4-b5e8-0ac3878cb8dd/files/slides-build/img/06-plan-crop.png">    </p:cNvPr>
          <p:cNvPicPr>
            <a:picLocks noChangeAspect="1"/>
          </p:cNvPicPr>
          <p:nvPr/>
        </p:nvPicPr>
        <p:blipFill>
          <a:blip r:embed="rId4"/>
          <a:stretch>
            <a:fillRect/>
          </a:stretch>
        </p:blipFill>
        <p:spPr>
          <a:xfrm>
            <a:off x="1063377" y="1920180"/>
            <a:ext cx="6380411" cy="1117550"/>
          </a:xfrm>
          <a:prstGeom prst="rect">
            <a:avLst/>
          </a:prstGeom>
        </p:spPr>
      </p:pic>
      <p:sp>
        <p:nvSpPr>
          <p:cNvPr id="13" name="Text 8"/>
          <p:cNvSpPr/>
          <p:nvPr/>
        </p:nvSpPr>
        <p:spPr>
          <a:xfrm>
            <a:off x="507950" y="34441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4" name="Text 9"/>
          <p:cNvSpPr/>
          <p:nvPr/>
        </p:nvSpPr>
        <p:spPr>
          <a:xfrm>
            <a:off x="620630" y="3504456"/>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2</a:t>
            </a:r>
            <a:endParaRPr lang="en-US" sz="1450" dirty="0"/>
          </a:p>
        </p:txBody>
      </p:sp>
      <p:sp>
        <p:nvSpPr>
          <p:cNvPr id="15" name="Text 10"/>
          <p:cNvSpPr/>
          <p:nvPr/>
        </p:nvSpPr>
        <p:spPr>
          <a:xfrm>
            <a:off x="1015752" y="3316486"/>
            <a:ext cx="7613600" cy="585341"/>
          </a:xfrm>
          <a:prstGeom prst="roundRect">
            <a:avLst>
              <a:gd name="adj" fmla="val 1301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3" descr="/Users/danwahlin/.copilot/session-state/56a7a0da-def8-48d4-b5e8-0ac3878cb8dd/files/slides-build/img/06-baseline-ev-crop.png">    </p:cNvPr>
          <p:cNvPicPr>
            <a:picLocks noChangeAspect="1"/>
          </p:cNvPicPr>
          <p:nvPr/>
        </p:nvPicPr>
        <p:blipFill>
          <a:blip r:embed="rId5"/>
          <a:stretch>
            <a:fillRect/>
          </a:stretch>
        </p:blipFill>
        <p:spPr>
          <a:xfrm>
            <a:off x="1063377" y="3364111"/>
            <a:ext cx="7518350" cy="490091"/>
          </a:xfrm>
          <a:prstGeom prst="rect">
            <a:avLst/>
          </a:prstGeom>
        </p:spPr>
      </p:pic>
      <p:sp>
        <p:nvSpPr>
          <p:cNvPr id="17" name="Text 11"/>
          <p:cNvSpPr/>
          <p:nvPr/>
        </p:nvSpPr>
        <p:spPr>
          <a:xfrm>
            <a:off x="507950" y="4129832"/>
            <a:ext cx="8290509" cy="22354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Generate plan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approve with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Exit plan mode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then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Run baseline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4 tests pass before any change.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IMPLEMENT AND VALIDATE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Implement, then check five states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Implement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Browser validation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11076" y="1594693"/>
            <a:ext cx="8121551" cy="1386780"/>
          </a:xfrm>
          <a:prstGeom prst="roundRect">
            <a:avLst>
              <a:gd name="adj" fmla="val 549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implement-crop.png">    </p:cNvPr>
          <p:cNvPicPr>
            <a:picLocks noChangeAspect="1"/>
          </p:cNvPicPr>
          <p:nvPr/>
        </p:nvPicPr>
        <p:blipFill>
          <a:blip r:embed="rId4"/>
          <a:stretch>
            <a:fillRect/>
          </a:stretch>
        </p:blipFill>
        <p:spPr>
          <a:xfrm>
            <a:off x="558701" y="1642318"/>
            <a:ext cx="8026301" cy="1291530"/>
          </a:xfrm>
          <a:prstGeom prst="rect">
            <a:avLst/>
          </a:prstGeom>
        </p:spPr>
      </p:pic>
      <p:sp>
        <p:nvSpPr>
          <p:cNvPr id="11" name="Text 6"/>
          <p:cNvSpPr/>
          <p:nvPr/>
        </p:nvSpPr>
        <p:spPr>
          <a:xfrm>
            <a:off x="507950" y="3202484"/>
            <a:ext cx="4825901" cy="1443335"/>
          </a:xfrm>
          <a:prstGeom prst="roundRect">
            <a:avLst>
              <a:gd name="adj" fmla="val 703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17475" y="3212009"/>
            <a:ext cx="48068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17475" y="3534221"/>
            <a:ext cx="4806851" cy="0"/>
          </a:xfrm>
          <a:prstGeom prst="line">
            <a:avLst/>
          </a:prstGeom>
          <a:noFill/>
          <a:ln w="9525">
            <a:solidFill>
              <a:srgbClr val="9CD7FF"/>
            </a:solidFill>
            <a:prstDash val="solid"/>
          </a:ln>
        </p:spPr>
      </p:sp>
      <p:sp>
        <p:nvSpPr>
          <p:cNvPr id="14" name="Text 9"/>
          <p:cNvSpPr/>
          <p:nvPr/>
        </p:nvSpPr>
        <p:spPr>
          <a:xfrm>
            <a:off x="669875" y="3288209"/>
            <a:ext cx="240944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STATE</a:t>
            </a:r>
            <a:endParaRPr lang="en-US" sz="1150" dirty="0"/>
          </a:p>
        </p:txBody>
      </p:sp>
      <p:sp>
        <p:nvSpPr>
          <p:cNvPr id="15" name="Text 10"/>
          <p:cNvSpPr/>
          <p:nvPr/>
        </p:nvSpPr>
        <p:spPr>
          <a:xfrm>
            <a:off x="3336875" y="3288209"/>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CLEAR FILTERS</a:t>
            </a:r>
            <a:endParaRPr lang="en-US" sz="1150" dirty="0"/>
          </a:p>
        </p:txBody>
      </p:sp>
      <p:sp>
        <p:nvSpPr>
          <p:cNvPr id="16" name="Shape 11"/>
          <p:cNvSpPr/>
          <p:nvPr/>
        </p:nvSpPr>
        <p:spPr>
          <a:xfrm>
            <a:off x="517475" y="3903166"/>
            <a:ext cx="4806851" cy="0"/>
          </a:xfrm>
          <a:prstGeom prst="line">
            <a:avLst/>
          </a:prstGeom>
          <a:noFill/>
          <a:ln w="9525">
            <a:solidFill>
              <a:srgbClr val="D1D9E0"/>
            </a:solidFill>
            <a:prstDash val="solid"/>
          </a:ln>
        </p:spPr>
      </p:sp>
      <p:sp>
        <p:nvSpPr>
          <p:cNvPr id="17" name="Text 12"/>
          <p:cNvSpPr/>
          <p:nvPr/>
        </p:nvSpPr>
        <p:spPr>
          <a:xfrm>
            <a:off x="669875" y="361518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No filters active</a:t>
            </a:r>
            <a:endParaRPr lang="en-US" sz="1400" dirty="0"/>
          </a:p>
        </p:txBody>
      </p:sp>
      <p:sp>
        <p:nvSpPr>
          <p:cNvPr id="18" name="Text 13"/>
          <p:cNvSpPr/>
          <p:nvPr/>
        </p:nvSpPr>
        <p:spPr>
          <a:xfrm>
            <a:off x="3336875" y="361518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Hidden</a:t>
            </a:r>
            <a:endParaRPr lang="en-US" sz="1400" dirty="0"/>
          </a:p>
        </p:txBody>
      </p:sp>
      <p:sp>
        <p:nvSpPr>
          <p:cNvPr id="19" name="Shape 14"/>
          <p:cNvSpPr/>
          <p:nvPr/>
        </p:nvSpPr>
        <p:spPr>
          <a:xfrm>
            <a:off x="517475" y="4272111"/>
            <a:ext cx="4806851" cy="0"/>
          </a:xfrm>
          <a:prstGeom prst="line">
            <a:avLst/>
          </a:prstGeom>
          <a:noFill/>
          <a:ln w="9525">
            <a:solidFill>
              <a:srgbClr val="D1D9E0"/>
            </a:solidFill>
            <a:prstDash val="solid"/>
          </a:ln>
        </p:spPr>
      </p:sp>
      <p:sp>
        <p:nvSpPr>
          <p:cNvPr id="20" name="Text 15"/>
          <p:cNvSpPr/>
          <p:nvPr/>
        </p:nvSpPr>
        <p:spPr>
          <a:xfrm>
            <a:off x="669875" y="3984129"/>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Any filter set</a:t>
            </a:r>
            <a:endParaRPr lang="en-US" sz="1400" dirty="0"/>
          </a:p>
        </p:txBody>
      </p:sp>
      <p:sp>
        <p:nvSpPr>
          <p:cNvPr id="21" name="Text 16"/>
          <p:cNvSpPr/>
          <p:nvPr/>
        </p:nvSpPr>
        <p:spPr>
          <a:xfrm>
            <a:off x="3336875" y="3984129"/>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Visible</a:t>
            </a:r>
            <a:endParaRPr lang="en-US" sz="1400" dirty="0"/>
          </a:p>
        </p:txBody>
      </p:sp>
      <p:sp>
        <p:nvSpPr>
          <p:cNvPr id="22" name="Text 17"/>
          <p:cNvSpPr/>
          <p:nvPr/>
        </p:nvSpPr>
        <p:spPr>
          <a:xfrm>
            <a:off x="669875" y="435307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After selecting it</a:t>
            </a:r>
            <a:endParaRPr lang="en-US" sz="1400" dirty="0"/>
          </a:p>
        </p:txBody>
      </p:sp>
      <p:sp>
        <p:nvSpPr>
          <p:cNvPr id="23" name="Text 18"/>
          <p:cNvSpPr/>
          <p:nvPr/>
        </p:nvSpPr>
        <p:spPr>
          <a:xfrm>
            <a:off x="3336875" y="435307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All filters reset</a:t>
            </a:r>
            <a:endParaRPr lang="en-US" sz="1400" dirty="0"/>
          </a:p>
        </p:txBody>
      </p:sp>
      <p:sp>
        <p:nvSpPr>
          <p:cNvPr id="24" name="Text 19"/>
          <p:cNvSpPr/>
          <p:nvPr/>
        </p:nvSpPr>
        <p:spPr>
          <a:xfrm>
            <a:off x="5537002" y="3564136"/>
            <a:ext cx="3098899" cy="720030"/>
          </a:xfrm>
          <a:prstGeom prst="roundRect">
            <a:avLst>
              <a:gd name="adj" fmla="val 14111"/>
            </a:avLst>
          </a:prstGeom>
          <a:solidFill>
            <a:srgbClr val="FBEFFF"/>
          </a:solidFill>
          <a:ln w="9525">
            <a:solidFill>
              <a:srgbClr val="E0C5FF"/>
            </a:solidFill>
          </a:ln>
        </p:spPr>
        <p:txBody>
          <a:bodyPr wrap="square" rtlCol="0" anchor="ctr"/>
          <a:lstStyle/>
          <a:p>
            <a:pPr indent="0" marL="0">
              <a:buNone/>
            </a:pPr>
            <a:endParaRPr lang="en-US" dirty="0"/>
          </a:p>
        </p:txBody>
      </p:sp>
      <p:pic>
        <p:nvPicPr>
          <p:cNvPr id="25" name="Image 3" descr="/Users/danwahlin/.copilot/session-state/56a7a0da-def8-48d4-b5e8-0ac3878cb8dd/files/slides-build/icons/GoFileDiff-8250DF.png">    </p:cNvPr>
          <p:cNvPicPr>
            <a:picLocks noChangeAspect="1"/>
          </p:cNvPicPr>
          <p:nvPr/>
        </p:nvPicPr>
        <p:blipFill>
          <a:blip r:embed="rId5"/>
          <a:stretch>
            <a:fillRect/>
          </a:stretch>
        </p:blipFill>
        <p:spPr>
          <a:xfrm>
            <a:off x="5724227" y="3822502"/>
            <a:ext cx="203150" cy="203150"/>
          </a:xfrm>
          <a:prstGeom prst="rect">
            <a:avLst/>
          </a:prstGeom>
        </p:spPr>
      </p:pic>
      <p:sp>
        <p:nvSpPr>
          <p:cNvPr id="26" name="Text 20"/>
          <p:cNvSpPr/>
          <p:nvPr/>
        </p:nvSpPr>
        <p:spPr>
          <a:xfrm>
            <a:off x="6054328" y="3700611"/>
            <a:ext cx="2442234"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tab: only the approved feature.</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EVIDENCE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board reflects what happened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Run final checks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You decide if the evidence is enough.</a:t>
            </a:r>
            <a:endParaRPr lang="en-US" sz="1650" dirty="0"/>
          </a:p>
        </p:txBody>
      </p:sp>
      <p:sp>
        <p:nvSpPr>
          <p:cNvPr id="9" name="Text 5"/>
          <p:cNvSpPr/>
          <p:nvPr/>
        </p:nvSpPr>
        <p:spPr>
          <a:xfrm>
            <a:off x="511076" y="2151906"/>
            <a:ext cx="8121551" cy="947291"/>
          </a:xfrm>
          <a:prstGeom prst="roundRect">
            <a:avLst>
              <a:gd name="adj" fmla="val 804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validate-crop.png">    </p:cNvPr>
          <p:cNvPicPr>
            <a:picLocks noChangeAspect="1"/>
          </p:cNvPicPr>
          <p:nvPr/>
        </p:nvPicPr>
        <p:blipFill>
          <a:blip r:embed="rId4"/>
          <a:stretch>
            <a:fillRect/>
          </a:stretch>
        </p:blipFill>
        <p:spPr>
          <a:xfrm>
            <a:off x="558701" y="2199531"/>
            <a:ext cx="8026301" cy="852041"/>
          </a:xfrm>
          <a:prstGeom prst="rect">
            <a:avLst/>
          </a:prstGeom>
        </p:spPr>
      </p:pic>
      <p:sp>
        <p:nvSpPr>
          <p:cNvPr id="11" name="Text 6"/>
          <p:cNvSpPr/>
          <p:nvPr/>
        </p:nvSpPr>
        <p:spPr>
          <a:xfrm>
            <a:off x="507950" y="3400276"/>
            <a:ext cx="2413248" cy="768251"/>
          </a:xfrm>
          <a:prstGeom prst="roundRect">
            <a:avLst>
              <a:gd name="adj" fmla="val 16531"/>
            </a:avLst>
          </a:prstGeom>
          <a:noFill/>
          <a:ln w="9525">
            <a:solidFill>
              <a:srgbClr val="D1D9E0"/>
            </a:solidFill>
          </a:ln>
        </p:spPr>
        <p:txBody>
          <a:bodyPr wrap="square" rtlCol="0" anchor="ctr"/>
          <a:lstStyle/>
          <a:p>
            <a:pPr indent="0" marL="0">
              <a:buNone/>
            </a:pPr>
            <a:endParaRPr lang="en-US" dirty="0"/>
          </a:p>
        </p:txBody>
      </p:sp>
      <p:sp>
        <p:nvSpPr>
          <p:cNvPr id="12" name="Text 7"/>
          <p:cNvSpPr/>
          <p:nvPr/>
        </p:nvSpPr>
        <p:spPr>
          <a:xfrm>
            <a:off x="891778" y="3698677"/>
            <a:ext cx="75310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BASELINE</a:t>
            </a:r>
            <a:endParaRPr lang="en-US" sz="1150" dirty="0"/>
          </a:p>
        </p:txBody>
      </p:sp>
      <p:sp>
        <p:nvSpPr>
          <p:cNvPr id="13" name="Text 8"/>
          <p:cNvSpPr/>
          <p:nvPr/>
        </p:nvSpPr>
        <p:spPr>
          <a:xfrm>
            <a:off x="1782514" y="3536752"/>
            <a:ext cx="245013" cy="495300"/>
          </a:xfrm>
          <a:prstGeom prst="rect">
            <a:avLst/>
          </a:prstGeom>
          <a:noFill/>
          <a:ln/>
        </p:spPr>
        <p:txBody>
          <a:bodyPr wrap="square" lIns="0" tIns="0" rIns="0" bIns="0" rtlCol="0" anchor="t"/>
          <a:lstStyle/>
          <a:p>
            <a:pPr algn="l" indent="0" marL="0">
              <a:buNone/>
            </a:pPr>
            <a:r>
              <a:rPr lang="en-US" sz="3400" b="1" dirty="0">
                <a:solidFill>
                  <a:srgbClr val="1F2328"/>
                </a:solidFill>
                <a:latin typeface="Arial" pitchFamily="34" charset="0"/>
                <a:ea typeface="Arial" pitchFamily="34" charset="-122"/>
                <a:cs typeface="Arial" pitchFamily="34" charset="-120"/>
              </a:rPr>
              <a:t>4</a:t>
            </a:r>
            <a:endParaRPr lang="en-US" sz="3400" dirty="0"/>
          </a:p>
        </p:txBody>
      </p:sp>
      <p:sp>
        <p:nvSpPr>
          <p:cNvPr id="14" name="Text 9"/>
          <p:cNvSpPr/>
          <p:nvPr/>
        </p:nvSpPr>
        <p:spPr>
          <a:xfrm>
            <a:off x="2175123"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5" name="Text 10"/>
          <p:cNvSpPr/>
          <p:nvPr/>
        </p:nvSpPr>
        <p:spPr>
          <a:xfrm>
            <a:off x="3073598" y="3400276"/>
            <a:ext cx="2413397" cy="768251"/>
          </a:xfrm>
          <a:prstGeom prst="roundRect">
            <a:avLst>
              <a:gd name="adj" fmla="val 16531"/>
            </a:avLst>
          </a:prstGeom>
          <a:solidFill>
            <a:srgbClr val="DAFBE1"/>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3611761" y="3698677"/>
            <a:ext cx="438564"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FINAL</a:t>
            </a:r>
            <a:endParaRPr lang="en-US" sz="1150" dirty="0"/>
          </a:p>
        </p:txBody>
      </p:sp>
      <p:sp>
        <p:nvSpPr>
          <p:cNvPr id="17" name="Text 12"/>
          <p:cNvSpPr/>
          <p:nvPr/>
        </p:nvSpPr>
        <p:spPr>
          <a:xfrm>
            <a:off x="4194125" y="3536752"/>
            <a:ext cx="245013" cy="495300"/>
          </a:xfrm>
          <a:prstGeom prst="rect">
            <a:avLst/>
          </a:prstGeom>
          <a:noFill/>
          <a:ln/>
        </p:spPr>
        <p:txBody>
          <a:bodyPr wrap="square" lIns="0" tIns="0" rIns="0" bIns="0" rtlCol="0" anchor="t"/>
          <a:lstStyle/>
          <a:p>
            <a:pPr algn="l" indent="0" marL="0">
              <a:buNone/>
            </a:pPr>
            <a:r>
              <a:rPr lang="en-US" sz="3400" b="1" dirty="0">
                <a:solidFill>
                  <a:srgbClr val="1A7F37"/>
                </a:solidFill>
                <a:latin typeface="Arial" pitchFamily="34" charset="0"/>
                <a:ea typeface="Arial" pitchFamily="34" charset="-122"/>
                <a:cs typeface="Arial" pitchFamily="34" charset="-120"/>
              </a:rPr>
              <a:t>9</a:t>
            </a:r>
            <a:endParaRPr lang="en-US" sz="3400" dirty="0"/>
          </a:p>
        </p:txBody>
      </p:sp>
      <p:sp>
        <p:nvSpPr>
          <p:cNvPr id="18" name="Text 13"/>
          <p:cNvSpPr/>
          <p:nvPr/>
        </p:nvSpPr>
        <p:spPr>
          <a:xfrm>
            <a:off x="4586734"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9" name="Text 14"/>
          <p:cNvSpPr/>
          <p:nvPr/>
        </p:nvSpPr>
        <p:spPr>
          <a:xfrm>
            <a:off x="5639395" y="3560862"/>
            <a:ext cx="3056436" cy="44708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The final total must never be lower than the baseline.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an Assess stage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Compare a proposal with current behavior before planning.</a:t>
            </a:r>
            <a:endParaRPr lang="en-US" sz="1650" dirty="0"/>
          </a:p>
        </p:txBody>
      </p:sp>
      <p:sp>
        <p:nvSpPr>
          <p:cNvPr id="9" name="Text 5"/>
          <p:cNvSpPr/>
          <p:nvPr/>
        </p:nvSpPr>
        <p:spPr>
          <a:xfrm>
            <a:off x="507950"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32732"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Propose</a:t>
            </a:r>
            <a:endParaRPr lang="en-US" sz="1300" dirty="0"/>
          </a:p>
        </p:txBody>
      </p:sp>
      <p:sp>
        <p:nvSpPr>
          <p:cNvPr id="11" name="Text 7"/>
          <p:cNvSpPr/>
          <p:nvPr/>
        </p:nvSpPr>
        <p:spPr>
          <a:xfrm>
            <a:off x="1658243"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2" name="Text 8"/>
          <p:cNvSpPr/>
          <p:nvPr/>
        </p:nvSpPr>
        <p:spPr>
          <a:xfrm>
            <a:off x="1918692" y="2056209"/>
            <a:ext cx="1074241" cy="396776"/>
          </a:xfrm>
          <a:prstGeom prst="roundRect">
            <a:avLst>
              <a:gd name="adj" fmla="val 19205"/>
            </a:avLst>
          </a:prstGeom>
          <a:solidFill>
            <a:srgbClr val="FFF1E5"/>
          </a:solidFill>
          <a:ln w="9525">
            <a:solidFill>
              <a:srgbClr val="BC4C00"/>
            </a:solidFill>
          </a:ln>
        </p:spPr>
        <p:txBody>
          <a:bodyPr wrap="square" rtlCol="0" anchor="ctr"/>
          <a:lstStyle/>
          <a:p>
            <a:pPr indent="0" marL="0">
              <a:buNone/>
            </a:pPr>
            <a:endParaRPr lang="en-US" dirty="0"/>
          </a:p>
        </p:txBody>
      </p:sp>
      <p:sp>
        <p:nvSpPr>
          <p:cNvPr id="13" name="Text 9"/>
          <p:cNvSpPr/>
          <p:nvPr/>
        </p:nvSpPr>
        <p:spPr>
          <a:xfrm>
            <a:off x="1943472" y="2154585"/>
            <a:ext cx="1024682" cy="200025"/>
          </a:xfrm>
          <a:prstGeom prst="rect">
            <a:avLst/>
          </a:prstGeom>
          <a:noFill/>
          <a:ln/>
        </p:spPr>
        <p:txBody>
          <a:bodyPr wrap="square" lIns="0" tIns="0" rIns="0" bIns="0" rtlCol="0" anchor="t"/>
          <a:lstStyle/>
          <a:p>
            <a:pPr algn="ctr" indent="0" marL="0">
              <a:buNone/>
            </a:pPr>
            <a:r>
              <a:rPr lang="en-US" sz="1300" b="1" dirty="0">
                <a:solidFill>
                  <a:srgbClr val="BC4C00"/>
                </a:solidFill>
                <a:latin typeface="Arial" pitchFamily="34" charset="0"/>
                <a:ea typeface="Arial" pitchFamily="34" charset="-122"/>
                <a:cs typeface="Arial" pitchFamily="34" charset="-120"/>
              </a:rPr>
              <a:t>Assess</a:t>
            </a:r>
            <a:endParaRPr lang="en-US" sz="1300" dirty="0"/>
          </a:p>
        </p:txBody>
      </p:sp>
      <p:sp>
        <p:nvSpPr>
          <p:cNvPr id="14" name="Text 10"/>
          <p:cNvSpPr/>
          <p:nvPr/>
        </p:nvSpPr>
        <p:spPr>
          <a:xfrm>
            <a:off x="3069134"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5" name="Text 11"/>
          <p:cNvSpPr/>
          <p:nvPr/>
        </p:nvSpPr>
        <p:spPr>
          <a:xfrm>
            <a:off x="3329583"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3354364"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Plan</a:t>
            </a:r>
            <a:endParaRPr lang="en-US" sz="1300" dirty="0"/>
          </a:p>
        </p:txBody>
      </p:sp>
      <p:sp>
        <p:nvSpPr>
          <p:cNvPr id="17" name="Text 13"/>
          <p:cNvSpPr/>
          <p:nvPr/>
        </p:nvSpPr>
        <p:spPr>
          <a:xfrm>
            <a:off x="4479875"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8" name="Text 14"/>
          <p:cNvSpPr/>
          <p:nvPr/>
        </p:nvSpPr>
        <p:spPr>
          <a:xfrm>
            <a:off x="4740325"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9" name="Text 15"/>
          <p:cNvSpPr/>
          <p:nvPr/>
        </p:nvSpPr>
        <p:spPr>
          <a:xfrm>
            <a:off x="4765106"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Baseline</a:t>
            </a:r>
            <a:endParaRPr lang="en-US" sz="1300" dirty="0"/>
          </a:p>
        </p:txBody>
      </p:sp>
      <p:sp>
        <p:nvSpPr>
          <p:cNvPr id="20" name="Text 16"/>
          <p:cNvSpPr/>
          <p:nvPr/>
        </p:nvSpPr>
        <p:spPr>
          <a:xfrm>
            <a:off x="5890617"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1" name="Text 17"/>
          <p:cNvSpPr/>
          <p:nvPr/>
        </p:nvSpPr>
        <p:spPr>
          <a:xfrm>
            <a:off x="6151066"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6175848"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Implement</a:t>
            </a:r>
            <a:endParaRPr lang="en-US" sz="1300" dirty="0"/>
          </a:p>
        </p:txBody>
      </p:sp>
      <p:sp>
        <p:nvSpPr>
          <p:cNvPr id="23" name="Text 19"/>
          <p:cNvSpPr/>
          <p:nvPr/>
        </p:nvSpPr>
        <p:spPr>
          <a:xfrm>
            <a:off x="7301359"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4" name="Text 20"/>
          <p:cNvSpPr/>
          <p:nvPr/>
        </p:nvSpPr>
        <p:spPr>
          <a:xfrm>
            <a:off x="7561808"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7586590"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Validate</a:t>
            </a:r>
            <a:endParaRPr lang="en-US" sz="1300" dirty="0"/>
          </a:p>
        </p:txBody>
      </p:sp>
      <p:sp>
        <p:nvSpPr>
          <p:cNvPr id="26" name="Text 22"/>
          <p:cNvSpPr/>
          <p:nvPr/>
        </p:nvSpPr>
        <p:spPr>
          <a:xfrm>
            <a:off x="507950" y="2681585"/>
            <a:ext cx="3962400" cy="1485007"/>
          </a:xfrm>
          <a:prstGeom prst="roundRect">
            <a:avLst>
              <a:gd name="adj" fmla="val 8552"/>
            </a:avLst>
          </a:prstGeom>
          <a:solidFill>
            <a:srgbClr val="FFFFFF"/>
          </a:solidFill>
          <a:ln w="9525">
            <a:solidFill>
              <a:srgbClr val="FFC49B"/>
            </a:solidFill>
          </a:ln>
        </p:spPr>
        <p:txBody>
          <a:bodyPr wrap="square" rtlCol="0" anchor="ctr"/>
          <a:lstStyle/>
          <a:p>
            <a:pPr indent="0" marL="0">
              <a:buNone/>
            </a:pPr>
            <a:endParaRPr lang="en-US" dirty="0"/>
          </a:p>
        </p:txBody>
      </p:sp>
      <p:sp>
        <p:nvSpPr>
          <p:cNvPr id="27" name="Text 23"/>
          <p:cNvSpPr/>
          <p:nvPr/>
        </p:nvSpPr>
        <p:spPr>
          <a:xfrm>
            <a:off x="695176" y="286881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8" name="Image 2" descr="/Users/danwahlin/.copilot/session-state/56a7a0da-def8-48d4-b5e8-0ac3878cb8dd/files/slides-build/icons/GoGoal-BC4C00.png">    </p:cNvPr>
          <p:cNvPicPr>
            <a:picLocks noChangeAspect="1"/>
          </p:cNvPicPr>
          <p:nvPr/>
        </p:nvPicPr>
        <p:blipFill>
          <a:blip r:embed="rId4"/>
          <a:stretch>
            <a:fillRect/>
          </a:stretch>
        </p:blipFill>
        <p:spPr>
          <a:xfrm>
            <a:off x="777776" y="2951411"/>
            <a:ext cx="215801" cy="215801"/>
          </a:xfrm>
          <a:prstGeom prst="rect">
            <a:avLst/>
          </a:prstGeom>
        </p:spPr>
      </p:pic>
      <p:sp>
        <p:nvSpPr>
          <p:cNvPr id="29" name="Text 24"/>
          <p:cNvSpPr/>
          <p:nvPr/>
        </p:nvSpPr>
        <p:spPr>
          <a:xfrm>
            <a:off x="1190476" y="2945011"/>
            <a:ext cx="48698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Core</a:t>
            </a:r>
            <a:endParaRPr lang="en-US" sz="1650" dirty="0"/>
          </a:p>
        </p:txBody>
      </p:sp>
      <p:sp>
        <p:nvSpPr>
          <p:cNvPr id="30" name="Text 25"/>
          <p:cNvSpPr/>
          <p:nvPr/>
        </p:nvSpPr>
        <p:spPr>
          <a:xfrm>
            <a:off x="695176" y="3326011"/>
            <a:ext cx="3659707" cy="65335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/create-canvas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 add the stage. Then run a new, small improvement through it.</a:t>
            </a:r>
            <a:endParaRPr lang="en-US" sz="1400" dirty="0"/>
          </a:p>
        </p:txBody>
      </p:sp>
      <p:sp>
        <p:nvSpPr>
          <p:cNvPr id="31" name="Text 26"/>
          <p:cNvSpPr/>
          <p:nvPr/>
        </p:nvSpPr>
        <p:spPr>
          <a:xfrm>
            <a:off x="4673501" y="2681585"/>
            <a:ext cx="3962400" cy="1485007"/>
          </a:xfrm>
          <a:prstGeom prst="roundRect">
            <a:avLst>
              <a:gd name="adj" fmla="val 8552"/>
            </a:avLst>
          </a:prstGeom>
          <a:solidFill>
            <a:srgbClr val="FFFFFF"/>
          </a:solidFill>
          <a:ln w="9525">
            <a:solidFill>
              <a:srgbClr val="D1D9E0"/>
            </a:solidFill>
          </a:ln>
        </p:spPr>
        <p:txBody>
          <a:bodyPr wrap="square" rtlCol="0" anchor="ctr"/>
          <a:lstStyle/>
          <a:p>
            <a:pPr indent="0" marL="0">
              <a:buNone/>
            </a:pPr>
            <a:endParaRPr lang="en-US" dirty="0"/>
          </a:p>
        </p:txBody>
      </p:sp>
      <p:sp>
        <p:nvSpPr>
          <p:cNvPr id="32" name="Text 27"/>
          <p:cNvSpPr/>
          <p:nvPr/>
        </p:nvSpPr>
        <p:spPr>
          <a:xfrm>
            <a:off x="4860727" y="286881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33" name="Image 3" descr="/Users/danwahlin/.copilot/session-state/56a7a0da-def8-48d4-b5e8-0ac3878cb8dd/files/slides-build/icons/FaGithub-59636E.png">    </p:cNvPr>
          <p:cNvPicPr>
            <a:picLocks noChangeAspect="1"/>
          </p:cNvPicPr>
          <p:nvPr/>
        </p:nvPicPr>
        <p:blipFill>
          <a:blip r:embed="rId5"/>
          <a:stretch>
            <a:fillRect/>
          </a:stretch>
        </p:blipFill>
        <p:spPr>
          <a:xfrm>
            <a:off x="4943326" y="2951411"/>
            <a:ext cx="215801" cy="215801"/>
          </a:xfrm>
          <a:prstGeom prst="rect">
            <a:avLst/>
          </a:prstGeom>
        </p:spPr>
      </p:pic>
      <p:sp>
        <p:nvSpPr>
          <p:cNvPr id="34" name="Text 28"/>
          <p:cNvSpPr/>
          <p:nvPr/>
        </p:nvSpPr>
        <p:spPr>
          <a:xfrm>
            <a:off x="5356027" y="2945011"/>
            <a:ext cx="86680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Optional</a:t>
            </a:r>
            <a:endParaRPr lang="en-US" sz="1650" dirty="0"/>
          </a:p>
        </p:txBody>
      </p:sp>
      <p:sp>
        <p:nvSpPr>
          <p:cNvPr id="35" name="Text 29"/>
          <p:cNvSpPr/>
          <p:nvPr/>
        </p:nvSpPr>
        <p:spPr>
          <a:xfrm>
            <a:off x="4860727" y="3326011"/>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Add actions that open an issue and a linked PR.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canvas is a visible, shared board in the side panel.</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09589"/>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Create one with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/create-canvas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 short description.</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Try community canvases before you build your own.</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Board evidence must come from real output, not chat.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Open Chapter 06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07</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Automations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06: Canvases</dc:title>
  <dc:subject>PptxGenJS Presentation</dc:subject>
  <dc:creator>GitHub Copilot app for Beginners</dc:creator>
  <cp:lastModifiedBy>GitHub Copilot app for Beginners</cp:lastModifiedBy>
  <cp:revision>1</cp:revision>
  <dcterms:created xsi:type="dcterms:W3CDTF">2026-10-06T02:26:06Z</dcterms:created>
  <dcterms:modified xsi:type="dcterms:W3CDTF">2026-10-06T02:26:06Z</dcterms:modified>
</cp:coreProperties>
</file>