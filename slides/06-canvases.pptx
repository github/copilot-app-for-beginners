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Then in the review panel select plus, Canvas, Repository Issues Kanban. Drag an issue between columns. If your organization blocks plugins, read this exercise and continue to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dense because it is written for the app, not for you to memorize. It asks for a progress rail with five stages, a proposal field with one Generate plan button, eight checklist items, action buttons that ask the agent to do real work with long timeouts, and a read-only evidence area. Use your most capable model for the first generation. Results differ between runs. If a part is missing, use one of the focused repair prompts in the chapter. After two failed repairs, use the Markdown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Clear filters proposal and select Generate plan. The session switches to Plan mode and the status pill shows Working. Review the plan in the Plan tab. In the Review plan box at the bottom of the chat, choose Exit plan mode and I will prompt myself, then select the Feature Workbench tab; the canvas shows Approved. Then select Run baseline. The canvas records the Vitest total and build result. Expand the tool calls in chat to confirm Copilot ran npm test and npm run build, and that the evidence matches their output. The board is only useful if it stays linked to evidence from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Implement. When it finishes, the canvas marks Implement complete, checks off the implementation items, and adds a Diff row to the evidence, as shown. Select the Changes pill above the prompt box and confirm the changes are limited to the approved feature. Then select Browser validation. The agent starts or reuses the dev server, exercises the feature, and captures screenshots. Check it yourself too: with no filters the control is hidden; with a search, genre, or status it appears; selecting it resets all three; afterward it disappears and the full list and statistics return. When you finish, select Background above the prompt box and stop the dev server; until it stops, Browser validation can keep showing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Run final checks and compare with the baseline. Test counts can go up when implementation adds focused tests, but the final total must never be lower than the baseline. In this example, 4 baseline tests became 9. Use your own numbers from this worktree, not from the screenshot. Confirm the baseline matches the original terminal output, the diff is limited to the feature, all browser states were checked, and final tests and build pass. Uncheck anything that lacks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6-canvases" TargetMode="External"/><Relationship Id="rId6"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Canvases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1"/>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19"/>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7"/>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arrangement-board-canva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79166"/>
            <a:ext cx="3536900" cy="0"/>
          </a:xfrm>
          <a:prstGeom prst="line">
            <a:avLst/>
          </a:prstGeom>
          <a:noFill/>
          <a:ln w="9525">
            <a:solidFill>
              <a:srgbClr val="9CD7FF"/>
            </a:solidFill>
            <a:prstDash val="solid"/>
          </a:ln>
        </p:spPr>
      </p:sp>
      <p:sp>
        <p:nvSpPr>
          <p:cNvPr id="14" name="Text 9"/>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0"/>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1"/>
          <p:cNvSpPr/>
          <p:nvPr/>
        </p:nvSpPr>
        <p:spPr>
          <a:xfrm>
            <a:off x="5013275" y="3031331"/>
            <a:ext cx="3536900" cy="0"/>
          </a:xfrm>
          <a:prstGeom prst="line">
            <a:avLst/>
          </a:prstGeom>
          <a:noFill/>
          <a:ln w="9525">
            <a:solidFill>
              <a:srgbClr val="D1D9E0"/>
            </a:solidFill>
            <a:prstDash val="solid"/>
          </a:ln>
        </p:spPr>
      </p:sp>
      <p:sp>
        <p:nvSpPr>
          <p:cNvPr id="17" name="Text 12"/>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3"/>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4"/>
          <p:cNvSpPr/>
          <p:nvPr/>
        </p:nvSpPr>
        <p:spPr>
          <a:xfrm>
            <a:off x="5013275" y="3683496"/>
            <a:ext cx="3536900" cy="0"/>
          </a:xfrm>
          <a:prstGeom prst="line">
            <a:avLst/>
          </a:prstGeom>
          <a:noFill/>
          <a:ln w="9525">
            <a:solidFill>
              <a:srgbClr val="D1D9E0"/>
            </a:solidFill>
            <a:prstDash val="solid"/>
          </a:ln>
        </p:spPr>
      </p:sp>
      <p:sp>
        <p:nvSpPr>
          <p:cNvPr id="20" name="Text 15"/>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6"/>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7"/>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8"/>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human-agent-shared-surface.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7"/>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9"/>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0"/>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1"/>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3"/>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4"/>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5"/>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7"/>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 community canvas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Repository Issues Kanban turns issues into a board.</a:t>
            </a:r>
            <a:endParaRPr lang="en-US" sz="1650" dirty="0"/>
          </a:p>
        </p:txBody>
      </p:sp>
      <p:sp>
        <p:nvSpPr>
          <p:cNvPr id="9" name="Text 5"/>
          <p:cNvSpPr/>
          <p:nvPr/>
        </p:nvSpPr>
        <p:spPr>
          <a:xfrm>
            <a:off x="511076" y="1923901"/>
            <a:ext cx="4311551" cy="2298650"/>
          </a:xfrm>
          <a:prstGeom prst="roundRect">
            <a:avLst>
              <a:gd name="adj" fmla="val 331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kanban-crop.png">    </p:cNvPr>
          <p:cNvPicPr>
            <a:picLocks noChangeAspect="1"/>
          </p:cNvPicPr>
          <p:nvPr/>
        </p:nvPicPr>
        <p:blipFill>
          <a:blip r:embed="rId4"/>
          <a:stretch>
            <a:fillRect/>
          </a:stretch>
        </p:blipFill>
        <p:spPr>
          <a:xfrm>
            <a:off x="558701" y="1971526"/>
            <a:ext cx="4216301" cy="2203400"/>
          </a:xfrm>
          <a:prstGeom prst="rect">
            <a:avLst/>
          </a:prstGeom>
        </p:spPr>
      </p:pic>
      <p:sp>
        <p:nvSpPr>
          <p:cNvPr id="11" name="Text 6"/>
          <p:cNvSpPr/>
          <p:nvPr/>
        </p:nvSpPr>
        <p:spPr>
          <a:xfrm>
            <a:off x="5079802" y="2120801"/>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2165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2120801"/>
            <a:ext cx="270151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Install it</a:t>
            </a:r>
            <a:endParaRPr lang="en-US" sz="1550" dirty="0"/>
          </a:p>
        </p:txBody>
      </p:sp>
      <p:sp>
        <p:nvSpPr>
          <p:cNvPr id="14" name="Text 9"/>
          <p:cNvSpPr/>
          <p:nvPr/>
        </p:nvSpPr>
        <p:spPr>
          <a:xfrm>
            <a:off x="5511552" y="2368302"/>
            <a:ext cx="2701516"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Open in Copilot app</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Install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79802" y="28457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8900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845743"/>
            <a:ext cx="312945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extensions</a:t>
            </a:r>
            <a:endParaRPr lang="en-US" sz="1550" dirty="0"/>
          </a:p>
        </p:txBody>
      </p:sp>
      <p:sp>
        <p:nvSpPr>
          <p:cNvPr id="18" name="Text 13"/>
          <p:cNvSpPr/>
          <p:nvPr/>
        </p:nvSpPr>
        <p:spPr>
          <a:xfrm>
            <a:off x="5511552" y="3093244"/>
            <a:ext cx="312945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Restart canvas extensions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9" name="Text 14"/>
          <p:cNvSpPr/>
          <p:nvPr/>
        </p:nvSpPr>
        <p:spPr>
          <a:xfrm>
            <a:off x="5079802" y="358020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580209"/>
            <a:ext cx="245377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Open it and drag an issue</a:t>
            </a:r>
            <a:endParaRPr lang="en-US" sz="1550" dirty="0"/>
          </a:p>
        </p:txBody>
      </p:sp>
      <p:sp>
        <p:nvSpPr>
          <p:cNvPr id="22" name="Text 17"/>
          <p:cNvSpPr/>
          <p:nvPr/>
        </p:nvSpPr>
        <p:spPr>
          <a:xfrm>
            <a:off x="5511552" y="3827711"/>
            <a:ext cx="245377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panel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Canvas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5"/>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1826121"/>
            <a:ext cx="4191000" cy="0"/>
          </a:xfrm>
          <a:prstGeom prst="line">
            <a:avLst/>
          </a:prstGeom>
          <a:noFill/>
          <a:ln w="9525">
            <a:solidFill>
              <a:srgbClr val="E0C5FF"/>
            </a:solidFill>
            <a:prstDash val="solid"/>
          </a:ln>
        </p:spPr>
      </p:sp>
      <p:sp>
        <p:nvSpPr>
          <p:cNvPr id="11" name="Shape 7"/>
          <p:cNvSpPr/>
          <p:nvPr/>
        </p:nvSpPr>
        <p:spPr>
          <a:xfrm>
            <a:off x="4694188" y="1821359"/>
            <a:ext cx="0" cy="1606153"/>
          </a:xfrm>
          <a:prstGeom prst="line">
            <a:avLst/>
          </a:prstGeom>
          <a:noFill/>
          <a:ln w="9525">
            <a:solidFill>
              <a:srgbClr val="E0C5FF"/>
            </a:solidFill>
            <a:prstDash val="solid"/>
          </a:ln>
        </p:spPr>
      </p:sp>
      <p:sp>
        <p:nvSpPr>
          <p:cNvPr id="12" name="Shape 8"/>
          <p:cNvSpPr/>
          <p:nvPr/>
        </p:nvSpPr>
        <p:spPr>
          <a:xfrm>
            <a:off x="507950" y="3422749"/>
            <a:ext cx="4191000" cy="0"/>
          </a:xfrm>
          <a:prstGeom prst="line">
            <a:avLst/>
          </a:prstGeom>
          <a:noFill/>
          <a:ln w="9525">
            <a:solidFill>
              <a:srgbClr val="E0C5FF"/>
            </a:solidFill>
            <a:prstDash val="solid"/>
          </a:ln>
        </p:spPr>
      </p:sp>
      <p:sp>
        <p:nvSpPr>
          <p:cNvPr id="13" name="Shape 9"/>
          <p:cNvSpPr/>
          <p:nvPr/>
        </p:nvSpPr>
        <p:spPr>
          <a:xfrm>
            <a:off x="531763" y="1821359"/>
            <a:ext cx="0" cy="1606153"/>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1960959"/>
            <a:ext cx="165050" cy="165050"/>
          </a:xfrm>
          <a:prstGeom prst="rect">
            <a:avLst/>
          </a:prstGeom>
        </p:spPr>
      </p:pic>
      <p:sp>
        <p:nvSpPr>
          <p:cNvPr id="15" name="Text 10"/>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2"/>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863578"/>
            <a:ext cx="203150" cy="203150"/>
          </a:xfrm>
          <a:prstGeom prst="rect">
            <a:avLst/>
          </a:prstGeom>
        </p:spPr>
      </p:pic>
      <p:sp>
        <p:nvSpPr>
          <p:cNvPr id="19" name="Text 13"/>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4"/>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6-session-board-collaboration.jpg">    </p:cNvPr>
          <p:cNvPicPr>
            <a:picLocks noChangeAspect="1"/>
          </p:cNvPicPr>
          <p:nvPr/>
        </p:nvPicPr>
        <p:blipFill>
          <a:blip r:embed="rId6"/>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 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Feature Workbench</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prompt builds it.</a:t>
            </a:r>
            <a:endParaRPr lang="en-US" sz="1650" dirty="0"/>
          </a:p>
        </p:txBody>
      </p:sp>
      <p:sp>
        <p:nvSpPr>
          <p:cNvPr id="9" name="Text 5"/>
          <p:cNvSpPr/>
          <p:nvPr/>
        </p:nvSpPr>
        <p:spPr>
          <a:xfrm>
            <a:off x="507950" y="176554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Milestone-1A7F37.png">    </p:cNvPr>
          <p:cNvPicPr>
            <a:picLocks noChangeAspect="1"/>
          </p:cNvPicPr>
          <p:nvPr/>
        </p:nvPicPr>
        <p:blipFill>
          <a:blip r:embed="rId4"/>
          <a:stretch>
            <a:fillRect/>
          </a:stretch>
        </p:blipFill>
        <p:spPr>
          <a:xfrm>
            <a:off x="590550" y="1848148"/>
            <a:ext cx="215801" cy="215801"/>
          </a:xfrm>
          <a:prstGeom prst="rect">
            <a:avLst/>
          </a:prstGeom>
        </p:spPr>
      </p:pic>
      <p:sp>
        <p:nvSpPr>
          <p:cNvPr id="11" name="Text 6"/>
          <p:cNvSpPr/>
          <p:nvPr/>
        </p:nvSpPr>
        <p:spPr>
          <a:xfrm>
            <a:off x="1041350" y="1730127"/>
            <a:ext cx="15620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Five stages</a:t>
            </a:r>
            <a:endParaRPr lang="en-US" sz="1550" dirty="0"/>
          </a:p>
        </p:txBody>
      </p:sp>
      <p:sp>
        <p:nvSpPr>
          <p:cNvPr id="12" name="Text 7"/>
          <p:cNvSpPr/>
          <p:nvPr/>
        </p:nvSpPr>
        <p:spPr>
          <a:xfrm>
            <a:off x="1041350" y="1984028"/>
            <a:ext cx="15620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Propose to Validate.</a:t>
            </a:r>
            <a:endParaRPr lang="en-US" sz="1350" dirty="0"/>
          </a:p>
        </p:txBody>
      </p:sp>
      <p:sp>
        <p:nvSpPr>
          <p:cNvPr id="13" name="Text 8"/>
          <p:cNvSpPr/>
          <p:nvPr/>
        </p:nvSpPr>
        <p:spPr>
          <a:xfrm>
            <a:off x="507950" y="249435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4" name="Image 3" descr="/Users/danwahlin/.copilot/session-state/56a7a0da-def8-48d4-b5e8-0ac3878cb8dd/files/slides-build/icons/GoPencil-1A7F37.png">    </p:cNvPr>
          <p:cNvPicPr>
            <a:picLocks noChangeAspect="1"/>
          </p:cNvPicPr>
          <p:nvPr/>
        </p:nvPicPr>
        <p:blipFill>
          <a:blip r:embed="rId5"/>
          <a:stretch>
            <a:fillRect/>
          </a:stretch>
        </p:blipFill>
        <p:spPr>
          <a:xfrm>
            <a:off x="590550" y="2576959"/>
            <a:ext cx="215801" cy="215801"/>
          </a:xfrm>
          <a:prstGeom prst="rect">
            <a:avLst/>
          </a:prstGeom>
        </p:spPr>
      </p:pic>
      <p:sp>
        <p:nvSpPr>
          <p:cNvPr id="15" name="Text 9"/>
          <p:cNvSpPr/>
          <p:nvPr/>
        </p:nvSpPr>
        <p:spPr>
          <a:xfrm>
            <a:off x="1041350" y="2359819"/>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Proposal</a:t>
            </a:r>
            <a:endParaRPr lang="en-US" sz="1550" dirty="0"/>
          </a:p>
        </p:txBody>
      </p:sp>
      <p:sp>
        <p:nvSpPr>
          <p:cNvPr id="16" name="Text 10"/>
          <p:cNvSpPr/>
          <p:nvPr/>
        </p:nvSpPr>
        <p:spPr>
          <a:xfrm>
            <a:off x="1041350" y="2613720"/>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field, one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Generate plan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button.</a:t>
            </a:r>
            <a:endParaRPr lang="en-US" sz="1350" dirty="0"/>
          </a:p>
        </p:txBody>
      </p:sp>
      <p:sp>
        <p:nvSpPr>
          <p:cNvPr id="17" name="Text 11"/>
          <p:cNvSpPr/>
          <p:nvPr/>
        </p:nvSpPr>
        <p:spPr>
          <a:xfrm>
            <a:off x="507950" y="33221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Play-1A7F37.png">    </p:cNvPr>
          <p:cNvPicPr>
            <a:picLocks noChangeAspect="1"/>
          </p:cNvPicPr>
          <p:nvPr/>
        </p:nvPicPr>
        <p:blipFill>
          <a:blip r:embed="rId6"/>
          <a:stretch>
            <a:fillRect/>
          </a:stretch>
        </p:blipFill>
        <p:spPr>
          <a:xfrm>
            <a:off x="590550" y="3404741"/>
            <a:ext cx="215801" cy="215801"/>
          </a:xfrm>
          <a:prstGeom prst="rect">
            <a:avLst/>
          </a:prstGeom>
        </p:spPr>
      </p:pic>
      <p:sp>
        <p:nvSpPr>
          <p:cNvPr id="19" name="Text 12"/>
          <p:cNvSpPr/>
          <p:nvPr/>
        </p:nvSpPr>
        <p:spPr>
          <a:xfrm>
            <a:off x="1041350" y="3187601"/>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Actions</a:t>
            </a:r>
            <a:endParaRPr lang="en-US" sz="1550" dirty="0"/>
          </a:p>
        </p:txBody>
      </p:sp>
      <p:sp>
        <p:nvSpPr>
          <p:cNvPr id="20" name="Text 13"/>
          <p:cNvSpPr/>
          <p:nvPr/>
        </p:nvSpPr>
        <p:spPr>
          <a:xfrm>
            <a:off x="1041350" y="3441502"/>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one asks the agent to do work.</a:t>
            </a:r>
            <a:endParaRPr lang="en-US" sz="1350" dirty="0"/>
          </a:p>
        </p:txBody>
      </p:sp>
      <p:sp>
        <p:nvSpPr>
          <p:cNvPr id="21" name="Text 14"/>
          <p:cNvSpPr/>
          <p:nvPr/>
        </p:nvSpPr>
        <p:spPr>
          <a:xfrm>
            <a:off x="507950" y="405080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Tasklist-1A7F37.png">    </p:cNvPr>
          <p:cNvPicPr>
            <a:picLocks noChangeAspect="1"/>
          </p:cNvPicPr>
          <p:nvPr/>
        </p:nvPicPr>
        <p:blipFill>
          <a:blip r:embed="rId7"/>
          <a:stretch>
            <a:fillRect/>
          </a:stretch>
        </p:blipFill>
        <p:spPr>
          <a:xfrm>
            <a:off x="590550" y="4133404"/>
            <a:ext cx="215801" cy="215801"/>
          </a:xfrm>
          <a:prstGeom prst="rect">
            <a:avLst/>
          </a:prstGeom>
        </p:spPr>
      </p:pic>
      <p:sp>
        <p:nvSpPr>
          <p:cNvPr id="23" name="Text 15"/>
          <p:cNvSpPr/>
          <p:nvPr/>
        </p:nvSpPr>
        <p:spPr>
          <a:xfrm>
            <a:off x="1041350" y="4015383"/>
            <a:ext cx="227449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Checklist and evidence</a:t>
            </a:r>
            <a:endParaRPr lang="en-US" sz="1550" dirty="0"/>
          </a:p>
        </p:txBody>
      </p:sp>
      <p:sp>
        <p:nvSpPr>
          <p:cNvPr id="24" name="Text 16"/>
          <p:cNvSpPr/>
          <p:nvPr/>
        </p:nvSpPr>
        <p:spPr>
          <a:xfrm>
            <a:off x="1041350" y="4269284"/>
            <a:ext cx="227449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Marked only from real output.</a:t>
            </a:r>
            <a:endParaRPr lang="en-US" sz="1350" dirty="0"/>
          </a:p>
        </p:txBody>
      </p:sp>
      <p:sp>
        <p:nvSpPr>
          <p:cNvPr id="25" name="Text 17"/>
          <p:cNvSpPr/>
          <p:nvPr/>
        </p:nvSpPr>
        <p:spPr>
          <a:xfrm>
            <a:off x="3762226" y="1973461"/>
            <a:ext cx="4870400" cy="2250430"/>
          </a:xfrm>
          <a:prstGeom prst="roundRect">
            <a:avLst>
              <a:gd name="adj" fmla="val 338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6" name="Image 6" descr="/Users/danwahlin/.copilot/session-state/56a7a0da-def8-48d4-b5e8-0ac3878cb8dd/files/slides-build/img/06-workbench-crop.png">    </p:cNvPr>
          <p:cNvPicPr>
            <a:picLocks noChangeAspect="1"/>
          </p:cNvPicPr>
          <p:nvPr/>
        </p:nvPicPr>
        <p:blipFill>
          <a:blip r:embed="rId8"/>
          <a:stretch>
            <a:fillRect/>
          </a:stretch>
        </p:blipFill>
        <p:spPr>
          <a:xfrm>
            <a:off x="3809851" y="2021086"/>
            <a:ext cx="4775150" cy="21551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PROPOSE, PLAN, AND BASELINE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on the board. Approve in the Plan tab.</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Proposal: a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Clear filters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control, shown only when a filter is active.</a:t>
            </a:r>
            <a:endParaRPr lang="en-US" sz="1650" dirty="0"/>
          </a:p>
        </p:txBody>
      </p:sp>
      <p:sp>
        <p:nvSpPr>
          <p:cNvPr id="9" name="Text 5"/>
          <p:cNvSpPr/>
          <p:nvPr/>
        </p:nvSpPr>
        <p:spPr>
          <a:xfrm>
            <a:off x="507950" y="23139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0" name="Text 6"/>
          <p:cNvSpPr/>
          <p:nvPr/>
        </p:nvSpPr>
        <p:spPr>
          <a:xfrm>
            <a:off x="620630" y="2374255"/>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1</a:t>
            </a:r>
            <a:endParaRPr lang="en-US" sz="1450" dirty="0"/>
          </a:p>
        </p:txBody>
      </p:sp>
      <p:sp>
        <p:nvSpPr>
          <p:cNvPr id="11" name="Text 7"/>
          <p:cNvSpPr/>
          <p:nvPr/>
        </p:nvSpPr>
        <p:spPr>
          <a:xfrm>
            <a:off x="1015752" y="1872555"/>
            <a:ext cx="6475661"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2" descr="/Users/danwahlin/.copilot/session-state/56a7a0da-def8-48d4-b5e8-0ac3878cb8dd/files/slides-build/img/06-plan-crop.png">    </p:cNvPr>
          <p:cNvPicPr>
            <a:picLocks noChangeAspect="1"/>
          </p:cNvPicPr>
          <p:nvPr/>
        </p:nvPicPr>
        <p:blipFill>
          <a:blip r:embed="rId4"/>
          <a:stretch>
            <a:fillRect/>
          </a:stretch>
        </p:blipFill>
        <p:spPr>
          <a:xfrm>
            <a:off x="1063377" y="1920180"/>
            <a:ext cx="6380411" cy="1117550"/>
          </a:xfrm>
          <a:prstGeom prst="rect">
            <a:avLst/>
          </a:prstGeom>
        </p:spPr>
      </p:pic>
      <p:sp>
        <p:nvSpPr>
          <p:cNvPr id="13" name="Text 8"/>
          <p:cNvSpPr/>
          <p:nvPr/>
        </p:nvSpPr>
        <p:spPr>
          <a:xfrm>
            <a:off x="507950" y="34441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4" name="Text 9"/>
          <p:cNvSpPr/>
          <p:nvPr/>
        </p:nvSpPr>
        <p:spPr>
          <a:xfrm>
            <a:off x="620630" y="3504456"/>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2</a:t>
            </a:r>
            <a:endParaRPr lang="en-US" sz="1450" dirty="0"/>
          </a:p>
        </p:txBody>
      </p:sp>
      <p:sp>
        <p:nvSpPr>
          <p:cNvPr id="15" name="Text 10"/>
          <p:cNvSpPr/>
          <p:nvPr/>
        </p:nvSpPr>
        <p:spPr>
          <a:xfrm>
            <a:off x="1015752" y="3316486"/>
            <a:ext cx="7613600" cy="585341"/>
          </a:xfrm>
          <a:prstGeom prst="roundRect">
            <a:avLst>
              <a:gd name="adj" fmla="val 1301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3" descr="/Users/danwahlin/.copilot/session-state/56a7a0da-def8-48d4-b5e8-0ac3878cb8dd/files/slides-build/img/06-baseline-ev-crop.png">    </p:cNvPr>
          <p:cNvPicPr>
            <a:picLocks noChangeAspect="1"/>
          </p:cNvPicPr>
          <p:nvPr/>
        </p:nvPicPr>
        <p:blipFill>
          <a:blip r:embed="rId5"/>
          <a:stretch>
            <a:fillRect/>
          </a:stretch>
        </p:blipFill>
        <p:spPr>
          <a:xfrm>
            <a:off x="1063377" y="3364111"/>
            <a:ext cx="7518350" cy="490091"/>
          </a:xfrm>
          <a:prstGeom prst="rect">
            <a:avLst/>
          </a:prstGeom>
        </p:spPr>
      </p:pic>
      <p:sp>
        <p:nvSpPr>
          <p:cNvPr id="17" name="Text 11"/>
          <p:cNvSpPr/>
          <p:nvPr/>
        </p:nvSpPr>
        <p:spPr>
          <a:xfrm>
            <a:off x="507950" y="4129832"/>
            <a:ext cx="8290509" cy="22354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Generate plan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approve with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Exit plan mode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then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Run baseline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4 tests pass before any change.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IMPLEMENT AND VALIDATE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Implement, then check five states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Implement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Browser validation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754261" y="1580108"/>
            <a:ext cx="7635180" cy="1415951"/>
          </a:xfrm>
          <a:prstGeom prst="roundRect">
            <a:avLst>
              <a:gd name="adj" fmla="val 538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implement-crop.png">    </p:cNvPr>
          <p:cNvPicPr>
            <a:picLocks noChangeAspect="1"/>
          </p:cNvPicPr>
          <p:nvPr/>
        </p:nvPicPr>
        <p:blipFill>
          <a:blip r:embed="rId4"/>
          <a:stretch>
            <a:fillRect/>
          </a:stretch>
        </p:blipFill>
        <p:spPr>
          <a:xfrm>
            <a:off x="801886" y="1627733"/>
            <a:ext cx="7539930" cy="1320701"/>
          </a:xfrm>
          <a:prstGeom prst="rect">
            <a:avLst/>
          </a:prstGeom>
        </p:spPr>
      </p:pic>
      <p:sp>
        <p:nvSpPr>
          <p:cNvPr id="11" name="Text 6"/>
          <p:cNvSpPr/>
          <p:nvPr/>
        </p:nvSpPr>
        <p:spPr>
          <a:xfrm>
            <a:off x="507950" y="3202484"/>
            <a:ext cx="4825901" cy="1443335"/>
          </a:xfrm>
          <a:prstGeom prst="roundRect">
            <a:avLst>
              <a:gd name="adj" fmla="val 703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17475" y="3212009"/>
            <a:ext cx="48068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17475" y="3534221"/>
            <a:ext cx="4806851" cy="0"/>
          </a:xfrm>
          <a:prstGeom prst="line">
            <a:avLst/>
          </a:prstGeom>
          <a:noFill/>
          <a:ln w="9525">
            <a:solidFill>
              <a:srgbClr val="9CD7FF"/>
            </a:solidFill>
            <a:prstDash val="solid"/>
          </a:ln>
        </p:spPr>
      </p:sp>
      <p:sp>
        <p:nvSpPr>
          <p:cNvPr id="14" name="Text 9"/>
          <p:cNvSpPr/>
          <p:nvPr/>
        </p:nvSpPr>
        <p:spPr>
          <a:xfrm>
            <a:off x="669875" y="3288209"/>
            <a:ext cx="240944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STATE</a:t>
            </a:r>
            <a:endParaRPr lang="en-US" sz="1150" dirty="0"/>
          </a:p>
        </p:txBody>
      </p:sp>
      <p:sp>
        <p:nvSpPr>
          <p:cNvPr id="15" name="Text 10"/>
          <p:cNvSpPr/>
          <p:nvPr/>
        </p:nvSpPr>
        <p:spPr>
          <a:xfrm>
            <a:off x="3336875" y="3288209"/>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CLEAR FILTERS</a:t>
            </a:r>
            <a:endParaRPr lang="en-US" sz="1150" dirty="0"/>
          </a:p>
        </p:txBody>
      </p:sp>
      <p:sp>
        <p:nvSpPr>
          <p:cNvPr id="16" name="Shape 11"/>
          <p:cNvSpPr/>
          <p:nvPr/>
        </p:nvSpPr>
        <p:spPr>
          <a:xfrm>
            <a:off x="517475" y="3903166"/>
            <a:ext cx="4806851" cy="0"/>
          </a:xfrm>
          <a:prstGeom prst="line">
            <a:avLst/>
          </a:prstGeom>
          <a:noFill/>
          <a:ln w="9525">
            <a:solidFill>
              <a:srgbClr val="D1D9E0"/>
            </a:solidFill>
            <a:prstDash val="solid"/>
          </a:ln>
        </p:spPr>
      </p:sp>
      <p:sp>
        <p:nvSpPr>
          <p:cNvPr id="17" name="Text 12"/>
          <p:cNvSpPr/>
          <p:nvPr/>
        </p:nvSpPr>
        <p:spPr>
          <a:xfrm>
            <a:off x="669875" y="361518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No filters active</a:t>
            </a:r>
            <a:endParaRPr lang="en-US" sz="1400" dirty="0"/>
          </a:p>
        </p:txBody>
      </p:sp>
      <p:sp>
        <p:nvSpPr>
          <p:cNvPr id="18" name="Text 13"/>
          <p:cNvSpPr/>
          <p:nvPr/>
        </p:nvSpPr>
        <p:spPr>
          <a:xfrm>
            <a:off x="3336875" y="361518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Hidden</a:t>
            </a:r>
            <a:endParaRPr lang="en-US" sz="1400" dirty="0"/>
          </a:p>
        </p:txBody>
      </p:sp>
      <p:sp>
        <p:nvSpPr>
          <p:cNvPr id="19" name="Shape 14"/>
          <p:cNvSpPr/>
          <p:nvPr/>
        </p:nvSpPr>
        <p:spPr>
          <a:xfrm>
            <a:off x="517475" y="4272111"/>
            <a:ext cx="4806851" cy="0"/>
          </a:xfrm>
          <a:prstGeom prst="line">
            <a:avLst/>
          </a:prstGeom>
          <a:noFill/>
          <a:ln w="9525">
            <a:solidFill>
              <a:srgbClr val="D1D9E0"/>
            </a:solidFill>
            <a:prstDash val="solid"/>
          </a:ln>
        </p:spPr>
      </p:sp>
      <p:sp>
        <p:nvSpPr>
          <p:cNvPr id="20" name="Text 15"/>
          <p:cNvSpPr/>
          <p:nvPr/>
        </p:nvSpPr>
        <p:spPr>
          <a:xfrm>
            <a:off x="669875" y="3984129"/>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Any filter set</a:t>
            </a:r>
            <a:endParaRPr lang="en-US" sz="1400" dirty="0"/>
          </a:p>
        </p:txBody>
      </p:sp>
      <p:sp>
        <p:nvSpPr>
          <p:cNvPr id="21" name="Text 16"/>
          <p:cNvSpPr/>
          <p:nvPr/>
        </p:nvSpPr>
        <p:spPr>
          <a:xfrm>
            <a:off x="3336875" y="3984129"/>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Visible</a:t>
            </a:r>
            <a:endParaRPr lang="en-US" sz="1400" dirty="0"/>
          </a:p>
        </p:txBody>
      </p:sp>
      <p:sp>
        <p:nvSpPr>
          <p:cNvPr id="22" name="Text 17"/>
          <p:cNvSpPr/>
          <p:nvPr/>
        </p:nvSpPr>
        <p:spPr>
          <a:xfrm>
            <a:off x="669875" y="435307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After selecting it</a:t>
            </a:r>
            <a:endParaRPr lang="en-US" sz="1400" dirty="0"/>
          </a:p>
        </p:txBody>
      </p:sp>
      <p:sp>
        <p:nvSpPr>
          <p:cNvPr id="23" name="Text 18"/>
          <p:cNvSpPr/>
          <p:nvPr/>
        </p:nvSpPr>
        <p:spPr>
          <a:xfrm>
            <a:off x="3336875" y="435307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All filters reset</a:t>
            </a:r>
            <a:endParaRPr lang="en-US" sz="1400" dirty="0"/>
          </a:p>
        </p:txBody>
      </p:sp>
      <p:sp>
        <p:nvSpPr>
          <p:cNvPr id="24" name="Text 19"/>
          <p:cNvSpPr/>
          <p:nvPr/>
        </p:nvSpPr>
        <p:spPr>
          <a:xfrm>
            <a:off x="5537002" y="3564136"/>
            <a:ext cx="3098899" cy="720030"/>
          </a:xfrm>
          <a:prstGeom prst="roundRect">
            <a:avLst>
              <a:gd name="adj" fmla="val 14111"/>
            </a:avLst>
          </a:prstGeom>
          <a:solidFill>
            <a:srgbClr val="FBEFFF"/>
          </a:solidFill>
          <a:ln w="9525">
            <a:solidFill>
              <a:srgbClr val="E0C5FF"/>
            </a:solidFill>
          </a:ln>
        </p:spPr>
        <p:txBody>
          <a:bodyPr wrap="square" rtlCol="0" anchor="ctr"/>
          <a:lstStyle/>
          <a:p>
            <a:pPr indent="0" marL="0">
              <a:buNone/>
            </a:pPr>
            <a:endParaRPr lang="en-US" dirty="0"/>
          </a:p>
        </p:txBody>
      </p:sp>
      <p:pic>
        <p:nvPicPr>
          <p:cNvPr id="25" name="Image 3" descr="/Users/danwahlin/.copilot/session-state/56a7a0da-def8-48d4-b5e8-0ac3878cb8dd/files/slides-build/icons/GoFileDiff-8250DF.png">    </p:cNvPr>
          <p:cNvPicPr>
            <a:picLocks noChangeAspect="1"/>
          </p:cNvPicPr>
          <p:nvPr/>
        </p:nvPicPr>
        <p:blipFill>
          <a:blip r:embed="rId5"/>
          <a:stretch>
            <a:fillRect/>
          </a:stretch>
        </p:blipFill>
        <p:spPr>
          <a:xfrm>
            <a:off x="5724227" y="3822502"/>
            <a:ext cx="203150" cy="203150"/>
          </a:xfrm>
          <a:prstGeom prst="rect">
            <a:avLst/>
          </a:prstGeom>
        </p:spPr>
      </p:pic>
      <p:sp>
        <p:nvSpPr>
          <p:cNvPr id="26" name="Text 20"/>
          <p:cNvSpPr/>
          <p:nvPr/>
        </p:nvSpPr>
        <p:spPr>
          <a:xfrm>
            <a:off x="6054328" y="3700611"/>
            <a:ext cx="2442234"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tab: only the approved feature.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EVIDENCE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board reflects what happened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Run final checks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You decide if the evidence is enough.</a:t>
            </a:r>
            <a:endParaRPr lang="en-US" sz="1650" dirty="0"/>
          </a:p>
        </p:txBody>
      </p:sp>
      <p:sp>
        <p:nvSpPr>
          <p:cNvPr id="9" name="Text 5"/>
          <p:cNvSpPr/>
          <p:nvPr/>
        </p:nvSpPr>
        <p:spPr>
          <a:xfrm>
            <a:off x="511076" y="2204591"/>
            <a:ext cx="8121551" cy="841921"/>
          </a:xfrm>
          <a:prstGeom prst="roundRect">
            <a:avLst>
              <a:gd name="adj" fmla="val 905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6-validate-crop.png">    </p:cNvPr>
          <p:cNvPicPr>
            <a:picLocks noChangeAspect="1"/>
          </p:cNvPicPr>
          <p:nvPr/>
        </p:nvPicPr>
        <p:blipFill>
          <a:blip r:embed="rId4"/>
          <a:stretch>
            <a:fillRect/>
          </a:stretch>
        </p:blipFill>
        <p:spPr>
          <a:xfrm>
            <a:off x="558701" y="2252216"/>
            <a:ext cx="8026301" cy="746671"/>
          </a:xfrm>
          <a:prstGeom prst="rect">
            <a:avLst/>
          </a:prstGeom>
        </p:spPr>
      </p:pic>
      <p:sp>
        <p:nvSpPr>
          <p:cNvPr id="11" name="Text 6"/>
          <p:cNvSpPr/>
          <p:nvPr/>
        </p:nvSpPr>
        <p:spPr>
          <a:xfrm>
            <a:off x="507950" y="3400276"/>
            <a:ext cx="2413248" cy="768251"/>
          </a:xfrm>
          <a:prstGeom prst="roundRect">
            <a:avLst>
              <a:gd name="adj" fmla="val 16531"/>
            </a:avLst>
          </a:prstGeom>
          <a:noFill/>
          <a:ln w="9525">
            <a:solidFill>
              <a:srgbClr val="D1D9E0"/>
            </a:solidFill>
          </a:ln>
        </p:spPr>
        <p:txBody>
          <a:bodyPr wrap="square" rtlCol="0" anchor="ctr"/>
          <a:lstStyle/>
          <a:p>
            <a:pPr indent="0" marL="0">
              <a:buNone/>
            </a:pPr>
            <a:endParaRPr lang="en-US" dirty="0"/>
          </a:p>
        </p:txBody>
      </p:sp>
      <p:sp>
        <p:nvSpPr>
          <p:cNvPr id="12" name="Text 7"/>
          <p:cNvSpPr/>
          <p:nvPr/>
        </p:nvSpPr>
        <p:spPr>
          <a:xfrm>
            <a:off x="891778" y="3698677"/>
            <a:ext cx="75310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BASELINE</a:t>
            </a:r>
            <a:endParaRPr lang="en-US" sz="1150" dirty="0"/>
          </a:p>
        </p:txBody>
      </p:sp>
      <p:sp>
        <p:nvSpPr>
          <p:cNvPr id="13" name="Text 8"/>
          <p:cNvSpPr/>
          <p:nvPr/>
        </p:nvSpPr>
        <p:spPr>
          <a:xfrm>
            <a:off x="1782514" y="3536752"/>
            <a:ext cx="245013" cy="495300"/>
          </a:xfrm>
          <a:prstGeom prst="rect">
            <a:avLst/>
          </a:prstGeom>
          <a:noFill/>
          <a:ln/>
        </p:spPr>
        <p:txBody>
          <a:bodyPr wrap="square" lIns="0" tIns="0" rIns="0" bIns="0" rtlCol="0" anchor="t"/>
          <a:lstStyle/>
          <a:p>
            <a:pPr algn="l" indent="0" marL="0">
              <a:buNone/>
            </a:pPr>
            <a:r>
              <a:rPr lang="en-US" sz="3400" b="1" dirty="0">
                <a:solidFill>
                  <a:srgbClr val="1F2328"/>
                </a:solidFill>
                <a:latin typeface="Arial" pitchFamily="34" charset="0"/>
                <a:ea typeface="Arial" pitchFamily="34" charset="-122"/>
                <a:cs typeface="Arial" pitchFamily="34" charset="-120"/>
              </a:rPr>
              <a:t>4</a:t>
            </a:r>
            <a:endParaRPr lang="en-US" sz="3400" dirty="0"/>
          </a:p>
        </p:txBody>
      </p:sp>
      <p:sp>
        <p:nvSpPr>
          <p:cNvPr id="14" name="Text 9"/>
          <p:cNvSpPr/>
          <p:nvPr/>
        </p:nvSpPr>
        <p:spPr>
          <a:xfrm>
            <a:off x="2175123"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5" name="Text 10"/>
          <p:cNvSpPr/>
          <p:nvPr/>
        </p:nvSpPr>
        <p:spPr>
          <a:xfrm>
            <a:off x="3073598" y="3400276"/>
            <a:ext cx="2413397" cy="768251"/>
          </a:xfrm>
          <a:prstGeom prst="roundRect">
            <a:avLst>
              <a:gd name="adj" fmla="val 16531"/>
            </a:avLst>
          </a:prstGeom>
          <a:solidFill>
            <a:srgbClr val="DAFBE1"/>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3611761" y="3698677"/>
            <a:ext cx="438564"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FINAL</a:t>
            </a:r>
            <a:endParaRPr lang="en-US" sz="1150" dirty="0"/>
          </a:p>
        </p:txBody>
      </p:sp>
      <p:sp>
        <p:nvSpPr>
          <p:cNvPr id="17" name="Text 12"/>
          <p:cNvSpPr/>
          <p:nvPr/>
        </p:nvSpPr>
        <p:spPr>
          <a:xfrm>
            <a:off x="4194125" y="3536752"/>
            <a:ext cx="245013" cy="495300"/>
          </a:xfrm>
          <a:prstGeom prst="rect">
            <a:avLst/>
          </a:prstGeom>
          <a:noFill/>
          <a:ln/>
        </p:spPr>
        <p:txBody>
          <a:bodyPr wrap="square" lIns="0" tIns="0" rIns="0" bIns="0" rtlCol="0" anchor="t"/>
          <a:lstStyle/>
          <a:p>
            <a:pPr algn="l" indent="0" marL="0">
              <a:buNone/>
            </a:pPr>
            <a:r>
              <a:rPr lang="en-US" sz="3400" b="1" dirty="0">
                <a:solidFill>
                  <a:srgbClr val="1A7F37"/>
                </a:solidFill>
                <a:latin typeface="Arial" pitchFamily="34" charset="0"/>
                <a:ea typeface="Arial" pitchFamily="34" charset="-122"/>
                <a:cs typeface="Arial" pitchFamily="34" charset="-120"/>
              </a:rPr>
              <a:t>9</a:t>
            </a:r>
            <a:endParaRPr lang="en-US" sz="3400" dirty="0"/>
          </a:p>
        </p:txBody>
      </p:sp>
      <p:sp>
        <p:nvSpPr>
          <p:cNvPr id="18" name="Text 13"/>
          <p:cNvSpPr/>
          <p:nvPr/>
        </p:nvSpPr>
        <p:spPr>
          <a:xfrm>
            <a:off x="4586734"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9" name="Text 14"/>
          <p:cNvSpPr/>
          <p:nvPr/>
        </p:nvSpPr>
        <p:spPr>
          <a:xfrm>
            <a:off x="5639395" y="3560862"/>
            <a:ext cx="3056436" cy="44708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The final total must never be lower than the baseline.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5"/>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7"/>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8"/>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9"/>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0"/>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1"/>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3"/>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4"/>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5"/>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6"/>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7"/>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19"/>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0"/>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1"/>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2"/>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3"/>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Goal-BC4C00.png">    </p:cNvPr>
          <p:cNvPicPr>
            <a:picLocks noChangeAspect="1"/>
          </p:cNvPicPr>
          <p:nvPr/>
        </p:nvPicPr>
        <p:blipFill>
          <a:blip r:embed="rId4"/>
          <a:stretch>
            <a:fillRect/>
          </a:stretch>
        </p:blipFill>
        <p:spPr>
          <a:xfrm>
            <a:off x="777776" y="2951411"/>
            <a:ext cx="215801" cy="215801"/>
          </a:xfrm>
          <a:prstGeom prst="rect">
            <a:avLst/>
          </a:prstGeom>
        </p:spPr>
      </p:pic>
      <p:sp>
        <p:nvSpPr>
          <p:cNvPr id="29" name="Text 24"/>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5"/>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6"/>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7"/>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3" descr="/Users/danwahlin/.copilot/session-state/56a7a0da-def8-48d4-b5e8-0ac3878cb8dd/files/slides-build/icons/FaGithub-59636E.png">    </p:cNvPr>
          <p:cNvPicPr>
            <a:picLocks noChangeAspect="1"/>
          </p:cNvPicPr>
          <p:nvPr/>
        </p:nvPicPr>
        <p:blipFill>
          <a:blip r:embed="rId5"/>
          <a:stretch>
            <a:fillRect/>
          </a:stretch>
        </p:blipFill>
        <p:spPr>
          <a:xfrm>
            <a:off x="4943326" y="2951411"/>
            <a:ext cx="215801" cy="215801"/>
          </a:xfrm>
          <a:prstGeom prst="rect">
            <a:avLst/>
          </a:prstGeom>
        </p:spPr>
      </p:pic>
      <p:sp>
        <p:nvSpPr>
          <p:cNvPr id="34" name="Text 28"/>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29"/>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6-canvase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2026-10-06T07:11:58Z</dcterms:created>
  <dcterms:modified xsi:type="dcterms:W3CDTF">2026-10-06T07:11:58Z</dcterms:modified>
</cp:coreProperties>
</file>