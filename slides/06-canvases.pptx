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session is doing real work, a long chat thread gets hard to scan. A canvas is a shared board in the side panel. You create one with slash create-canvas and a description, and both you and the agent can read and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Why a shared board, Try and create a canvas, Build a Feature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why canvases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band planning a song. They could argue their options in a long group chat, where decisions get buried, or use a shared arrangement board that keeps everything visible. A canvas is the app's arrangement board for human-agent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Canvases are bidirectional. The agent writes to the board, you write to the board, and the agent continues from your change. A custom canvas can include visible state, controls, agent-callable actions such as updating a checklist item, and artifacts such as plans and dashboards. The built-in surfaces you already use, Plan, Terminal, Browser, and Changes, still come first. Use chat for quick answers and short tasks. Use a canvas when the task has recurring steps and needs visible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try one someone else built, then create a small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Before the exercises, prepare a worktree session from main and record the baseline test and build totals. On the Repository Issues Kanban page of the Awesome Copilot website, select Open in Copilot app. Allow the Install plugin dialog, confirm the name accessibility-kanban@awesome-copilot, and select Install. Confirm it is listed under Installed in Customize, Plugins. Ask the session to restart canvas extensions. Open it from Add tab &gt; Canvas. Moving one issue card to Plan starts a background planning run; move one card at a time. If your organization blocks plugins, read this exercise and continue to Exercise 2.</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small board works like a shared checklist. Create it with slash create-canvas and the full prompt from the chapter. Confirm it has the proposal, checklist, and notes with Next decision and Blocker fields. Enter a proposal, mark Plan complete, and add a next decision. Ask the agent to summarize the board and check that its answer matches your changes. The canvas is user scoped, so Changes should show no repository edits. This board does not run tests or edit the app. The next exercise adds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Feature Workbench manages the local inner loop for a new Book App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prompt is written for the app, not for you to memorize. It asks for five stages, a proposal field with one Generate plan button, eight checklist items, action buttons, and a read-only evidence area. Use your most capable model for the first generation. Results differ between runs. Screenshots are optional, and unsupported browser checks are recorded as notes, not failures. An action ends when its evidence is recorded and returns the session to Interactive mode. If a part is missing, use one focused repair prompt. After two failed repairs, use the Markdown fallback.</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10</ns1:t>
            </ns1:fld>
            <ns1:endParaRPr lang="en-US"/>
          </ns1:p>
        </ns0:txBody>
      </ns0:sp>
    </ns0:spTree>
    <ns0:extLst>
      <ns0:ext uri="{BB962C8B-B14F-4D97-AF65-F5344CB8AC3E}">
        <ns2:creationId val="1024086991"/>
      </ns0:ext>
    </ns0:extLst>
  </ns0:cSld>
  <ns0:clrMapOvr>
    <ns1:masterClrMapping/>
  </ns0:clrMapOvr>
</ns0: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Paste the Clear filters proposal and select Generate plan. The session switches to Plan mode and the status pill shows Working. Review the plan in the Plan tab. In the Review plan box at the bottom of the chat, choose Exit plan mode and I will prompt myself. If the box stays open, select Continue. Confirm the session is back in Interactive mode, then select the Feature Workbench tab; the canvas shows Approved. Select Run baseline. The canvas records the test total and build result. Expand the tool calls in chat and confirm the evidence matches their output.</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Select Implement. When it finishes, the canvas marks Implement complete, checks off the implementation items, and adds a Diff row to the evidence. Select Changes and confirm the edits match the approved feature. Then select Browser validation. The agent checks the app in the Browser tab and records evidence. Unsupported checks become notes, not failures. The action ends when evidence is recorded and the session returns to Interactive mode. Do not wait for the dev server to stop before checking the result. Confirm that Clear filters is hidden by default, appears when a filter is active, resets all filters, and hides again.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Select Run final checks and compare with the baseline. Test counts can go up when implementation adds focused tests, but the final total must never be lower than the baseline. The image shows 14 final tests as one example; your total can differ. Confirm the baseline matches the original output, the diff is limited to the feature, browser checks were recorded, and final tests and build pass. Uncheck anything that lacks evidence.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the workbench with an Assess stage after Propose. Type slash, select create-canvas, and send a focused change request: keep the current canvas, add an Assess stage between Propose and Plan that compares the proposal with current behavior and records the result as evidence, and do not redesign parts that work. Pick a small improvement you have not shipped yet and run it through every stage with evidence from this session. Success means you can see evidence-backed progress and name the next decision without rereading the chat. If you have permission, the optional challenge adds the Chapter 03 outer loop: an issue, a linked pull request, and a Copilot review if it is available to you. Do not merge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Canvases made session work visible. Next, Chapter 07 makes repeatable work reusable with automations, starting with a manual review readiness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5" Type="http://schemas.openxmlformats.org/officeDocument/2006/relationships/hyperlink" Target="https://github.com/github/copilot-app-for-beginners/tree/main/06-canvase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0-1.png"/><Relationship Id="rId2" Type="http://schemas.openxmlformats.org/officeDocument/2006/relationships/image" Target="../media/image-10-2.png"/><Relationship Id="rId9" Type="http://schemas.openxmlformats.org/officeDocument/2006/relationships/slideLayout" Target="../slideLayouts/slideLayout1.xml"/><Relationship Id="rId10" Type="http://schemas.openxmlformats.org/officeDocument/2006/relationships/notesSlide" Target="../notesSlides/notesSlide10.xml"/><Relationship Id="rId11" Type="http://schemas.openxmlformats.org/officeDocument/2006/relationships/image" Target="../media/review-10-image-6.png"/></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1-1.png"/><Relationship Id="rId2" Type="http://schemas.openxmlformats.org/officeDocument/2006/relationships/image" Target="../media/image-11-2.png"/><Relationship Id="rId6" Type="http://schemas.openxmlformats.org/officeDocument/2006/relationships/slideLayout" Target="../slideLayouts/slideLayout1.xml"/><Relationship Id="rId7" Type="http://schemas.openxmlformats.org/officeDocument/2006/relationships/notesSlide" Target="../notesSlides/notesSlide11.xml"/><Relationship Id="rId8" Type="http://schemas.openxmlformats.org/officeDocument/2006/relationships/image" Target="../media/review-11-image-2.png"/><Relationship Id="rId9" Type="http://schemas.openxmlformats.org/officeDocument/2006/relationships/image" Target="../media/review-11-image-3.png"/></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2-1.png"/><Relationship Id="rId2" Type="http://schemas.openxmlformats.org/officeDocument/2006/relationships/image" Target="../media/image-12-2.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 Id="rId8" Type="http://schemas.openxmlformats.org/officeDocument/2006/relationships/image" Target="../media/review-12-image-2.png"/></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3-1.png"/><Relationship Id="rId2" Type="http://schemas.openxmlformats.org/officeDocument/2006/relationships/image" Target="../media/image-13-2.png"/><Relationship Id="rId5" Type="http://schemas.openxmlformats.org/officeDocument/2006/relationships/slideLayout" Target="../slideLayouts/slideLayout1.xml"/><Relationship Id="rId6" Type="http://schemas.openxmlformats.org/officeDocument/2006/relationships/notesSlide" Target="../notesSlides/notesSlide13.xml"/><Relationship Id="rId7" Type="http://schemas.openxmlformats.org/officeDocument/2006/relationships/image" Target="../media/review-13-image-2.png"/></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5" Type="http://schemas.openxmlformats.org/officeDocument/2006/relationships/hyperlink" Target="https://github.com/github/copilot-app-for-beginners/tree/main/06-canvases" TargetMode="External"/><Relationship Id="rId6" Type="http://schemas.openxmlformats.org/officeDocument/2006/relationships/hyperlink" Target="https://github.com/github/copilot-app-for-beginners/tree/main/07-automation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2939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06</a:t>
            </a:r>
            <a:endParaRPr lang="en-US" sz="1450" dirty="0"/>
          </a:p>
        </p:txBody>
      </p:sp>
      <p:sp>
        <p:nvSpPr>
          <p:cNvPr id="5" name="Text 1"/>
          <p:cNvSpPr/>
          <p:nvPr/>
        </p:nvSpPr>
        <p:spPr>
          <a:xfrm>
            <a:off x="1015901" y="16049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Canvases</a:t>
            </a:r>
            <a:endParaRPr lang="en-US" sz="4200" dirty="0"/>
          </a:p>
        </p:txBody>
      </p:sp>
      <p:sp>
        <p:nvSpPr>
          <p:cNvPr id="6" name="Text 2"/>
          <p:cNvSpPr/>
          <p:nvPr/>
        </p:nvSpPr>
        <p:spPr>
          <a:xfrm>
            <a:off x="1015901" y="24431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7351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and the agent shared a real-time progress board instead of a buried chat thread?</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660725"/>
            <a:ext cx="177701" cy="177701"/>
          </a:xfrm>
          <a:prstGeom prst="rect">
            <a:avLst/>
          </a:prstGeom>
        </p:spPr>
      </p:pic>
      <p:sp>
        <p:nvSpPr>
          <p:cNvPr id="9" name="Text 4"/>
          <p:cNvSpPr/>
          <p:nvPr/>
        </p:nvSpPr>
        <p:spPr>
          <a:xfrm>
            <a:off x="1282452" y="36495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06</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5981712"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Why a shared board</a:t>
            </a:r>
            <a:endParaRPr lang="en-US" sz="1800" dirty="0"/>
          </a:p>
        </p:txBody>
      </p:sp>
      <p:sp>
        <p:nvSpPr>
          <p:cNvPr id="15" name="Text 11"/>
          <p:cNvSpPr/>
          <p:nvPr/>
        </p:nvSpPr>
        <p:spPr>
          <a:xfrm>
            <a:off x="1625501" y="1974800"/>
            <a:ext cx="5981712"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Chat is great for talking. Real work needs state you can see at a glance.</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530618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Try and create a canvas</a:t>
            </a:r>
            <a:endParaRPr lang="en-US" sz="1800" dirty="0"/>
          </a:p>
        </p:txBody>
      </p:sp>
      <p:sp>
        <p:nvSpPr>
          <p:cNvPr id="23" name="Text 19"/>
          <p:cNvSpPr/>
          <p:nvPr/>
        </p:nvSpPr>
        <p:spPr>
          <a:xfrm>
            <a:off x="1625501" y="2984450"/>
            <a:ext cx="530618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Try a community canvas, then build a simple board of your own.</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648373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Build a Feature Workbench</a:t>
            </a:r>
            <a:endParaRPr lang="en-US" sz="1800" dirty="0"/>
          </a:p>
        </p:txBody>
      </p:sp>
      <p:sp>
        <p:nvSpPr>
          <p:cNvPr id="31" name="Text 27"/>
          <p:cNvSpPr/>
          <p:nvPr/>
        </p:nvSpPr>
        <p:spPr>
          <a:xfrm>
            <a:off x="1625501" y="3994100"/>
            <a:ext cx="648373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Add buttons that run real work, and keep the plan and evidence on one board.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Why a shared board</a:t>
            </a:r>
            <a:endParaRPr lang="en-US" sz="4000" dirty="0"/>
          </a:p>
        </p:txBody>
      </p:sp>
      <p:sp>
        <p:nvSpPr>
          <p:cNvPr id="11" name="Text 7"/>
          <p:cNvSpPr/>
          <p:nvPr/>
        </p:nvSpPr>
        <p:spPr>
          <a:xfrm>
            <a:off x="711101" y="303588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The band's arrangement board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Decisions get buried in a group chat. A board keeps them visible.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rrangement board analogy for canvase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882378"/>
            <a:ext cx="3555950" cy="2458045"/>
          </a:xfrm>
          <a:prstGeom prst="roundRect">
            <a:avLst>
              <a:gd name="adj" fmla="val 4133"/>
            </a:avLst>
          </a:prstGeom>
          <a:solidFill>
            <a:srgbClr val="FFFFFF"/>
          </a:solidFill>
          <a:ln w="9525">
            <a:solidFill>
              <a:srgbClr val="D1D9E0"/>
            </a:solidFill>
          </a:ln>
        </p:spPr>
        <p:txBody>
          <a:bodyPr wrap="square" rtlCol="0" anchor="ctr"/>
          <a:lstStyle/>
          <a:p>
            <a:pPr indent="0" marL="0">
              <a:buNone/>
            </a:pPr>
            <a:endParaRPr lang="en-US" dirty="0"/>
          </a:p>
        </p:txBody>
      </p:sp>
      <p:sp>
        <p:nvSpPr>
          <p:cNvPr id="12" name="Text 7"/>
          <p:cNvSpPr/>
          <p:nvPr/>
        </p:nvSpPr>
        <p:spPr>
          <a:xfrm>
            <a:off x="5013275" y="1891903"/>
            <a:ext cx="3536900" cy="492026"/>
          </a:xfrm>
          <a:prstGeom prst="rect">
            <a:avLst/>
          </a:prstGeom>
          <a:solidFill>
            <a:srgbClr val="DDF4FF"/>
          </a:solidFill>
          <a:ln/>
        </p:spPr>
        <p:txBody>
          <a:bodyPr wrap="square" rtlCol="0" anchor="ctr"/>
          <a:lstStyle/>
          <a:p>
            <a:pPr indent="0" marL="0">
              <a:buNone/>
            </a:pPr>
            <a:endParaRPr lang="en-US" dirty="0"/>
          </a:p>
        </p:txBody>
      </p:sp>
      <p:sp>
        <p:nvSpPr>
          <p:cNvPr id="13" name="Shape 8"/>
          <p:cNvSpPr/>
          <p:nvPr/>
        </p:nvSpPr>
        <p:spPr>
          <a:xfrm>
            <a:off x="5013275" y="2379166"/>
            <a:ext cx="3536900" cy="0"/>
          </a:xfrm>
          <a:prstGeom prst="line">
            <a:avLst/>
          </a:prstGeom>
          <a:noFill/>
          <a:ln w="9525">
            <a:solidFill>
              <a:srgbClr val="9CD7FF"/>
            </a:solidFill>
            <a:prstDash val="solid"/>
          </a:ln>
        </p:spPr>
      </p:sp>
      <p:sp>
        <p:nvSpPr>
          <p:cNvPr id="14" name="Text 9"/>
          <p:cNvSpPr/>
          <p:nvPr/>
        </p:nvSpPr>
        <p:spPr>
          <a:xfrm>
            <a:off x="5165675" y="1968103"/>
            <a:ext cx="13730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GROUP CHAT</a:t>
            </a:r>
            <a:endParaRPr lang="en-US" sz="1150" dirty="0"/>
          </a:p>
        </p:txBody>
      </p:sp>
      <p:sp>
        <p:nvSpPr>
          <p:cNvPr id="15" name="Text 10"/>
          <p:cNvSpPr/>
          <p:nvPr/>
        </p:nvSpPr>
        <p:spPr>
          <a:xfrm>
            <a:off x="6816626" y="1968103"/>
            <a:ext cx="1632204" cy="330101"/>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ARRANGEMENT BOARD</a:t>
            </a:r>
            <a:endParaRPr lang="en-US" sz="1150" dirty="0"/>
          </a:p>
        </p:txBody>
      </p:sp>
      <p:sp>
        <p:nvSpPr>
          <p:cNvPr id="16" name="Shape 11"/>
          <p:cNvSpPr/>
          <p:nvPr/>
        </p:nvSpPr>
        <p:spPr>
          <a:xfrm>
            <a:off x="5013275" y="3031331"/>
            <a:ext cx="3536900" cy="0"/>
          </a:xfrm>
          <a:prstGeom prst="line">
            <a:avLst/>
          </a:prstGeom>
          <a:noFill/>
          <a:ln w="9525">
            <a:solidFill>
              <a:srgbClr val="D1D9E0"/>
            </a:solidFill>
            <a:prstDash val="solid"/>
          </a:ln>
        </p:spPr>
      </p:sp>
      <p:sp>
        <p:nvSpPr>
          <p:cNvPr id="17" name="Text 12"/>
          <p:cNvSpPr/>
          <p:nvPr/>
        </p:nvSpPr>
        <p:spPr>
          <a:xfrm>
            <a:off x="5165675" y="249822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Good for discussion</a:t>
            </a:r>
            <a:endParaRPr lang="en-US" sz="1400" dirty="0"/>
          </a:p>
        </p:txBody>
      </p:sp>
      <p:sp>
        <p:nvSpPr>
          <p:cNvPr id="18" name="Text 13"/>
          <p:cNvSpPr/>
          <p:nvPr/>
        </p:nvSpPr>
        <p:spPr>
          <a:xfrm>
            <a:off x="6816626" y="2498229"/>
            <a:ext cx="1632204" cy="41404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Shared, current state</a:t>
            </a:r>
            <a:endParaRPr lang="en-US" sz="1400" dirty="0"/>
          </a:p>
        </p:txBody>
      </p:sp>
      <p:sp>
        <p:nvSpPr>
          <p:cNvPr id="19" name="Shape 14"/>
          <p:cNvSpPr/>
          <p:nvPr/>
        </p:nvSpPr>
        <p:spPr>
          <a:xfrm>
            <a:off x="5013275" y="3683496"/>
            <a:ext cx="3536900" cy="0"/>
          </a:xfrm>
          <a:prstGeom prst="line">
            <a:avLst/>
          </a:prstGeom>
          <a:noFill/>
          <a:ln w="9525">
            <a:solidFill>
              <a:srgbClr val="D1D9E0"/>
            </a:solidFill>
            <a:prstDash val="solid"/>
          </a:ln>
        </p:spPr>
      </p:sp>
      <p:sp>
        <p:nvSpPr>
          <p:cNvPr id="20" name="Text 15"/>
          <p:cNvSpPr/>
          <p:nvPr/>
        </p:nvSpPr>
        <p:spPr>
          <a:xfrm>
            <a:off x="5165675" y="3150394"/>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Hard to scan later</a:t>
            </a:r>
            <a:endParaRPr lang="en-US" sz="1400" dirty="0"/>
          </a:p>
        </p:txBody>
      </p:sp>
      <p:sp>
        <p:nvSpPr>
          <p:cNvPr id="21" name="Text 16"/>
          <p:cNvSpPr/>
          <p:nvPr/>
        </p:nvSpPr>
        <p:spPr>
          <a:xfrm>
            <a:off x="6816626" y="3253829"/>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Easy to inspect</a:t>
            </a:r>
            <a:endParaRPr lang="en-US" sz="1400" dirty="0"/>
          </a:p>
        </p:txBody>
      </p:sp>
      <p:sp>
        <p:nvSpPr>
          <p:cNvPr id="22" name="Text 17"/>
          <p:cNvSpPr/>
          <p:nvPr/>
        </p:nvSpPr>
        <p:spPr>
          <a:xfrm>
            <a:off x="5165675" y="380255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Updates get buried</a:t>
            </a:r>
            <a:endParaRPr lang="en-US" sz="1400" dirty="0"/>
          </a:p>
        </p:txBody>
      </p:sp>
      <p:sp>
        <p:nvSpPr>
          <p:cNvPr id="23" name="Text 18"/>
          <p:cNvSpPr/>
          <p:nvPr/>
        </p:nvSpPr>
        <p:spPr>
          <a:xfrm>
            <a:off x="6816626" y="3905994"/>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Updates stay visible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canvas is a shared control panel</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and the agent change the same board.</a:t>
            </a:r>
            <a:endParaRPr lang="en-US" sz="1650" dirty="0"/>
          </a:p>
        </p:txBody>
      </p:sp>
      <p:sp>
        <p:nvSpPr>
          <p:cNvPr id="9" name="Text 5"/>
          <p:cNvSpPr/>
          <p:nvPr/>
        </p:nvSpPr>
        <p:spPr>
          <a:xfrm>
            <a:off x="511076" y="1874490"/>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You and the agent share one canvas. You use UI controls, the agent uses actions such as get, add, and move, and both sides can change the same board."/>
          <p:cNvPicPr>
            <a:picLocks noChangeAspect="1"/>
          </p:cNvPicPr>
          <p:nvPr/>
        </p:nvPicPr>
        <p:blipFill>
          <a:blip r:embed="rId4"/>
          <a:stretch>
            <a:fillRect/>
          </a:stretch>
        </p:blipFill>
        <p:spPr>
          <a:xfrm>
            <a:off x="558701" y="1922115"/>
            <a:ext cx="3454301" cy="2302371"/>
          </a:xfrm>
          <a:prstGeom prst="rect">
            <a:avLst/>
          </a:prstGeom>
        </p:spPr>
      </p:pic>
      <p:sp>
        <p:nvSpPr>
          <p:cNvPr id="11" name="Text 6"/>
          <p:cNvSpPr/>
          <p:nvPr/>
        </p:nvSpPr>
        <p:spPr>
          <a:xfrm>
            <a:off x="4368701" y="2133749"/>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2" name="Text 7"/>
          <p:cNvSpPr/>
          <p:nvPr/>
        </p:nvSpPr>
        <p:spPr>
          <a:xfrm>
            <a:off x="4463366" y="217810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4775002" y="2133749"/>
            <a:ext cx="226401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Copilot adds plan steps</a:t>
            </a:r>
            <a:endParaRPr lang="en-US" sz="1550" dirty="0"/>
          </a:p>
        </p:txBody>
      </p:sp>
      <p:sp>
        <p:nvSpPr>
          <p:cNvPr id="14" name="Text 9"/>
          <p:cNvSpPr/>
          <p:nvPr/>
        </p:nvSpPr>
        <p:spPr>
          <a:xfrm>
            <a:off x="4775002" y="2387650"/>
            <a:ext cx="2264015"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They appear on the board.</a:t>
            </a:r>
            <a:endParaRPr lang="en-US" sz="1350" dirty="0"/>
          </a:p>
        </p:txBody>
      </p:sp>
      <p:sp>
        <p:nvSpPr>
          <p:cNvPr id="15" name="Text 10"/>
          <p:cNvSpPr/>
          <p:nvPr/>
        </p:nvSpPr>
        <p:spPr>
          <a:xfrm>
            <a:off x="4368701" y="284470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6" name="Text 11"/>
          <p:cNvSpPr/>
          <p:nvPr/>
        </p:nvSpPr>
        <p:spPr>
          <a:xfrm>
            <a:off x="4463366" y="288905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4775002" y="2844701"/>
            <a:ext cx="233323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You change the board</a:t>
            </a:r>
            <a:endParaRPr lang="en-US" sz="1550" dirty="0"/>
          </a:p>
        </p:txBody>
      </p:sp>
      <p:sp>
        <p:nvSpPr>
          <p:cNvPr id="18" name="Text 13"/>
          <p:cNvSpPr/>
          <p:nvPr/>
        </p:nvSpPr>
        <p:spPr>
          <a:xfrm>
            <a:off x="4775002" y="3098602"/>
            <a:ext cx="2333238"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Uncheck a step or add a note.</a:t>
            </a:r>
            <a:endParaRPr lang="en-US" sz="1350" dirty="0"/>
          </a:p>
        </p:txBody>
      </p:sp>
      <p:sp>
        <p:nvSpPr>
          <p:cNvPr id="19" name="Text 14"/>
          <p:cNvSpPr/>
          <p:nvPr/>
        </p:nvSpPr>
        <p:spPr>
          <a:xfrm>
            <a:off x="4368701" y="355565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0" name="Text 15"/>
          <p:cNvSpPr/>
          <p:nvPr/>
        </p:nvSpPr>
        <p:spPr>
          <a:xfrm>
            <a:off x="4463366" y="360000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4775002" y="3555653"/>
            <a:ext cx="340118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Copilot continues from your update</a:t>
            </a:r>
            <a:endParaRPr lang="en-US" sz="1550" dirty="0"/>
          </a:p>
        </p:txBody>
      </p:sp>
      <p:sp>
        <p:nvSpPr>
          <p:cNvPr id="22" name="Text 17"/>
          <p:cNvSpPr/>
          <p:nvPr/>
        </p:nvSpPr>
        <p:spPr>
          <a:xfrm>
            <a:off x="4775002" y="3809554"/>
            <a:ext cx="3401184"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Not from a buried chat line.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Try and create a canvas</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 1</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Try a community canvas</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Repository Issues Kanban turns issues into a board.</ns1:t>
            </ns1:r>
            <ns1:endParaRPr lang="en-US" sz="1650" dirty="0"/>
          </ns1:p>
        </ns0:txBody>
      </ns0:sp>
      <ns0:sp>
        <ns0:nvSpPr>
          <ns0:cNvPr id="9" name="Text 5"/>
          <ns0:cNvSpPr/>
          <ns0:nvPr/>
        </ns0:nvSpPr>
        <ns0:spPr>
          <ns1:xfrm>
            <ns1:off x="511076" y="1923901"/>
            <ns1:ext cx="4311551" cy="2298650"/>
          </ns1:xfrm>
          <ns1:prstGeom prst="roundRect">
            <ns1:avLst>
              <ns1:gd name="adj" fmla="val 3315"/>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Repository Issues Kanban preview"/>
          <ns0:cNvPicPr>
            <ns1:picLocks noChangeAspect="1"/>
          </ns0:cNvPicPr>
          <ns0:nvPr/>
        </ns0:nvPicPr>
        <ns0:blipFill>
          <ns1:blip ns3:embed="rId4"/>
          <ns1:stretch>
            <ns1:fillRect/>
          </ns1:stretch>
        </ns0:blipFill>
        <ns0:spPr>
          <ns1:xfrm>
            <ns1:off x="558701" y="1971526"/>
            <ns1:ext cx="4216301" cy="2203400"/>
          </ns1:xfrm>
          <ns1:prstGeom prst="rect">
            <ns1:avLst/>
          </ns1:prstGeom>
        </ns0:spPr>
      </ns0:pic>
      <ns0:sp>
        <ns0:nvSpPr>
          <ns0:cNvPr id="11" name="Text 6"/>
          <ns0:cNvSpPr/>
          <ns0:nvPr/>
        </ns0:nvSpPr>
        <ns0:spPr>
          <ns1:xfrm>
            <ns1:off x="5079802" y="2120801"/>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467" y="216515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8"/>
          <ns0:cNvSpPr/>
          <ns0:nvPr/>
        </ns0:nvSpPr>
        <ns0:spPr>
          <ns1:xfrm>
            <ns1:off x="5511552" y="2120801"/>
            <ns1:ext cx="2701516"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Install it</ns1:t>
            </ns1:r>
            <ns1:endParaRPr lang="en-US" sz="1550" dirty="0"/>
          </ns1:p>
        </ns0:txBody>
      </ns0:sp>
      <ns0:sp>
        <ns0:nvSpPr>
          <ns0:cNvPr id="14" name="Text 9"/>
          <ns0:cNvSpPr/>
          <ns0:nvPr/>
        </ns0:nvSpPr>
        <ns0:spPr>
          <ns1:xfrm>
            <ns1:off x="5511552" y="2368302"/>
            <ns1:ext cx="2701516"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Open in Copilot app, then Install.</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5" name="Text 10"/>
          <ns0:cNvSpPr/>
          <ns0:nvPr/>
        </ns0:nvSpPr>
        <ns0:spPr>
          <ns1:xfrm>
            <ns1:off x="5079802" y="284574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6" name="Text 11"/>
          <ns0:cNvSpPr/>
          <ns0:nvPr/>
        </ns0:nvSpPr>
        <ns0:spPr>
          <ns1:xfrm>
            <ns1:off x="5174467" y="289009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7" name="Text 12"/>
          <ns0:cNvSpPr/>
          <ns0:nvPr/>
        </ns0:nvSpPr>
        <ns0:spPr>
          <ns1:xfrm>
            <ns1:off x="5511552" y="2845743"/>
            <ns1:ext cx="312945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Reload extensions</ns1:t>
            </ns1:r>
            <ns1:endParaRPr lang="en-US" sz="1550" dirty="0"/>
          </ns1:p>
        </ns0:txBody>
      </ns0:sp>
      <ns0:sp>
        <ns0:nvSpPr>
          <ns0:cNvPr id="18" name="Text 13"/>
          <ns0:cNvSpPr/>
          <ns0:nvPr/>
        </ns0:nvSpPr>
        <ns0:spPr>
          <ns1:xfrm>
            <ns1:off x="5511552" y="3093244"/>
            <ns1:ext cx="3129454"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Ask the session to restart canvas extensions.</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9" name="Text 14"/>
          <ns0:cNvSpPr/>
          <ns0:nvPr/>
        </ns0:nvSpPr>
        <ns0:spPr>
          <ns1:xfrm>
            <ns1:off x="5079802" y="3580209"/>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0" name="Text 15"/>
          <ns0:cNvSpPr/>
          <ns0:nvPr/>
        </ns0:nvSpPr>
        <ns0:spPr>
          <ns1:xfrm>
            <ns1:off x="5174467" y="362456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1" name="Text 16"/>
          <ns0:cNvSpPr/>
          <ns0:nvPr/>
        </ns0:nvSpPr>
        <ns0:spPr>
          <ns1:xfrm>
            <ns1:off x="5511552" y="3580209"/>
            <ns1:ext cx="2453771"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Open it and drag an issue</ns1:t>
            </ns1:r>
            <ns1:endParaRPr lang="en-US" sz="1550" dirty="0"/>
          </ns1:p>
        </ns0:txBody>
      </ns0:sp>
      <ns0:sp>
        <ns0:nvSpPr>
          <ns0:cNvPr id="22" name="Text 17"/>
          <ns0:cNvSpPr/>
          <ns0:nvPr/>
        </ns0:nvSpPr>
        <ns0:spPr>
          <ns1:xfrm>
            <ns1:off x="5511552" y="3827711"/>
            <ns1:ext cx="245377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Open it from Add tab &gt; Canvas.</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Tree>
  </ns0:cSld>
  <ns0:clrMapOvr>
    <ns1:masterClrMapping/>
  </ns0:clrMapOvr>
</ns0: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 2</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Create a session board</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Type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/create-canvas</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then describe the board.</a:t>
            </a:r>
            <a:endParaRPr lang="en-US" sz="1650" dirty="0"/>
          </a:p>
        </p:txBody>
      </p:sp>
      <p:sp>
        <p:nvSpPr>
          <p:cNvPr id="9" name="Text 5"/>
          <p:cNvSpPr/>
          <p:nvPr/>
        </p:nvSpPr>
        <p:spPr>
          <a:xfrm>
            <a:off x="507950" y="1821359"/>
            <a:ext cx="4191000" cy="1606153"/>
          </a:xfrm>
          <a:prstGeom prst="roundRect">
            <a:avLst>
              <a:gd name="adj" fmla="val 4744"/>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1826121"/>
            <a:ext cx="4191000" cy="0"/>
          </a:xfrm>
          <a:prstGeom prst="line">
            <a:avLst/>
          </a:prstGeom>
          <a:noFill/>
          <a:ln w="9525">
            <a:solidFill>
              <a:srgbClr val="E0C5FF"/>
            </a:solidFill>
            <a:prstDash val="solid"/>
          </a:ln>
        </p:spPr>
      </p:sp>
      <p:sp>
        <p:nvSpPr>
          <p:cNvPr id="11" name="Shape 7"/>
          <p:cNvSpPr/>
          <p:nvPr/>
        </p:nvSpPr>
        <p:spPr>
          <a:xfrm>
            <a:off x="4694188" y="1821359"/>
            <a:ext cx="0" cy="1606153"/>
          </a:xfrm>
          <a:prstGeom prst="line">
            <a:avLst/>
          </a:prstGeom>
          <a:noFill/>
          <a:ln w="9525">
            <a:solidFill>
              <a:srgbClr val="E0C5FF"/>
            </a:solidFill>
            <a:prstDash val="solid"/>
          </a:ln>
        </p:spPr>
      </p:sp>
      <p:sp>
        <p:nvSpPr>
          <p:cNvPr id="12" name="Shape 8"/>
          <p:cNvSpPr/>
          <p:nvPr/>
        </p:nvSpPr>
        <p:spPr>
          <a:xfrm>
            <a:off x="507950" y="3422749"/>
            <a:ext cx="4191000" cy="0"/>
          </a:xfrm>
          <a:prstGeom prst="line">
            <a:avLst/>
          </a:prstGeom>
          <a:noFill/>
          <a:ln w="9525">
            <a:solidFill>
              <a:srgbClr val="E0C5FF"/>
            </a:solidFill>
            <a:prstDash val="solid"/>
          </a:ln>
        </p:spPr>
      </p:sp>
      <p:sp>
        <p:nvSpPr>
          <p:cNvPr id="13" name="Shape 9"/>
          <p:cNvSpPr/>
          <p:nvPr/>
        </p:nvSpPr>
        <p:spPr>
          <a:xfrm>
            <a:off x="531763" y="1821359"/>
            <a:ext cx="0" cy="1606153"/>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1960959"/>
            <a:ext cx="165050" cy="165050"/>
          </a:xfrm>
          <a:prstGeom prst="rect">
            <a:avLst/>
          </a:prstGeom>
        </p:spPr>
      </p:pic>
      <p:sp>
        <p:nvSpPr>
          <p:cNvPr id="15" name="Text 10"/>
          <p:cNvSpPr/>
          <p:nvPr/>
        </p:nvSpPr>
        <p:spPr>
          <a:xfrm>
            <a:off x="974527" y="1957834"/>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180034"/>
            <a:ext cx="3854017" cy="11110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Create a simple, user-scoped Session Board canvas with a Feature proposal field, a Plan / Implement / Validate checklist, and Notes. Let the user and the agent both update it. Do not edit repository files.</a:t>
            </a:r>
            <a:endParaRPr lang="en-US" sz="1400" dirty="0"/>
          </a:p>
        </p:txBody>
      </p:sp>
      <p:sp>
        <p:nvSpPr>
          <p:cNvPr id="17" name="Text 12"/>
          <p:cNvSpPr/>
          <p:nvPr/>
        </p:nvSpPr>
        <p:spPr>
          <a:xfrm>
            <a:off x="507950" y="3605213"/>
            <a:ext cx="4191000" cy="720030"/>
          </a:xfrm>
          <a:prstGeom prst="roundRect">
            <a:avLst>
              <a:gd name="adj" fmla="val 14111"/>
            </a:avLst>
          </a:prstGeom>
          <a:solidFill>
            <a:srgbClr val="DAFBE1"/>
          </a:solidFill>
          <a:ln w="9525">
            <a:solidFill>
              <a:srgbClr val="8CE7A5"/>
            </a:solidFill>
          </a:ln>
        </p:spPr>
        <p:txBody>
          <a:bodyPr wrap="square" rtlCol="0" anchor="ctr"/>
          <a:lstStyle/>
          <a:p>
            <a:pPr indent="0" marL="0">
              <a:buNone/>
            </a:pPr>
            <a:endParaRPr lang="en-US" dirty="0"/>
          </a:p>
        </p:txBody>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5176" y="3863578"/>
            <a:ext cx="203150" cy="203150"/>
          </a:xfrm>
          <a:prstGeom prst="rect">
            <a:avLst/>
          </a:prstGeom>
        </p:spPr>
      </p:pic>
      <p:sp>
        <p:nvSpPr>
          <p:cNvPr id="19" name="Text 13"/>
          <p:cNvSpPr/>
          <p:nvPr/>
        </p:nvSpPr>
        <p:spPr>
          <a:xfrm>
            <a:off x="1025277" y="3741688"/>
            <a:ext cx="3556177"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Update the board, then ask the agent to summarize it. They should match.</a:t>
            </a:r>
            <a:endParaRPr lang="en-US" sz="1450" dirty="0"/>
          </a:p>
        </p:txBody>
      </p:sp>
      <p:sp>
        <p:nvSpPr>
          <p:cNvPr id="20" name="Text 14"/>
          <p:cNvSpPr/>
          <p:nvPr/>
        </p:nvSpPr>
        <p:spPr>
          <a:xfrm>
            <a:off x="4955977"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4" descr="You and the agent update the same Session Board"/>
          <p:cNvPicPr>
            <a:picLocks noChangeAspect="1"/>
          </p:cNvPicPr>
          <p:nvPr/>
        </p:nvPicPr>
        <p:blipFill>
          <a:blip r:embed="rId6"/>
          <a:stretch>
            <a:fillRect/>
          </a:stretch>
        </p:blipFill>
        <p:spPr>
          <a:xfrm>
            <a:off x="5003602" y="1879550"/>
            <a:ext cx="3581400" cy="23875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Build a Feature Workbench</a:t>
            </a:r>
            <a:endParaRPr lang="en-US" sz="4000" dirty="0"/>
          </a:p>
        </p:txBody>
      </p:sp>
      <p:sp>
        <p:nvSpPr>
          <p:cNvPr id="11" name="Text 7"/>
          <p:cNvSpPr/>
          <p:nvPr/>
        </p:nvSpPr>
        <p:spPr>
          <a:xfrm>
            <a:off x="711101" y="332803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0.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0">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EXERCISE 3</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Feature Workbench</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One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/create-canvas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prompt builds it.</ns1:t>
            </ns1:r>
            <ns1:endParaRPr lang="en-US" sz="1650" dirty="0"/>
          </ns1:p>
        </ns0:txBody>
      </ns0:sp>
      <ns0:sp>
        <ns0:nvSpPr>
          <ns0:cNvPr id="20" name="Text 13"/>
          <ns0:cNvSpPr/>
          <ns0:nvPr/>
        </ns0:nvSpPr>
        <ns0:spPr>
          <ns1:xfrm>
            <ns1:off x="914400" y="4462272"/>
            <ns1:ext cx="7315200" cy="292608"/>
          </ns1:xfrm>
          <ns1:prstGeom prst="rect">
            <ns1:avLst/>
          </ns1:prstGeom>
          <ns1:noFill/>
          <ns1:ln/>
        </ns0:spPr>
        <ns0:txBody>
          <ns1:bodyPr wrap="square" lIns="0" tIns="0" rIns="0" bIns="0" rtlCol="0" anchor="t"/>
          <ns1:lstStyle/>
          <ns1:p>
            <ns1:pPr algn="l" indent="0" marL="0">
              <ns1:lnSpc>
                <ns1:spcPts val="1560"/>
              </ns1:lnSpc>
              <ns1:buNone/>
            </ns1:pPr>
            <ns1:r>
              <ns1:rPr lang="en-US" sz="1650" dirty="0">
                <ns1:solidFill>
                  <ns1:srgbClr val="59636E"/>
                </ns1:solidFill>
                <ns1:latin typeface="Arial" pitchFamily="34" charset="0"/>
                <ns1:ea typeface="Arial" pitchFamily="34" charset="-122"/>
                <ns1:cs typeface="Arial" pitchFamily="34" charset="-120"/>
              </ns1:rPr>
              <ns1:t>Actions finish when their evidence is recorded.</ns1:t>
            </ns1:r>
            <ns1:endParaRPr lang="en-US" sz="1350" dirty="0"/>
          </ns1:p>
        </ns0:txBody>
      </ns0:sp>
      <ns0:sp>
        <ns0:nvSpPr>
          <ns0:cNvPr id="25" name="Text 17"/>
          <ns0:cNvSpPr/>
          <ns0:nvPr/>
        </ns0:nvSpPr>
        <ns0:spPr>
          <ns1:xfrm>
            <ns1:off x="777240" y="1600200"/>
            <ns1:ext cx="7589520" cy="2514600"/>
          </ns1:xfrm>
          <ns1:prstGeom prst="roundRect">
            <ns1:avLst>
              <ns1:gd name="adj" fmla="val 3386"/>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6" name="Image 6" descr="Feature Workbench stages and Feature proposal field, with Generate plan and the Plan-tab approval instruction."/>
          <ns0:cNvPicPr>
            <ns1:picLocks noChangeAspect="1"/>
          </ns0:cNvPicPr>
          <ns0:nvPr/>
        </ns0:nvPicPr>
        <ns0:blipFill>
          <ns1:blip ns3:embed="rId11"/>
          <ns1:stretch>
            <ns1:fillRect/>
          </ns1:stretch>
        </ns0:blipFill>
        <ns0:spPr>
          <ns1:xfrm>
            <ns1:off x="822960" y="1645920"/>
            <ns1:ext cx="7498080" cy="2423160"/>
          </ns1:xfrm>
          <ns1:prstGeom prst="rect">
            <ns1:avLst/>
          </ns1:prstGeom>
        </ns0:spPr>
      </ns0:pic>
    </ns0:spTree>
  </ns0:cSld>
  <ns0:clrMapOvr>
    <ns1:masterClrMapping/>
  </ns0:clrMapOvr>
</ns0: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PROPOSE, PLAN, AND BASELINE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Plan on the board. Approve in the Plan tab.</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Proposal: a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Clear filters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control, shown only when a filter is active.</ns1:t>
            </ns1:r>
            <ns1:endParaRPr lang="en-US" sz="1650" dirty="0"/>
          </ns1:p>
        </ns0:txBody>
      </ns0:sp>
      <ns0:sp>
        <ns0:nvSpPr>
          <ns0:cNvPr id="9" name="Text 5"/>
          <ns0:cNvSpPr/>
          <ns0:nvPr/>
        </ns0:nvSpPr>
        <ns0:spPr>
          <ns1:xfrm>
            <ns1:off x="512064" y="1581912"/>
            <ns1:ext cx="329184" cy="329184"/>
          </ns1:xfrm>
          <ns1:prstGeom prst="roundRect">
            <ns1:avLst>
              <ns1:gd name="adj" fmla="val 277006"/>
            </ns1:avLst>
          </ns1:prstGeom>
          <ns1:solidFill>
            <ns1:srgbClr val="1A7F37"/>
          </ns1:solidFill>
          <ns1:ln/>
        </ns0:spPr>
        <ns0:txBody>
          <ns1:bodyPr wrap="square" rtlCol="0" anchor="ctr"/>
          <ns1:lstStyle/>
          <ns1:p>
            <ns1:pPr indent="0" marL="0">
              <ns1:buNone/>
            </ns1:pPr>
            <ns1:endParaRPr lang="en-US" dirty="0"/>
          </ns1:p>
        </ns0:txBody>
      </ns0:sp>
      <ns0:sp>
        <ns0:nvSpPr>
          <ns0:cNvPr id="10" name="Text 6"/>
          <ns0:cNvSpPr/>
          <ns0:nvPr/>
        </ns0:nvSpPr>
        <ns0:spPr>
          <ns1:xfrm>
            <ns1:off x="621792" y="1645920"/>
            <ns1:ext cx="100584" cy="210312"/>
          </ns1:xfrm>
          <ns1:prstGeom prst="rect">
            <ns1:avLst/>
          </ns1:prstGeom>
          <ns1:noFill/>
          <ns1:ln/>
        </ns0:spPr>
        <ns0:txBody>
          <ns1:bodyPr wrap="square" lIns="0" tIns="0" rIns="0" bIns="0" rtlCol="0" anchor="t"/>
          <ns1:lstStyle/>
          <ns1:p>
            <ns1:pPr algn="ctr" indent="0" marL="0">
              <ns1:buNone/>
            </ns1:pPr>
            <ns1:r>
              <ns1:rPr lang="en-US" sz="1450" b="1" dirty="0">
                <ns1:solidFill>
                  <ns1:srgbClr val="FFFFFF"/>
                </ns1:solidFill>
                <ns1:latin typeface="Arial" pitchFamily="34" charset="0"/>
                <ns1:ea typeface="Arial" pitchFamily="34" charset="-122"/>
                <ns1:cs typeface="Arial" pitchFamily="34" charset="-120"/>
              </ns1:rPr>
              <ns1:t>1</ns1:t>
            </ns1:r>
            <ns1:endParaRPr lang="en-US" sz="1450" dirty="0"/>
          </ns1:p>
        </ns0:txBody>
      </ns0:sp>
      <ns0:sp>
        <ns0:nvSpPr>
          <ns0:cNvPr id="11" name="Text 7"/>
          <ns0:cNvSpPr/>
          <ns0:nvPr/>
        </ns0:nvSpPr>
        <ns0:spPr>
          <ns1:xfrm>
            <ns1:off x="512064" y="1993392"/>
            <ns1:ext cx="3950208" cy="1933872"/>
          </ns1:xfrm>
          <ns1:prstGeom prst="roundRect">
            <ns1:avLst>
              <ns1:gd name="adj" fmla="val 6283"/>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2" name="Image 2" descr="Plan tab and Feature Workbench with the Propose and Plan stages complete and the Approved status visible."/>
          <ns0:cNvPicPr>
            <ns1:picLocks noChangeAspect="1"/>
          </ns0:cNvPicPr>
          <ns0:nvPr/>
        </ns0:nvPicPr>
        <ns0:blipFill>
          <ns1:blip ns3:embed="rId8"/>
          <ns1:stretch>
            <ns1:fillRect/>
          </ns1:stretch>
        </ns0:blipFill>
        <ns0:spPr>
          <ns1:xfrm>
            <ns1:off x="557784" y="2039112"/>
            <ns1:ext cx="3858768" cy="1842432"/>
          </ns1:xfrm>
          <ns1:prstGeom prst="rect">
            <ns1:avLst/>
          </ns1:prstGeom>
        </ns0:spPr>
      </ns0:pic>
      <ns0:sp>
        <ns0:nvSpPr>
          <ns0:cNvPr id="13" name="Text 8"/>
          <ns0:cNvSpPr/>
          <ns0:nvPr/>
        </ns0:nvSpPr>
        <ns0:spPr>
          <ns1:xfrm>
            <ns1:off x="4681728" y="1581912"/>
            <ns1:ext cx="329184" cy="329184"/>
          </ns1:xfrm>
          <ns1:prstGeom prst="roundRect">
            <ns1:avLst>
              <ns1:gd name="adj" fmla="val 277006"/>
            </ns1:avLst>
          </ns1:prstGeom>
          <ns1:solidFill>
            <ns1:srgbClr val="1A7F37"/>
          </ns1:solidFill>
          <ns1:ln/>
        </ns0:spPr>
        <ns0:txBody>
          <ns1:bodyPr wrap="square" rtlCol="0" anchor="ctr"/>
          <ns1:lstStyle/>
          <ns1:p>
            <ns1:pPr indent="0" marL="0">
              <ns1:buNone/>
            </ns1:pPr>
            <ns1:endParaRPr lang="en-US" dirty="0"/>
          </ns1:p>
        </ns0:txBody>
      </ns0:sp>
      <ns0:sp>
        <ns0:nvSpPr>
          <ns0:cNvPr id="14" name="Text 9"/>
          <ns0:cNvSpPr/>
          <ns0:nvPr/>
        </ns0:nvSpPr>
        <ns0:spPr>
          <ns1:xfrm>
            <ns1:off x="4791456" y="1645920"/>
            <ns1:ext cx="100584" cy="210312"/>
          </ns1:xfrm>
          <ns1:prstGeom prst="rect">
            <ns1:avLst/>
          </ns1:prstGeom>
          <ns1:noFill/>
          <ns1:ln/>
        </ns0:spPr>
        <ns0:txBody>
          <ns1:bodyPr wrap="square" lIns="0" tIns="0" rIns="0" bIns="0" rtlCol="0" anchor="t"/>
          <ns1:lstStyle/>
          <ns1:p>
            <ns1:pPr algn="ctr" indent="0" marL="0">
              <ns1:buNone/>
            </ns1:pPr>
            <ns1:r>
              <ns1:rPr lang="en-US" sz="1450" b="1" dirty="0">
                <ns1:solidFill>
                  <ns1:srgbClr val="FFFFFF"/>
                </ns1:solidFill>
                <ns1:latin typeface="Arial" pitchFamily="34" charset="0"/>
                <ns1:ea typeface="Arial" pitchFamily="34" charset="-122"/>
                <ns1:cs typeface="Arial" pitchFamily="34" charset="-120"/>
              </ns1:rPr>
              <ns1:t>2</ns1:t>
            </ns1:r>
            <ns1:endParaRPr lang="en-US" sz="1450" dirty="0"/>
          </ns1:p>
        </ns0:txBody>
      </ns0:sp>
      <ns0:sp>
        <ns0:nvSpPr>
          <ns0:cNvPr id="15" name="Text 10"/>
          <ns0:cNvSpPr/>
          <ns0:nvPr/>
        </ns0:nvSpPr>
        <ns0:spPr>
          <ns1:xfrm>
            <ns1:off x="4681728" y="2496312"/>
            <ns1:ext cx="3950208" cy="850712"/>
          </ns1:xfrm>
          <ns1:prstGeom prst="roundRect">
            <ns1:avLst>
              <ns1:gd name="adj" fmla="val 1301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6" name="Image 3" descr="Recorded baseline evidence: Baseline PASS, four of four tests, and build pass."/>
          <ns0:cNvPicPr>
            <ns1:picLocks noChangeAspect="1"/>
          </ns0:cNvPicPr>
          <ns0:nvPr/>
        </ns0:nvPicPr>
        <ns0:blipFill>
          <ns1:blip ns3:embed="rId9"/>
          <ns1:stretch>
            <ns1:fillRect/>
          </ns1:stretch>
        </ns0:blipFill>
        <ns0:spPr>
          <ns1:xfrm>
            <ns1:off x="4727448" y="2542032"/>
            <ns1:ext cx="3858768" cy="759272"/>
          </ns1:xfrm>
          <ns1:prstGeom prst="rect">
            <ns1:avLst/>
          </ns1:prstGeom>
        </ns0:spPr>
      </ns0:pic>
      <ns0:sp>
        <ns0:nvSpPr>
          <ns0:cNvPr id="17" name="Text 11"/>
          <ns0:cNvSpPr/>
          <ns0:nvPr/>
        </ns0:nvSpPr>
        <ns0:spPr>
          <ns1:xfrm>
            <ns1:off x="512064" y="4389120"/>
            <ns1:ext cx="8138160" cy="27432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Generate the plan, exit Plan mode, then record baseline checks.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endParaRPr lang="en-US" sz="1450" dirty="0"/>
          </ns1:p>
        </ns0:txBody>
      </ns0:sp>
      <ns0:sp>
        <ns0:nvSpPr>
          <ns0:cNvPr id="18" name="Review plan label"/>
          <ns0:cNvSpPr/>
          <ns0:nvPr/>
        </ns0:nvSpPr>
        <ns0:spPr>
          <ns1:xfrm>
            <ns1:off x="950976" y="1636776"/>
            <ns1:ext cx="3383280" cy="274320"/>
          </ns1:xfrm>
          <ns1:prstGeom prst="rect">
            <ns1:avLst/>
          </ns1:prstGeom>
          <ns1:noFill/>
          <ns1:ln/>
        </ns0:spPr>
        <ns0:txBody>
          <ns1:bodyPr wrap="square" lIns="0" tIns="0" rIns="0" bIns="0" rtlCol="0" anchor="t"/>
          <ns1:lstStyle/>
          <ns1:p>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r>
              <ns1:rPr lang="en-US" sz="1550" b="1" dirty="0">
                <ns1:solidFill>
                  <ns1:srgbClr val="1F2328"/>
                </ns1:solidFill>
                <ns1:latin typeface="Arial" pitchFamily="34" charset="0"/>
                <ns1:ea typeface="Arial" pitchFamily="34" charset="-122"/>
                <ns1:cs typeface="Arial" pitchFamily="34" charset="-120"/>
              </ns1:rPr>
              <ns1:t>Plan approved</ns1:t>
            </ns1:r>
            <ns1:endParaRPr lang="en-US" sz="1450" dirty="0"/>
          </ns1:p>
        </ns0:txBody>
      </ns0:sp>
      <ns0:sp>
        <ns0:nvSpPr>
          <ns0:cNvPr id="19" name="Review baseline label"/>
          <ns0:cNvSpPr/>
          <ns0:nvPr/>
        </ns0:nvSpPr>
        <ns0:spPr>
          <ns1:xfrm>
            <ns1:off x="5120640" y="1636776"/>
            <ns1:ext cx="3383280" cy="274320"/>
          </ns1:xfrm>
          <ns1:prstGeom prst="rect">
            <ns1:avLst/>
          </ns1:prstGeom>
          <ns1:noFill/>
          <ns1:ln/>
        </ns0:spPr>
        <ns0:txBody>
          <ns1:bodyPr wrap="square" lIns="0" tIns="0" rIns="0" bIns="0" rtlCol="0" anchor="t"/>
          <ns1:lstStyle/>
          <ns1:p>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r>
              <ns1:rPr lang="en-US" sz="1550" b="1" dirty="0">
                <ns1:solidFill>
                  <ns1:srgbClr val="1F2328"/>
                </ns1:solidFill>
                <ns1:latin typeface="Arial" pitchFamily="34" charset="0"/>
                <ns1:ea typeface="Arial" pitchFamily="34" charset="-122"/>
                <ns1:cs typeface="Arial" pitchFamily="34" charset="-120"/>
              </ns1:rPr>
              <ns1:t>Baseline recorded</ns1:t>
            </ns1:r>
            <ns1:endParaRPr lang="en-US" sz="1450" dirty="0"/>
          </ns1:p>
        </ns0:txBody>
      </ns0:sp>
    </ns0:spTree>
  </ns0:cSld>
  <ns0:clrMapOvr>
    <ns1:masterClrMapping/>
  </ns0:clrMapOvr>
</ns0: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IMPLEMENT AND VALIDATE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Implement, then check each state</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Unsupported browser checks become notes, not failures.</ns1:t>
            </ns1:r>
            <ns1:pPr algn="l" indent="0" marL="0">
              <ns1:lnSpc>
                <ns1:spcPts val="2000"/>
              </ns1:lnSpc>
              <ns1:spcBef>
                <ns1:spcPts val="500"/>
              </ns1:spcBef>
              <ns1:buNone/>
            </ns1:pPr>
            <ns1:pPr algn="l" indent="0" marL="0">
              <ns1:lnSpc>
                <ns1:spcPts val="2000"/>
              </ns1:lnSpc>
              <ns1:spcBef>
                <ns1:spcPts val="500"/>
              </ns1:spcBef>
              <ns1:buNone/>
            </ns1:pPr>
            <ns1:pPr algn="l" indent="0" marL="0">
              <ns1:lnSpc>
                <ns1:spcPts val="2000"/>
              </ns1:lnSpc>
              <ns1:spcBef>
                <ns1:spcPts val="500"/>
              </ns1:spcBef>
              <ns1:buNone/>
            </ns1:pPr>
            <ns1:pPr algn="l" indent="0" marL="0">
              <ns1:lnSpc>
                <ns1:spcPts val="2000"/>
              </ns1:lnSpc>
              <ns1:spcBef>
                <ns1:spcPts val="500"/>
              </ns1:spcBef>
              <ns1:buNone/>
            </ns1:pPr>
            <ns1:endParaRPr lang="en-US" sz="1650" dirty="0"/>
          </ns1:p>
        </ns0:txBody>
      </ns0:sp>
      <ns0:sp>
        <ns0:nvSpPr>
          <ns0:cNvPr id="9" name="Text 5"/>
          <ns0:cNvSpPr/>
          <ns0:nvPr/>
        </ns0:nvSpPr>
        <ns0:spPr>
          <ns1:xfrm>
            <ns1:off x="777240" y="1673352"/>
            <ns1:ext cx="7589520" cy="1076795"/>
          </ns1:xfrm>
          <ns1:prstGeom prst="roundRect">
            <ns1:avLst>
              <ns1:gd name="adj" fmla="val 538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Feature Workbench evidence after implementation: baseline pass and a recorded Diff row."/>
          <ns0:cNvPicPr>
            <ns1:picLocks noChangeAspect="1"/>
          </ns0:cNvPicPr>
          <ns0:nvPr/>
        </ns0:nvPicPr>
        <ns0:blipFill>
          <ns1:blip ns3:embed="rId8"/>
          <ns1:stretch>
            <ns1:fillRect/>
          </ns1:stretch>
        </ns0:blipFill>
        <ns0:spPr>
          <ns1:xfrm>
            <ns1:off x="822960" y="1719072"/>
            <ns1:ext cx="7498080" cy="985355"/>
          </ns1:xfrm>
          <ns1:prstGeom prst="rect">
            <ns1:avLst/>
          </ns1:prstGeom>
        </ns0:spPr>
      </ns0:pic>
      <ns0:sp>
        <ns0:nvSpPr>
          <ns0:cNvPr id="11" name="Text 6"/>
          <ns0:cNvSpPr/>
          <ns0:nvPr/>
        </ns0:nvSpPr>
        <ns0:spPr>
          <ns1:xfrm>
            <ns1:off x="507950" y="3202484"/>
            <ns1:ext cx="4825901" cy="1443335"/>
          </ns1:xfrm>
          <ns1:prstGeom prst="roundRect">
            <ns1:avLst>
              <ns1:gd name="adj" fmla="val 7039"/>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75" y="3212009"/>
            <ns1:ext cx="4806851" cy="326975"/>
          </ns1:xfrm>
          <ns1:prstGeom prst="rect">
            <ns1:avLst/>
          </ns1:prstGeom>
          <ns1:solidFill>
            <ns1:srgbClr val="DDF4FF"/>
          </ns1:solidFill>
          <ns1:ln/>
        </ns0:spPr>
        <ns0:txBody>
          <ns1:bodyPr wrap="square" rtlCol="0" anchor="ctr"/>
          <ns1:lstStyle/>
          <ns1:p>
            <ns1:pPr indent="0" marL="0">
              <ns1:buNone/>
            </ns1:pPr>
            <ns1:endParaRPr lang="en-US" dirty="0"/>
          </ns1:p>
        </ns0:txBody>
      </ns0:sp>
      <ns0:sp>
        <ns0:nvSpPr>
          <ns0:cNvPr id="13" name="Shape 8"/>
          <ns0:cNvSpPr/>
          <ns0:nvPr/>
        </ns0:nvSpPr>
        <ns0:spPr>
          <ns1:xfrm>
            <ns1:off x="517475" y="3534221"/>
            <ns1:ext cx="4806851" cy="0"/>
          </ns1:xfrm>
          <ns1:prstGeom prst="line">
            <ns1:avLst/>
          </ns1:prstGeom>
          <ns1:noFill/>
          <ns1:ln w="9525">
            <ns1:solidFill>
              <ns1:srgbClr val="9CD7FF"/>
            </ns1:solidFill>
            <ns1:prstDash val="solid"/>
          </ns1:ln>
        </ns0:spPr>
      </ns0:sp>
      <ns0:sp>
        <ns0:nvSpPr>
          <ns0:cNvPr id="14" name="Text 9"/>
          <ns0:cNvSpPr/>
          <ns0:nvPr/>
        </ns0:nvSpPr>
        <ns0:spPr>
          <ns1:xfrm>
            <ns1:off x="669875" y="3288209"/>
            <ns1:ext cx="2409444" cy="165050"/>
          </ns1:xfrm>
          <ns1:prstGeom prst="rect">
            <ns1:avLst/>
          </ns1:prstGeom>
          <ns1:noFill/>
          <ns1:ln/>
        </ns0:spPr>
        <ns0:txBody>
          <ns1:bodyPr wrap="square" lIns="0" tIns="0" rIns="0" bIns="0" rtlCol="0" anchor="t"/>
          <ns1:lstStyle/>
          <ns1:p>
            <ns1:pPr algn="l" indent="0" marL="0">
              <ns1:lnSpc>
                <ns1:spcPts val="1300"/>
              </ns1:lnSpc>
              <ns1:buNone/>
            </ns1:pPr>
            <ns1:r>
              <ns1:rPr lang="en-US" sz="1150" b="1" dirty="0">
                <ns1:solidFill>
                  <ns1:srgbClr val="0969DA"/>
                </ns1:solidFill>
                <ns1:latin typeface="Arial" pitchFamily="34" charset="0"/>
                <ns1:ea typeface="Arial" pitchFamily="34" charset="-122"/>
                <ns1:cs typeface="Arial" pitchFamily="34" charset="-120"/>
              </ns1:rPr>
              <ns1:t>STATE</ns1:t>
            </ns1:r>
            <ns1:endParaRPr lang="en-US" sz="1150" dirty="0"/>
          </ns1:p>
        </ns0:txBody>
      </ns0:sp>
      <ns0:sp>
        <ns0:nvSpPr>
          <ns0:cNvPr id="15" name="Text 10"/>
          <ns0:cNvSpPr/>
          <ns0:nvPr/>
        </ns0:nvSpPr>
        <ns0:spPr>
          <ns1:xfrm>
            <ns1:off x="3336875" y="3288209"/>
            <ns1:ext cx="1891183" cy="165050"/>
          </ns1:xfrm>
          <ns1:prstGeom prst="rect">
            <ns1:avLst/>
          </ns1:prstGeom>
          <ns1:noFill/>
          <ns1:ln/>
        </ns0:spPr>
        <ns0:txBody>
          <ns1:bodyPr wrap="square" lIns="0" tIns="0" rIns="0" bIns="0" rtlCol="0" anchor="t"/>
          <ns1:lstStyle/>
          <ns1:p>
            <ns1:pPr algn="l" indent="0" marL="0">
              <ns1:lnSpc>
                <ns1:spcPts val="1300"/>
              </ns1:lnSpc>
              <ns1:buNone/>
            </ns1:pPr>
            <ns1:r>
              <ns1:rPr lang="en-US" sz="1150" b="1" dirty="0">
                <ns1:solidFill>
                  <ns1:srgbClr val="0969DA"/>
                </ns1:solidFill>
                <ns1:latin typeface="Arial" pitchFamily="34" charset="0"/>
                <ns1:ea typeface="Arial" pitchFamily="34" charset="-122"/>
                <ns1:cs typeface="Arial" pitchFamily="34" charset="-120"/>
              </ns1:rPr>
              <ns1:t>CLEAR FILTERS</ns1:t>
            </ns1:r>
            <ns1:endParaRPr lang="en-US" sz="1150" dirty="0"/>
          </ns1:p>
        </ns0:txBody>
      </ns0:sp>
      <ns0:sp>
        <ns0:nvSpPr>
          <ns0:cNvPr id="16" name="Shape 11"/>
          <ns0:cNvSpPr/>
          <ns0:nvPr/>
        </ns0:nvSpPr>
        <ns0:spPr>
          <ns1:xfrm>
            <ns1:off x="517475" y="3903166"/>
            <ns1:ext cx="4806851" cy="0"/>
          </ns1:xfrm>
          <ns1:prstGeom prst="line">
            <ns1:avLst/>
          </ns1:prstGeom>
          <ns1:noFill/>
          <ns1:ln w="9525">
            <ns1:solidFill>
              <ns1:srgbClr val="D1D9E0"/>
            </ns1:solidFill>
            <ns1:prstDash val="solid"/>
          </ns1:ln>
        </ns0:spPr>
      </ns0:sp>
      <ns0:sp>
        <ns0:nvSpPr>
          <ns0:cNvPr id="17" name="Text 12"/>
          <ns0:cNvSpPr/>
          <ns0:nvPr/>
        </ns0:nvSpPr>
        <ns0:spPr>
          <ns1:xfrm>
            <ns1:off x="669875" y="3615184"/>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No filters active</ns1:t>
            </ns1:r>
            <ns1:endParaRPr lang="en-US" sz="1400" dirty="0"/>
          </ns1:p>
        </ns0:txBody>
      </ns0:sp>
      <ns0:sp>
        <ns0:nvSpPr>
          <ns0:cNvPr id="18" name="Text 13"/>
          <ns0:cNvSpPr/>
          <ns0:nvPr/>
        </ns0:nvSpPr>
        <ns0:spPr>
          <ns1:xfrm>
            <ns1:off x="3336875" y="3615184"/>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Hidden</ns1:t>
            </ns1:r>
            <ns1:endParaRPr lang="en-US" sz="1400" dirty="0"/>
          </ns1:p>
        </ns0:txBody>
      </ns0:sp>
      <ns0:sp>
        <ns0:nvSpPr>
          <ns0:cNvPr id="19" name="Shape 14"/>
          <ns0:cNvSpPr/>
          <ns0:nvPr/>
        </ns0:nvSpPr>
        <ns0:spPr>
          <ns1:xfrm>
            <ns1:off x="517475" y="4272111"/>
            <ns1:ext cx="4806851" cy="0"/>
          </ns1:xfrm>
          <ns1:prstGeom prst="line">
            <ns1:avLst/>
          </ns1:prstGeom>
          <ns1:noFill/>
          <ns1:ln w="9525">
            <ns1:solidFill>
              <ns1:srgbClr val="D1D9E0"/>
            </ns1:solidFill>
            <ns1:prstDash val="solid"/>
          </ns1:ln>
        </ns0:spPr>
      </ns0:sp>
      <ns0:sp>
        <ns0:nvSpPr>
          <ns0:cNvPr id="20" name="Text 15"/>
          <ns0:cNvSpPr/>
          <ns0:nvPr/>
        </ns0:nvSpPr>
        <ns0:spPr>
          <ns1:xfrm>
            <ns1:off x="669875" y="3984129"/>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Any filter set</ns1:t>
            </ns1:r>
            <ns1:endParaRPr lang="en-US" sz="1400" dirty="0"/>
          </ns1:p>
        </ns0:txBody>
      </ns0:sp>
      <ns0:sp>
        <ns0:nvSpPr>
          <ns0:cNvPr id="21" name="Text 16"/>
          <ns0:cNvSpPr/>
          <ns0:nvPr/>
        </ns0:nvSpPr>
        <ns0:spPr>
          <ns1:xfrm>
            <ns1:off x="3336875" y="3984129"/>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Visible</ns1:t>
            </ns1:r>
            <ns1:endParaRPr lang="en-US" sz="1400" dirty="0"/>
          </ns1:p>
        </ns0:txBody>
      </ns0:sp>
      <ns0:sp>
        <ns0:nvSpPr>
          <ns0:cNvPr id="22" name="Text 17"/>
          <ns0:cNvSpPr/>
          <ns0:nvPr/>
        </ns0:nvSpPr>
        <ns0:spPr>
          <ns1:xfrm>
            <ns1:off x="669875" y="4353074"/>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After selecting it</ns1:t>
            </ns1:r>
            <ns1:endParaRPr lang="en-US" sz="1400" dirty="0"/>
          </ns1:p>
        </ns0:txBody>
      </ns0:sp>
      <ns0:sp>
        <ns0:nvSpPr>
          <ns0:cNvPr id="23" name="Text 18"/>
          <ns0:cNvSpPr/>
          <ns0:nvPr/>
        </ns0:nvSpPr>
        <ns0:spPr>
          <ns1:xfrm>
            <ns1:off x="3336875" y="4353074"/>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All filters reset</ns1:t>
            </ns1:r>
            <ns1:endParaRPr lang="en-US" sz="1400" dirty="0"/>
          </ns1:p>
        </ns0:txBody>
      </ns0:sp>
      <ns0:sp>
        <ns0:nvSpPr>
          <ns0:cNvPr id="24" name="Text 19"/>
          <ns0:cNvSpPr/>
          <ns0:nvPr/>
        </ns0:nvSpPr>
        <ns0:spPr>
          <ns1:xfrm>
            <ns1:off x="5537002" y="3564136"/>
            <ns1:ext cx="3098899" cy="720030"/>
          </ns1:xfrm>
          <ns1:prstGeom prst="roundRect">
            <ns1:avLst>
              <ns1:gd name="adj" fmla="val 14111"/>
            </ns1:avLst>
          </ns1:prstGeom>
          <ns1:solidFill>
            <ns1:srgbClr val="FBEFFF"/>
          </ns1:solidFill>
          <ns1:ln w="9525">
            <ns1:solidFill>
              <ns1:srgbClr val="E0C5FF"/>
            </ns1:solidFill>
          </ns1:ln>
        </ns0:spPr>
        <ns0:txBody>
          <ns1:bodyPr wrap="square" rtlCol="0" anchor="ctr"/>
          <ns1:lstStyle/>
          <ns1:p>
            <ns1:pPr indent="0" marL="0">
              <ns1:buNone/>
            </ns1:pPr>
            <ns1:endParaRPr lang="en-US" dirty="0"/>
          </ns1:p>
        </ns0:txBody>
      </ns0:sp>
      <ns0:pic>
        <ns0:nvPicPr>
          <ns0:cNvPr id="25"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724227" y="3822502"/>
            <ns1:ext cx="203150" cy="203150"/>
          </ns1:xfrm>
          <ns1:prstGeom prst="rect">
            <ns1:avLst/>
          </ns1:prstGeom>
        </ns0:spPr>
      </ns0:pic>
      <ns0:sp>
        <ns0:nvSpPr>
          <ns0:cNvPr id="26" name="Text 20"/>
          <ns0:cNvSpPr/>
          <ns0:nvPr/>
        </ns0:nvSpPr>
        <ns0:spPr>
          <ns1:xfrm>
            <ns1:off x="6054328" y="3700611"/>
            <ns1:ext cx="2442234"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Check the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Changes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tab: only the approved feature.</ns1:t>
            </ns1:r>
            <ns1:endParaRPr lang="en-US" sz="1450" dirty="0"/>
          </ns1:p>
        </ns0:txBody>
      </ns0:sp>
    </ns0:spTree>
  </ns0:cSld>
  <ns0:clrMapOvr>
    <ns1:masterClrMapping/>
  </ns0:clrMapOvr>
</ns0: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EVIDENCE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board reflects what happened</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Select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Run final checks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You decide if the evidence is enough.</ns1:t>
            </ns1:r>
            <ns1:endParaRPr lang="en-US" sz="1650" dirty="0"/>
          </ns1:p>
        </ns0:txBody>
      </ns0:sp>
      <ns0:sp>
        <ns0:nvSpPr>
          <ns0:cNvPr id="9" name="Text 5"/>
          <ns0:cNvSpPr/>
          <ns0:nvPr/>
        </ns0:nvSpPr>
        <ns0:spPr>
          <ns1:xfrm>
            <ns1:off x="1371600" y="1801368"/>
            <ns1:ext cx="6400800" cy="1596425"/>
          </ns1:xfrm>
          <ns1:prstGeom prst="roundRect">
            <ns1:avLst>
              <ns1:gd name="adj" fmla="val 905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Example evidence: baseline four of four tests and build pass; final fourteen of fourteen tests, delta plus ten, and build pass."/>
          <ns0:cNvPicPr>
            <ns1:picLocks noChangeAspect="1"/>
          </ns0:cNvPicPr>
          <ns0:nvPr/>
        </ns0:nvPicPr>
        <ns0:blipFill>
          <ns1:blip ns3:embed="rId7"/>
          <ns1:stretch>
            <ns1:fillRect/>
          </ns1:stretch>
        </ns0:blipFill>
        <ns0:spPr>
          <ns1:xfrm>
            <ns1:off x="1417320" y="1847088"/>
            <ns1:ext cx="6309360" cy="1504985"/>
          </ns1:xfrm>
          <ns1:prstGeom prst="rect">
            <ns1:avLst/>
          </ns1:prstGeom>
        </ns0:spPr>
      </ns0:pic>
      <ns0:sp>
        <ns0:nvSpPr>
          <ns0:cNvPr id="19" name="Text 14"/>
          <ns0:cNvSpPr/>
          <ns0:nvPr/>
        </ns0:nvSpPr>
        <ns0:spPr>
          <ns1:xfrm>
            <ns1:off x="822960" y="4096512"/>
            <ns1:ext cx="7498080" cy="548640"/>
          </ns1:xfrm>
          <ns1:prstGeom prst="rect">
            <ns1:avLst/>
          </ns1:prstGeom>
          <ns1:noFill/>
          <ns1:ln/>
        </ns0:spPr>
        <ns0:txBody>
          <ns1:bodyPr wrap="square" lIns="0" tIns="0" rIns="0" bIns="0" rtlCol="0" anchor="t"/>
          <ns1:lstStyle/>
          <ns1:p>
            <ns1:pPr algn="l" indent="0" marL="0">
              <ns1:lnSpc>
                <ns1:spcPts val="1760"/>
              </ns1:lnSpc>
              <ns1:buNone/>
            </ns1:pPr>
            <ns1:r>
              <ns1:rPr lang="en-US" sz="1650" dirty="0">
                <ns1:solidFill>
                  <ns1:srgbClr val="59636E"/>
                </ns1:solidFill>
                <ns1:latin typeface="Arial" pitchFamily="34" charset="0"/>
                <ns1:ea typeface="Arial" pitchFamily="34" charset="-122"/>
                <ns1:cs typeface="Arial" pitchFamily="34" charset="-120"/>
              </ns1:rPr>
              <ns1:t>Example run. Your test total can differ, but it must not fall below the baseline.</ns1:t>
            </ns1:r>
            <ns1:endParaRPr lang="en-US" sz="1450" dirty="0"/>
          </ns1:p>
        </ns0:txBody>
      </ns0:sp>
    </ns0:spTree>
  </ns0:cSld>
  <ns0:clrMapOvr>
    <ns1:masterClrMapping/>
  </ns0:clrMapOvr>
</ns0: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Add an Assess stage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Compare a proposal with current behavior before planning.</a:t>
            </a:r>
            <a:endParaRPr lang="en-US" sz="1650" dirty="0"/>
          </a:p>
        </p:txBody>
      </p:sp>
      <p:sp>
        <p:nvSpPr>
          <p:cNvPr id="9" name="Text 5"/>
          <p:cNvSpPr/>
          <p:nvPr/>
        </p:nvSpPr>
        <p:spPr>
          <a:xfrm>
            <a:off x="507950"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32732"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Propose</a:t>
            </a:r>
            <a:endParaRPr lang="en-US" sz="1300" dirty="0"/>
          </a:p>
        </p:txBody>
      </p:sp>
      <p:sp>
        <p:nvSpPr>
          <p:cNvPr id="11" name="Text 7"/>
          <p:cNvSpPr/>
          <p:nvPr/>
        </p:nvSpPr>
        <p:spPr>
          <a:xfrm>
            <a:off x="1658243"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2" name="Text 8"/>
          <p:cNvSpPr/>
          <p:nvPr/>
        </p:nvSpPr>
        <p:spPr>
          <a:xfrm>
            <a:off x="1918692" y="2056209"/>
            <a:ext cx="1074241" cy="396776"/>
          </a:xfrm>
          <a:prstGeom prst="roundRect">
            <a:avLst>
              <a:gd name="adj" fmla="val 19205"/>
            </a:avLst>
          </a:prstGeom>
          <a:solidFill>
            <a:srgbClr val="FFF1E5"/>
          </a:solidFill>
          <a:ln w="9525">
            <a:solidFill>
              <a:srgbClr val="BC4C00"/>
            </a:solidFill>
          </a:ln>
        </p:spPr>
        <p:txBody>
          <a:bodyPr wrap="square" rtlCol="0" anchor="ctr"/>
          <a:lstStyle/>
          <a:p>
            <a:pPr indent="0" marL="0">
              <a:buNone/>
            </a:pPr>
            <a:endParaRPr lang="en-US" dirty="0"/>
          </a:p>
        </p:txBody>
      </p:sp>
      <p:sp>
        <p:nvSpPr>
          <p:cNvPr id="13" name="Text 9"/>
          <p:cNvSpPr/>
          <p:nvPr/>
        </p:nvSpPr>
        <p:spPr>
          <a:xfrm>
            <a:off x="1943472" y="2154585"/>
            <a:ext cx="1024682" cy="200025"/>
          </a:xfrm>
          <a:prstGeom prst="rect">
            <a:avLst/>
          </a:prstGeom>
          <a:noFill/>
          <a:ln/>
        </p:spPr>
        <p:txBody>
          <a:bodyPr wrap="square" lIns="0" tIns="0" rIns="0" bIns="0" rtlCol="0" anchor="t"/>
          <a:lstStyle/>
          <a:p>
            <a:pPr algn="ctr" indent="0" marL="0">
              <a:buNone/>
            </a:pPr>
            <a:r>
              <a:rPr lang="en-US" sz="1300" b="1" dirty="0">
                <a:solidFill>
                  <a:srgbClr val="BC4C00"/>
                </a:solidFill>
                <a:latin typeface="Arial" pitchFamily="34" charset="0"/>
                <a:ea typeface="Arial" pitchFamily="34" charset="-122"/>
                <a:cs typeface="Arial" pitchFamily="34" charset="-120"/>
              </a:rPr>
              <a:t>Assess</a:t>
            </a:r>
            <a:endParaRPr lang="en-US" sz="1300" dirty="0"/>
          </a:p>
        </p:txBody>
      </p:sp>
      <p:sp>
        <p:nvSpPr>
          <p:cNvPr id="14" name="Text 10"/>
          <p:cNvSpPr/>
          <p:nvPr/>
        </p:nvSpPr>
        <p:spPr>
          <a:xfrm>
            <a:off x="3069134"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5" name="Text 11"/>
          <p:cNvSpPr/>
          <p:nvPr/>
        </p:nvSpPr>
        <p:spPr>
          <a:xfrm>
            <a:off x="3329583"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6" name="Text 12"/>
          <p:cNvSpPr/>
          <p:nvPr/>
        </p:nvSpPr>
        <p:spPr>
          <a:xfrm>
            <a:off x="3354364"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Plan</a:t>
            </a:r>
            <a:endParaRPr lang="en-US" sz="1300" dirty="0"/>
          </a:p>
        </p:txBody>
      </p:sp>
      <p:sp>
        <p:nvSpPr>
          <p:cNvPr id="17" name="Text 13"/>
          <p:cNvSpPr/>
          <p:nvPr/>
        </p:nvSpPr>
        <p:spPr>
          <a:xfrm>
            <a:off x="4479875"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8" name="Text 14"/>
          <p:cNvSpPr/>
          <p:nvPr/>
        </p:nvSpPr>
        <p:spPr>
          <a:xfrm>
            <a:off x="4740325"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9" name="Text 15"/>
          <p:cNvSpPr/>
          <p:nvPr/>
        </p:nvSpPr>
        <p:spPr>
          <a:xfrm>
            <a:off x="4765106"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Baseline</a:t>
            </a:r>
            <a:endParaRPr lang="en-US" sz="1300" dirty="0"/>
          </a:p>
        </p:txBody>
      </p:sp>
      <p:sp>
        <p:nvSpPr>
          <p:cNvPr id="20" name="Text 16"/>
          <p:cNvSpPr/>
          <p:nvPr/>
        </p:nvSpPr>
        <p:spPr>
          <a:xfrm>
            <a:off x="5890617"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21" name="Text 17"/>
          <p:cNvSpPr/>
          <p:nvPr/>
        </p:nvSpPr>
        <p:spPr>
          <a:xfrm>
            <a:off x="6151066"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22" name="Text 18"/>
          <p:cNvSpPr/>
          <p:nvPr/>
        </p:nvSpPr>
        <p:spPr>
          <a:xfrm>
            <a:off x="6175848"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Implement</a:t>
            </a:r>
            <a:endParaRPr lang="en-US" sz="1300" dirty="0"/>
          </a:p>
        </p:txBody>
      </p:sp>
      <p:sp>
        <p:nvSpPr>
          <p:cNvPr id="23" name="Text 19"/>
          <p:cNvSpPr/>
          <p:nvPr/>
        </p:nvSpPr>
        <p:spPr>
          <a:xfrm>
            <a:off x="7301359"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24" name="Text 20"/>
          <p:cNvSpPr/>
          <p:nvPr/>
        </p:nvSpPr>
        <p:spPr>
          <a:xfrm>
            <a:off x="7561808"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7586590"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Validate</a:t>
            </a:r>
            <a:endParaRPr lang="en-US" sz="1300" dirty="0"/>
          </a:p>
        </p:txBody>
      </p:sp>
      <p:sp>
        <p:nvSpPr>
          <p:cNvPr id="26" name="Text 22"/>
          <p:cNvSpPr/>
          <p:nvPr/>
        </p:nvSpPr>
        <p:spPr>
          <a:xfrm>
            <a:off x="507950" y="2681585"/>
            <a:ext cx="3962400" cy="1485007"/>
          </a:xfrm>
          <a:prstGeom prst="roundRect">
            <a:avLst>
              <a:gd name="adj" fmla="val 8552"/>
            </a:avLst>
          </a:prstGeom>
          <a:solidFill>
            <a:srgbClr val="FFFFFF"/>
          </a:solidFill>
          <a:ln w="9525">
            <a:solidFill>
              <a:srgbClr val="FFC49B"/>
            </a:solidFill>
          </a:ln>
        </p:spPr>
        <p:txBody>
          <a:bodyPr wrap="square" rtlCol="0" anchor="ctr"/>
          <a:lstStyle/>
          <a:p>
            <a:pPr indent="0" marL="0">
              <a:buNone/>
            </a:pPr>
            <a:endParaRPr lang="en-US" dirty="0"/>
          </a:p>
        </p:txBody>
      </p:sp>
      <p:sp>
        <p:nvSpPr>
          <p:cNvPr id="27" name="Text 23"/>
          <p:cNvSpPr/>
          <p:nvPr/>
        </p:nvSpPr>
        <p:spPr>
          <a:xfrm>
            <a:off x="695176" y="286881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951411"/>
            <a:ext cx="215801" cy="215801"/>
          </a:xfrm>
          <a:prstGeom prst="rect">
            <a:avLst/>
          </a:prstGeom>
        </p:spPr>
      </p:pic>
      <p:sp>
        <p:nvSpPr>
          <p:cNvPr id="29" name="Text 24"/>
          <p:cNvSpPr/>
          <p:nvPr/>
        </p:nvSpPr>
        <p:spPr>
          <a:xfrm>
            <a:off x="1190476" y="2945011"/>
            <a:ext cx="48698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Core</a:t>
            </a:r>
            <a:endParaRPr lang="en-US" sz="1650" dirty="0"/>
          </a:p>
        </p:txBody>
      </p:sp>
      <p:sp>
        <p:nvSpPr>
          <p:cNvPr id="30" name="Text 25"/>
          <p:cNvSpPr/>
          <p:nvPr/>
        </p:nvSpPr>
        <p:spPr>
          <a:xfrm>
            <a:off x="695176" y="3326011"/>
            <a:ext cx="3659707" cy="653355"/>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/create-canvas</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to add the stage. Then run a new, small improvement through it.</a:t>
            </a:r>
            <a:endParaRPr lang="en-US" sz="1400" dirty="0"/>
          </a:p>
        </p:txBody>
      </p:sp>
      <p:sp>
        <p:nvSpPr>
          <p:cNvPr id="31" name="Text 26"/>
          <p:cNvSpPr/>
          <p:nvPr/>
        </p:nvSpPr>
        <p:spPr>
          <a:xfrm>
            <a:off x="4673501" y="2681585"/>
            <a:ext cx="3962400" cy="1485007"/>
          </a:xfrm>
          <a:prstGeom prst="roundRect">
            <a:avLst>
              <a:gd name="adj" fmla="val 8552"/>
            </a:avLst>
          </a:prstGeom>
          <a:solidFill>
            <a:srgbClr val="FFFFFF"/>
          </a:solidFill>
          <a:ln w="9525">
            <a:solidFill>
              <a:srgbClr val="D1D9E0"/>
            </a:solidFill>
          </a:ln>
        </p:spPr>
        <p:txBody>
          <a:bodyPr wrap="square" rtlCol="0" anchor="ctr"/>
          <a:lstStyle/>
          <a:p>
            <a:pPr indent="0" marL="0">
              <a:buNone/>
            </a:pPr>
            <a:endParaRPr lang="en-US" dirty="0"/>
          </a:p>
        </p:txBody>
      </p:sp>
      <p:sp>
        <p:nvSpPr>
          <p:cNvPr id="32" name="Text 27"/>
          <p:cNvSpPr/>
          <p:nvPr/>
        </p:nvSpPr>
        <p:spPr>
          <a:xfrm>
            <a:off x="4860727" y="2868811"/>
            <a:ext cx="381000" cy="381000"/>
          </a:xfrm>
          <a:prstGeom prst="roundRect">
            <a:avLst>
              <a:gd name="adj" fmla="val 23333"/>
            </a:avLst>
          </a:prstGeom>
          <a:solidFill>
            <a:srgbClr val="F6F8FA"/>
          </a:solidFill>
          <a:ln/>
        </p:spPr>
        <p:txBody>
          <a:bodyPr wrap="square" rtlCol="0" anchor="ctr"/>
          <a:lstStyle/>
          <a:p>
            <a:pPr indent="0" marL="0">
              <a:buNone/>
            </a:pPr>
            <a:endParaRPr lang="en-US" dirty="0"/>
          </a:p>
        </p:txBody>
      </p:sp>
      <p:pic>
        <p:nvPicPr>
          <p:cNvPr id="3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43326" y="2951411"/>
            <a:ext cx="215801" cy="215801"/>
          </a:xfrm>
          <a:prstGeom prst="rect">
            <a:avLst/>
          </a:prstGeom>
        </p:spPr>
      </p:pic>
      <p:sp>
        <p:nvSpPr>
          <p:cNvPr id="34" name="Text 28"/>
          <p:cNvSpPr/>
          <p:nvPr/>
        </p:nvSpPr>
        <p:spPr>
          <a:xfrm>
            <a:off x="5356027" y="2945011"/>
            <a:ext cx="866805"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Optional</a:t>
            </a:r>
            <a:endParaRPr lang="en-US" sz="1650" dirty="0"/>
          </a:p>
        </p:txBody>
      </p:sp>
      <p:sp>
        <p:nvSpPr>
          <p:cNvPr id="35" name="Text 29"/>
          <p:cNvSpPr/>
          <p:nvPr/>
        </p:nvSpPr>
        <p:spPr>
          <a:xfrm>
            <a:off x="4860727" y="3326011"/>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Add actions that open an issue and a linked PR.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canvas is a visible, shared board in the side panel.</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09589"/>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Create one with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/create-canvas</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and a short description.</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Try community canvases before you build your own.</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Board evidence must come from real output, not chat.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Open Chapter 06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07</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Automations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06: Canvases</dc:title>
  <dc:subject>PptxGenJS Presentation</dc:subject>
  <dc:creator>GitHub Copilot app for Beginners</dc:creator>
  <cp:lastModifiedBy>GitHub Copilot app for Beginners</cp:lastModifiedBy>
  <cp:revision>1</cp:revision>
  <dcterms:created xsi:type="dcterms:W3CDTF">2026-10-06T21:18:58Z</dcterms:created>
  <dcterms:modified xsi:type="dcterms:W3CDTF">2026-10-06T21:18:58Z</dcterms:modified>
</cp:coreProperties>
</file>