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06 made session work visible. This chapter makes repeatable work reusable. You start with a manual review readiness report, schedule it for every morning, and then look at event triggers and cloud automations.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Anatomy of an automation, Build a review readiness report, Events and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what an automation is made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producer does not replay the same drum pattern by hand every night. They program it into a sequencer once and let it run. Chosen instruments map to selected tools. And the producer still checks the mix: a human reviews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automation has four parts: a trigger that starts it, a prompt that says what to do, tools that grant the least access needed, and a review path where you inspect the result. Automations are saved in the app, not committed to the repository. Treat the prompt like production instructions: keep secrets out and give it only the tools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automations run only when you choose. That lets you test the prompt, inspect output, adjust scope, avoid surprise runs, and confirm tools are minimal. Good starters: which pull requests are blocked and what do they need next, or what should I validate before opening a PR. Avoid first automations that write code, post comments, change labels, approve reviews, or merge. Issue text is untrusted input, and a read-only summary reduces prompt-injection risk, where hostile text tries to steer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The Pull requests view lists open pull requests. It does not explain merge readiness across them. This automation adds that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Before you start, select Pull requests and your fork. On Authored by me, you should see practice PRs. Open Automations, select New automation, name it PR review readiness report, change Trigger from Daily to Manual, make sure Run in the cloud is off so it runs locally, and paste the full prompt from the chapter. Use Select repository to pick your copilot-app-for-beginners fork, then set Workspace to Current checkout because the report only reads data. Use the arrow next to Create and choose Create and run. It appears under Your automations with a Manual label, and the run appears under Recent runs.</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 for the run to succeed, then open the run detail. Confirm the prompt matches what you pasted, there is no error text, and the result is a table of open pull requests. This is a representative result from the seeded PRs. The value is the analysis: unlike the Pull requests view, which lists open items, this report explains why each PR is blocked and the single next human action. Because the prompt is read-only, the risk stays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A daily schedule runs the saved prompt automatically. To compare with a previous run, include that request in the prompt. This automation is local, so it runs only when your computer is awake and the app is running. Open it, select Edit, change the trigger to Daily, and choose 08:00 in Hours. Hours can have more than one time selected. Clear any other selected hours, including the default 09:00, so only 08:00 remains. Keep Minute at 00, confirm the repository, and save. Check the Daily label, schedule, and Next run time. The app also supports Hourly, Weekly, and CRON.</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10</ns1:t>
            </ns1:fld>
            <ns1:endParaRPr lang="en-US"/>
          </ns1:p>
        </ns0:txBody>
      </ns0:sp>
    </ns0:spTree>
    <ns0:extLst>
      <ns0:ext uri="{BB962C8B-B14F-4D97-AF65-F5344CB8AC3E}">
        <ns2:creationId val="1024086991"/>
      </ns0:ext>
    </ns0:extLst>
  </ns0:cSld>
  <ns0:clrMapOvr>
    <ns1:masterClrMapping/>
  </ns0:clrMapOvr>
</ns0: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is optional and covers more advanced options. Both need extra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current Trigger menu includes Issue, Automation failed, Automation completed, Code scanning alert, Dependabot alert, Discussion comment, Discussion opened, Discussion updated, Pull request, Secret scanning alert, Sub issue added, and Workflow. Schedule choices include Hourly, Daily, Weekly, and CRON. The menu is longer than its window, so scroll to see every choice. Event triggers react to external input. Keep them read-only, scope them to one repository, and filter by label or query. Avoid write tools until the summary is reliable, and review the run history regularly.</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12</ns1:t>
            </ns1:fld>
            <ns1:endParaRPr lang="en-US"/>
          </ns1:p>
        </ns0:txBody>
      </ns0:sp>
    </ns0:spTree>
    <ns0:extLst>
      <ns0:ext uri="{BB962C8B-B14F-4D97-AF65-F5344CB8AC3E}">
        <ns2:creationId val="1024086991"/>
      </ns0:ext>
    </ns0:extLst>
  </ns0:cSld>
  <ns0:clrMapOvr>
    <ns1:masterClrMapping/>
  </ns0:clrMapOvr>
</ns0:notes>
</file>

<file path=ppt/notesSlides/notesSlide13.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Every automation so far is local: it runs from your machine while the app is open. A cloud automation runs on GitHub-hosted infrastructure. It needs Copilot cloud agent enabled and an organization that allows automations. The repository must be private or internal; this public course fork cannot use cloud automations. Each cloud run uses Actions minutes and AI credits. Personal charges AI credits to you and uses your GitHub identity for actions. Shared is visible to people with repository access, charges credits to the repository owner, and uses Copilot's identity for actions. Personal does not make cloud sessions or logs private; people with repository access can see them. The current Tools picker shows Select tools before you choose. Select only what the task needs.</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13</ns1:t>
            </ns1:fld>
            <ns1:endParaRPr lang="en-US"/>
          </ns1:p>
        </ns0:txBody>
      </ns0:sp>
    </ns0:spTree>
    <ns0:extLst>
      <ns0:ext uri="{BB962C8B-B14F-4D97-AF65-F5344CB8AC3E}">
        <ns2:creationId val="1024086991"/>
      </ns0:ext>
    </ns0:extLst>
  </ns0:cSld>
  <ns0:clrMapOvr>
    <ns1:masterClrMapping/>
  </ns0:clrMapOvr>
</ns0: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one manual automation for your own work. Name it clearly, use a manual trigger, and write one bounded task. Keep it read-only: local automations have no tool list, so the prompt must say not to edit files, post comments, or change GitHub items. Run it once and revise the prompt from the history. If you can explain why it is safe to run again, you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went from setup through sessions and worktrees, context, the development and GitHub loops, skills and custom agents, MCP servers and plugins, canvases, and automations. The constant was keeping a human in control: before implementation starts, before a pull request opens, and before any merge automation is 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automation principles, especially least privilege: keep write actions out of early automations that read issue content. The links go back to this chapter and to the course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5" Type="http://schemas.openxmlformats.org/officeDocument/2006/relationships/hyperlink" Target="https://github.com/github/copilot-app-for-beginners/tree/main/07-automation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jp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8-1.png"/><Relationship Id="rId2" Type="http://schemas.openxmlformats.org/officeDocument/2006/relationships/image" Target="../media/image-8-2.png"/><Relationship Id="rId5" Type="http://schemas.openxmlformats.org/officeDocument/2006/relationships/slideLayout" Target="../slideLayouts/slideLayout1.xml"/><Relationship Id="rId6" Type="http://schemas.openxmlformats.org/officeDocument/2006/relationships/notesSlide" Target="../notesSlides/notesSlide8.xml"/><Relationship Id="rId7" Type="http://schemas.openxmlformats.org/officeDocument/2006/relationships/image" Target="../media/review-8-image-2.png"/><Relationship Id="rId8" Type="http://schemas.openxmlformats.org/officeDocument/2006/relationships/image" Target="../media/review-8-review-create-menu.png"/></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0-1.png"/><Relationship Id="rId2" Type="http://schemas.openxmlformats.org/officeDocument/2006/relationships/image" Target="../media/image-10-2.png"/><Relationship Id="rId5" Type="http://schemas.openxmlformats.org/officeDocument/2006/relationships/slideLayout" Target="../slideLayouts/slideLayout1.xml"/><Relationship Id="rId6" Type="http://schemas.openxmlformats.org/officeDocument/2006/relationships/notesSlide" Target="../notesSlides/notesSlide10.xml"/><Relationship Id="rId7" Type="http://schemas.openxmlformats.org/officeDocument/2006/relationships/image" Target="../media/review-10-image-2.png"/></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jpg"/><Relationship Id="rId5" Type="http://schemas.openxmlformats.org/officeDocument/2006/relationships/image" Target="../media/image-13-4.png"/><Relationship Id="rId6" Type="http://schemas.openxmlformats.org/officeDocument/2006/relationships/image" Target="../media/image-13-5.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hyperlink" Target="https://github.com/github/copilot-app-for-beginners/tree/main/07-automations" TargetMode="External"/><Relationship Id="rId5" Type="http://schemas.openxmlformats.org/officeDocument/2006/relationships/hyperlink" Target="https://github.com/github/copilot-app-for-beginners/tree/main/07-automations" TargetMode="External"/><Relationship Id="rId6" Type="http://schemas.openxmlformats.org/officeDocument/2006/relationships/hyperlink" Target="https://github.com/github/copilot-app-for-beginners"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image" Target="../media/image-16-3.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12939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07</a:t>
            </a:r>
            <a:endParaRPr lang="en-US" sz="1450" dirty="0"/>
          </a:p>
        </p:txBody>
      </p:sp>
      <p:sp>
        <p:nvSpPr>
          <p:cNvPr id="5" name="Text 1"/>
          <p:cNvSpPr/>
          <p:nvPr/>
        </p:nvSpPr>
        <p:spPr>
          <a:xfrm>
            <a:off x="1015901" y="1604963"/>
            <a:ext cx="6088279" cy="6096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Automations</a:t>
            </a:r>
            <a:endParaRPr lang="en-US" sz="4200" dirty="0"/>
          </a:p>
        </p:txBody>
      </p:sp>
      <p:sp>
        <p:nvSpPr>
          <p:cNvPr id="6" name="Text 2"/>
          <p:cNvSpPr/>
          <p:nvPr/>
        </p:nvSpPr>
        <p:spPr>
          <a:xfrm>
            <a:off x="1015901" y="24431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7351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a prompt you run every morning could run itself?</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660725"/>
            <a:ext cx="177701" cy="177701"/>
          </a:xfrm>
          <a:prstGeom prst="rect">
            <a:avLst/>
          </a:prstGeom>
        </p:spPr>
      </p:pic>
      <p:sp>
        <p:nvSpPr>
          <p:cNvPr id="9" name="Text 4"/>
          <p:cNvSpPr/>
          <p:nvPr/>
        </p:nvSpPr>
        <p:spPr>
          <a:xfrm>
            <a:off x="1282452" y="36495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7-automation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07</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495425"/>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500188"/>
            <a:ext cx="8127950" cy="0"/>
          </a:xfrm>
          <a:prstGeom prst="line">
            <a:avLst/>
          </a:prstGeom>
          <a:noFill/>
          <a:ln w="9525">
            <a:solidFill>
              <a:srgbClr val="9CD7FF"/>
            </a:solidFill>
            <a:prstDash val="solid"/>
          </a:ln>
        </p:spPr>
      </p:sp>
      <p:sp>
        <p:nvSpPr>
          <p:cNvPr id="10" name="Shape 6"/>
          <p:cNvSpPr/>
          <p:nvPr/>
        </p:nvSpPr>
        <p:spPr>
          <a:xfrm>
            <a:off x="8631138" y="1495425"/>
            <a:ext cx="0" cy="857250"/>
          </a:xfrm>
          <a:prstGeom prst="line">
            <a:avLst/>
          </a:prstGeom>
          <a:noFill/>
          <a:ln w="9525">
            <a:solidFill>
              <a:srgbClr val="9CD7FF"/>
            </a:solidFill>
            <a:prstDash val="solid"/>
          </a:ln>
        </p:spPr>
      </p:sp>
      <p:sp>
        <p:nvSpPr>
          <p:cNvPr id="11" name="Shape 7"/>
          <p:cNvSpPr/>
          <p:nvPr/>
        </p:nvSpPr>
        <p:spPr>
          <a:xfrm>
            <a:off x="507950" y="2347913"/>
            <a:ext cx="8127950" cy="0"/>
          </a:xfrm>
          <a:prstGeom prst="line">
            <a:avLst/>
          </a:prstGeom>
          <a:noFill/>
          <a:ln w="9525">
            <a:solidFill>
              <a:srgbClr val="9CD7FF"/>
            </a:solidFill>
            <a:prstDash val="solid"/>
          </a:ln>
        </p:spPr>
      </p:sp>
      <p:sp>
        <p:nvSpPr>
          <p:cNvPr id="12" name="Shape 8"/>
          <p:cNvSpPr/>
          <p:nvPr/>
        </p:nvSpPr>
        <p:spPr>
          <a:xfrm>
            <a:off x="546050" y="1495425"/>
            <a:ext cx="0" cy="857250"/>
          </a:xfrm>
          <a:prstGeom prst="line">
            <a:avLst/>
          </a:prstGeom>
          <a:noFill/>
          <a:ln w="76200">
            <a:solidFill>
              <a:srgbClr val="0969DA"/>
            </a:solidFill>
            <a:prstDash val="solid"/>
          </a:ln>
        </p:spPr>
      </p:sp>
      <p:sp>
        <p:nvSpPr>
          <p:cNvPr id="13" name="Text 9"/>
          <p:cNvSpPr/>
          <p:nvPr/>
        </p:nvSpPr>
        <p:spPr>
          <a:xfrm>
            <a:off x="812750" y="170973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657350"/>
            <a:ext cx="6691247"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Anatomy of an automation</a:t>
            </a:r>
            <a:endParaRPr lang="en-US" sz="1800" dirty="0"/>
          </a:p>
        </p:txBody>
      </p:sp>
      <p:sp>
        <p:nvSpPr>
          <p:cNvPr id="15" name="Text 11"/>
          <p:cNvSpPr/>
          <p:nvPr/>
        </p:nvSpPr>
        <p:spPr>
          <a:xfrm>
            <a:off x="1625501" y="1974800"/>
            <a:ext cx="6691247"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Every automation is a saved prompt with a trigger, tools, and a place to review it.</a:t>
            </a:r>
            <a:endParaRPr lang="en-US" sz="1450" dirty="0"/>
          </a:p>
        </p:txBody>
      </p:sp>
      <p:sp>
        <p:nvSpPr>
          <p:cNvPr id="16" name="Text 12"/>
          <p:cNvSpPr/>
          <p:nvPr/>
        </p:nvSpPr>
        <p:spPr>
          <a:xfrm>
            <a:off x="507950" y="2505075"/>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857250"/>
          </a:xfrm>
          <a:prstGeom prst="line">
            <a:avLst/>
          </a:prstGeom>
          <a:noFill/>
          <a:ln w="9525">
            <a:solidFill>
              <a:srgbClr val="E0C5FF"/>
            </a:solidFill>
            <a:prstDash val="solid"/>
          </a:ln>
        </p:spPr>
      </p:sp>
      <p:sp>
        <p:nvSpPr>
          <p:cNvPr id="19" name="Shape 15"/>
          <p:cNvSpPr/>
          <p:nvPr/>
        </p:nvSpPr>
        <p:spPr>
          <a:xfrm>
            <a:off x="507950" y="3357563"/>
            <a:ext cx="8127950" cy="0"/>
          </a:xfrm>
          <a:prstGeom prst="line">
            <a:avLst/>
          </a:prstGeom>
          <a:noFill/>
          <a:ln w="9525">
            <a:solidFill>
              <a:srgbClr val="E0C5FF"/>
            </a:solidFill>
            <a:prstDash val="solid"/>
          </a:ln>
        </p:spPr>
      </p:sp>
      <p:sp>
        <p:nvSpPr>
          <p:cNvPr id="20" name="Shape 16"/>
          <p:cNvSpPr/>
          <p:nvPr/>
        </p:nvSpPr>
        <p:spPr>
          <a:xfrm>
            <a:off x="546050" y="2505075"/>
            <a:ext cx="0" cy="857250"/>
          </a:xfrm>
          <a:prstGeom prst="line">
            <a:avLst/>
          </a:prstGeom>
          <a:noFill/>
          <a:ln w="76200">
            <a:solidFill>
              <a:srgbClr val="8250DF"/>
            </a:solidFill>
            <a:prstDash val="solid"/>
          </a:ln>
        </p:spPr>
      </p:sp>
      <p:sp>
        <p:nvSpPr>
          <p:cNvPr id="21" name="Text 17"/>
          <p:cNvSpPr/>
          <p:nvPr/>
        </p:nvSpPr>
        <p:spPr>
          <a:xfrm>
            <a:off x="812750" y="27193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5146179"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Build a review readiness report</a:t>
            </a:r>
            <a:endParaRPr lang="en-US" sz="1800" dirty="0"/>
          </a:p>
        </p:txBody>
      </p:sp>
      <p:sp>
        <p:nvSpPr>
          <p:cNvPr id="23" name="Text 19"/>
          <p:cNvSpPr/>
          <p:nvPr/>
        </p:nvSpPr>
        <p:spPr>
          <a:xfrm>
            <a:off x="1625501" y="2984450"/>
            <a:ext cx="5146179"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Which PRs are ready to merge, and what is blocking the rest?</a:t>
            </a:r>
            <a:endParaRPr lang="en-US" sz="1450" dirty="0"/>
          </a:p>
        </p:txBody>
      </p:sp>
      <p:sp>
        <p:nvSpPr>
          <p:cNvPr id="24" name="Text 20"/>
          <p:cNvSpPr/>
          <p:nvPr/>
        </p:nvSpPr>
        <p:spPr>
          <a:xfrm>
            <a:off x="507950" y="351472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519488"/>
            <a:ext cx="8127950" cy="0"/>
          </a:xfrm>
          <a:prstGeom prst="line">
            <a:avLst/>
          </a:prstGeom>
          <a:noFill/>
          <a:ln w="9525">
            <a:solidFill>
              <a:srgbClr val="8CE7A5"/>
            </a:solidFill>
            <a:prstDash val="solid"/>
          </a:ln>
        </p:spPr>
      </p:sp>
      <p:sp>
        <p:nvSpPr>
          <p:cNvPr id="26" name="Shape 22"/>
          <p:cNvSpPr/>
          <p:nvPr/>
        </p:nvSpPr>
        <p:spPr>
          <a:xfrm>
            <a:off x="8631138" y="3514725"/>
            <a:ext cx="0" cy="857250"/>
          </a:xfrm>
          <a:prstGeom prst="line">
            <a:avLst/>
          </a:prstGeom>
          <a:noFill/>
          <a:ln w="9525">
            <a:solidFill>
              <a:srgbClr val="8CE7A5"/>
            </a:solidFill>
            <a:prstDash val="solid"/>
          </a:ln>
        </p:spPr>
      </p:sp>
      <p:sp>
        <p:nvSpPr>
          <p:cNvPr id="27" name="Shape 23"/>
          <p:cNvSpPr/>
          <p:nvPr/>
        </p:nvSpPr>
        <p:spPr>
          <a:xfrm>
            <a:off x="507950" y="4367213"/>
            <a:ext cx="8127950" cy="0"/>
          </a:xfrm>
          <a:prstGeom prst="line">
            <a:avLst/>
          </a:prstGeom>
          <a:noFill/>
          <a:ln w="9525">
            <a:solidFill>
              <a:srgbClr val="8CE7A5"/>
            </a:solidFill>
            <a:prstDash val="solid"/>
          </a:ln>
        </p:spPr>
      </p:sp>
      <p:sp>
        <p:nvSpPr>
          <p:cNvPr id="28" name="Shape 24"/>
          <p:cNvSpPr/>
          <p:nvPr/>
        </p:nvSpPr>
        <p:spPr>
          <a:xfrm>
            <a:off x="546050" y="3514725"/>
            <a:ext cx="0" cy="857250"/>
          </a:xfrm>
          <a:prstGeom prst="line">
            <a:avLst/>
          </a:prstGeom>
          <a:noFill/>
          <a:ln w="76200">
            <a:solidFill>
              <a:srgbClr val="1A7F37"/>
            </a:solidFill>
            <a:prstDash val="solid"/>
          </a:ln>
        </p:spPr>
      </p:sp>
      <p:sp>
        <p:nvSpPr>
          <p:cNvPr id="29" name="Text 25"/>
          <p:cNvSpPr/>
          <p:nvPr/>
        </p:nvSpPr>
        <p:spPr>
          <a:xfrm>
            <a:off x="812750" y="3729038"/>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676650"/>
            <a:ext cx="5876967"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Events and cloud</a:t>
            </a:r>
            <a:endParaRPr lang="en-US" sz="1800" dirty="0"/>
          </a:p>
        </p:txBody>
      </p:sp>
      <p:sp>
        <p:nvSpPr>
          <p:cNvPr id="31" name="Text 27"/>
          <p:cNvSpPr/>
          <p:nvPr/>
        </p:nvSpPr>
        <p:spPr>
          <a:xfrm>
            <a:off x="1625501" y="3994100"/>
            <a:ext cx="5876967"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Optional. React to repository events, or run while your laptop is closed.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8"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Anatomy of an automation</a:t>
            </a:r>
            <a:endParaRPr lang="en-US" sz="4000" dirty="0"/>
          </a:p>
        </p:txBody>
      </p:sp>
      <p:sp>
        <p:nvSpPr>
          <p:cNvPr id="11" name="Text 7"/>
          <p:cNvSpPr/>
          <p:nvPr/>
        </p:nvSpPr>
        <p:spPr>
          <a:xfrm>
            <a:off x="711101" y="332803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Programming the sequencer</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Program the pattern once. Press play when you need it.</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equencer analogy for automations"/>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2000548"/>
            <a:ext cx="3555950" cy="2221706"/>
          </a:xfrm>
          <a:prstGeom prst="roundRect">
            <a:avLst>
              <a:gd name="adj" fmla="val 4573"/>
            </a:avLst>
          </a:prstGeom>
          <a:solidFill>
            <a:srgbClr val="FFFFFF"/>
          </a:solidFill>
          <a:ln w="9525">
            <a:solidFill>
              <a:srgbClr val="D1D9E0"/>
            </a:solidFill>
          </a:ln>
        </p:spPr>
        <p:txBody>
          <a:bodyPr wrap="square" rtlCol="0" anchor="ctr"/>
          <a:lstStyle/>
          <a:p>
            <a:pPr indent="0" marL="0">
              <a:buNone/>
            </a:pPr>
            <a:endParaRPr lang="en-US" dirty="0"/>
          </a:p>
        </p:txBody>
      </p:sp>
      <p:sp>
        <p:nvSpPr>
          <p:cNvPr id="12" name="Text 7"/>
          <p:cNvSpPr/>
          <p:nvPr/>
        </p:nvSpPr>
        <p:spPr>
          <a:xfrm>
            <a:off x="5013275" y="2010073"/>
            <a:ext cx="3536900" cy="326975"/>
          </a:xfrm>
          <a:prstGeom prst="rect">
            <a:avLst/>
          </a:prstGeom>
          <a:solidFill>
            <a:srgbClr val="DDF4FF"/>
          </a:solidFill>
          <a:ln/>
        </p:spPr>
        <p:txBody>
          <a:bodyPr wrap="square" rtlCol="0" anchor="ctr"/>
          <a:lstStyle/>
          <a:p>
            <a:pPr indent="0" marL="0">
              <a:buNone/>
            </a:pPr>
            <a:endParaRPr lang="en-US" dirty="0"/>
          </a:p>
        </p:txBody>
      </p:sp>
      <p:sp>
        <p:nvSpPr>
          <p:cNvPr id="13" name="Shape 8"/>
          <p:cNvSpPr/>
          <p:nvPr/>
        </p:nvSpPr>
        <p:spPr>
          <a:xfrm>
            <a:off x="5013275" y="2332286"/>
            <a:ext cx="3536900" cy="0"/>
          </a:xfrm>
          <a:prstGeom prst="line">
            <a:avLst/>
          </a:prstGeom>
          <a:noFill/>
          <a:ln w="9525">
            <a:solidFill>
              <a:srgbClr val="9CD7FF"/>
            </a:solidFill>
            <a:prstDash val="solid"/>
          </a:ln>
        </p:spPr>
      </p:sp>
      <p:sp>
        <p:nvSpPr>
          <p:cNvPr id="14" name="Text 9"/>
          <p:cNvSpPr/>
          <p:nvPr/>
        </p:nvSpPr>
        <p:spPr>
          <a:xfrm>
            <a:off x="5165675" y="2086273"/>
            <a:ext cx="137307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SEQUENCER</a:t>
            </a:r>
            <a:endParaRPr lang="en-US" sz="1150" dirty="0"/>
          </a:p>
        </p:txBody>
      </p:sp>
      <p:sp>
        <p:nvSpPr>
          <p:cNvPr id="15" name="Text 10"/>
          <p:cNvSpPr/>
          <p:nvPr/>
        </p:nvSpPr>
        <p:spPr>
          <a:xfrm>
            <a:off x="6816626" y="2086273"/>
            <a:ext cx="1632204"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AUTOMATION</a:t>
            </a:r>
            <a:endParaRPr lang="en-US" sz="1150" dirty="0"/>
          </a:p>
        </p:txBody>
      </p:sp>
      <p:sp>
        <p:nvSpPr>
          <p:cNvPr id="16" name="Shape 11"/>
          <p:cNvSpPr/>
          <p:nvPr/>
        </p:nvSpPr>
        <p:spPr>
          <a:xfrm>
            <a:off x="5013275" y="2958852"/>
            <a:ext cx="3536900" cy="0"/>
          </a:xfrm>
          <a:prstGeom prst="line">
            <a:avLst/>
          </a:prstGeom>
          <a:noFill/>
          <a:ln w="9525">
            <a:solidFill>
              <a:srgbClr val="D1D9E0"/>
            </a:solidFill>
            <a:prstDash val="solid"/>
          </a:ln>
        </p:spPr>
      </p:sp>
      <p:sp>
        <p:nvSpPr>
          <p:cNvPr id="17" name="Text 12"/>
          <p:cNvSpPr/>
          <p:nvPr/>
        </p:nvSpPr>
        <p:spPr>
          <a:xfrm>
            <a:off x="5165675" y="2438549"/>
            <a:ext cx="137307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Programmed pattern</a:t>
            </a:r>
            <a:endParaRPr lang="en-US" sz="1400" dirty="0"/>
          </a:p>
        </p:txBody>
      </p:sp>
      <p:sp>
        <p:nvSpPr>
          <p:cNvPr id="18" name="Text 13"/>
          <p:cNvSpPr/>
          <p:nvPr/>
        </p:nvSpPr>
        <p:spPr>
          <a:xfrm>
            <a:off x="6816626" y="2541984"/>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Saved prompt</a:t>
            </a:r>
            <a:endParaRPr lang="en-US" sz="1400" dirty="0"/>
          </a:p>
        </p:txBody>
      </p:sp>
      <p:sp>
        <p:nvSpPr>
          <p:cNvPr id="19" name="Shape 14"/>
          <p:cNvSpPr/>
          <p:nvPr/>
        </p:nvSpPr>
        <p:spPr>
          <a:xfrm>
            <a:off x="5013275" y="3378398"/>
            <a:ext cx="3536900" cy="0"/>
          </a:xfrm>
          <a:prstGeom prst="line">
            <a:avLst/>
          </a:prstGeom>
          <a:noFill/>
          <a:ln w="9525">
            <a:solidFill>
              <a:srgbClr val="D1D9E0"/>
            </a:solidFill>
            <a:prstDash val="solid"/>
          </a:ln>
        </p:spPr>
      </p:sp>
      <p:sp>
        <p:nvSpPr>
          <p:cNvPr id="20" name="Text 15"/>
          <p:cNvSpPr/>
          <p:nvPr/>
        </p:nvSpPr>
        <p:spPr>
          <a:xfrm>
            <a:off x="5165675" y="3065115"/>
            <a:ext cx="137307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Hit play</a:t>
            </a:r>
            <a:endParaRPr lang="en-US" sz="1400" dirty="0"/>
          </a:p>
        </p:txBody>
      </p:sp>
      <p:sp>
        <p:nvSpPr>
          <p:cNvPr id="21" name="Text 16"/>
          <p:cNvSpPr/>
          <p:nvPr/>
        </p:nvSpPr>
        <p:spPr>
          <a:xfrm>
            <a:off x="6816626" y="3065115"/>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Manual trigger</a:t>
            </a:r>
            <a:endParaRPr lang="en-US" sz="1400" dirty="0"/>
          </a:p>
        </p:txBody>
      </p:sp>
      <p:sp>
        <p:nvSpPr>
          <p:cNvPr id="22" name="Shape 17"/>
          <p:cNvSpPr/>
          <p:nvPr/>
        </p:nvSpPr>
        <p:spPr>
          <a:xfrm>
            <a:off x="5013275" y="3797945"/>
            <a:ext cx="3536900" cy="0"/>
          </a:xfrm>
          <a:prstGeom prst="line">
            <a:avLst/>
          </a:prstGeom>
          <a:noFill/>
          <a:ln w="9525">
            <a:solidFill>
              <a:srgbClr val="D1D9E0"/>
            </a:solidFill>
            <a:prstDash val="solid"/>
          </a:ln>
        </p:spPr>
      </p:sp>
      <p:sp>
        <p:nvSpPr>
          <p:cNvPr id="23" name="Text 18"/>
          <p:cNvSpPr/>
          <p:nvPr/>
        </p:nvSpPr>
        <p:spPr>
          <a:xfrm>
            <a:off x="5165675" y="3484662"/>
            <a:ext cx="137307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Run on the clock</a:t>
            </a:r>
            <a:endParaRPr lang="en-US" sz="1400" dirty="0"/>
          </a:p>
        </p:txBody>
      </p:sp>
      <p:sp>
        <p:nvSpPr>
          <p:cNvPr id="24" name="Text 19"/>
          <p:cNvSpPr/>
          <p:nvPr/>
        </p:nvSpPr>
        <p:spPr>
          <a:xfrm>
            <a:off x="6816626" y="3484662"/>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Schedule</a:t>
            </a:r>
            <a:endParaRPr lang="en-US" sz="1400" dirty="0"/>
          </a:p>
        </p:txBody>
      </p:sp>
      <p:sp>
        <p:nvSpPr>
          <p:cNvPr id="25" name="Text 20"/>
          <p:cNvSpPr/>
          <p:nvPr/>
        </p:nvSpPr>
        <p:spPr>
          <a:xfrm>
            <a:off x="5165675" y="3904208"/>
            <a:ext cx="137307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Check the mix</a:t>
            </a:r>
            <a:endParaRPr lang="en-US" sz="1400" dirty="0"/>
          </a:p>
        </p:txBody>
      </p:sp>
      <p:sp>
        <p:nvSpPr>
          <p:cNvPr id="26" name="Text 21"/>
          <p:cNvSpPr/>
          <p:nvPr/>
        </p:nvSpPr>
        <p:spPr>
          <a:xfrm>
            <a:off x="6816626" y="3904208"/>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Review the result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How an automation runs</a:t>
            </a:r>
            <a:endParaRPr lang="en-US" sz="2800" dirty="0"/>
          </a:p>
        </p:txBody>
      </p:sp>
      <p:sp>
        <p:nvSpPr>
          <p:cNvPr id="8" name="Text 4"/>
          <p:cNvSpPr/>
          <p:nvPr/>
        </p:nvSpPr>
        <p:spPr>
          <a:xfrm>
            <a:off x="2023110" y="1234440"/>
            <a:ext cx="5097780" cy="3429000"/>
          </a:xfrm>
          <a:prstGeom prst="roundRect">
            <a:avLst>
              <a:gd name="adj" fmla="val 317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Automation trigger to agent run"/>
          <p:cNvPicPr>
            <a:picLocks noChangeAspect="1"/>
          </p:cNvPicPr>
          <p:nvPr/>
        </p:nvPicPr>
        <p:blipFill>
          <a:blip r:embed="rId4"/>
          <a:stretch>
            <a:fillRect/>
          </a:stretch>
        </p:blipFill>
        <p:spPr>
          <a:xfrm>
            <a:off x="2068830" y="1280160"/>
            <a:ext cx="5006340" cy="33375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START SAFE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Start manual, then expand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Test the prompt before you add a schedule or trigger.</a:t>
            </a:r>
            <a:endParaRPr lang="en-US" sz="1650" dirty="0"/>
          </a:p>
        </p:txBody>
      </p:sp>
      <p:sp>
        <p:nvSpPr>
          <p:cNvPr id="9" name="Text 5"/>
          <p:cNvSpPr/>
          <p:nvPr/>
        </p:nvSpPr>
        <p:spPr>
          <a:xfrm>
            <a:off x="511076" y="1874490"/>
            <a:ext cx="3549551" cy="2397621"/>
          </a:xfrm>
          <a:prstGeom prst="roundRect">
            <a:avLst>
              <a:gd name="adj" fmla="val 317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tart manual, then expand automations"/>
          <p:cNvPicPr>
            <a:picLocks noChangeAspect="1"/>
          </p:cNvPicPr>
          <p:nvPr/>
        </p:nvPicPr>
        <p:blipFill>
          <a:blip r:embed="rId4"/>
          <a:stretch>
            <a:fillRect/>
          </a:stretch>
        </p:blipFill>
        <p:spPr>
          <a:xfrm>
            <a:off x="558701" y="1922115"/>
            <a:ext cx="3454301" cy="2302371"/>
          </a:xfrm>
          <a:prstGeom prst="rect">
            <a:avLst/>
          </a:prstGeom>
        </p:spPr>
      </p:pic>
      <p:sp>
        <p:nvSpPr>
          <p:cNvPr id="11" name="Text 6"/>
          <p:cNvSpPr/>
          <p:nvPr/>
        </p:nvSpPr>
        <p:spPr>
          <a:xfrm>
            <a:off x="4317802" y="1574750"/>
            <a:ext cx="4318099" cy="1409700"/>
          </a:xfrm>
          <a:prstGeom prst="roundRect">
            <a:avLst>
              <a:gd name="adj" fmla="val 9009"/>
            </a:avLst>
          </a:prstGeom>
          <a:solidFill>
            <a:srgbClr val="FFFFFF"/>
          </a:solidFill>
          <a:ln w="9525">
            <a:solidFill>
              <a:srgbClr val="8CE7A5"/>
            </a:solidFill>
          </a:ln>
        </p:spPr>
        <p:txBody>
          <a:bodyPr wrap="square" rtlCol="0" anchor="ctr"/>
          <a:lstStyle/>
          <a:p>
            <a:pPr indent="0" marL="0">
              <a:buNone/>
            </a:pPr>
            <a:endParaRPr lang="en-US" dirty="0"/>
          </a:p>
        </p:txBody>
      </p:sp>
      <p:sp>
        <p:nvSpPr>
          <p:cNvPr id="12" name="Text 7"/>
          <p:cNvSpPr/>
          <p:nvPr/>
        </p:nvSpPr>
        <p:spPr>
          <a:xfrm>
            <a:off x="4479727" y="1736675"/>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562326" y="1819275"/>
            <a:ext cx="215801" cy="215801"/>
          </a:xfrm>
          <a:prstGeom prst="rect">
            <a:avLst/>
          </a:prstGeom>
        </p:spPr>
      </p:pic>
      <p:sp>
        <p:nvSpPr>
          <p:cNvPr id="14" name="Text 8"/>
          <p:cNvSpPr/>
          <p:nvPr/>
        </p:nvSpPr>
        <p:spPr>
          <a:xfrm>
            <a:off x="4975027" y="1812875"/>
            <a:ext cx="2232288"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Good first automation</a:t>
            </a:r>
            <a:endParaRPr lang="en-US" sz="1650" dirty="0"/>
          </a:p>
        </p:txBody>
      </p:sp>
      <p:sp>
        <p:nvSpPr>
          <p:cNvPr id="15" name="Text 9"/>
          <p:cNvSpPr/>
          <p:nvPr/>
        </p:nvSpPr>
        <p:spPr>
          <a:xfrm>
            <a:off x="4479727" y="2193875"/>
            <a:ext cx="4074134"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 read-only report you already run by hand.</a:t>
            </a:r>
            <a:endParaRPr lang="en-US" sz="1400" dirty="0"/>
          </a:p>
        </p:txBody>
      </p:sp>
      <p:sp>
        <p:nvSpPr>
          <p:cNvPr id="16" name="Text 10"/>
          <p:cNvSpPr/>
          <p:nvPr/>
        </p:nvSpPr>
        <p:spPr>
          <a:xfrm>
            <a:off x="4317802" y="3162151"/>
            <a:ext cx="4318099" cy="1409700"/>
          </a:xfrm>
          <a:prstGeom prst="roundRect">
            <a:avLst>
              <a:gd name="adj" fmla="val 9009"/>
            </a:avLst>
          </a:prstGeom>
          <a:solidFill>
            <a:srgbClr val="FFFFFF"/>
          </a:solidFill>
          <a:ln w="9525">
            <a:solidFill>
              <a:srgbClr val="FFCECB"/>
            </a:solidFill>
          </a:ln>
        </p:spPr>
        <p:txBody>
          <a:bodyPr wrap="square" rtlCol="0" anchor="ctr"/>
          <a:lstStyle/>
          <a:p>
            <a:pPr indent="0" marL="0">
              <a:buNone/>
            </a:pPr>
            <a:endParaRPr lang="en-US" dirty="0"/>
          </a:p>
        </p:txBody>
      </p:sp>
      <p:sp>
        <p:nvSpPr>
          <p:cNvPr id="17" name="Text 11"/>
          <p:cNvSpPr/>
          <p:nvPr/>
        </p:nvSpPr>
        <p:spPr>
          <a:xfrm>
            <a:off x="4479727" y="3324076"/>
            <a:ext cx="381000" cy="381000"/>
          </a:xfrm>
          <a:prstGeom prst="roundRect">
            <a:avLst>
              <a:gd name="adj" fmla="val 23333"/>
            </a:avLst>
          </a:prstGeom>
          <a:solidFill>
            <a:srgbClr val="FFEBE9"/>
          </a:solidFill>
          <a:ln/>
        </p:spPr>
        <p:txBody>
          <a:bodyPr wrap="square" rtlCol="0" anchor="ctr"/>
          <a:lstStyle/>
          <a:p>
            <a:pPr indent="0" marL="0">
              <a:buNone/>
            </a:pPr>
            <a:endParaRPr lang="en-US" dirty="0"/>
          </a:p>
        </p:txBody>
      </p:sp>
      <p:pic>
        <p:nvPicPr>
          <p:cNvPr id="18"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62326" y="3406676"/>
            <a:ext cx="215801" cy="215801"/>
          </a:xfrm>
          <a:prstGeom prst="rect">
            <a:avLst/>
          </a:prstGeom>
        </p:spPr>
      </p:pic>
      <p:sp>
        <p:nvSpPr>
          <p:cNvPr id="19" name="Text 12"/>
          <p:cNvSpPr/>
          <p:nvPr/>
        </p:nvSpPr>
        <p:spPr>
          <a:xfrm>
            <a:off x="4975027" y="3400276"/>
            <a:ext cx="129853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Avoid at first</a:t>
            </a:r>
            <a:endParaRPr lang="en-US" sz="1650" dirty="0"/>
          </a:p>
        </p:txBody>
      </p:sp>
      <p:sp>
        <p:nvSpPr>
          <p:cNvPr id="20" name="Text 13"/>
          <p:cNvSpPr/>
          <p:nvPr/>
        </p:nvSpPr>
        <p:spPr>
          <a:xfrm>
            <a:off x="4479727" y="3781276"/>
            <a:ext cx="4074134"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Writing code, commenting, labeling, or merging.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8"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Build a review readiness report</a:t>
            </a:r>
            <a:endParaRPr lang="en-US" sz="4000" dirty="0"/>
          </a:p>
        </p:txBody>
      </p:sp>
      <p:sp>
        <p:nvSpPr>
          <p:cNvPr id="11" name="Text 7"/>
          <p:cNvSpPr/>
          <p:nvPr/>
        </p:nvSpPr>
        <p:spPr>
          <a:xfrm>
            <a:off x="711101" y="332803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07</ns1:t>
            </ns1:r>
            <ns1:endParaRPr lang="en-US" sz="1150" dirty="0"/>
          </ns1:p>
        </ns0:txBody>
      </ns0:sp>
      <ns0:pic>
        <ns0:nvPicPr>
          <ns0:cNvPr id="5" name="Image 1" descr="Open this chapter on GitHub">
            <ns1:hlinkClick ns3:id="rId3" tooltip="https://github.com/github/copilot-app-for-beginners/tree/main/07-automatio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Create a manual readiness report</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Automations &gt;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New automation</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Set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Trigger</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to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Manual</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ns1:t>
            </ns1:r>
            <ns1:endParaRPr lang="en-US" sz="1650" dirty="0"/>
          </ns1:p>
        </ns0:txBody>
      </ns0:sp>
      <ns0:sp>
        <ns0:nvSpPr>
          <ns0:cNvPr id="9" name="Text 5"/>
          <ns0:cNvSpPr/>
          <ns0:nvPr/>
        </ns0:nvSpPr>
        <ns0:spPr>
          <ns1:xfrm>
            <ns1:off x="557784" y="1636776"/>
            <ns1:ext cx="4224528" cy="1485268"/>
          </ns1:xfrm>
          <ns1:prstGeom prst="roundRect">
            <ns1:avLst>
              <ns1:gd name="adj" fmla="val 254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New automation fields: PR review readiness report, Manual trigger, and Run in the cloud switched off."/>
          <ns0:cNvPicPr>
            <ns1:picLocks noChangeAspect="1"/>
          </ns0:cNvPicPr>
          <ns0:nvPr/>
        </ns0:nvPicPr>
        <ns0:blipFill>
          <ns1:blip ns3:embed="rId7"/>
          <ns1:stretch>
            <ns1:fillRect/>
          </ns1:stretch>
        </ns0:blipFill>
        <ns0:spPr>
          <ns1:xfrm>
            <ns1:off x="603504" y="1682496"/>
            <ns1:ext cx="4133088" cy="1393828"/>
          </ns1:xfrm>
          <ns1:prstGeom prst="rect">
            <ns1:avLst/>
          </ns1:prstGeom>
        </ns0:spPr>
      </ns0:pic>
      <ns0:sp>
        <ns0:nvSpPr>
          <ns0:cNvPr id="11" name="Text 6"/>
          <ns0:cNvSpPr/>
          <ns0:nvPr/>
        </ns0:nvSpPr>
        <ns0:spPr>
          <ns1:xfrm>
            <ns1:off x="5079802" y="1811685"/>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2" name="Text 7"/>
          <ns0:cNvSpPr/>
          <ns0:nvPr/>
        </ns0:nvSpPr>
        <ns0:spPr>
          <ns1:xfrm>
            <ns1:off x="5174467" y="1856036"/>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3" name="Text 8"/>
          <ns0:cNvSpPr/>
          <ns0:nvPr/>
        </ns0:nvSpPr>
        <ns0:spPr>
          <ns1:xfrm>
            <ns1:off x="5511552" y="1811685"/>
            <ns1:ext cx="2728689"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Name it</ns1:t>
            </ns1:r>
            <ns1:endParaRPr lang="en-US" sz="1550" dirty="0"/>
          </ns1:p>
        </ns0:txBody>
      </ns0:sp>
      <ns0:sp>
        <ns0:nvSpPr>
          <ns0:cNvPr id="14" name="Text 9"/>
          <ns0:cNvSpPr/>
          <ns0:nvPr/>
        </ns0:nvSpPr>
        <ns0:spPr>
          <ns1:xfrm>
            <ns1:off x="5511552" y="2059186"/>
            <ns1:ext cx="2728689" cy="207615"/>
          </ns1:xfrm>
          <ns1:prstGeom prst="rect">
            <ns1:avLst/>
          </ns1:prstGeom>
          <ns1:noFill/>
          <ns1:ln/>
        </ns0:spPr>
        <ns0:txBody>
          <ns1:bodyPr wrap="square" lIns="0" tIns="0" rIns="0" bIns="0" rtlCol="0" anchor="t"/>
          <ns1:lstStyle/>
          <ns1:p>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PR review readiness report</ns1:t>
            </ns1:r>
            <ns1:endParaRPr lang="en-US" sz="1350" dirty="0"/>
          </ns1:p>
        </ns0:txBody>
      </ns0:sp>
      <ns0:sp>
        <ns0:nvSpPr>
          <ns0:cNvPr id="15" name="Text 10"/>
          <ns0:cNvSpPr/>
          <ns0:nvPr/>
        </ns0:nvSpPr>
        <ns0:spPr>
          <ns1:xfrm>
            <ns1:off x="5079802" y="2444502"/>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6" name="Text 11"/>
          <ns0:cNvSpPr/>
          <ns0:nvPr/>
        </ns0:nvSpPr>
        <ns0:spPr>
          <ns1:xfrm>
            <ns1:off x="5174467" y="2488853"/>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7" name="Text 12"/>
          <ns0:cNvSpPr/>
          <ns0:nvPr/>
        </ns0:nvSpPr>
        <ns0:spPr>
          <ns1:xfrm>
            <ns1:off x="5511552" y="2444502"/>
            <ns1:ext cx="3186836"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Paste the read-only prompt</ns1:t>
            </ns1:r>
            <ns1:endParaRPr lang="en-US" sz="1550" dirty="0"/>
          </ns1:p>
        </ns0:txBody>
      </ns0:sp>
      <ns0:sp>
        <ns0:nvSpPr>
          <ns0:cNvPr id="18" name="Text 13"/>
          <ns0:cNvSpPr/>
          <ns0:nvPr/>
        </ns0:nvSpPr>
        <ns0:spPr>
          <ns1:xfrm>
            <ns1:off x="5511552" y="2692003"/>
            <ns1:ext cx="3186836"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CI, comments, and the next action per PR.</ns1:t>
            </ns1:r>
            <ns1:endParaRPr lang="en-US" sz="1350" dirty="0"/>
          </ns1:p>
        </ns0:txBody>
      </ns0:sp>
      <ns0:sp>
        <ns0:nvSpPr>
          <ns0:cNvPr id="19" name="Text 14"/>
          <ns0:cNvSpPr/>
          <ns0:nvPr/>
        </ns0:nvSpPr>
        <ns0:spPr>
          <ns1:xfrm>
            <ns1:off x="5079802" y="3265884"/>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0" name="Text 15"/>
          <ns0:cNvSpPr/>
          <ns0:nvPr/>
        </ns0:nvSpPr>
        <ns0:spPr>
          <ns1:xfrm>
            <ns1:off x="5174467" y="3310235"/>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1" name="Text 16"/>
          <ns0:cNvSpPr/>
          <ns0:nvPr/>
        </ns0:nvSpPr>
        <ns0:spPr>
          <ns1:xfrm>
            <ns1:off x="5511552" y="3265884"/>
            <ns1:ext cx="2654001"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Cloud off, Current checkout</ns1:t>
            </ns1:r>
            <ns1:endParaRPr lang="en-US" sz="1550" dirty="0"/>
          </ns1:p>
        </ns0:txBody>
      </ns0:sp>
      <ns0:sp>
        <ns0:nvSpPr>
          <ns0:cNvPr id="22" name="Text 17"/>
          <ns0:cNvSpPr/>
          <ns0:nvPr/>
        </ns0:nvSpPr>
        <ns0:spPr>
          <ns1:xfrm>
            <ns1:off x="5511552" y="3513386"/>
            <ns1:ext cx="2654001"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Runs locally. It only reads data.</ns1:t>
            </ns1:r>
            <ns1:endParaRPr lang="en-US" sz="1350" dirty="0"/>
          </ns1:p>
        </ns0:txBody>
      </ns0:sp>
      <ns0:sp>
        <ns0:nvSpPr>
          <ns0:cNvPr id="23" name="Text 18"/>
          <ns0:cNvSpPr/>
          <ns0:nvPr/>
        </ns0:nvSpPr>
        <ns0:spPr>
          <ns1:xfrm>
            <ns1:off x="5079802" y="3889177"/>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4" name="Text 19"/>
          <ns0:cNvSpPr/>
          <ns0:nvPr/>
        </ns0:nvSpPr>
        <ns0:spPr>
          <ns1:xfrm>
            <ns1:off x="5174467" y="3933527"/>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5" name="Text 20"/>
          <ns0:cNvSpPr/>
          <ns0:nvPr/>
        </ns0:nvSpPr>
        <ns0:spPr>
          <ns1:xfrm>
            <ns1:off x="5511552" y="3889177"/>
            <ns1:ext cx="2400943"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Create and run</ns1:t>
            </ns1:r>
            <ns1:endParaRPr lang="en-US" sz="1550" dirty="0"/>
          </ns1:p>
        </ns0:txBody>
      </ns0:sp>
      <ns0:sp>
        <ns0:nvSpPr>
          <ns0:cNvPr id="26" name="Text 21"/>
          <ns0:cNvSpPr/>
          <ns0:nvPr/>
        </ns0:nvSpPr>
        <ns0:spPr>
          <ns1:xfrm>
            <ns1:off x="5511552" y="4136678"/>
            <ns1:ext cx="2400943"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From the arrow next to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Create</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
        <ns0:nvSpPr>
          <ns0:cNvPr id="28" name="Review create frame"/>
          <ns0:cNvSpPr/>
          <ns0:nvPr/>
        </ns0:nvSpPr>
        <ns0:spPr>
          <ns1:xfrm>
            <ns1:off x="557784" y="3438144"/>
            <ns1:ext cx="4224528" cy="1090913"/>
          </ns1:xfrm>
          <ns1:prstGeom prst="roundRect">
            <ns1:avLst>
              <ns1:gd name="adj" fmla="val 254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27" name="Review create menu" descr="Automation repository and Current checkout controls, with the Create and run menu open."/>
          <ns0:cNvPicPr>
            <ns1:picLocks noChangeAspect="1"/>
          </ns0:cNvPicPr>
          <ns0:nvPr/>
        </ns0:nvPicPr>
        <ns0:blipFill>
          <ns1:blip ns3:embed="rId8"/>
          <ns1:stretch>
            <ns1:fillRect/>
          </ns1:stretch>
        </ns0:blipFill>
        <ns0:spPr>
          <ns1:xfrm>
            <ns1:off x="603504" y="3483864"/>
            <ns1:ext cx="4133088" cy="999473"/>
          </ns1:xfrm>
          <ns1:prstGeom prst="rect">
            <ns1:avLst/>
          </ns1:prstGeom>
        </ns0:spPr>
      </ns0:pic>
    </ns0:spTree>
  </ns0:cSld>
  <ns0:clrMapOvr>
    <ns1:masterClrMapping/>
  </ns0:clrMapOvr>
</ns0: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INSPECT THE RUN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Why each PR is blocked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Your PR numbers, titles, and statuses may differ.</a:t>
            </a:r>
            <a:endParaRPr lang="en-US" sz="1650" dirty="0"/>
          </a:p>
        </p:txBody>
      </p:sp>
      <p:sp>
        <p:nvSpPr>
          <p:cNvPr id="9" name="Text 5"/>
          <p:cNvSpPr/>
          <p:nvPr/>
        </p:nvSpPr>
        <p:spPr>
          <a:xfrm>
            <a:off x="507950" y="2149673"/>
            <a:ext cx="8127950" cy="1923306"/>
          </a:xfrm>
          <a:prstGeom prst="roundRect">
            <a:avLst>
              <a:gd name="adj" fmla="val 5283"/>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2159198"/>
            <a:ext cx="8108900" cy="326975"/>
          </a:xfrm>
          <a:prstGeom prst="rect">
            <a:avLst/>
          </a:prstGeom>
          <a:solidFill>
            <a:srgbClr val="DDF4FF"/>
          </a:solidFill>
          <a:ln/>
        </p:spPr>
        <p:txBody>
          <a:bodyPr wrap="square" rtlCol="0" anchor="ctr"/>
          <a:lstStyle/>
          <a:p>
            <a:pPr indent="0" marL="0">
              <a:buNone/>
            </a:pPr>
            <a:endParaRPr lang="en-US" dirty="0"/>
          </a:p>
        </p:txBody>
      </p:sp>
      <p:sp>
        <p:nvSpPr>
          <p:cNvPr id="11" name="Shape 7"/>
          <p:cNvSpPr/>
          <p:nvPr/>
        </p:nvSpPr>
        <p:spPr>
          <a:xfrm>
            <a:off x="517475" y="2481411"/>
            <a:ext cx="8108900" cy="0"/>
          </a:xfrm>
          <a:prstGeom prst="line">
            <a:avLst/>
          </a:prstGeom>
          <a:noFill/>
          <a:ln w="9525">
            <a:solidFill>
              <a:srgbClr val="9CD7FF"/>
            </a:solidFill>
            <a:prstDash val="solid"/>
          </a:ln>
        </p:spPr>
      </p:sp>
      <p:sp>
        <p:nvSpPr>
          <p:cNvPr id="12" name="Text 8"/>
          <p:cNvSpPr/>
          <p:nvPr/>
        </p:nvSpPr>
        <p:spPr>
          <a:xfrm>
            <a:off x="669875" y="2235398"/>
            <a:ext cx="292755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PULL REQUEST</a:t>
            </a:r>
            <a:endParaRPr lang="en-US" sz="1150" dirty="0"/>
          </a:p>
        </p:txBody>
      </p:sp>
      <p:sp>
        <p:nvSpPr>
          <p:cNvPr id="13" name="Text 9"/>
          <p:cNvSpPr/>
          <p:nvPr/>
        </p:nvSpPr>
        <p:spPr>
          <a:xfrm>
            <a:off x="3844826" y="2235398"/>
            <a:ext cx="111394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CI</a:t>
            </a:r>
            <a:endParaRPr lang="en-US" sz="1150" dirty="0"/>
          </a:p>
        </p:txBody>
      </p:sp>
      <p:sp>
        <p:nvSpPr>
          <p:cNvPr id="14" name="Text 10"/>
          <p:cNvSpPr/>
          <p:nvPr/>
        </p:nvSpPr>
        <p:spPr>
          <a:xfrm>
            <a:off x="5241727" y="2235398"/>
            <a:ext cx="331617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NEXT HUMAN ACTION</a:t>
            </a:r>
            <a:endParaRPr lang="en-US" sz="1150" dirty="0"/>
          </a:p>
        </p:txBody>
      </p:sp>
      <p:sp>
        <p:nvSpPr>
          <p:cNvPr id="15" name="Shape 11"/>
          <p:cNvSpPr/>
          <p:nvPr/>
        </p:nvSpPr>
        <p:spPr>
          <a:xfrm>
            <a:off x="517475" y="3010346"/>
            <a:ext cx="8108900" cy="0"/>
          </a:xfrm>
          <a:prstGeom prst="line">
            <a:avLst/>
          </a:prstGeom>
          <a:noFill/>
          <a:ln w="9525">
            <a:solidFill>
              <a:srgbClr val="D1D9E0"/>
            </a:solidFill>
            <a:prstDash val="solid"/>
          </a:ln>
        </p:spPr>
      </p:sp>
      <p:sp>
        <p:nvSpPr>
          <p:cNvPr id="16" name="Text 12"/>
          <p:cNvSpPr/>
          <p:nvPr/>
        </p:nvSpPr>
        <p:spPr>
          <a:xfrm>
            <a:off x="669875" y="2638574"/>
            <a:ext cx="2927553"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#6 Improve empty-state copy</a:t>
            </a:r>
            <a:endParaRPr lang="en-US" sz="1450" dirty="0"/>
          </a:p>
        </p:txBody>
      </p:sp>
      <p:sp>
        <p:nvSpPr>
          <p:cNvPr id="17" name="Text 13"/>
          <p:cNvSpPr/>
          <p:nvPr/>
        </p:nvSpPr>
        <p:spPr>
          <a:xfrm>
            <a:off x="3844826" y="2638574"/>
            <a:ext cx="1113943" cy="214610"/>
          </a:xfrm>
          <a:prstGeom prst="rect">
            <a:avLst/>
          </a:prstGeom>
          <a:noFill/>
          <a:ln/>
        </p:spPr>
        <p:txBody>
          <a:bodyPr wrap="square" lIns="0" tIns="0" rIns="0" bIns="0" rtlCol="0" anchor="t"/>
          <a:lstStyle/>
          <a:p>
            <a:pPr algn="l" indent="0" marL="0">
              <a:lnSpc>
                <a:spcPts val="1690"/>
              </a:lnSpc>
              <a:buNone/>
            </a:pPr>
            <a:r>
              <a:rPr lang="en-US" sz="1450" b="1" dirty="0">
                <a:solidFill>
                  <a:srgbClr val="1A7F37"/>
                </a:solidFill>
                <a:latin typeface="Arial" pitchFamily="34" charset="0"/>
                <a:ea typeface="Arial" pitchFamily="34" charset="-122"/>
                <a:cs typeface="Arial" pitchFamily="34" charset="-120"/>
              </a:rPr>
              <a:t>Pass</a:t>
            </a:r>
            <a:endParaRPr lang="en-US" sz="1450" dirty="0"/>
          </a:p>
        </p:txBody>
      </p:sp>
      <p:sp>
        <p:nvSpPr>
          <p:cNvPr id="18" name="Text 14"/>
          <p:cNvSpPr/>
          <p:nvPr/>
        </p:nvSpPr>
        <p:spPr>
          <a:xfrm>
            <a:off x="5241727" y="2638574"/>
            <a:ext cx="3316173" cy="214610"/>
          </a:xfrm>
          <a:prstGeom prst="rect">
            <a:avLst/>
          </a:prstGeom>
          <a:noFill/>
          <a:ln/>
        </p:spPr>
        <p:txBody>
          <a:bodyPr wrap="square" lIns="0" tIns="0" rIns="0" bIns="0" rtlCol="0" anchor="t"/>
          <a:lstStyle/>
          <a:p>
            <a:pPr algn="l" indent="0" marL="0">
              <a:lnSpc>
                <a:spcPts val="1690"/>
              </a:lnSpc>
              <a:buNone/>
            </a:pPr>
            <a:r>
              <a:rPr lang="en-US" sz="1450" dirty="0">
                <a:solidFill>
                  <a:srgbClr val="1F2328"/>
                </a:solidFill>
                <a:latin typeface="Arial" pitchFamily="34" charset="0"/>
                <a:ea typeface="Arial" pitchFamily="34" charset="-122"/>
                <a:cs typeface="Arial" pitchFamily="34" charset="-120"/>
              </a:rPr>
              <a:t>Address the review comment</a:t>
            </a:r>
            <a:endParaRPr lang="en-US" sz="1450" dirty="0"/>
          </a:p>
        </p:txBody>
      </p:sp>
      <p:sp>
        <p:nvSpPr>
          <p:cNvPr id="19" name="Shape 15"/>
          <p:cNvSpPr/>
          <p:nvPr/>
        </p:nvSpPr>
        <p:spPr>
          <a:xfrm>
            <a:off x="517475" y="3539282"/>
            <a:ext cx="8108900" cy="0"/>
          </a:xfrm>
          <a:prstGeom prst="line">
            <a:avLst/>
          </a:prstGeom>
          <a:noFill/>
          <a:ln w="9525">
            <a:solidFill>
              <a:srgbClr val="D1D9E0"/>
            </a:solidFill>
            <a:prstDash val="solid"/>
          </a:ln>
        </p:spPr>
      </p:sp>
      <p:sp>
        <p:nvSpPr>
          <p:cNvPr id="20" name="Text 16"/>
          <p:cNvSpPr/>
          <p:nvPr/>
        </p:nvSpPr>
        <p:spPr>
          <a:xfrm>
            <a:off x="669875" y="3167509"/>
            <a:ext cx="2927553"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#7 Failing stats check practice</a:t>
            </a:r>
            <a:endParaRPr lang="en-US" sz="1450" dirty="0"/>
          </a:p>
        </p:txBody>
      </p:sp>
      <p:sp>
        <p:nvSpPr>
          <p:cNvPr id="21" name="Text 17"/>
          <p:cNvSpPr/>
          <p:nvPr/>
        </p:nvSpPr>
        <p:spPr>
          <a:xfrm>
            <a:off x="3844826" y="3167509"/>
            <a:ext cx="1113943" cy="214610"/>
          </a:xfrm>
          <a:prstGeom prst="rect">
            <a:avLst/>
          </a:prstGeom>
          <a:noFill/>
          <a:ln/>
        </p:spPr>
        <p:txBody>
          <a:bodyPr wrap="square" lIns="0" tIns="0" rIns="0" bIns="0" rtlCol="0" anchor="t"/>
          <a:lstStyle/>
          <a:p>
            <a:pPr algn="l" indent="0" marL="0">
              <a:lnSpc>
                <a:spcPts val="1690"/>
              </a:lnSpc>
              <a:buNone/>
            </a:pPr>
            <a:r>
              <a:rPr lang="en-US" sz="1450" b="1" dirty="0">
                <a:solidFill>
                  <a:srgbClr val="CF222E"/>
                </a:solidFill>
                <a:latin typeface="Arial" pitchFamily="34" charset="0"/>
                <a:ea typeface="Arial" pitchFamily="34" charset="-122"/>
                <a:cs typeface="Arial" pitchFamily="34" charset="-120"/>
              </a:rPr>
              <a:t>Fail</a:t>
            </a:r>
            <a:endParaRPr lang="en-US" sz="1450" dirty="0"/>
          </a:p>
        </p:txBody>
      </p:sp>
      <p:sp>
        <p:nvSpPr>
          <p:cNvPr id="22" name="Text 18"/>
          <p:cNvSpPr/>
          <p:nvPr/>
        </p:nvSpPr>
        <p:spPr>
          <a:xfrm>
            <a:off x="5241727" y="3167509"/>
            <a:ext cx="3316173" cy="214610"/>
          </a:xfrm>
          <a:prstGeom prst="rect">
            <a:avLst/>
          </a:prstGeom>
          <a:noFill/>
          <a:ln/>
        </p:spPr>
        <p:txBody>
          <a:bodyPr wrap="square" lIns="0" tIns="0" rIns="0" bIns="0" rtlCol="0" anchor="t"/>
          <a:lstStyle/>
          <a:p>
            <a:pPr algn="l" indent="0" marL="0">
              <a:lnSpc>
                <a:spcPts val="1690"/>
              </a:lnSpc>
              <a:buNone/>
            </a:pPr>
            <a:r>
              <a:rPr lang="en-US" sz="1450" dirty="0">
                <a:solidFill>
                  <a:srgbClr val="1F2328"/>
                </a:solidFill>
                <a:latin typeface="Arial" pitchFamily="34" charset="0"/>
                <a:ea typeface="Arial" pitchFamily="34" charset="-122"/>
                <a:cs typeface="Arial" pitchFamily="34" charset="-120"/>
              </a:rPr>
              <a:t>Fix the favorite count</a:t>
            </a:r>
            <a:endParaRPr lang="en-US" sz="1450" dirty="0"/>
          </a:p>
        </p:txBody>
      </p:sp>
      <p:sp>
        <p:nvSpPr>
          <p:cNvPr id="23" name="Text 19"/>
          <p:cNvSpPr/>
          <p:nvPr/>
        </p:nvSpPr>
        <p:spPr>
          <a:xfrm>
            <a:off x="669875" y="3696444"/>
            <a:ext cx="2927553"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#8 Reading dashboard</a:t>
            </a:r>
            <a:endParaRPr lang="en-US" sz="1450" dirty="0"/>
          </a:p>
        </p:txBody>
      </p:sp>
      <p:sp>
        <p:nvSpPr>
          <p:cNvPr id="24" name="Text 20"/>
          <p:cNvSpPr/>
          <p:nvPr/>
        </p:nvSpPr>
        <p:spPr>
          <a:xfrm>
            <a:off x="3844826" y="3696444"/>
            <a:ext cx="1113943" cy="214610"/>
          </a:xfrm>
          <a:prstGeom prst="rect">
            <a:avLst/>
          </a:prstGeom>
          <a:noFill/>
          <a:ln/>
        </p:spPr>
        <p:txBody>
          <a:bodyPr wrap="square" lIns="0" tIns="0" rIns="0" bIns="0" rtlCol="0" anchor="t"/>
          <a:lstStyle/>
          <a:p>
            <a:pPr algn="l" indent="0" marL="0">
              <a:lnSpc>
                <a:spcPts val="1690"/>
              </a:lnSpc>
              <a:buNone/>
            </a:pPr>
            <a:r>
              <a:rPr lang="en-US" sz="1450" b="1" dirty="0">
                <a:solidFill>
                  <a:srgbClr val="1A7F37"/>
                </a:solidFill>
                <a:latin typeface="Arial" pitchFamily="34" charset="0"/>
                <a:ea typeface="Arial" pitchFamily="34" charset="-122"/>
                <a:cs typeface="Arial" pitchFamily="34" charset="-120"/>
              </a:rPr>
              <a:t>Pass</a:t>
            </a:r>
            <a:endParaRPr lang="en-US" sz="1450" dirty="0"/>
          </a:p>
        </p:txBody>
      </p:sp>
      <p:sp>
        <p:nvSpPr>
          <p:cNvPr id="25" name="Text 21"/>
          <p:cNvSpPr/>
          <p:nvPr/>
        </p:nvSpPr>
        <p:spPr>
          <a:xfrm>
            <a:off x="5241727" y="3696444"/>
            <a:ext cx="3316173" cy="214610"/>
          </a:xfrm>
          <a:prstGeom prst="rect">
            <a:avLst/>
          </a:prstGeom>
          <a:noFill/>
          <a:ln/>
        </p:spPr>
        <p:txBody>
          <a:bodyPr wrap="square" lIns="0" tIns="0" rIns="0" bIns="0" rtlCol="0" anchor="t"/>
          <a:lstStyle/>
          <a:p>
            <a:pPr algn="l" indent="0" marL="0">
              <a:lnSpc>
                <a:spcPts val="1690"/>
              </a:lnSpc>
              <a:buNone/>
            </a:pPr>
            <a:r>
              <a:rPr lang="en-US" sz="1450" dirty="0">
                <a:solidFill>
                  <a:srgbClr val="1F2328"/>
                </a:solidFill>
                <a:latin typeface="Arial" pitchFamily="34" charset="0"/>
                <a:ea typeface="Arial" pitchFamily="34" charset="-122"/>
                <a:cs typeface="Arial" pitchFamily="34" charset="-120"/>
              </a:rPr>
              <a:t>Ready to merge</a:t>
            </a:r>
            <a:endParaRPr lang="en-US" sz="1450" dirty="0"/>
          </a:p>
        </p:txBody>
      </p:sp>
    </p:spTree>
  </p:cSld>
  <p:clrMapOvr>
    <a:masterClrMapping/>
  </p:clrMapOvr>
</p:sld>
</file>

<file path=ppt/slides/slide10.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0">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07</ns1:t>
            </ns1:r>
            <ns1:endParaRPr lang="en-US" sz="1150" dirty="0"/>
          </ns1:p>
        </ns0:txBody>
      </ns0:sp>
      <ns0:pic>
        <ns0:nvPicPr>
          <ns0:cNvPr id="5" name="Image 1" descr="Open this chapter on GitHub">
            <ns1:hlinkClick ns3:id="rId3" tooltip="https://github.com/github/copilot-app-for-beginners/tree/main/07-automatio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Schedule it for every morning</ns1:t>
            </ns1:r>
            <ns1:endParaRPr lang="en-US" sz="2800" dirty="0"/>
          </ns1:p>
        </ns0:txBody>
      </ns0:sp>
      <ns0:sp>
        <ns0:nvSpPr>
          <ns0:cNvPr id="8" name="Text 4"/>
          <ns0:cNvSpPr/>
          <ns0:nvPr/>
        </ns0:nvSpPr>
        <ns0:spPr>
          <ns1:xfrm>
            <ns1:off x="557784" y="1892808"/>
            <ns1:ext cx="3794760" cy="1806085"/>
          </ns1:xfrm>
          <ns1:prstGeom prst="roundRect">
            <ns1:avLst>
              <ns1:gd name="adj" fmla="val 343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Saved automation details showing Daily at 8:00 AM and the next run time."/>
          <ns0:cNvPicPr>
            <ns1:picLocks noChangeAspect="1"/>
          </ns0:cNvPicPr>
          <ns0:nvPr/>
        </ns0:nvPicPr>
        <ns0:blipFill>
          <ns1:blip ns3:embed="rId7"/>
          <ns1:stretch>
            <ns1:fillRect/>
          </ns1:stretch>
        </ns0:blipFill>
        <ns0:spPr>
          <ns1:xfrm>
            <ns1:off x="603504" y="1938528"/>
            <ns1:ext cx="3703320" cy="1714645"/>
          </ns1:xfrm>
          <ns1:prstGeom prst="rect">
            <ns1:avLst/>
          </ns1:prstGeom>
        </ns0:spPr>
      </ns0:pic>
      <ns0:sp>
        <ns0:nvSpPr>
          <ns0:cNvPr id="10" name="Text 5"/>
          <ns0:cNvSpPr/>
          <ns0:nvPr/>
        </ns0:nvSpPr>
        <ns0:spPr>
          <ns1:xfrm>
            <ns1:off x="4572000" y="1481328"/>
            <ns1:ext cx="4059936" cy="859536"/>
          </ns1:xfrm>
          <ns1:prstGeom prst="roundRect">
            <ns1:avLst>
              <ns1:gd name="adj" fmla="val 14086"/>
            </ns1:avLst>
          </ns1:prstGeom>
          <ns1:solidFill>
            <ns1:srgbClr val="DDF4FF"/>
          </ns1:solidFill>
          <ns1:ln w="9525">
            <ns1:solidFill>
              <ns1:srgbClr val="9CD7FF"/>
            </ns1:solidFill>
          </ns1:ln>
        </ns0:spPr>
        <ns0:txBody>
          <ns1:bodyPr wrap="square" rtlCol="0" anchor="ctr"/>
          <ns1:lstStyle/>
          <ns1:p>
            <ns1:pPr indent="0" marL="0">
              <ns1:buNone/>
            </ns1:pPr>
            <ns1:endParaRPr lang="en-US" dirty="0"/>
          </ns1:p>
        </ns0:txBody>
      </ns0:sp>
      <ns0:sp>
        <ns0:nvSpPr>
          <ns0:cNvPr id="11" name="Text 6"/>
          <ns0:cNvSpPr/>
          <ns0:nvPr/>
        </ns0:nvSpPr>
        <ns0:spPr>
          <ns1:xfrm>
            <ns1:off x="4736592" y="1636776"/>
            <ns1:ext cx="3712464" cy="548640"/>
          </ns1:xfrm>
          <ns1:prstGeom prst="rect">
            <ns1:avLst/>
          </ns1:prstGeom>
          <ns1:noFill/>
          <ns1:ln/>
        </ns0:spPr>
        <ns0:txBody>
          <ns1:bodyPr wrap="square" lIns="0" tIns="0" rIns="0" bIns="0" rtlCol="0" anchor="t"/>
          <ns1:lstStyle/>
          <ns1:p>
            <ns1:pPr algn="l" indent="0" marL="0">
              <ns1:buNone/>
            </ns1:pPr>
            <ns1:r>
              <ns1:rPr lang="en-US" sz="1650" b="1" dirty="0">
                <ns1:solidFill>
                  <ns1:srgbClr val="1F2328"/>
                </ns1:solidFill>
                <ns1:latin typeface="Arial" pitchFamily="34" charset="0"/>
                <ns1:ea typeface="Arial" pitchFamily="34" charset="-122"/>
                <ns1:cs typeface="Arial" pitchFamily="34" charset="-120"/>
              </ns1:rPr>
              <ns1:t>Select only 08:00. Clear other selected hours.</ns1:t>
            </ns1:r>
            <ns1:endParaRPr lang="en-US" sz="1450" dirty="0"/>
          </ns1:p>
        </ns0:txBody>
      </ns0:sp>
      <ns0:sp>
        <ns0:nvSpPr>
          <ns0:cNvPr id="14" name="Text 9"/>
          <ns0:cNvSpPr/>
          <ns0:nvPr/>
        </ns0:nvSpPr>
        <ns0:spPr>
          <ns1:xfrm>
            <ns1:off x="4571851" y="2626965"/>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5" name="Text 10"/>
          <ns0:cNvSpPr/>
          <ns0:nvPr/>
        </ns0:nvSpPr>
        <ns0:spPr>
          <ns1:xfrm>
            <ns1:off x="4666516" y="2671316"/>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6" name="Text 11"/>
          <ns0:cNvSpPr/>
          <ns0:nvPr/>
        </ns0:nvSpPr>
        <ns0:spPr>
          <ns1:xfrm>
            <ns1:off x="5003602" y="2626965"/>
            <ns1:ext cx="2051337"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Edit the trigger</ns1:t>
            </ns1:r>
            <ns1:endParaRPr lang="en-US" sz="1550" dirty="0"/>
          </ns1:p>
        </ns0:txBody>
      </ns0:sp>
      <ns0:sp>
        <ns0:nvSpPr>
          <ns0:cNvPr id="17" name="Text 12"/>
          <ns0:cNvSpPr/>
          <ns0:nvPr/>
        </ns0:nvSpPr>
        <ns0:spPr>
          <ns1:xfrm>
            <ns1:off x="5001768" y="2871216"/>
            <ns1:ext cx="3474720" cy="274320"/>
          </ns1:xfrm>
          <ns1:prstGeom prst="rect">
            <ns1:avLst/>
          </ns1:prstGeom>
          <ns1:noFill/>
          <ns1:ln/>
        </ns0:spPr>
        <ns0:txBody>
          <ns1:bodyPr wrap="square" lIns="0" tIns="0" rIns="0" bIns="0" rtlCol="0" anchor="t"/>
          <ns1:lstStyle/>
          <ns1:p>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Manual</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to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Daily</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at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08:00</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
        <ns0:nvSpPr>
          <ns0:cNvPr id="18" name="Text 13"/>
          <ns0:cNvSpPr/>
          <ns0:nvPr/>
        </ns0:nvSpPr>
        <ns0:spPr>
          <ns1:xfrm>
            <ns1:off x="4571851" y="3275707"/>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9" name="Text 14"/>
          <ns0:cNvSpPr/>
          <ns0:nvPr/>
        </ns0:nvSpPr>
        <ns0:spPr>
          <ns1:xfrm>
            <ns1:off x="4666516" y="3320058"/>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20" name="Text 15"/>
          <ns0:cNvSpPr/>
          <ns0:nvPr/>
        </ns0:nvSpPr>
        <ns0:spPr>
          <ns1:xfrm>
            <ns1:off x="5003602" y="3275707"/>
            <ns1:ext cx="3257273"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Keep the app running</ns1:t>
            </ns1:r>
            <ns1:endParaRPr lang="en-US" sz="1550" dirty="0"/>
          </ns1:p>
        </ns0:txBody>
      </ns0:sp>
      <ns0:sp>
        <ns0:nvSpPr>
          <ns0:cNvPr id="21" name="Text 16"/>
          <ns0:cNvSpPr/>
          <ns0:nvPr/>
        </ns0:nvSpPr>
        <ns0:spPr>
          <ns1:xfrm>
            <ns1:off x="5003602" y="3523208"/>
            <ns1:ext cx="3257273"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Local runs need the app open and awake.</ns1:t>
            </ns1:r>
            <ns1:endParaRPr lang="en-US" sz="1350" dirty="0"/>
          </ns1:p>
        </ns0:txBody>
      </ns0:sp>
      <ns0:sp>
        <ns0:nvSpPr>
          <ns0:cNvPr id="22" name="Text 17"/>
          <ns0:cNvSpPr/>
          <ns0:nvPr/>
        </ns0:nvSpPr>
        <ns0:spPr>
          <ns1:xfrm>
            <ns1:off x="4571851" y="3924449"/>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3" name="Text 18"/>
          <ns0:cNvSpPr/>
          <ns0:nvPr/>
        </ns0:nvSpPr>
        <ns0:spPr>
          <ns1:xfrm>
            <ns1:off x="4666516" y="396880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4" name="Text 19"/>
          <ns0:cNvSpPr/>
          <ns0:nvPr/>
        </ns0:nvSpPr>
        <ns0:spPr>
          <ns1:xfrm>
            <ns1:off x="5003602" y="3924449"/>
            <ns1:ext cx="3207937"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Check Recent runs</ns1:t>
            </ns1:r>
            <ns1:endParaRPr lang="en-US" sz="1550" dirty="0"/>
          </ns1:p>
        </ns0:txBody>
      </ns0:sp>
      <ns0:sp>
        <ns0:nvSpPr>
          <ns0:cNvPr id="25" name="Text 20"/>
          <ns0:cNvSpPr/>
          <ns0:nvPr/>
        </ns0:nvSpPr>
        <ns0:spPr>
          <ns1:xfrm>
            <ns1:off x="5003602" y="4171950"/>
            <ns1:ext cx="3207937"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A new run appears without pressing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Run</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Tree>
  </ns0:cSld>
  <ns0:clrMapOvr>
    <ns1:masterClrMapping/>
  </ns0:clrMapOvr>
</ns0: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8"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937534"/>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224858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Events and cloud</a:t>
            </a:r>
            <a:endParaRPr lang="en-US" sz="4000" dirty="0"/>
          </a:p>
        </p:txBody>
      </p:sp>
      <p:sp>
        <p:nvSpPr>
          <p:cNvPr id="11" name="Text 7"/>
          <p:cNvSpPr/>
          <p:nvPr/>
        </p:nvSpPr>
        <p:spPr>
          <a:xfrm>
            <a:off x="711101" y="303588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Tree>
  </p:cSld>
  <p:clrMapOvr>
    <a:masterClrMapping/>
  </p:clrMapOvr>
</p:sld>
</file>

<file path=ppt/slides/slide12.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2">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07</ns1:t>
            </ns1:r>
            <ns1:endParaRPr lang="en-US" sz="1150" dirty="0"/>
          </ns1:p>
        </ns0:txBody>
      </ns0:sp>
      <ns0:pic>
        <ns0:nvPicPr>
          <ns0:cNvPr id="5" name="Image 1" descr="Open this chapter on GitHub">
            <ns1:hlinkClick ns3:id="rId3" tooltip="https://github.com/github/copilot-app-for-beginners/tree/main/07-automatio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EVENT TRIGGERS</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React to repository activity, safely</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Issue, PR, discussion, alert, workflow, or automation events can start a run.</ns1:t>
            </ns1:r>
            <ns1:endParaRPr lang="en-US" sz="1650" dirty="0"/>
          </ns1:p>
        </ns0:txBody>
      </ns0:sp>
      <ns0:sp>
        <ns0:nvSpPr>
          <ns0:cNvPr id="9" name="Text 5"/>
          <ns0:cNvSpPr/>
          <ns0:nvPr/>
        </ns0:nvSpPr>
        <ns0:spPr>
          <ns1:xfrm>
            <ns1:off x="507950" y="2004268"/>
            <ns1:ext cx="5079950" cy="2214116"/>
          </ns1:xfrm>
          <ns1:prstGeom prst="roundRect">
            <ns1:avLst>
              <ns1:gd name="adj" fmla="val 5736"/>
            </ns1:avLst>
          </ns1:prstGeom>
          <ns1:solidFill>
            <ns1:srgbClr val="FFFFFF"/>
          </ns1:solidFill>
          <ns1:ln w="9525">
            <ns1:solidFill>
              <ns1:srgbClr val="8CE7A5"/>
            </ns1:solidFill>
          </ns1:ln>
        </ns0:spPr>
        <ns0:txBody>
          <ns1:bodyPr wrap="square" rtlCol="0" anchor="ctr"/>
          <ns1:lstStyle/>
          <ns1:p>
            <ns1:pPr indent="0" marL="0">
              <ns1:buNone/>
            </ns1:pPr>
            <ns1:endParaRPr lang="en-US" dirty="0"/>
          </ns1:p>
        </ns0:txBody>
      </ns0:sp>
      <ns0:sp>
        <ns0:nvSpPr>
          <ns0:cNvPr id="10" name="Shape 6"/>
          <ns0:cNvSpPr/>
          <ns0:nvPr/>
        </ns0:nvSpPr>
        <ns0:spPr>
          <ns1:xfrm>
            <ns1:off x="517475" y="2526506"/>
            <ns1:ext cx="5060900" cy="0"/>
          </ns1:xfrm>
          <ns1:prstGeom prst="line">
            <ns1:avLst/>
          </ns1:prstGeom>
          <ns1:noFill/>
          <ns1:ln w="9525">
            <ns1:solidFill>
              <ns1:srgbClr val="D1D9E0"/>
            </ns1:solidFill>
            <ns1:prstDash val="solid"/>
          </ns1:ln>
        </ns0:spPr>
      </ns0:sp>
      <ns0:sp>
        <ns0:nvSpPr>
          <ns0:cNvPr id="11" name="Text 7"/>
          <ns0:cNvSpPr/>
          <ns0:nvPr/>
        </ns0:nvSpPr>
        <ns0:spPr>
          <ns1:xfrm>
            <ns1:off x="695176" y="2128093"/>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2" name="Text 8"/>
          <ns0:cNvSpPr/>
          <ns0:nvPr/>
        </ns0:nvSpPr>
        <ns0:spPr>
          <ns1:xfrm>
            <ns1:off x="789841" y="217244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3" name="Text 9"/>
          <ns0:cNvSpPr/>
          <ns0:nvPr/>
        </ns0:nvSpPr>
        <ns0:spPr>
          <ns1:xfrm>
            <ns1:off x="1152227" y="2160389"/>
            <ns1:ext cx="1813459"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Start read-only</ns1:t>
            </ns1:r>
            <ns1:endParaRPr lang="en-US" sz="1500" dirty="0"/>
          </ns1:p>
        </ns0:txBody>
      </ns0:sp>
      <ns0:sp>
        <ns0:nvSpPr>
          <ns0:cNvPr id="14" name="Text 10"/>
          <ns0:cNvSpPr/>
          <ns0:nvPr/>
        </ns0:nvSpPr>
        <ns0:spPr>
          <ns1:xfrm>
            <ns1:off x="3107829" y="2164259"/>
            <ns1:ext cx="233870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Summaries, not edits.</ns1:t>
            </ns1:r>
            <ns1:endParaRPr lang="en-US" sz="1400" dirty="0"/>
          </ns1:p>
        </ns0:txBody>
      </ns0:sp>
      <ns0:sp>
        <ns0:nvSpPr>
          <ns0:cNvPr id="15" name="Shape 11"/>
          <ns0:cNvSpPr/>
          <ns0:nvPr/>
        </ns0:nvSpPr>
        <ns0:spPr>
          <ns1:xfrm>
            <ns1:off x="517475" y="3178671"/>
            <ns1:ext cx="5060900" cy="0"/>
          </ns1:xfrm>
          <ns1:prstGeom prst="line">
            <ns1:avLst/>
          </ns1:prstGeom>
          <ns1:noFill/>
          <ns1:ln w="9525">
            <ns1:solidFill>
              <ns1:srgbClr val="D1D9E0"/>
            </ns1:solidFill>
            <ns1:prstDash val="solid"/>
          </ns1:ln>
        </ns0:spPr>
      </ns0:sp>
      <ns0:sp>
        <ns0:nvSpPr>
          <ns0:cNvPr id="16" name="Text 12"/>
          <ns0:cNvSpPr/>
          <ns0:nvPr/>
        </ns0:nvSpPr>
        <ns0:spPr>
          <ns1:xfrm>
            <ns1:off x="695176" y="2712839"/>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7" name="Text 13"/>
          <ns0:cNvSpPr/>
          <ns0:nvPr/>
        </ns0:nvSpPr>
        <ns0:spPr>
          <ns1:xfrm>
            <ns1:off x="789841" y="275719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8" name="Text 14"/>
          <ns0:cNvSpPr/>
          <ns0:nvPr/>
        </ns0:nvSpPr>
        <ns0:spPr>
          <ns1:xfrm>
            <ns1:off x="1152227" y="2745284"/>
            <ns1:ext cx="1813459"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One repository</ns1:t>
            </ns1:r>
            <ns1:endParaRPr lang="en-US" sz="1500" dirty="0"/>
          </ns1:p>
        </ns0:txBody>
      </ns0:sp>
      <ns0:sp>
        <ns0:nvSpPr>
          <ns0:cNvPr id="19" name="Text 15"/>
          <ns0:cNvSpPr/>
          <ns0:nvPr/>
        </ns0:nvSpPr>
        <ns0:spPr>
          <ns1:xfrm>
            <ns1:off x="3107829" y="2645569"/>
            <ns1:ext cx="2338703" cy="41404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Never every repo you can access.</ns1:t>
            </ns1:r>
            <ns1:endParaRPr lang="en-US" sz="1400" dirty="0"/>
          </ns1:p>
        </ns0:txBody>
      </ns0:sp>
      <ns0:sp>
        <ns0:nvSpPr>
          <ns0:cNvPr id="20" name="Shape 16"/>
          <ns0:cNvSpPr/>
          <ns0:nvPr/>
        </ns0:nvSpPr>
        <ns0:spPr>
          <ns1:xfrm>
            <ns1:off x="517475" y="3696146"/>
            <ns1:ext cx="5060900" cy="0"/>
          </ns1:xfrm>
          <ns1:prstGeom prst="line">
            <ns1:avLst/>
          </ns1:prstGeom>
          <ns1:noFill/>
          <ns1:ln w="9525">
            <ns1:solidFill>
              <ns1:srgbClr val="D1D9E0"/>
            </ns1:solidFill>
            <ns1:prstDash val="solid"/>
          </ns1:ln>
        </ns0:spPr>
      </ns0:sp>
      <ns0:sp>
        <ns0:nvSpPr>
          <ns0:cNvPr id="21" name="Text 17"/>
          <ns0:cNvSpPr/>
          <ns0:nvPr/>
        </ns0:nvSpPr>
        <ns0:spPr>
          <ns1:xfrm>
            <ns1:off x="695176" y="3297734"/>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22" name="Text 18"/>
          <ns0:cNvSpPr/>
          <ns0:nvPr/>
        </ns0:nvSpPr>
        <ns0:spPr>
          <ns1:xfrm>
            <ns1:off x="789841" y="334208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3" name="Text 19"/>
          <ns0:cNvSpPr/>
          <ns0:nvPr/>
        </ns0:nvSpPr>
        <ns0:spPr>
          <ns1:xfrm>
            <ns1:off x="1152227" y="3330029"/>
            <ns1:ext cx="1813459"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Filter narrowly</ns1:t>
            </ns1:r>
            <ns1:endParaRPr lang="en-US" sz="1500" dirty="0"/>
          </ns1:p>
        </ns0:txBody>
      </ns0:sp>
      <ns0:sp>
        <ns0:nvSpPr>
          <ns0:cNvPr id="24" name="Text 20"/>
          <ns0:cNvSpPr/>
          <ns0:nvPr/>
        </ns0:nvSpPr>
        <ns0:spPr>
          <ns1:xfrm>
            <ns1:off x="3107829" y="3333899"/>
            <ns1:ext cx="233870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By label or search query.</ns1:t>
            </ns1:r>
            <ns1:endParaRPr lang="en-US" sz="1400" dirty="0"/>
          </ns1:p>
        </ns0:txBody>
      </ns0:sp>
      <ns0:sp>
        <ns0:nvSpPr>
          <ns0:cNvPr id="25" name="Text 21"/>
          <ns0:cNvSpPr/>
          <ns0:nvPr/>
        </ns0:nvSpPr>
        <ns0:spPr>
          <ns1:xfrm>
            <ns1:off x="695176" y="3815209"/>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26" name="Text 22"/>
          <ns0:cNvSpPr/>
          <ns0:nvPr/>
        </ns0:nvSpPr>
        <ns0:spPr>
          <ns1:xfrm>
            <ns1:off x="789841" y="385956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7" name="Text 23"/>
          <ns0:cNvSpPr/>
          <ns0:nvPr/>
        </ns0:nvSpPr>
        <ns0:spPr>
          <ns1:xfrm>
            <ns1:off x="1152227" y="3847505"/>
            <ns1:ext cx="1813459"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Hold write tools</ns1:t>
            </ns1:r>
            <ns1:endParaRPr lang="en-US" sz="1500" dirty="0"/>
          </ns1:p>
        </ns0:txBody>
      </ns0:sp>
      <ns0:sp>
        <ns0:nvSpPr>
          <ns0:cNvPr id="28" name="Text 24"/>
          <ns0:cNvSpPr/>
          <ns0:nvPr/>
        </ns0:nvSpPr>
        <ns0:spPr>
          <ns1:xfrm>
            <ns1:off x="3107829" y="3851374"/>
            <ns1:ext cx="233870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Until several runs look right.</ns1:t>
            </ns1:r>
            <ns1:endParaRPr lang="en-US" sz="1400" dirty="0"/>
          </ns1:p>
        </ns0:txBody>
      </ns0:sp>
      <ns0:sp>
        <ns0:nvSpPr>
          <ns0:cNvPr id="29" name="Text 25"/>
          <ns0:cNvSpPr/>
          <ns0:nvPr/>
        </ns0:nvSpPr>
        <ns0:spPr>
          <ns1:xfrm>
            <ns1:off x="5791051" y="2639467"/>
            <ns1:ext cx="2844701" cy="943570"/>
          </ns1:xfrm>
          <ns1:prstGeom prst="roundRect">
            <ns1:avLst>
              <ns1:gd name="adj" fmla="val 10768"/>
            </ns1:avLst>
          </ns1:prstGeom>
          <ns1:solidFill>
            <ns1:srgbClr val="FFEBE9"/>
          </ns1:solidFill>
          <ns1:ln w="9525">
            <ns1:solidFill>
              <ns1:srgbClr val="FFCECB"/>
            </ns1:solidFill>
          </ns1:ln>
        </ns0:spPr>
        <ns0:txBody>
          <ns1:bodyPr wrap="square" rtlCol="0" anchor="ctr"/>
          <ns1:lstStyle/>
          <ns1:p>
            <ns1:pPr indent="0" marL="0">
              <ns1:buNone/>
            </ns1:pPr>
            <ns1:endParaRPr lang="en-US" dirty="0"/>
          </ns1:p>
        </ns0:txBody>
      </ns0:sp>
      <ns0:pic>
        <ns0:nvPicPr>
          <ns0:cNvPr id="30"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5978277" y="3009602"/>
            <ns1:ext cx="203150" cy="203150"/>
          </ns1:xfrm>
          <ns1:prstGeom prst="rect">
            <ns1:avLst/>
          </ns1:prstGeom>
        </ns0:spPr>
      </ns0:pic>
      <ns0:sp>
        <ns0:nvSpPr>
          <ns0:cNvPr id="31" name="Text 26"/>
          <ns0:cNvSpPr/>
          <ns0:nvPr/>
        </ns0:nvSpPr>
        <ns0:spPr>
          <ns1:xfrm>
            <ns1:off x="6308378" y="2775942"/>
            <ns1:ext cx="2182951" cy="670620"/>
          </ns1:xfrm>
          <ns1:prstGeom prst="rect">
            <ns1:avLst/>
          </ns1:prstGeom>
          <ns1:noFill/>
          <ns1:ln/>
        </ns0:spPr>
        <ns0:txBody>
          <ns1:bodyPr wrap="square" lIns="0" tIns="0" rIns="0" bIns="0" rtlCol="0" anchor="t"/>
          <ns1:lstStyle/>
          <ns1:p>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Hostile issue text plus write tools raises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prompt-injection</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risk.</ns1:t>
            </ns1:r>
            <ns1:endParaRPr lang="en-US" sz="1450" dirty="0"/>
          </ns1:p>
        </ns0:txBody>
      </ns0:sp>
    </ns0:spTree>
  </ns0:cSld>
  <ns0:clrMapOvr>
    <ns1:masterClrMapping/>
  </ns0:clrMapOvr>
</ns0:sld>
</file>

<file path=ppt/slides/slide13.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3">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07</ns1:t>
            </ns1:r>
            <ns1:endParaRPr lang="en-US" sz="1150" dirty="0"/>
          </ns1:p>
        </ns0:txBody>
      </ns0:sp>
      <ns0:pic>
        <ns0:nvPicPr>
          <ns0:cNvPr id="5" name="Image 1" descr="Open this chapter on GitHub">
            <ns1:hlinkClick ns3:id="rId3" tooltip="https://github.com/github/copilot-app-for-beginners/tree/main/07-automatio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LOCAL OR CLOUD</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Move to the cloud only when it is proven</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Cloud runs on GitHub even when your laptop is closed.</ns1:t>
            </ns1:r>
            <ns1:endParaRPr lang="en-US" sz="1650" dirty="0"/>
          </ns1:p>
        </ns0:txBody>
      </ns0:sp>
      <ns0:sp>
        <ns0:nvSpPr>
          <ns0:cNvPr id="9" name="Text 5"/>
          <ns0:cNvSpPr/>
          <ns0:nvPr/>
        </ns0:nvSpPr>
        <ns0:spPr>
          <ns1:xfrm>
            <ns1:off x="512064" y="1600200"/>
            <ns1:ext cx="3593592" cy="2432304"/>
          </ns1:xfrm>
          <ns1:prstGeom prst="roundRect">
            <ns1:avLst>
              <ns1:gd name="adj" fmla="val 442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Local versus cloud automations"/>
          <ns0:cNvPicPr>
            <ns1:picLocks noChangeAspect="1"/>
          </ns0:cNvPicPr>
          <ns0:nvPr/>
        </ns0:nvPicPr>
        <ns0:blipFill>
          <ns1:blip ns3:embed="rId4"/>
          <ns1:stretch>
            <ns1:fillRect/>
          </ns1:stretch>
        </ns0:blipFill>
        <ns0:spPr>
          <ns1:xfrm>
            <ns1:off x="557784" y="1645920"/>
            <ns1:ext cx="3502152" cy="2331720"/>
          </ns1:xfrm>
          <ns1:prstGeom prst="rect">
            <ns1:avLst/>
          </ns1:prstGeom>
        </ns0:spPr>
      </ns0:pic>
      <ns0:sp>
        <ns0:nvSpPr>
          <ns0:cNvPr id="11" name="Text 6"/>
          <ns0:cNvSpPr/>
          <ns0:nvPr/>
        </ns0:nvSpPr>
        <ns0:spPr>
          <ns1:xfrm>
            <ns1:off x="4329994" y="1602182"/>
            <ns1:ext cx="4343400" cy="1572768"/>
          </ns1:xfrm>
          <ns1:prstGeom prst="roundRect">
            <ns1:avLst>
              <ns1:gd name="adj" fmla="val 5928"/>
            </ns1:avLst>
          </ns1:prstGeom>
          <ns1:solidFill>
            <ns1:srgbClr val="FFFFFF"/>
          </ns1:solidFill>
          <ns1:ln w="9525">
            <ns1:solidFill>
              <ns1:srgbClr val="FFC49B"/>
            </ns1:solidFill>
          </ns1:ln>
        </ns0:spPr>
        <ns0:txBody>
          <ns1:bodyPr wrap="square" rtlCol="0" anchor="ctr"/>
          <ns1:lstStyle/>
          <ns1:p>
            <ns1:pPr indent="0" marL="0">
              <ns1:buNone/>
            </ns1:pPr>
            <ns1:endParaRPr lang="en-US" dirty="0"/>
          </ns1:p>
        </ns0:txBody>
      </ns0:sp>
      <ns0:sp>
        <ns0:nvSpPr>
          <ns0:cNvPr id="12" name="Text 7"/>
          <ns0:cNvSpPr/>
          <ns0:nvPr/>
        </ns0:nvSpPr>
        <ns0:spPr>
          <ns1:xfrm>
            <ns1:off x="4491919" y="1764107"/>
            <ns1:ext cx="381000" cy="381000"/>
          </ns1:xfrm>
          <ns1:prstGeom prst="roundRect">
            <ns1:avLst>
              <ns1:gd name="adj" fmla="val 23333"/>
            </ns1:avLst>
          </ns1:prstGeom>
          <ns1:solidFill>
            <ns1:srgbClr val="FFF1E5"/>
          </ns1:solidFill>
          <ns1:ln/>
        </ns0:spPr>
        <ns0:txBody>
          <ns1:bodyPr wrap="square" rtlCol="0" anchor="ctr"/>
          <ns1:lstStyle/>
          <ns1:p>
            <ns1:pPr indent="0" marL="0">
              <ns1:buNone/>
            </ns1:pPr>
            <ns1:endParaRPr lang="en-US" dirty="0"/>
          </ns1:p>
        </ns0:txBody>
      </ns0:sp>
      <ns0:pic>
        <ns0:nvPicPr>
          <ns0:cNvPr id="13"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574518" y="1846707"/>
            <ns1:ext cx="215801" cy="215801"/>
          </ns1:xfrm>
          <ns1:prstGeom prst="rect">
            <ns1:avLst/>
          </ns1:prstGeom>
        </ns0:spPr>
      </ns0:pic>
      <ns0:sp>
        <ns0:nvSpPr>
          <ns0:cNvPr id="14" name="Text 8"/>
          <ns0:cNvSpPr/>
          <ns0:nvPr/>
        </ns0:nvSpPr>
        <ns0:spPr>
          <ns1:xfrm>
            <ns1:off x="4987219" y="1840307"/>
            <ns1:ext cx="1282598"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Cloud needs</ns1:t>
            </ns1:r>
            <ns1:endParaRPr lang="en-US" sz="1650" dirty="0"/>
          </ns1:p>
        </ns0:txBody>
      </ns0:sp>
      <ns0:sp>
        <ns0:nvSpPr>
          <ns0:cNvPr id="15" name="Text 9"/>
          <ns0:cNvSpPr/>
          <ns0:nvPr/>
        </ns0:nvSpPr>
        <ns0:spPr>
          <ns1:xfrm>
            <ns1:off x="4491919" y="2301228"/>
            <ns1:ext cx="57150" cy="57150"/>
          </ns1:xfrm>
          <ns1:prstGeom prst="roundRect">
            <ns1:avLst>
              <ns1:gd name="adj" fmla="val 1600000"/>
            </ns1:avLst>
          </ns1:prstGeom>
          <ns1:solidFill>
            <ns1:srgbClr val="818B98"/>
          </ns1:solidFill>
          <ns1:ln/>
        </ns0:spPr>
        <ns0:txBody>
          <ns1:bodyPr wrap="square" rtlCol="0" anchor="ctr"/>
          <ns1:lstStyle/>
          <ns1:p>
            <ns1:pPr indent="0" marL="0">
              <ns1:buNone/>
            </ns1:pPr>
            <ns1:endParaRPr lang="en-US" dirty="0"/>
          </ns1:p>
        </ns0:txBody>
      </ns0:sp>
      <ns0:sp>
        <ns0:nvSpPr>
          <ns0:cNvPr id="16" name="Text 10"/>
          <ns0:cNvSpPr/>
          <ns0:nvPr/>
        </ns0:nvSpPr>
        <ns0:spPr>
          <ns1:xfrm>
            <ns1:off x="4650569" y="2221307"/>
            <ns1:ext cx="167334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Cloud agent enabled</ns1:t>
            </ns1:r>
            <ns1:endParaRPr lang="en-US" sz="1400" dirty="0"/>
          </ns1:p>
        </ns0:txBody>
      </ns0:sp>
      <ns0:sp>
        <ns0:nvSpPr>
          <ns0:cNvPr id="17" name="Text 11"/>
          <ns0:cNvSpPr/>
          <ns0:nvPr/>
        </ns0:nvSpPr>
        <ns0:spPr>
          <ns1:xfrm>
            <ns1:off x="4491919" y="2571649"/>
            <ns1:ext cx="57150" cy="57150"/>
          </ns1:xfrm>
          <ns1:prstGeom prst="roundRect">
            <ns1:avLst>
              <ns1:gd name="adj" fmla="val 1600000"/>
            </ns1:avLst>
          </ns1:prstGeom>
          <ns1:solidFill>
            <ns1:srgbClr val="818B98"/>
          </ns1:solidFill>
          <ns1:ln/>
        </ns0:spPr>
        <ns0:txBody>
          <ns1:bodyPr wrap="square" rtlCol="0" anchor="ctr"/>
          <ns1:lstStyle/>
          <ns1:p>
            <ns1:pPr indent="0" marL="0">
              <ns1:buNone/>
            </ns1:pPr>
            <ns1:endParaRPr lang="en-US" dirty="0"/>
          </ns1:p>
        </ns0:txBody>
      </ns0:sp>
      <ns0:sp>
        <ns0:nvSpPr>
          <ns0:cNvPr id="18" name="Text 12"/>
          <ns0:cNvSpPr/>
          <ns0:nvPr/>
        </ns0:nvSpPr>
        <ns0:spPr>
          <ns1:xfrm>
            <ns1:off x="4650569" y="2491728"/>
            <ns1:ext cx="197528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A private or internal repo</ns1:t>
            </ns1:r>
            <ns1:endParaRPr lang="en-US" sz="1400" dirty="0"/>
          </ns1:p>
        </ns0:txBody>
      </ns0:sp>
      <ns0:sp>
        <ns0:nvSpPr>
          <ns0:cNvPr id="19" name="Text 13"/>
          <ns0:cNvSpPr/>
          <ns0:nvPr/>
        </ns0:nvSpPr>
        <ns0:spPr>
          <ns1:xfrm>
            <ns1:off x="4491919" y="2842070"/>
            <ns1:ext cx="57150" cy="57150"/>
          </ns1:xfrm>
          <ns1:prstGeom prst="roundRect">
            <ns1:avLst>
              <ns1:gd name="adj" fmla="val 1600000"/>
            </ns1:avLst>
          </ns1:prstGeom>
          <ns1:solidFill>
            <ns1:srgbClr val="818B98"/>
          </ns1:solidFill>
          <ns1:ln/>
        </ns0:spPr>
        <ns0:txBody>
          <ns1:bodyPr wrap="square" rtlCol="0" anchor="ctr"/>
          <ns1:lstStyle/>
          <ns1:p>
            <ns1:pPr indent="0" marL="0">
              <ns1:buNone/>
            </ns1:pPr>
            <ns1:endParaRPr lang="en-US" dirty="0"/>
          </ns1:p>
        </ns0:txBody>
      </ns0:sp>
      <ns0:sp>
        <ns0:nvSpPr>
          <ns0:cNvPr id="20" name="Text 14"/>
          <ns0:cNvSpPr/>
          <ns0:nvPr/>
        </ns0:nvSpPr>
        <ns0:spPr>
          <ns1:xfrm>
            <ns1:off x="4650569" y="2762149"/>
            <ns1:ext cx="3657600" cy="210312"/>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Actions minutes and AI credits</ns1:t>
            </ns1:r>
            <ns1:endParaRPr lang="en-US" sz="1400" dirty="0"/>
          </ns1:p>
        </ns0:txBody>
      </ns0:sp>
      <ns0:sp>
        <ns0:nvSpPr>
          <ns0:cNvPr id="21" name="Text 15"/>
          <ns0:cNvSpPr/>
          <ns0:nvPr/>
        </ns0:nvSpPr>
        <ns0:spPr>
          <ns1:xfrm>
            <ns1:off x="4329994" y="3330184"/>
            <ns1:ext cx="4343400" cy="702171"/>
          </ns1:xfrm>
          <ns1:prstGeom prst="roundRect">
            <ns1:avLst>
              <ns1:gd name="adj" fmla="val 14469"/>
            </ns1:avLst>
          </ns1:prstGeom>
          <ns1:solidFill>
            <ns1:srgbClr val="DAFBE1"/>
          </ns1:solidFill>
          <ns1:ln w="9525">
            <ns1:solidFill>
              <ns1:srgbClr val="8CE7A5"/>
            </ns1:solidFill>
          </ns1:ln>
        </ns0:spPr>
        <ns0:txBody>
          <ns1:bodyPr wrap="square" rtlCol="0" anchor="ctr"/>
          <ns1:lstStyle/>
          <ns1:p>
            <ns1:pPr indent="0" marL="0">
              <ns1:buNone/>
            </ns1:pPr>
            <ns1:endParaRPr lang="en-US" dirty="0"/>
          </ns1:p>
        </ns0:txBody>
      </ns0:sp>
      <ns0:pic>
        <ns0:nvPicPr>
          <ns0:cNvPr id="22"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4517219" y="3579620"/>
            <ns1:ext cx="203150" cy="203150"/>
          </ns1:xfrm>
          <ns1:prstGeom prst="rect">
            <ns1:avLst/>
          </ns1:prstGeom>
        </ns0:spPr>
      </ns0:pic>
      <ns0:sp>
        <ns0:nvSpPr>
          <ns0:cNvPr id="23" name="Text 16"/>
          <ns0:cNvSpPr/>
          <ns0:nvPr/>
        </ns0:nvSpPr>
        <ns0:spPr>
          <ns1:xfrm>
            <ns1:off x="4847320" y="3466659"/>
            <ns1:ext cx="3657600" cy="429220"/>
          </ns1:xfrm>
          <ns1:prstGeom prst="rect">
            <ns1:avLst/>
          </ns1:prstGeom>
          <ns1:noFill/>
          <ns1:ln/>
        </ns0:spPr>
        <ns0:txBody>
          <ns1:bodyPr wrap="square" lIns="0" tIns="0" rIns="0" bIns="0" rtlCol="0" anchor="ctr"/>
          <ns1:lstStyle/>
          <ns1:p>
            <ns1:pPr algn="l" indent="0" marL="0">
              <ns1:lnSpc>
                <ns1:spcPts val="1690"/>
              </ns1:lnSpc>
              <ns1:buNone/>
            </ns1:pPr>
            <ns1:r>
              <ns1:rPr lang="en-US" sz="1400" dirty="0">
                <ns1:solidFill>
                  <ns1:srgbClr val="1F2328"/>
                </ns1:solidFill>
                <ns1:latin typeface="Arial" pitchFamily="34" charset="0"/>
                <ns1:ea typeface="Arial" pitchFamily="34" charset="-122"/>
                <ns1:cs typeface="Arial" pitchFamily="34" charset="-120"/>
              </ns1:rPr>
              <ns1:t>Select only the tools the task needs.</ns1:t>
            </ns1:r>
            <ns1:endParaRPr lang="en-US" sz="1400" dirty="0"/>
          </ns1:p>
        </ns0:txBody>
      </ns0:sp>
    </ns0:spTree>
  </ns0:cSld>
  <ns0:clrMapOvr>
    <ns1:masterClrMapping/>
  </ns0:clrMapOvr>
</ns0: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Automate one task from your own work</a:t>
            </a:r>
            <a:endParaRPr lang="en-US" sz="2800" dirty="0"/>
          </a:p>
        </p:txBody>
      </p:sp>
      <p:sp>
        <p:nvSpPr>
          <p:cNvPr id="8" name="Text 4"/>
          <p:cNvSpPr/>
          <p:nvPr/>
        </p:nvSpPr>
        <p:spPr>
          <a:xfrm>
            <a:off x="507950" y="1839218"/>
            <a:ext cx="5079950" cy="2214116"/>
          </a:xfrm>
          <a:prstGeom prst="roundRect">
            <a:avLst>
              <a:gd name="adj" fmla="val 5736"/>
            </a:avLst>
          </a:prstGeom>
          <a:solidFill>
            <a:srgbClr val="FFFFFF"/>
          </a:solidFill>
          <a:ln w="9525">
            <a:solidFill>
              <a:srgbClr val="FFC49B"/>
            </a:solidFill>
          </a:ln>
        </p:spPr>
        <p:txBody>
          <a:bodyPr wrap="square" rtlCol="0" anchor="ctr"/>
          <a:lstStyle/>
          <a:p>
            <a:pPr indent="0" marL="0">
              <a:buNone/>
            </a:pPr>
            <a:endParaRPr lang="en-US" dirty="0"/>
          </a:p>
        </p:txBody>
      </p:sp>
      <p:sp>
        <p:nvSpPr>
          <p:cNvPr id="9" name="Shape 5"/>
          <p:cNvSpPr/>
          <p:nvPr/>
        </p:nvSpPr>
        <p:spPr>
          <a:xfrm>
            <a:off x="517475" y="2361456"/>
            <a:ext cx="5060900" cy="0"/>
          </a:xfrm>
          <a:prstGeom prst="line">
            <a:avLst/>
          </a:prstGeom>
          <a:noFill/>
          <a:ln w="9525">
            <a:solidFill>
              <a:srgbClr val="D1D9E0"/>
            </a:solidFill>
            <a:prstDash val="solid"/>
          </a:ln>
        </p:spPr>
      </p:sp>
      <p:sp>
        <p:nvSpPr>
          <p:cNvPr id="10" name="Text 6"/>
          <p:cNvSpPr/>
          <p:nvPr/>
        </p:nvSpPr>
        <p:spPr>
          <a:xfrm>
            <a:off x="695176" y="196304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1" name="Text 7"/>
          <p:cNvSpPr/>
          <p:nvPr/>
        </p:nvSpPr>
        <p:spPr>
          <a:xfrm>
            <a:off x="789841" y="200739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2" name="Text 8"/>
          <p:cNvSpPr/>
          <p:nvPr/>
        </p:nvSpPr>
        <p:spPr>
          <a:xfrm>
            <a:off x="1152227" y="1995339"/>
            <a:ext cx="181345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Name it clearly</a:t>
            </a:r>
            <a:endParaRPr lang="en-US" sz="1500" dirty="0"/>
          </a:p>
        </p:txBody>
      </p:sp>
      <p:sp>
        <p:nvSpPr>
          <p:cNvPr id="13" name="Text 9"/>
          <p:cNvSpPr/>
          <p:nvPr/>
        </p:nvSpPr>
        <p:spPr>
          <a:xfrm>
            <a:off x="3107829" y="1999208"/>
            <a:ext cx="233870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Anyone knows what it does.</a:t>
            </a:r>
            <a:endParaRPr lang="en-US" sz="1400" dirty="0"/>
          </a:p>
        </p:txBody>
      </p:sp>
      <p:sp>
        <p:nvSpPr>
          <p:cNvPr id="14" name="Shape 10"/>
          <p:cNvSpPr/>
          <p:nvPr/>
        </p:nvSpPr>
        <p:spPr>
          <a:xfrm>
            <a:off x="517475" y="3013621"/>
            <a:ext cx="5060900" cy="0"/>
          </a:xfrm>
          <a:prstGeom prst="line">
            <a:avLst/>
          </a:prstGeom>
          <a:noFill/>
          <a:ln w="9525">
            <a:solidFill>
              <a:srgbClr val="D1D9E0"/>
            </a:solidFill>
            <a:prstDash val="solid"/>
          </a:ln>
        </p:spPr>
      </p:sp>
      <p:sp>
        <p:nvSpPr>
          <p:cNvPr id="15" name="Text 11"/>
          <p:cNvSpPr/>
          <p:nvPr/>
        </p:nvSpPr>
        <p:spPr>
          <a:xfrm>
            <a:off x="695176" y="2547789"/>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6" name="Text 12"/>
          <p:cNvSpPr/>
          <p:nvPr/>
        </p:nvSpPr>
        <p:spPr>
          <a:xfrm>
            <a:off x="789841" y="259213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7" name="Text 13"/>
          <p:cNvSpPr/>
          <p:nvPr/>
        </p:nvSpPr>
        <p:spPr>
          <a:xfrm>
            <a:off x="1152227" y="2580233"/>
            <a:ext cx="181345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Keep it manual</a:t>
            </a:r>
            <a:endParaRPr lang="en-US" sz="1500" dirty="0"/>
          </a:p>
        </p:txBody>
      </p:sp>
      <p:sp>
        <p:nvSpPr>
          <p:cNvPr id="18" name="Text 14"/>
          <p:cNvSpPr/>
          <p:nvPr/>
        </p:nvSpPr>
        <p:spPr>
          <a:xfrm>
            <a:off x="3107829" y="2480518"/>
            <a:ext cx="233870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One bounded task. Say what not to do.</a:t>
            </a:r>
            <a:endParaRPr lang="en-US" sz="1400" dirty="0"/>
          </a:p>
        </p:txBody>
      </p:sp>
      <p:sp>
        <p:nvSpPr>
          <p:cNvPr id="19" name="Shape 15"/>
          <p:cNvSpPr/>
          <p:nvPr/>
        </p:nvSpPr>
        <p:spPr>
          <a:xfrm>
            <a:off x="517475" y="3531096"/>
            <a:ext cx="5060900" cy="0"/>
          </a:xfrm>
          <a:prstGeom prst="line">
            <a:avLst/>
          </a:prstGeom>
          <a:noFill/>
          <a:ln w="9525">
            <a:solidFill>
              <a:srgbClr val="D1D9E0"/>
            </a:solidFill>
            <a:prstDash val="solid"/>
          </a:ln>
        </p:spPr>
      </p:sp>
      <p:sp>
        <p:nvSpPr>
          <p:cNvPr id="20" name="Text 16"/>
          <p:cNvSpPr/>
          <p:nvPr/>
        </p:nvSpPr>
        <p:spPr>
          <a:xfrm>
            <a:off x="695176" y="313268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1" name="Text 17"/>
          <p:cNvSpPr/>
          <p:nvPr/>
        </p:nvSpPr>
        <p:spPr>
          <a:xfrm>
            <a:off x="789841" y="317703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2" name="Text 18"/>
          <p:cNvSpPr/>
          <p:nvPr/>
        </p:nvSpPr>
        <p:spPr>
          <a:xfrm>
            <a:off x="1152227" y="3164979"/>
            <a:ext cx="181345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Run it once</a:t>
            </a:r>
            <a:endParaRPr lang="en-US" sz="1500" dirty="0"/>
          </a:p>
        </p:txBody>
      </p:sp>
      <p:sp>
        <p:nvSpPr>
          <p:cNvPr id="23" name="Text 19"/>
          <p:cNvSpPr/>
          <p:nvPr/>
        </p:nvSpPr>
        <p:spPr>
          <a:xfrm>
            <a:off x="3107829" y="3168848"/>
            <a:ext cx="233870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Then open the run history.</a:t>
            </a:r>
            <a:endParaRPr lang="en-US" sz="1400" dirty="0"/>
          </a:p>
        </p:txBody>
      </p:sp>
      <p:sp>
        <p:nvSpPr>
          <p:cNvPr id="24" name="Text 20"/>
          <p:cNvSpPr/>
          <p:nvPr/>
        </p:nvSpPr>
        <p:spPr>
          <a:xfrm>
            <a:off x="695176" y="3650159"/>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5" name="Text 21"/>
          <p:cNvSpPr/>
          <p:nvPr/>
        </p:nvSpPr>
        <p:spPr>
          <a:xfrm>
            <a:off x="789841" y="369450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6" name="Text 22"/>
          <p:cNvSpPr/>
          <p:nvPr/>
        </p:nvSpPr>
        <p:spPr>
          <a:xfrm>
            <a:off x="1152227" y="3682454"/>
            <a:ext cx="181345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Revise the prompt</a:t>
            </a:r>
            <a:endParaRPr lang="en-US" sz="1500" dirty="0"/>
          </a:p>
        </p:txBody>
      </p:sp>
      <p:sp>
        <p:nvSpPr>
          <p:cNvPr id="27" name="Text 23"/>
          <p:cNvSpPr/>
          <p:nvPr/>
        </p:nvSpPr>
        <p:spPr>
          <a:xfrm>
            <a:off x="3107829" y="3686324"/>
            <a:ext cx="233870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Tighten scope and noise.</a:t>
            </a:r>
            <a:endParaRPr lang="en-US" sz="1400" dirty="0"/>
          </a:p>
        </p:txBody>
      </p:sp>
      <p:sp>
        <p:nvSpPr>
          <p:cNvPr id="28" name="Text 24"/>
          <p:cNvSpPr/>
          <p:nvPr/>
        </p:nvSpPr>
        <p:spPr>
          <a:xfrm>
            <a:off x="5791051" y="1839218"/>
            <a:ext cx="2844850" cy="2214116"/>
          </a:xfrm>
          <a:prstGeom prst="roundRect">
            <a:avLst>
              <a:gd name="adj" fmla="val 5736"/>
            </a:avLst>
          </a:prstGeom>
          <a:solidFill>
            <a:srgbClr val="FFFFFF"/>
          </a:solidFill>
          <a:ln w="9525">
            <a:solidFill>
              <a:srgbClr val="FFC49B"/>
            </a:solidFill>
          </a:ln>
        </p:spPr>
        <p:txBody>
          <a:bodyPr wrap="square" rtlCol="0" anchor="ctr"/>
          <a:lstStyle/>
          <a:p>
            <a:pPr indent="0" marL="0">
              <a:buNone/>
            </a:pPr>
            <a:endParaRPr lang="en-US" dirty="0"/>
          </a:p>
        </p:txBody>
      </p:sp>
      <p:sp>
        <p:nvSpPr>
          <p:cNvPr id="29" name="Text 25"/>
          <p:cNvSpPr/>
          <p:nvPr/>
        </p:nvSpPr>
        <p:spPr>
          <a:xfrm>
            <a:off x="5978277" y="2026444"/>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3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60877" y="2109043"/>
            <a:ext cx="215801" cy="215801"/>
          </a:xfrm>
          <a:prstGeom prst="rect">
            <a:avLst/>
          </a:prstGeom>
        </p:spPr>
      </p:pic>
      <p:sp>
        <p:nvSpPr>
          <p:cNvPr id="31" name="Text 26"/>
          <p:cNvSpPr/>
          <p:nvPr/>
        </p:nvSpPr>
        <p:spPr>
          <a:xfrm>
            <a:off x="6473577" y="2102644"/>
            <a:ext cx="86756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Success</a:t>
            </a:r>
            <a:endParaRPr lang="en-US" sz="1650" dirty="0"/>
          </a:p>
        </p:txBody>
      </p:sp>
      <p:sp>
        <p:nvSpPr>
          <p:cNvPr id="32" name="Text 27"/>
          <p:cNvSpPr/>
          <p:nvPr/>
        </p:nvSpPr>
        <p:spPr>
          <a:xfrm>
            <a:off x="5978277" y="2483644"/>
            <a:ext cx="2519806"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You can explain why it is safe to run again.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COURSE COMPLETE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Human judgment stays in the loop</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decide at every control point.</a:t>
            </a:r>
            <a:endParaRPr lang="en-US" sz="1650" dirty="0"/>
          </a:p>
        </p:txBody>
      </p:sp>
      <p:sp>
        <p:nvSpPr>
          <p:cNvPr id="9" name="Text 5"/>
          <p:cNvSpPr/>
          <p:nvPr/>
        </p:nvSpPr>
        <p:spPr>
          <a:xfrm>
            <a:off x="507950" y="2061210"/>
            <a:ext cx="2590800" cy="1060252"/>
          </a:xfrm>
          <a:prstGeom prst="roundRect">
            <a:avLst>
              <a:gd name="adj" fmla="val 11978"/>
            </a:avLst>
          </a:prstGeom>
          <a:solidFill>
            <a:srgbClr val="FFFFFF"/>
          </a:solidFill>
          <a:ln w="9525">
            <a:solidFill>
              <a:srgbClr val="8CE7A5"/>
            </a:solidFill>
          </a:ln>
        </p:spPr>
        <p:txBody>
          <a:bodyPr wrap="square" rtlCol="0" anchor="ctr"/>
          <a:lstStyle/>
          <a:p>
            <a:pPr indent="0" marL="0">
              <a:buNone/>
            </a:pPr>
            <a:endParaRPr lang="en-US" dirty="0"/>
          </a:p>
        </p:txBody>
      </p:sp>
      <p:sp>
        <p:nvSpPr>
          <p:cNvPr id="10" name="Text 6"/>
          <p:cNvSpPr/>
          <p:nvPr/>
        </p:nvSpPr>
        <p:spPr>
          <a:xfrm>
            <a:off x="695176" y="2395728"/>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478024"/>
            <a:ext cx="215801" cy="215801"/>
          </a:xfrm>
          <a:prstGeom prst="rect">
            <a:avLst/>
          </a:prstGeom>
        </p:spPr>
      </p:pic>
      <p:sp>
        <p:nvSpPr>
          <p:cNvPr id="12" name="Text 7"/>
          <p:cNvSpPr/>
          <p:nvPr/>
        </p:nvSpPr>
        <p:spPr>
          <a:xfrm>
            <a:off x="1190476" y="2167128"/>
            <a:ext cx="1755469" cy="841248"/>
          </a:xfrm>
          <a:prstGeom prst="rect">
            <a:avLst/>
          </a:prstGeom>
          <a:noFill/>
          <a:ln/>
        </p:spPr>
        <p:txBody>
          <a:bodyPr wrap="square" lIns="0" tIns="0" rIns="0" bIns="0" rtlCol="0" anchor="ctr"/>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Before implementation</a:t>
            </a:r>
            <a:endParaRPr lang="en-US" sz="1650" dirty="0"/>
          </a:p>
        </p:txBody>
      </p:sp>
      <p:sp>
        <p:nvSpPr>
          <p:cNvPr id="13" name="Text 8"/>
          <p:cNvSpPr/>
          <p:nvPr/>
        </p:nvSpPr>
        <p:spPr>
          <a:xfrm>
            <a:off x="3276451" y="2061210"/>
            <a:ext cx="2590949" cy="1060252"/>
          </a:xfrm>
          <a:prstGeom prst="roundRect">
            <a:avLst>
              <a:gd name="adj" fmla="val 11978"/>
            </a:avLst>
          </a:prstGeom>
          <a:solidFill>
            <a:srgbClr val="FFFFFF"/>
          </a:solidFill>
          <a:ln w="9525">
            <a:solidFill>
              <a:srgbClr val="8CE7A5"/>
            </a:solidFill>
          </a:ln>
        </p:spPr>
        <p:txBody>
          <a:bodyPr wrap="square" rtlCol="0" anchor="ctr"/>
          <a:lstStyle/>
          <a:p>
            <a:pPr indent="0" marL="0">
              <a:buNone/>
            </a:pPr>
            <a:endParaRPr lang="en-US" dirty="0"/>
          </a:p>
        </p:txBody>
      </p:sp>
      <p:sp>
        <p:nvSpPr>
          <p:cNvPr id="14" name="Text 9"/>
          <p:cNvSpPr/>
          <p:nvPr/>
        </p:nvSpPr>
        <p:spPr>
          <a:xfrm>
            <a:off x="3463677" y="2395728"/>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5"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546277" y="2478024"/>
            <a:ext cx="215801" cy="215801"/>
          </a:xfrm>
          <a:prstGeom prst="rect">
            <a:avLst/>
          </a:prstGeom>
        </p:spPr>
      </p:pic>
      <p:sp>
        <p:nvSpPr>
          <p:cNvPr id="16" name="Text 10"/>
          <p:cNvSpPr/>
          <p:nvPr/>
        </p:nvSpPr>
        <p:spPr>
          <a:xfrm>
            <a:off x="3958977" y="2167128"/>
            <a:ext cx="1755621" cy="841248"/>
          </a:xfrm>
          <a:prstGeom prst="rect">
            <a:avLst/>
          </a:prstGeom>
          <a:noFill/>
          <a:ln/>
        </p:spPr>
        <p:txBody>
          <a:bodyPr wrap="square" lIns="0" tIns="0" rIns="0" bIns="0" rtlCol="0" anchor="ctr"/>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Before a pull request opens</a:t>
            </a:r>
            <a:endParaRPr lang="en-US" sz="1650" dirty="0"/>
          </a:p>
        </p:txBody>
      </p:sp>
      <p:sp>
        <p:nvSpPr>
          <p:cNvPr id="17" name="Text 11"/>
          <p:cNvSpPr/>
          <p:nvPr/>
        </p:nvSpPr>
        <p:spPr>
          <a:xfrm>
            <a:off x="6045101" y="2061210"/>
            <a:ext cx="2590800" cy="1060252"/>
          </a:xfrm>
          <a:prstGeom prst="roundRect">
            <a:avLst>
              <a:gd name="adj" fmla="val 11978"/>
            </a:avLst>
          </a:prstGeom>
          <a:solidFill>
            <a:srgbClr val="FFFFFF"/>
          </a:solidFill>
          <a:ln w="9525">
            <a:solidFill>
              <a:srgbClr val="8CE7A5"/>
            </a:solidFill>
          </a:ln>
        </p:spPr>
        <p:txBody>
          <a:bodyPr wrap="square" rtlCol="0" anchor="ctr"/>
          <a:lstStyle/>
          <a:p>
            <a:pPr indent="0" marL="0">
              <a:buNone/>
            </a:pPr>
            <a:endParaRPr lang="en-US" dirty="0"/>
          </a:p>
        </p:txBody>
      </p:sp>
      <p:sp>
        <p:nvSpPr>
          <p:cNvPr id="18" name="Text 12"/>
          <p:cNvSpPr/>
          <p:nvPr/>
        </p:nvSpPr>
        <p:spPr>
          <a:xfrm>
            <a:off x="6232327" y="2395728"/>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9"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314926" y="2478024"/>
            <a:ext cx="215801" cy="215801"/>
          </a:xfrm>
          <a:prstGeom prst="rect">
            <a:avLst/>
          </a:prstGeom>
        </p:spPr>
      </p:pic>
      <p:sp>
        <p:nvSpPr>
          <p:cNvPr id="20" name="Text 13"/>
          <p:cNvSpPr/>
          <p:nvPr/>
        </p:nvSpPr>
        <p:spPr>
          <a:xfrm>
            <a:off x="6727627" y="2167128"/>
            <a:ext cx="1755469" cy="841248"/>
          </a:xfrm>
          <a:prstGeom prst="rect">
            <a:avLst/>
          </a:prstGeom>
          <a:noFill/>
          <a:ln/>
        </p:spPr>
        <p:txBody>
          <a:bodyPr wrap="square" lIns="0" tIns="0" rIns="0" bIns="0" rtlCol="0" anchor="ctr"/>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Before merge automation</a:t>
            </a:r>
            <a:endParaRPr lang="en-US" sz="1650" dirty="0"/>
          </a:p>
        </p:txBody>
      </p:sp>
      <p:sp>
        <p:nvSpPr>
          <p:cNvPr id="21" name="Text 14"/>
          <p:cNvSpPr/>
          <p:nvPr/>
        </p:nvSpPr>
        <p:spPr>
          <a:xfrm>
            <a:off x="507950" y="3473964"/>
            <a:ext cx="8290509" cy="515541"/>
          </a:xfrm>
          <a:prstGeom prst="rect">
            <a:avLst/>
          </a:prstGeom>
          <a:noFill/>
          <a:ln/>
        </p:spPr>
        <p:txBody>
          <a:bodyPr wrap="square" lIns="0" tIns="0" rIns="0" bIns="0" rtlCol="0" anchor="t"/>
          <a:lstStyle/>
          <a:p>
            <a:pPr algn="l" indent="0" marL="0">
              <a:lnSpc>
                <a:spcPts val="2030"/>
              </a:lnSpc>
              <a:buNone/>
            </a:pPr>
            <a:r>
              <a:rPr lang="en-US" sz="1650" dirty="0">
                <a:solidFill>
                  <a:srgbClr val="1F2328"/>
                </a:solidFill>
                <a:latin typeface="Arial" pitchFamily="34" charset="0"/>
                <a:ea typeface="Arial" pitchFamily="34" charset="-122"/>
                <a:cs typeface="Arial" pitchFamily="34" charset="-120"/>
              </a:rPr>
              <a:t>Practice on small, real issues first. Add advanced workflows as the work stays validated and reviewable.</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07</a:t>
            </a:r>
            <a:endParaRPr lang="en-US" sz="1150" dirty="0"/>
          </a:p>
        </p:txBody>
      </p:sp>
      <p:pic>
        <p:nvPicPr>
          <p:cNvPr id="5" name="Image 1" descr="Open this chapter on GitHub">
            <a:hlinkClick r:id="rId3" tooltip="https://github.com/github/copilot-app-for-beginners/tree/main/07-automatio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An automation is a saved prompt, trigger, tool set, and review path.</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Start manual. Test the prompt before you add a schedule.</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Event triggers and cloud come later. Keep them read-only and narrow.</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 read-only report adds analysis the Pull requests view does not.</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7-automations" history="1" highlightClick="0" endSnd="0">
                  <a:extLst>
                    <a:ext uri="{A12FA001-AC4F-418D-AE19-62706E023703}">
                      <ahyp:hlinkClr xmlns:ahyp="http://schemas.microsoft.com/office/drawing/2018/hyperlinkcolor" val="tx"/>
                    </a:ext>
                  </a:extLst>
                </a:hlinkClick>
              </a:rPr>
              <a:t>Open Chapter 07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COURSE HOME</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 history="1" highlightClick="0" endSnd="0">
                  <a:extLst>
                    <a:ext uri="{A12FA001-AC4F-418D-AE19-62706E023703}">
                      <ahyp:hlinkClr xmlns:ahyp="http://schemas.microsoft.com/office/drawing/2018/hyperlinkcolor" val="tx"/>
                    </a:ext>
                  </a:extLst>
                </a:hlinkClick>
              </a:rPr>
              <a:t>GitHub Copilot app for Beginners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07: Automations</dc:title>
  <dc:subject>PptxGenJS Presentation</dc:subject>
  <dc:creator>GitHub Copilot app for Beginners</dc:creator>
  <cp:lastModifiedBy>GitHub Copilot app for Beginners</cp:lastModifiedBy>
  <cp:revision>1</cp:revision>
  <dcterms:created xsi:type="dcterms:W3CDTF">2026-10-06T21:19:19Z</dcterms:created>
  <dcterms:modified xsi:type="dcterms:W3CDTF">2026-10-06T21:19:19Z</dcterms:modified>
</cp:coreProperties>
</file>