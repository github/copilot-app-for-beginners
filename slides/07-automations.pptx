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select Pull requests and your fork. On Authored by me, you should see at least three practice PRs. If you finished Chapter 03, some may already be fixed, and your search-fix PR appears too; that is expected. Then open Automations, select New automation, name it PR review readiness report, change Trigger from Daily to Manual, make sure Run in the cloud is off so it runs locally, and paste the full prompt from the chapter. Use Select project to pick your copilot-app-for-beginners project, and set Workspace to Current checkout, because the report only reads data. Use the arrow next to Create and choose Create and run. It appears under Your automations with a Manual label, and the run appears under Recent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manual automation answers what is the status right now. A scheduled one answers what changed since yesterday, without you remembering to ask. This automation is local, so a scheduled run happens only when your computer is awake and the app is running. Open the automation, select Edit, change the trigger to Daily, set Hours to 08:00, and keep Minute at 00. Confirm the project picker still shows your fork, then select Save automation. The card shows the Daily trigger, and Automation details shows the schedule and Next run time. If the result is noisy, tighten the prompt, for example to PRs with failing checks. The app also supports Hourly, Weekly, and CRON, with a readable preview of a CRON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menu includes Issue, Pull request, Discussion opened, Discussion updated, Discussion comment, Sub issue added, Workflow (a GitHub Actions workflow you name completes, for example by failing), and Automation completed (an upstream automation you name finishes), alongside the schedule choices. Because these react to external input, keep them read-only, scoped to one repository, and filtered by label or query. Avoid write tools until the summary is reliable, and review the run history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so far is local: it runs from your machine while the app is open. A cloud automation runs on GitHub-hosted infrastructure. Cloud fits when a run must happen overnight, a team shares the run history, or the trigger is an event that can happen at any time. It needs Copilot cloud agent enabled and an organization that allows automations. The repository must be private or internal; a fork of this public course is public, so read this section without creating one. Each cloud run uses Actions minutes and AI credits, billed to the creator. When you turn on Run in the cloud, a Tools list appears with all tools selected. Clear every tool you do not need. For the PR report, keep Read PR, List PRs, and Search PRs, and maybe a read-only Actions tool for CI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 The link returns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7" Type="http://schemas.openxmlformats.org/officeDocument/2006/relationships/hyperlink" Target="https://github.com/github/copilot-app-for-beginner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Automations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1"/>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19"/>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7"/>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equencer analogy for automations">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32286"/>
            <a:ext cx="3536900" cy="0"/>
          </a:xfrm>
          <a:prstGeom prst="line">
            <a:avLst/>
          </a:prstGeom>
          <a:noFill/>
          <a:ln w="9525">
            <a:solidFill>
              <a:srgbClr val="9CD7FF"/>
            </a:solidFill>
            <a:prstDash val="solid"/>
          </a:ln>
        </p:spPr>
      </p:sp>
      <p:sp>
        <p:nvSpPr>
          <p:cNvPr id="14" name="Text 9"/>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0"/>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1"/>
          <p:cNvSpPr/>
          <p:nvPr/>
        </p:nvSpPr>
        <p:spPr>
          <a:xfrm>
            <a:off x="5013275" y="2958852"/>
            <a:ext cx="3536900" cy="0"/>
          </a:xfrm>
          <a:prstGeom prst="line">
            <a:avLst/>
          </a:prstGeom>
          <a:noFill/>
          <a:ln w="9525">
            <a:solidFill>
              <a:srgbClr val="D1D9E0"/>
            </a:solidFill>
            <a:prstDash val="solid"/>
          </a:ln>
        </p:spPr>
      </p:sp>
      <p:sp>
        <p:nvSpPr>
          <p:cNvPr id="17" name="Text 12"/>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3"/>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4"/>
          <p:cNvSpPr/>
          <p:nvPr/>
        </p:nvSpPr>
        <p:spPr>
          <a:xfrm>
            <a:off x="5013275" y="3378398"/>
            <a:ext cx="3536900" cy="0"/>
          </a:xfrm>
          <a:prstGeom prst="line">
            <a:avLst/>
          </a:prstGeom>
          <a:noFill/>
          <a:ln w="9525">
            <a:solidFill>
              <a:srgbClr val="D1D9E0"/>
            </a:solidFill>
            <a:prstDash val="solid"/>
          </a:ln>
        </p:spPr>
      </p:sp>
      <p:sp>
        <p:nvSpPr>
          <p:cNvPr id="20" name="Text 15"/>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6"/>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7"/>
          <p:cNvSpPr/>
          <p:nvPr/>
        </p:nvSpPr>
        <p:spPr>
          <a:xfrm>
            <a:off x="5013275" y="3797945"/>
            <a:ext cx="3536900" cy="0"/>
          </a:xfrm>
          <a:prstGeom prst="line">
            <a:avLst/>
          </a:prstGeom>
          <a:noFill/>
          <a:ln w="9525">
            <a:solidFill>
              <a:srgbClr val="D1D9E0"/>
            </a:solidFill>
            <a:prstDash val="solid"/>
          </a:ln>
        </p:spPr>
      </p:sp>
      <p:sp>
        <p:nvSpPr>
          <p:cNvPr id="23" name="Text 18"/>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19"/>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0"/>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1"/>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4"/>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Automation trigger to agent run">    </p:cNvPr>
          <p:cNvPicPr>
            <a:picLocks noChangeAspect="1"/>
          </p:cNvPicPr>
          <p:nvPr/>
        </p:nvPicPr>
        <p:blipFill>
          <a:blip r:embed="rId4"/>
          <a:stretch>
            <a:fillRect/>
          </a:stretch>
        </p:blipFill>
        <p:spPr>
          <a:xfrm>
            <a:off x="558701" y="1680716"/>
            <a:ext cx="3454301" cy="2302371"/>
          </a:xfrm>
          <a:prstGeom prst="rect">
            <a:avLst/>
          </a:prstGeom>
        </p:spPr>
      </p:pic>
      <p:sp>
        <p:nvSpPr>
          <p:cNvPr id="10" name="Text 5"/>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502051" y="1817489"/>
            <a:ext cx="215801" cy="215801"/>
          </a:xfrm>
          <a:prstGeom prst="rect">
            <a:avLst/>
          </a:prstGeom>
        </p:spPr>
      </p:pic>
      <p:sp>
        <p:nvSpPr>
          <p:cNvPr id="12" name="Text 6"/>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7"/>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8"/>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02051" y="2472630"/>
            <a:ext cx="215801" cy="215801"/>
          </a:xfrm>
          <a:prstGeom prst="rect">
            <a:avLst/>
          </a:prstGeom>
        </p:spPr>
      </p:pic>
      <p:sp>
        <p:nvSpPr>
          <p:cNvPr id="16" name="Text 9"/>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0"/>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1"/>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502051" y="3127772"/>
            <a:ext cx="215801" cy="215801"/>
          </a:xfrm>
          <a:prstGeom prst="rect">
            <a:avLst/>
          </a:prstGeom>
        </p:spPr>
      </p:pic>
      <p:sp>
        <p:nvSpPr>
          <p:cNvPr id="20" name="Text 12"/>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3"/>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4"/>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02051" y="3782913"/>
            <a:ext cx="215801" cy="215801"/>
          </a:xfrm>
          <a:prstGeom prst="rect">
            <a:avLst/>
          </a:prstGeom>
        </p:spPr>
      </p:pic>
      <p:sp>
        <p:nvSpPr>
          <p:cNvPr id="24" name="Text 15"/>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6"/>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tart manual, then expand automations">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562326" y="1819275"/>
            <a:ext cx="215801" cy="215801"/>
          </a:xfrm>
          <a:prstGeom prst="rect">
            <a:avLst/>
          </a:prstGeom>
        </p:spPr>
      </p:pic>
      <p:sp>
        <p:nvSpPr>
          <p:cNvPr id="14" name="Text 8"/>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9"/>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0"/>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1"/>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62326" y="3406676"/>
            <a:ext cx="215801" cy="215801"/>
          </a:xfrm>
          <a:prstGeom prst="rect">
            <a:avLst/>
          </a:prstGeom>
        </p:spPr>
      </p:pic>
      <p:sp>
        <p:nvSpPr>
          <p:cNvPr id="19" name="Text 12"/>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3"/>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Which PRs are ready to merge, and what is blocking the rest?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manual readiness report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Automations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New automation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Set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Trigger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Manual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51706" y="1577876"/>
            <a:ext cx="4230291"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New automation form with the Manual trigger, Run in the cloud off, the course project, Current checkout, and the Create and run option open">    </p:cNvPr>
          <p:cNvPicPr>
            <a:picLocks noChangeAspect="1"/>
          </p:cNvPicPr>
          <p:nvPr/>
        </p:nvPicPr>
        <p:blipFill>
          <a:blip r:embed="rId4"/>
          <a:stretch>
            <a:fillRect/>
          </a:stretch>
        </p:blipFill>
        <p:spPr>
          <a:xfrm>
            <a:off x="599331" y="1625501"/>
            <a:ext cx="4135041" cy="2895600"/>
          </a:xfrm>
          <a:prstGeom prst="rect">
            <a:avLst/>
          </a:prstGeom>
        </p:spPr>
      </p:pic>
      <p:sp>
        <p:nvSpPr>
          <p:cNvPr id="11" name="Text 6"/>
          <p:cNvSpPr/>
          <p:nvPr/>
        </p:nvSpPr>
        <p:spPr>
          <a:xfrm>
            <a:off x="5079802" y="181168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185603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1811685"/>
            <a:ext cx="2728689"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Name it</a:t>
            </a:r>
            <a:endParaRPr lang="en-US" sz="1550" dirty="0"/>
          </a:p>
        </p:txBody>
      </p:sp>
      <p:sp>
        <p:nvSpPr>
          <p:cNvPr id="14" name="Text 9"/>
          <p:cNvSpPr/>
          <p:nvPr/>
        </p:nvSpPr>
        <p:spPr>
          <a:xfrm>
            <a:off x="5511552" y="2059186"/>
            <a:ext cx="2728689"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PR review readiness report</a:t>
            </a:r>
            <a:endParaRPr lang="en-US" sz="1350" dirty="0"/>
          </a:p>
        </p:txBody>
      </p:sp>
      <p:sp>
        <p:nvSpPr>
          <p:cNvPr id="15" name="Text 10"/>
          <p:cNvSpPr/>
          <p:nvPr/>
        </p:nvSpPr>
        <p:spPr>
          <a:xfrm>
            <a:off x="5079802" y="24445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4888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444502"/>
            <a:ext cx="318683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Paste the read-only prompt</a:t>
            </a:r>
            <a:endParaRPr lang="en-US" sz="1550" dirty="0"/>
          </a:p>
        </p:txBody>
      </p:sp>
      <p:sp>
        <p:nvSpPr>
          <p:cNvPr id="18" name="Text 13"/>
          <p:cNvSpPr/>
          <p:nvPr/>
        </p:nvSpPr>
        <p:spPr>
          <a:xfrm>
            <a:off x="5511552" y="2692003"/>
            <a:ext cx="3186836"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CI, comments, and the next action per PR.</a:t>
            </a:r>
            <a:endParaRPr lang="en-US" sz="1350" dirty="0"/>
          </a:p>
        </p:txBody>
      </p:sp>
      <p:sp>
        <p:nvSpPr>
          <p:cNvPr id="19" name="Text 14"/>
          <p:cNvSpPr/>
          <p:nvPr/>
        </p:nvSpPr>
        <p:spPr>
          <a:xfrm>
            <a:off x="5079802" y="326588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3102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265884"/>
            <a:ext cx="265400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Cloud off, Current checkout</a:t>
            </a:r>
            <a:endParaRPr lang="en-US" sz="1550" dirty="0"/>
          </a:p>
        </p:txBody>
      </p:sp>
      <p:sp>
        <p:nvSpPr>
          <p:cNvPr id="22" name="Text 17"/>
          <p:cNvSpPr/>
          <p:nvPr/>
        </p:nvSpPr>
        <p:spPr>
          <a:xfrm>
            <a:off x="5511552" y="3513386"/>
            <a:ext cx="265400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Runs locally. It only reads data.</a:t>
            </a:r>
            <a:endParaRPr lang="en-US" sz="1350" dirty="0"/>
          </a:p>
        </p:txBody>
      </p:sp>
      <p:sp>
        <p:nvSpPr>
          <p:cNvPr id="23" name="Text 18"/>
          <p:cNvSpPr/>
          <p:nvPr/>
        </p:nvSpPr>
        <p:spPr>
          <a:xfrm>
            <a:off x="5079802" y="38891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4" name="Text 19"/>
          <p:cNvSpPr/>
          <p:nvPr/>
        </p:nvSpPr>
        <p:spPr>
          <a:xfrm>
            <a:off x="5174467" y="39335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5" name="Text 20"/>
          <p:cNvSpPr/>
          <p:nvPr/>
        </p:nvSpPr>
        <p:spPr>
          <a:xfrm>
            <a:off x="5511552" y="3889177"/>
            <a:ext cx="240094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and run</a:t>
            </a:r>
            <a:endParaRPr lang="en-US" sz="1550" dirty="0"/>
          </a:p>
        </p:txBody>
      </p:sp>
      <p:sp>
        <p:nvSpPr>
          <p:cNvPr id="26" name="Text 21"/>
          <p:cNvSpPr/>
          <p:nvPr/>
        </p:nvSpPr>
        <p:spPr>
          <a:xfrm>
            <a:off x="5511552" y="4136678"/>
            <a:ext cx="240094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From the arrow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5"/>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81411"/>
            <a:ext cx="8108900" cy="0"/>
          </a:xfrm>
          <a:prstGeom prst="line">
            <a:avLst/>
          </a:prstGeom>
          <a:noFill/>
          <a:ln w="9525">
            <a:solidFill>
              <a:srgbClr val="9CD7FF"/>
            </a:solidFill>
            <a:prstDash val="solid"/>
          </a:ln>
        </p:spPr>
      </p:sp>
      <p:sp>
        <p:nvSpPr>
          <p:cNvPr id="12" name="Text 8"/>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9"/>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0"/>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1"/>
          <p:cNvSpPr/>
          <p:nvPr/>
        </p:nvSpPr>
        <p:spPr>
          <a:xfrm>
            <a:off x="517475" y="3010346"/>
            <a:ext cx="8108900" cy="0"/>
          </a:xfrm>
          <a:prstGeom prst="line">
            <a:avLst/>
          </a:prstGeom>
          <a:noFill/>
          <a:ln w="9525">
            <a:solidFill>
              <a:srgbClr val="D1D9E0"/>
            </a:solidFill>
            <a:prstDash val="solid"/>
          </a:ln>
        </p:spPr>
      </p:sp>
      <p:sp>
        <p:nvSpPr>
          <p:cNvPr id="16" name="Text 12"/>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3"/>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4"/>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5"/>
          <p:cNvSpPr/>
          <p:nvPr/>
        </p:nvSpPr>
        <p:spPr>
          <a:xfrm>
            <a:off x="517475" y="3539282"/>
            <a:ext cx="8108900" cy="0"/>
          </a:xfrm>
          <a:prstGeom prst="line">
            <a:avLst/>
          </a:prstGeom>
          <a:noFill/>
          <a:ln w="9525">
            <a:solidFill>
              <a:srgbClr val="D1D9E0"/>
            </a:solidFill>
            <a:prstDash val="solid"/>
          </a:ln>
        </p:spPr>
      </p:sp>
      <p:sp>
        <p:nvSpPr>
          <p:cNvPr id="20" name="Text 16"/>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7"/>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8"/>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19"/>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0"/>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1"/>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Schedule it for every morning</a:t>
            </a:r>
            <a:endParaRPr lang="en-US" sz="2800" dirty="0"/>
          </a:p>
        </p:txBody>
      </p:sp>
      <p:sp>
        <p:nvSpPr>
          <p:cNvPr id="8" name="Text 4"/>
          <p:cNvSpPr/>
          <p:nvPr/>
        </p:nvSpPr>
        <p:spPr>
          <a:xfrm>
            <a:off x="1302395" y="1450777"/>
            <a:ext cx="2221111" cy="2990850"/>
          </a:xfrm>
          <a:prstGeom prst="roundRect">
            <a:avLst>
              <a:gd name="adj" fmla="val 343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Automation trigger options in the new-automation form">    </p:cNvPr>
          <p:cNvPicPr>
            <a:picLocks noChangeAspect="1"/>
          </p:cNvPicPr>
          <p:nvPr/>
        </p:nvPicPr>
        <p:blipFill>
          <a:blip r:embed="rId4"/>
          <a:stretch>
            <a:fillRect/>
          </a:stretch>
        </p:blipFill>
        <p:spPr>
          <a:xfrm>
            <a:off x="1350020" y="1498402"/>
            <a:ext cx="2125861" cy="2895600"/>
          </a:xfrm>
          <a:prstGeom prst="rect">
            <a:avLst/>
          </a:prstGeom>
        </p:spPr>
      </p:pic>
      <p:sp>
        <p:nvSpPr>
          <p:cNvPr id="10" name="Text 5"/>
          <p:cNvSpPr/>
          <p:nvPr/>
        </p:nvSpPr>
        <p:spPr>
          <a:xfrm>
            <a:off x="4571851" y="1522214"/>
            <a:ext cx="1968550" cy="901601"/>
          </a:xfrm>
          <a:prstGeom prst="roundRect">
            <a:avLst>
              <a:gd name="adj" fmla="val 14086"/>
            </a:avLst>
          </a:prstGeom>
          <a:solidFill>
            <a:srgbClr val="DDF4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733776" y="1658689"/>
            <a:ext cx="1677594" cy="41910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Manual: "What is the status now?"</a:t>
            </a:r>
            <a:endParaRPr lang="en-US" sz="1450" dirty="0"/>
          </a:p>
        </p:txBody>
      </p:sp>
      <p:sp>
        <p:nvSpPr>
          <p:cNvPr id="12" name="Text 7"/>
          <p:cNvSpPr/>
          <p:nvPr/>
        </p:nvSpPr>
        <p:spPr>
          <a:xfrm>
            <a:off x="6667351" y="1522214"/>
            <a:ext cx="1968550" cy="901601"/>
          </a:xfrm>
          <a:prstGeom prst="roundRect">
            <a:avLst>
              <a:gd name="adj" fmla="val 14086"/>
            </a:avLst>
          </a:prstGeom>
          <a:solidFill>
            <a:srgbClr val="DAFBE1"/>
          </a:solidFill>
          <a:ln w="9525">
            <a:solidFill>
              <a:srgbClr val="8CE7A5"/>
            </a:solidFill>
          </a:ln>
        </p:spPr>
        <p:txBody>
          <a:bodyPr wrap="square" rtlCol="0" anchor="ctr"/>
          <a:lstStyle/>
          <a:p>
            <a:pPr indent="0" marL="0">
              <a:buNone/>
            </a:pPr>
            <a:endParaRPr lang="en-US" dirty="0"/>
          </a:p>
        </p:txBody>
      </p:sp>
      <p:sp>
        <p:nvSpPr>
          <p:cNvPr id="13" name="Text 8"/>
          <p:cNvSpPr/>
          <p:nvPr/>
        </p:nvSpPr>
        <p:spPr>
          <a:xfrm>
            <a:off x="6829276" y="1658689"/>
            <a:ext cx="1677594" cy="62865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Daily: "What changed since yesterday?"</a:t>
            </a:r>
            <a:endParaRPr lang="en-US" sz="1450" dirty="0"/>
          </a:p>
        </p:txBody>
      </p:sp>
      <p:sp>
        <p:nvSpPr>
          <p:cNvPr id="14" name="Text 9"/>
          <p:cNvSpPr/>
          <p:nvPr/>
        </p:nvSpPr>
        <p:spPr>
          <a:xfrm>
            <a:off x="4571851" y="262696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5" name="Text 10"/>
          <p:cNvSpPr/>
          <p:nvPr/>
        </p:nvSpPr>
        <p:spPr>
          <a:xfrm>
            <a:off x="4666516" y="267131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6" name="Text 11"/>
          <p:cNvSpPr/>
          <p:nvPr/>
        </p:nvSpPr>
        <p:spPr>
          <a:xfrm>
            <a:off x="5003602" y="2626965"/>
            <a:ext cx="20513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Edit the trigger</a:t>
            </a:r>
            <a:endParaRPr lang="en-US" sz="1550" dirty="0"/>
          </a:p>
        </p:txBody>
      </p:sp>
      <p:sp>
        <p:nvSpPr>
          <p:cNvPr id="17" name="Text 12"/>
          <p:cNvSpPr/>
          <p:nvPr/>
        </p:nvSpPr>
        <p:spPr>
          <a:xfrm>
            <a:off x="5003602" y="2874466"/>
            <a:ext cx="2051337"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Manual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Daily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08:00</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8" name="Text 13"/>
          <p:cNvSpPr/>
          <p:nvPr/>
        </p:nvSpPr>
        <p:spPr>
          <a:xfrm>
            <a:off x="4571851" y="32757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9" name="Text 14"/>
          <p:cNvSpPr/>
          <p:nvPr/>
        </p:nvSpPr>
        <p:spPr>
          <a:xfrm>
            <a:off x="4666516" y="33200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0" name="Text 15"/>
          <p:cNvSpPr/>
          <p:nvPr/>
        </p:nvSpPr>
        <p:spPr>
          <a:xfrm>
            <a:off x="5003602" y="3275707"/>
            <a:ext cx="325727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Keep the app running</a:t>
            </a:r>
            <a:endParaRPr lang="en-US" sz="1550" dirty="0"/>
          </a:p>
        </p:txBody>
      </p:sp>
      <p:sp>
        <p:nvSpPr>
          <p:cNvPr id="21" name="Text 16"/>
          <p:cNvSpPr/>
          <p:nvPr/>
        </p:nvSpPr>
        <p:spPr>
          <a:xfrm>
            <a:off x="5003602" y="3523208"/>
            <a:ext cx="325727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runs need the app open and awake.</a:t>
            </a:r>
            <a:endParaRPr lang="en-US" sz="1350" dirty="0"/>
          </a:p>
        </p:txBody>
      </p:sp>
      <p:sp>
        <p:nvSpPr>
          <p:cNvPr id="22" name="Text 17"/>
          <p:cNvSpPr/>
          <p:nvPr/>
        </p:nvSpPr>
        <p:spPr>
          <a:xfrm>
            <a:off x="4571851" y="392444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4666516" y="39688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5003602" y="3924449"/>
            <a:ext cx="32079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Check Recent runs</a:t>
            </a:r>
            <a:endParaRPr lang="en-US" sz="1550" dirty="0"/>
          </a:p>
        </p:txBody>
      </p:sp>
      <p:sp>
        <p:nvSpPr>
          <p:cNvPr id="25" name="Text 20"/>
          <p:cNvSpPr/>
          <p:nvPr/>
        </p:nvSpPr>
        <p:spPr>
          <a:xfrm>
            <a:off x="5003602" y="4171950"/>
            <a:ext cx="320793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new run appears without pressing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Run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EVENT TRIGGERS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to repository activity, safely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Issues, PRs, discussions, workflows, and other automations can start a run.</a:t>
            </a:r>
            <a:endParaRPr lang="en-US" sz="1650" dirty="0"/>
          </a:p>
        </p:txBody>
      </p:sp>
      <p:sp>
        <p:nvSpPr>
          <p:cNvPr id="9" name="Text 5"/>
          <p:cNvSpPr/>
          <p:nvPr/>
        </p:nvSpPr>
        <p:spPr>
          <a:xfrm>
            <a:off x="507950" y="2004268"/>
            <a:ext cx="5079950" cy="2214116"/>
          </a:xfrm>
          <a:prstGeom prst="roundRect">
            <a:avLst>
              <a:gd name="adj" fmla="val 5736"/>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Shape 6"/>
          <p:cNvSpPr/>
          <p:nvPr/>
        </p:nvSpPr>
        <p:spPr>
          <a:xfrm>
            <a:off x="517475" y="2526506"/>
            <a:ext cx="506090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38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read-only</a:t>
            </a:r>
            <a:endParaRPr lang="en-US" sz="1500" dirty="0"/>
          </a:p>
        </p:txBody>
      </p:sp>
      <p:sp>
        <p:nvSpPr>
          <p:cNvPr id="14" name="Text 10"/>
          <p:cNvSpPr/>
          <p:nvPr/>
        </p:nvSpPr>
        <p:spPr>
          <a:xfrm>
            <a:off x="3107829" y="216425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Summaries, not edits.</a:t>
            </a:r>
            <a:endParaRPr lang="en-US" sz="1400" dirty="0"/>
          </a:p>
        </p:txBody>
      </p:sp>
      <p:sp>
        <p:nvSpPr>
          <p:cNvPr id="15" name="Shape 11"/>
          <p:cNvSpPr/>
          <p:nvPr/>
        </p:nvSpPr>
        <p:spPr>
          <a:xfrm>
            <a:off x="517475" y="3178671"/>
            <a:ext cx="5060900" cy="0"/>
          </a:xfrm>
          <a:prstGeom prst="line">
            <a:avLst/>
          </a:prstGeom>
          <a:noFill/>
          <a:ln w="9525">
            <a:solidFill>
              <a:srgbClr val="D1D9E0"/>
            </a:solidFill>
            <a:prstDash val="solid"/>
          </a:ln>
        </p:spPr>
      </p:sp>
      <p:sp>
        <p:nvSpPr>
          <p:cNvPr id="16" name="Text 12"/>
          <p:cNvSpPr/>
          <p:nvPr/>
        </p:nvSpPr>
        <p:spPr>
          <a:xfrm>
            <a:off x="695176" y="271283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3"/>
          <p:cNvSpPr/>
          <p:nvPr/>
        </p:nvSpPr>
        <p:spPr>
          <a:xfrm>
            <a:off x="789841" y="275719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One repository</a:t>
            </a:r>
            <a:endParaRPr lang="en-US" sz="1500" dirty="0"/>
          </a:p>
        </p:txBody>
      </p:sp>
      <p:sp>
        <p:nvSpPr>
          <p:cNvPr id="19" name="Text 15"/>
          <p:cNvSpPr/>
          <p:nvPr/>
        </p:nvSpPr>
        <p:spPr>
          <a:xfrm>
            <a:off x="3107829" y="2645569"/>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Never every repo you can access.</a:t>
            </a:r>
            <a:endParaRPr lang="en-US" sz="1400" dirty="0"/>
          </a:p>
        </p:txBody>
      </p:sp>
      <p:sp>
        <p:nvSpPr>
          <p:cNvPr id="20" name="Shape 16"/>
          <p:cNvSpPr/>
          <p:nvPr/>
        </p:nvSpPr>
        <p:spPr>
          <a:xfrm>
            <a:off x="517475" y="3696146"/>
            <a:ext cx="5060900" cy="0"/>
          </a:xfrm>
          <a:prstGeom prst="line">
            <a:avLst/>
          </a:prstGeom>
          <a:noFill/>
          <a:ln w="9525">
            <a:solidFill>
              <a:srgbClr val="D1D9E0"/>
            </a:solidFill>
            <a:prstDash val="solid"/>
          </a:ln>
        </p:spPr>
      </p:sp>
      <p:sp>
        <p:nvSpPr>
          <p:cNvPr id="21" name="Text 17"/>
          <p:cNvSpPr/>
          <p:nvPr/>
        </p:nvSpPr>
        <p:spPr>
          <a:xfrm>
            <a:off x="695176" y="3297734"/>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789841" y="334208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3002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Filter narrowly</a:t>
            </a:r>
            <a:endParaRPr lang="en-US" sz="1500" dirty="0"/>
          </a:p>
        </p:txBody>
      </p:sp>
      <p:sp>
        <p:nvSpPr>
          <p:cNvPr id="24" name="Text 20"/>
          <p:cNvSpPr/>
          <p:nvPr/>
        </p:nvSpPr>
        <p:spPr>
          <a:xfrm>
            <a:off x="3107829" y="333389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By label or search query.</a:t>
            </a:r>
            <a:endParaRPr lang="en-US" sz="1400" dirty="0"/>
          </a:p>
        </p:txBody>
      </p:sp>
      <p:sp>
        <p:nvSpPr>
          <p:cNvPr id="25" name="Text 21"/>
          <p:cNvSpPr/>
          <p:nvPr/>
        </p:nvSpPr>
        <p:spPr>
          <a:xfrm>
            <a:off x="695176" y="3815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6" name="Text 22"/>
          <p:cNvSpPr/>
          <p:nvPr/>
        </p:nvSpPr>
        <p:spPr>
          <a:xfrm>
            <a:off x="789841" y="3859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47505"/>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Hold write tools</a:t>
            </a:r>
            <a:endParaRPr lang="en-US" sz="1500" dirty="0"/>
          </a:p>
        </p:txBody>
      </p:sp>
      <p:sp>
        <p:nvSpPr>
          <p:cNvPr id="28" name="Text 24"/>
          <p:cNvSpPr/>
          <p:nvPr/>
        </p:nvSpPr>
        <p:spPr>
          <a:xfrm>
            <a:off x="3107829" y="385137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Until several runs look right.</a:t>
            </a:r>
            <a:endParaRPr lang="en-US" sz="1400" dirty="0"/>
          </a:p>
        </p:txBody>
      </p:sp>
      <p:sp>
        <p:nvSpPr>
          <p:cNvPr id="29" name="Text 25"/>
          <p:cNvSpPr/>
          <p:nvPr/>
        </p:nvSpPr>
        <p:spPr>
          <a:xfrm>
            <a:off x="5791051" y="2639467"/>
            <a:ext cx="2844701" cy="943570"/>
          </a:xfrm>
          <a:prstGeom prst="roundRect">
            <a:avLst>
              <a:gd name="adj" fmla="val 10768"/>
            </a:avLst>
          </a:prstGeom>
          <a:solidFill>
            <a:srgbClr val="FFEBE9"/>
          </a:solidFill>
          <a:ln w="9525">
            <a:solidFill>
              <a:srgbClr val="FFCECB"/>
            </a:solidFill>
          </a:ln>
        </p:spPr>
        <p:txBody>
          <a:bodyPr wrap="square" rtlCol="0" anchor="ctr"/>
          <a:lstStyle/>
          <a:p>
            <a:pPr indent="0" marL="0">
              <a:buNone/>
            </a:pPr>
            <a:endParaRPr lang="en-US" dirty="0"/>
          </a:p>
        </p:txBody>
      </p:sp>
      <p:pic>
        <p:nvPicPr>
          <p:cNvPr id="3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978277" y="3009602"/>
            <a:ext cx="203150" cy="203150"/>
          </a:xfrm>
          <a:prstGeom prst="rect">
            <a:avLst/>
          </a:prstGeom>
        </p:spPr>
      </p:pic>
      <p:sp>
        <p:nvSpPr>
          <p:cNvPr id="31" name="Text 26"/>
          <p:cNvSpPr/>
          <p:nvPr/>
        </p:nvSpPr>
        <p:spPr>
          <a:xfrm>
            <a:off x="6308378" y="2775942"/>
            <a:ext cx="2182951" cy="6706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Hostile issue text plus write tools raises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prompt-injection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risk.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LOCAL OR CLOUD</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Move to the cloud only when it is proven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Cloud runs on GitHub even when your laptop is closed.</a:t>
            </a:r>
            <a:endParaRPr lang="en-US" sz="1650" dirty="0"/>
          </a:p>
        </p:txBody>
      </p:sp>
      <p:sp>
        <p:nvSpPr>
          <p:cNvPr id="9" name="Text 5"/>
          <p:cNvSpPr/>
          <p:nvPr/>
        </p:nvSpPr>
        <p:spPr>
          <a:xfrm>
            <a:off x="511076" y="2212925"/>
            <a:ext cx="2533650" cy="1720751"/>
          </a:xfrm>
          <a:prstGeom prst="roundRect">
            <a:avLst>
              <a:gd name="adj" fmla="val 442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Local versus cloud automations">    </p:cNvPr>
          <p:cNvPicPr>
            <a:picLocks noChangeAspect="1"/>
          </p:cNvPicPr>
          <p:nvPr/>
        </p:nvPicPr>
        <p:blipFill>
          <a:blip r:embed="rId4"/>
          <a:stretch>
            <a:fillRect/>
          </a:stretch>
        </p:blipFill>
        <p:spPr>
          <a:xfrm>
            <a:off x="558701" y="2260550"/>
            <a:ext cx="2438400" cy="1625501"/>
          </a:xfrm>
          <a:prstGeom prst="rect">
            <a:avLst/>
          </a:prstGeom>
        </p:spPr>
      </p:pic>
      <p:sp>
        <p:nvSpPr>
          <p:cNvPr id="11" name="Text 6"/>
          <p:cNvSpPr/>
          <p:nvPr/>
        </p:nvSpPr>
        <p:spPr>
          <a:xfrm>
            <a:off x="3251002" y="1574750"/>
            <a:ext cx="2692598" cy="2142530"/>
          </a:xfrm>
          <a:prstGeom prst="roundRect">
            <a:avLst>
              <a:gd name="adj" fmla="val 5928"/>
            </a:avLst>
          </a:prstGeom>
          <a:solidFill>
            <a:srgbClr val="FFFFFF"/>
          </a:solidFill>
          <a:ln w="9525">
            <a:solidFill>
              <a:srgbClr val="FFC49B"/>
            </a:solidFill>
          </a:ln>
        </p:spPr>
        <p:txBody>
          <a:bodyPr wrap="square" rtlCol="0" anchor="ctr"/>
          <a:lstStyle/>
          <a:p>
            <a:pPr indent="0" marL="0">
              <a:buNone/>
            </a:pPr>
            <a:endParaRPr lang="en-US" dirty="0"/>
          </a:p>
        </p:txBody>
      </p:sp>
      <p:sp>
        <p:nvSpPr>
          <p:cNvPr id="12" name="Text 7"/>
          <p:cNvSpPr/>
          <p:nvPr/>
        </p:nvSpPr>
        <p:spPr>
          <a:xfrm>
            <a:off x="3412927" y="1736675"/>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495526" y="1819275"/>
            <a:ext cx="215801" cy="215801"/>
          </a:xfrm>
          <a:prstGeom prst="rect">
            <a:avLst/>
          </a:prstGeom>
        </p:spPr>
      </p:pic>
      <p:sp>
        <p:nvSpPr>
          <p:cNvPr id="14" name="Text 8"/>
          <p:cNvSpPr/>
          <p:nvPr/>
        </p:nvSpPr>
        <p:spPr>
          <a:xfrm>
            <a:off x="3908227" y="1812875"/>
            <a:ext cx="128259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Cloud needs</a:t>
            </a:r>
            <a:endParaRPr lang="en-US" sz="1650" dirty="0"/>
          </a:p>
        </p:txBody>
      </p:sp>
      <p:sp>
        <p:nvSpPr>
          <p:cNvPr id="15" name="Text 9"/>
          <p:cNvSpPr/>
          <p:nvPr/>
        </p:nvSpPr>
        <p:spPr>
          <a:xfrm>
            <a:off x="341292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3571577" y="2193875"/>
            <a:ext cx="167334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Cloud agent enabled</a:t>
            </a:r>
            <a:endParaRPr lang="en-US" sz="1400" dirty="0"/>
          </a:p>
        </p:txBody>
      </p:sp>
      <p:sp>
        <p:nvSpPr>
          <p:cNvPr id="17" name="Text 11"/>
          <p:cNvSpPr/>
          <p:nvPr/>
        </p:nvSpPr>
        <p:spPr>
          <a:xfrm>
            <a:off x="341292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3571577" y="2464296"/>
            <a:ext cx="19752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 private or internal repo</a:t>
            </a:r>
            <a:endParaRPr lang="en-US" sz="1400" dirty="0"/>
          </a:p>
        </p:txBody>
      </p:sp>
      <p:sp>
        <p:nvSpPr>
          <p:cNvPr id="19" name="Text 13"/>
          <p:cNvSpPr/>
          <p:nvPr/>
        </p:nvSpPr>
        <p:spPr>
          <a:xfrm>
            <a:off x="341292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0" name="Text 14"/>
          <p:cNvSpPr/>
          <p:nvPr/>
        </p:nvSpPr>
        <p:spPr>
          <a:xfrm>
            <a:off x="3571577" y="2734717"/>
            <a:ext cx="2254300"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Actions minutes and AI credits</a:t>
            </a:r>
            <a:endParaRPr lang="en-US" sz="1400" dirty="0"/>
          </a:p>
        </p:txBody>
      </p:sp>
      <p:sp>
        <p:nvSpPr>
          <p:cNvPr id="21" name="Text 15"/>
          <p:cNvSpPr/>
          <p:nvPr/>
        </p:nvSpPr>
        <p:spPr>
          <a:xfrm>
            <a:off x="3251002" y="3869680"/>
            <a:ext cx="2692598" cy="702171"/>
          </a:xfrm>
          <a:prstGeom prst="roundRect">
            <a:avLst>
              <a:gd name="adj" fmla="val 14469"/>
            </a:avLst>
          </a:prstGeom>
          <a:solidFill>
            <a:srgbClr val="DAFBE1"/>
          </a:solidFill>
          <a:ln w="9525">
            <a:solidFill>
              <a:srgbClr val="8CE7A5"/>
            </a:solidFill>
          </a:ln>
        </p:spPr>
        <p:txBody>
          <a:bodyPr wrap="square" rtlCol="0" anchor="ctr"/>
          <a:lstStyle/>
          <a:p>
            <a:pPr indent="0" marL="0">
              <a:buNone/>
            </a:pPr>
            <a:endParaRPr lang="en-US" dirty="0"/>
          </a:p>
        </p:txBody>
      </p:sp>
      <p:pic>
        <p:nvPicPr>
          <p:cNvPr id="22"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438227" y="4119116"/>
            <a:ext cx="203150" cy="203150"/>
          </a:xfrm>
          <a:prstGeom prst="rect">
            <a:avLst/>
          </a:prstGeom>
        </p:spPr>
      </p:pic>
      <p:sp>
        <p:nvSpPr>
          <p:cNvPr id="23" name="Text 16"/>
          <p:cNvSpPr/>
          <p:nvPr/>
        </p:nvSpPr>
        <p:spPr>
          <a:xfrm>
            <a:off x="3768328" y="4006155"/>
            <a:ext cx="2027807" cy="42922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Clear every tool you do not need.</a:t>
            </a:r>
            <a:endParaRPr lang="en-US" sz="1400" dirty="0"/>
          </a:p>
        </p:txBody>
      </p:sp>
      <p:sp>
        <p:nvSpPr>
          <p:cNvPr id="24" name="Text 17"/>
          <p:cNvSpPr/>
          <p:nvPr/>
        </p:nvSpPr>
        <p:spPr>
          <a:xfrm>
            <a:off x="6149876" y="1775966"/>
            <a:ext cx="2482751" cy="259452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5" name="Image 5" descr="Cloud automation Tools selector with Read PR, List PRs, and Search PRs selected, showing 3 tools selected while write tools such as Create PR are cleared">    </p:cNvPr>
          <p:cNvPicPr>
            <a:picLocks noChangeAspect="1"/>
          </p:cNvPicPr>
          <p:nvPr/>
        </p:nvPicPr>
        <p:blipFill>
          <a:blip r:embed="rId7"/>
          <a:stretch>
            <a:fillRect/>
          </a:stretch>
        </p:blipFill>
        <p:spPr>
          <a:xfrm>
            <a:off x="6197501" y="1823591"/>
            <a:ext cx="2387501" cy="2499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4"/>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5"/>
          <p:cNvSpPr/>
          <p:nvPr/>
        </p:nvSpPr>
        <p:spPr>
          <a:xfrm>
            <a:off x="517475" y="2361456"/>
            <a:ext cx="5060900" cy="0"/>
          </a:xfrm>
          <a:prstGeom prst="line">
            <a:avLst/>
          </a:prstGeom>
          <a:noFill/>
          <a:ln w="9525">
            <a:solidFill>
              <a:srgbClr val="D1D9E0"/>
            </a:solidFill>
            <a:prstDash val="solid"/>
          </a:ln>
        </p:spPr>
      </p:sp>
      <p:sp>
        <p:nvSpPr>
          <p:cNvPr id="10" name="Text 6"/>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7"/>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8"/>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9"/>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0"/>
          <p:cNvSpPr/>
          <p:nvPr/>
        </p:nvSpPr>
        <p:spPr>
          <a:xfrm>
            <a:off x="517475" y="3013621"/>
            <a:ext cx="5060900" cy="0"/>
          </a:xfrm>
          <a:prstGeom prst="line">
            <a:avLst/>
          </a:prstGeom>
          <a:noFill/>
          <a:ln w="9525">
            <a:solidFill>
              <a:srgbClr val="D1D9E0"/>
            </a:solidFill>
            <a:prstDash val="solid"/>
          </a:ln>
        </p:spPr>
      </p:sp>
      <p:sp>
        <p:nvSpPr>
          <p:cNvPr id="15" name="Text 11"/>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2"/>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4"/>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5"/>
          <p:cNvSpPr/>
          <p:nvPr/>
        </p:nvSpPr>
        <p:spPr>
          <a:xfrm>
            <a:off x="517475" y="3531096"/>
            <a:ext cx="5060900" cy="0"/>
          </a:xfrm>
          <a:prstGeom prst="line">
            <a:avLst/>
          </a:prstGeom>
          <a:noFill/>
          <a:ln w="9525">
            <a:solidFill>
              <a:srgbClr val="D1D9E0"/>
            </a:solidFill>
            <a:prstDash val="solid"/>
          </a:ln>
        </p:spPr>
      </p:sp>
      <p:sp>
        <p:nvSpPr>
          <p:cNvPr id="20" name="Text 16"/>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7"/>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19"/>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0"/>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1"/>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2"/>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3"/>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4"/>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5"/>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060877" y="2109043"/>
            <a:ext cx="215801" cy="215801"/>
          </a:xfrm>
          <a:prstGeom prst="rect">
            <a:avLst/>
          </a:prstGeom>
        </p:spPr>
      </p:pic>
      <p:sp>
        <p:nvSpPr>
          <p:cNvPr id="31" name="Text 26"/>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7"/>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5"/>
          <p:cNvSpPr/>
          <p:nvPr/>
        </p:nvSpPr>
        <p:spPr>
          <a:xfrm>
            <a:off x="507950"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6"/>
          <p:cNvSpPr/>
          <p:nvPr/>
        </p:nvSpPr>
        <p:spPr>
          <a:xfrm>
            <a:off x="695176"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346275"/>
            <a:ext cx="215801" cy="215801"/>
          </a:xfrm>
          <a:prstGeom prst="rect">
            <a:avLst/>
          </a:prstGeom>
        </p:spPr>
      </p:pic>
      <p:sp>
        <p:nvSpPr>
          <p:cNvPr id="12" name="Text 7"/>
          <p:cNvSpPr/>
          <p:nvPr/>
        </p:nvSpPr>
        <p:spPr>
          <a:xfrm>
            <a:off x="1190476"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 starts</a:t>
            </a:r>
            <a:endParaRPr lang="en-US" sz="1650" dirty="0"/>
          </a:p>
        </p:txBody>
      </p:sp>
      <p:sp>
        <p:nvSpPr>
          <p:cNvPr id="13" name="Text 8"/>
          <p:cNvSpPr/>
          <p:nvPr/>
        </p:nvSpPr>
        <p:spPr>
          <a:xfrm>
            <a:off x="3276451" y="192405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9"/>
          <p:cNvSpPr/>
          <p:nvPr/>
        </p:nvSpPr>
        <p:spPr>
          <a:xfrm>
            <a:off x="3463677" y="21493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546277" y="2231975"/>
            <a:ext cx="215801" cy="215801"/>
          </a:xfrm>
          <a:prstGeom prst="rect">
            <a:avLst/>
          </a:prstGeom>
        </p:spPr>
      </p:pic>
      <p:sp>
        <p:nvSpPr>
          <p:cNvPr id="16" name="Text 10"/>
          <p:cNvSpPr/>
          <p:nvPr/>
        </p:nvSpPr>
        <p:spPr>
          <a:xfrm>
            <a:off x="3958977" y="2111276"/>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1"/>
          <p:cNvSpPr/>
          <p:nvPr/>
        </p:nvSpPr>
        <p:spPr>
          <a:xfrm>
            <a:off x="6045101"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2"/>
          <p:cNvSpPr/>
          <p:nvPr/>
        </p:nvSpPr>
        <p:spPr>
          <a:xfrm>
            <a:off x="6232327"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14926" y="2346275"/>
            <a:ext cx="215801" cy="215801"/>
          </a:xfrm>
          <a:prstGeom prst="rect">
            <a:avLst/>
          </a:prstGeom>
        </p:spPr>
      </p:pic>
      <p:sp>
        <p:nvSpPr>
          <p:cNvPr id="20" name="Text 13"/>
          <p:cNvSpPr/>
          <p:nvPr/>
        </p:nvSpPr>
        <p:spPr>
          <a:xfrm>
            <a:off x="6727627"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any merge automation</a:t>
            </a:r>
            <a:endParaRPr lang="en-US" sz="1650" dirty="0"/>
          </a:p>
        </p:txBody>
      </p:sp>
      <p:sp>
        <p:nvSpPr>
          <p:cNvPr id="21" name="Text 14"/>
          <p:cNvSpPr/>
          <p:nvPr/>
        </p:nvSpPr>
        <p:spPr>
          <a:xfrm>
            <a:off x="507950" y="3263652"/>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
        <p:nvSpPr>
          <p:cNvPr id="22" name="Text 15"/>
          <p:cNvSpPr/>
          <p:nvPr/>
        </p:nvSpPr>
        <p:spPr>
          <a:xfrm>
            <a:off x="507950" y="4058543"/>
            <a:ext cx="8290509" cy="240060"/>
          </a:xfrm>
          <a:prstGeom prst="rect">
            <a:avLst/>
          </a:prstGeom>
          <a:noFill/>
          <a:ln/>
        </p:spPr>
        <p:txBody>
          <a:bodyPr wrap="square" lIns="0" tIns="0" rIns="0" bIns="0" rtlCol="0" anchor="t"/>
          <a:lstStyle/>
          <a:p>
            <a:pPr algn="l" indent="0" marL="0">
              <a:lnSpc>
                <a:spcPts val="1890"/>
              </a:lnSpc>
              <a:buNone/>
            </a:pPr>
            <a:r>
              <a:rPr lang="en-US" sz="1550" dirty="0">
                <a:solidFill>
                  <a:srgbClr val="59636E"/>
                </a:solidFill>
                <a:latin typeface="Arial" pitchFamily="34" charset="0"/>
                <a:ea typeface="Arial" pitchFamily="34" charset="-122"/>
                <a:cs typeface="Arial" pitchFamily="34" charset="-120"/>
              </a:rPr>
              <a:t>Keep learning: </a:t>
            </a:r>
            <a:pPr algn="l" indent="0" marL="0">
              <a:lnSpc>
                <a:spcPts val="1890"/>
              </a:lnSpc>
              <a:buNone/>
            </a:pPr>
            <a:r>
              <a:rPr lang="en-US" sz="1550" b="1" u="sng" dirty="0">
                <a:solidFill>
                  <a:srgbClr val="0969DA"/>
                </a:solidFill>
                <a:latin typeface="Arial" pitchFamily="34" charset="0"/>
                <a:ea typeface="Arial" pitchFamily="34" charset="-122"/>
                <a:cs typeface="Arial" pitchFamily="34" charset="-120"/>
                <a:hlinkClick r:id="rId7"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github.com/github/copilot-app-for-beginners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Open this chapter on GitHub">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2026-10-06T21:19:19Z</dcterms:created>
  <dcterms:modified xsi:type="dcterms:W3CDTF">2026-10-06T21:19:19Z</dcterms:modified>
</cp:coreProperties>
</file>