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06 made session work visible. This chapter makes repeatable work reusable. You start with a manual review readiness report, schedule it for every morning, and then look at event triggers and cloud automations.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Anatomy of an automation, Build a review readiness report, Events and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what an automation is made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producer does not replay the same drum pattern by hand every night. They program it into a sequencer once and let it run. Chosen instruments map to selected tools. And the producer still checks the mix: a human reviews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automation has four parts: a trigger that starts it, a prompt that says what to do, tools that grant the least access needed, and a review path where you inspect the result. Automations are saved in the app, not committed to the repository. Treat the prompt like production instructions: keep secrets out and give it only the tools it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automations run only when you choose. That lets you test the prompt, inspect output, adjust scope, avoid surprise runs, and confirm tools are minimal. Good starters: which pull requests are blocked and what do they need next, or what should I validate before opening a PR. Avoid first automations that write code, post comments, change labels, approve reviews, or merge. Issue text is untrusted input, and a read-only summary reduces prompt-injection risk, where hostile text tries to steer the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The Pull requests view lists open pull requests. It does not explain merge readiness across them. This automation adds that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start, select Pull requests and your fork. On Authored by me, you should see at least three practice PRs. If you finished Chapter 03, some may already be fixed, and your search-fix PR appears too; that is expected. Then open Automations, select New automation, name it PR review readiness report, change Trigger from Daily to Manual, make sure Run in the cloud is off so it runs locally, and paste the full prompt from the chapter. Use Select project to pick your copilot-app-for-beginners project, and set Workspace to Current checkout, because the report only reads data. Use the arrow next to Create and choose Create and run. It appears under Your automations with a Manual label, and the run appears under Recent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run to succeed, then open the run detail. Confirm the prompt matches what you pasted, there is no error text, and the result is a table of open pull requests. This is a representative result from the seeded PRs. The value is the analysis: unlike the Pull requests view, which lists open items, this report explains why each PR is blocked and the single next human action. Because the prompt is read-only, the risk stays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manual automation answers what is the status right now. A scheduled one answers what changed since yesterday, without you remembering to ask. This automation is local, so a scheduled run happens only when your computer is awake and the app is running. Open the automation, select Edit, change the trigger to Daily, set Hours to 08:00, and keep Minute at 00. Confirm the project picker still shows your fork, then select Save automation. The card shows the Daily trigger, and Automation details shows the schedule and Next run time. If the result is noisy, tighten the prompt, for example to PRs with failing checks. The app also supports Hourly, Weekly, and CRON, with a readable preview of a CRON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is optional and covers more advanced options. Both need extra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trigger menu includes Issue, Pull request, Discussion opened, Discussion updated, Discussion comment, Sub issue added, Workflow (a GitHub Actions workflow you name completes, for example by failing), and Automation completed (an upstream automation you name finishes), alongside the schedule choices. Because these react to external input, keep them read-only, scoped to one repository, and filtered by label or query. Avoid write tools until the summary is reliable, and review the run history regularly.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automation so far is local: it runs from your machine while the app is open. A cloud automation runs on GitHub-hosted infrastructure. Cloud fits when a run must happen overnight, a team shares the run history, or the trigger is an event that can happen at any time. It needs Copilot cloud agent enabled and an organization that allows automations. The repository must be private or internal; a fork of this public course is public, so read this section without creating one. Each cloud run uses Actions minutes and AI credits, billed to the creator. When you turn on Run in the cloud, a Tools list appears with all tools selected. Clear every tool you do not need. For the PR report, keep Read PR, List PRs, and Search PRs, and maybe a read-only Actions tool for CI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Create one manual automation for your own work. Name it clearly, use a manual trigger, and write one bounded task. Keep it read-only: local automations have no tool list, so the prompt must say not to edit files, post comments, or change GitHub items. Run it once and revise the prompt from the history. If you can explain why it is safe to run again, you are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went from setup through sessions and worktrees, context, the development and GitHub loops, skills and custom agents, MCP servers and plugins, canvases, and automations. The constant was keeping a human in control: before implementation starts, before a pull request opens, and before any merge automation is enabled. The link returns to the course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automation principles, especially least privilege: keep write actions out of early automations that read issue content. The links go back to this chapter and to the course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5" Type="http://schemas.openxmlformats.org/officeDocument/2006/relationships/hyperlink" Target="https://github.com/github/copilot-app-for-beginners/tree/main/07-automation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image" Target="../media/image-4-3.jp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jp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jp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7" Type="http://schemas.openxmlformats.org/officeDocument/2006/relationships/hyperlink" Target="https://github.com/github/copilot-app-for-beginner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7-automations" TargetMode="External"/><Relationship Id="rId5" Type="http://schemas.openxmlformats.org/officeDocument/2006/relationships/hyperlink" Target="https://github.com/github/copilot-app-for-beginners/tree/main/07-automations" TargetMode="External"/><Relationship Id="rId6" Type="http://schemas.openxmlformats.org/officeDocument/2006/relationships/hyperlink" Target="https://github.com/github/copilot-app-for-beginner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293912"/>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07</a:t>
            </a:r>
            <a:endParaRPr lang="en-US" sz="1450" dirty="0"/>
          </a:p>
        </p:txBody>
      </p:sp>
      <p:sp>
        <p:nvSpPr>
          <p:cNvPr id="5" name="Text 1"/>
          <p:cNvSpPr/>
          <p:nvPr/>
        </p:nvSpPr>
        <p:spPr>
          <a:xfrm>
            <a:off x="1015901" y="16049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Automations</a:t>
            </a:r>
            <a:endParaRPr lang="en-US" sz="4200" dirty="0"/>
          </a:p>
        </p:txBody>
      </p:sp>
      <p:sp>
        <p:nvSpPr>
          <p:cNvPr id="6" name="Text 2"/>
          <p:cNvSpPr/>
          <p:nvPr/>
        </p:nvSpPr>
        <p:spPr>
          <a:xfrm>
            <a:off x="1015901" y="24431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735163"/>
            <a:ext cx="6088279" cy="66049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a prompt you run every morning could run itself?</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3660725"/>
            <a:ext cx="177701" cy="177701"/>
          </a:xfrm>
          <a:prstGeom prst="rect">
            <a:avLst/>
          </a:prstGeom>
        </p:spPr>
      </p:pic>
      <p:sp>
        <p:nvSpPr>
          <p:cNvPr id="9" name="Text 4"/>
          <p:cNvSpPr/>
          <p:nvPr/>
        </p:nvSpPr>
        <p:spPr>
          <a:xfrm>
            <a:off x="1282452" y="3649563"/>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07</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495425"/>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500188"/>
            <a:ext cx="8127950" cy="0"/>
          </a:xfrm>
          <a:prstGeom prst="line">
            <a:avLst/>
          </a:prstGeom>
          <a:noFill/>
          <a:ln w="9525">
            <a:solidFill>
              <a:srgbClr val="9CD7FF"/>
            </a:solidFill>
            <a:prstDash val="solid"/>
          </a:ln>
        </p:spPr>
      </p:sp>
      <p:sp>
        <p:nvSpPr>
          <p:cNvPr id="10" name="Shape 6"/>
          <p:cNvSpPr/>
          <p:nvPr/>
        </p:nvSpPr>
        <p:spPr>
          <a:xfrm>
            <a:off x="8631138" y="1495425"/>
            <a:ext cx="0" cy="857250"/>
          </a:xfrm>
          <a:prstGeom prst="line">
            <a:avLst/>
          </a:prstGeom>
          <a:noFill/>
          <a:ln w="9525">
            <a:solidFill>
              <a:srgbClr val="9CD7FF"/>
            </a:solidFill>
            <a:prstDash val="solid"/>
          </a:ln>
        </p:spPr>
      </p:sp>
      <p:sp>
        <p:nvSpPr>
          <p:cNvPr id="11" name="Shape 7"/>
          <p:cNvSpPr/>
          <p:nvPr/>
        </p:nvSpPr>
        <p:spPr>
          <a:xfrm>
            <a:off x="507950" y="2347913"/>
            <a:ext cx="8127950" cy="0"/>
          </a:xfrm>
          <a:prstGeom prst="line">
            <a:avLst/>
          </a:prstGeom>
          <a:noFill/>
          <a:ln w="9525">
            <a:solidFill>
              <a:srgbClr val="9CD7FF"/>
            </a:solidFill>
            <a:prstDash val="solid"/>
          </a:ln>
        </p:spPr>
      </p:sp>
      <p:sp>
        <p:nvSpPr>
          <p:cNvPr id="12" name="Shape 8"/>
          <p:cNvSpPr/>
          <p:nvPr/>
        </p:nvSpPr>
        <p:spPr>
          <a:xfrm>
            <a:off x="546050" y="1495425"/>
            <a:ext cx="0" cy="857250"/>
          </a:xfrm>
          <a:prstGeom prst="line">
            <a:avLst/>
          </a:prstGeom>
          <a:noFill/>
          <a:ln w="76200">
            <a:solidFill>
              <a:srgbClr val="0969DA"/>
            </a:solidFill>
            <a:prstDash val="solid"/>
          </a:ln>
        </p:spPr>
      </p:sp>
      <p:sp>
        <p:nvSpPr>
          <p:cNvPr id="13" name="Text 9"/>
          <p:cNvSpPr/>
          <p:nvPr/>
        </p:nvSpPr>
        <p:spPr>
          <a:xfrm>
            <a:off x="812750" y="170973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657350"/>
            <a:ext cx="6691247"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Anatomy of an automation</a:t>
            </a:r>
            <a:endParaRPr lang="en-US" sz="1800" dirty="0"/>
          </a:p>
        </p:txBody>
      </p:sp>
      <p:sp>
        <p:nvSpPr>
          <p:cNvPr id="15" name="Text 11"/>
          <p:cNvSpPr/>
          <p:nvPr/>
        </p:nvSpPr>
        <p:spPr>
          <a:xfrm>
            <a:off x="1625501" y="1974800"/>
            <a:ext cx="6691247"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Every automation is a saved prompt with a trigger, tools, and a place to review it.</a:t>
            </a:r>
            <a:endParaRPr lang="en-US" sz="1450" dirty="0"/>
          </a:p>
        </p:txBody>
      </p:sp>
      <p:sp>
        <p:nvSpPr>
          <p:cNvPr id="16" name="Text 12"/>
          <p:cNvSpPr/>
          <p:nvPr/>
        </p:nvSpPr>
        <p:spPr>
          <a:xfrm>
            <a:off x="507950" y="2505075"/>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857250"/>
          </a:xfrm>
          <a:prstGeom prst="line">
            <a:avLst/>
          </a:prstGeom>
          <a:noFill/>
          <a:ln w="9525">
            <a:solidFill>
              <a:srgbClr val="E0C5FF"/>
            </a:solidFill>
            <a:prstDash val="solid"/>
          </a:ln>
        </p:spPr>
      </p:sp>
      <p:sp>
        <p:nvSpPr>
          <p:cNvPr id="19" name="Shape 15"/>
          <p:cNvSpPr/>
          <p:nvPr/>
        </p:nvSpPr>
        <p:spPr>
          <a:xfrm>
            <a:off x="507950" y="3357563"/>
            <a:ext cx="8127950" cy="0"/>
          </a:xfrm>
          <a:prstGeom prst="line">
            <a:avLst/>
          </a:prstGeom>
          <a:noFill/>
          <a:ln w="9525">
            <a:solidFill>
              <a:srgbClr val="E0C5FF"/>
            </a:solidFill>
            <a:prstDash val="solid"/>
          </a:ln>
        </p:spPr>
      </p:sp>
      <p:sp>
        <p:nvSpPr>
          <p:cNvPr id="20" name="Shape 16"/>
          <p:cNvSpPr/>
          <p:nvPr/>
        </p:nvSpPr>
        <p:spPr>
          <a:xfrm>
            <a:off x="546050" y="2505075"/>
            <a:ext cx="0" cy="857250"/>
          </a:xfrm>
          <a:prstGeom prst="line">
            <a:avLst/>
          </a:prstGeom>
          <a:noFill/>
          <a:ln w="76200">
            <a:solidFill>
              <a:srgbClr val="8250DF"/>
            </a:solidFill>
            <a:prstDash val="solid"/>
          </a:ln>
        </p:spPr>
      </p:sp>
      <p:sp>
        <p:nvSpPr>
          <p:cNvPr id="21" name="Text 17"/>
          <p:cNvSpPr/>
          <p:nvPr/>
        </p:nvSpPr>
        <p:spPr>
          <a:xfrm>
            <a:off x="812750" y="27193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5146179"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Build a review readiness report</a:t>
            </a:r>
            <a:endParaRPr lang="en-US" sz="1800" dirty="0"/>
          </a:p>
        </p:txBody>
      </p:sp>
      <p:sp>
        <p:nvSpPr>
          <p:cNvPr id="23" name="Text 19"/>
          <p:cNvSpPr/>
          <p:nvPr/>
        </p:nvSpPr>
        <p:spPr>
          <a:xfrm>
            <a:off x="1625501" y="2984450"/>
            <a:ext cx="5146179"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Which PRs are ready to merge, and what is blocking the rest?</a:t>
            </a:r>
            <a:endParaRPr lang="en-US" sz="1450" dirty="0"/>
          </a:p>
        </p:txBody>
      </p:sp>
      <p:sp>
        <p:nvSpPr>
          <p:cNvPr id="24" name="Text 20"/>
          <p:cNvSpPr/>
          <p:nvPr/>
        </p:nvSpPr>
        <p:spPr>
          <a:xfrm>
            <a:off x="507950" y="351472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519488"/>
            <a:ext cx="8127950" cy="0"/>
          </a:xfrm>
          <a:prstGeom prst="line">
            <a:avLst/>
          </a:prstGeom>
          <a:noFill/>
          <a:ln w="9525">
            <a:solidFill>
              <a:srgbClr val="8CE7A5"/>
            </a:solidFill>
            <a:prstDash val="solid"/>
          </a:ln>
        </p:spPr>
      </p:sp>
      <p:sp>
        <p:nvSpPr>
          <p:cNvPr id="26" name="Shape 22"/>
          <p:cNvSpPr/>
          <p:nvPr/>
        </p:nvSpPr>
        <p:spPr>
          <a:xfrm>
            <a:off x="8631138" y="3514725"/>
            <a:ext cx="0" cy="857250"/>
          </a:xfrm>
          <a:prstGeom prst="line">
            <a:avLst/>
          </a:prstGeom>
          <a:noFill/>
          <a:ln w="9525">
            <a:solidFill>
              <a:srgbClr val="8CE7A5"/>
            </a:solidFill>
            <a:prstDash val="solid"/>
          </a:ln>
        </p:spPr>
      </p:sp>
      <p:sp>
        <p:nvSpPr>
          <p:cNvPr id="27" name="Shape 23"/>
          <p:cNvSpPr/>
          <p:nvPr/>
        </p:nvSpPr>
        <p:spPr>
          <a:xfrm>
            <a:off x="507950" y="4367213"/>
            <a:ext cx="8127950" cy="0"/>
          </a:xfrm>
          <a:prstGeom prst="line">
            <a:avLst/>
          </a:prstGeom>
          <a:noFill/>
          <a:ln w="9525">
            <a:solidFill>
              <a:srgbClr val="8CE7A5"/>
            </a:solidFill>
            <a:prstDash val="solid"/>
          </a:ln>
        </p:spPr>
      </p:sp>
      <p:sp>
        <p:nvSpPr>
          <p:cNvPr id="28" name="Shape 24"/>
          <p:cNvSpPr/>
          <p:nvPr/>
        </p:nvSpPr>
        <p:spPr>
          <a:xfrm>
            <a:off x="546050" y="3514725"/>
            <a:ext cx="0" cy="857250"/>
          </a:xfrm>
          <a:prstGeom prst="line">
            <a:avLst/>
          </a:prstGeom>
          <a:noFill/>
          <a:ln w="76200">
            <a:solidFill>
              <a:srgbClr val="1A7F37"/>
            </a:solidFill>
            <a:prstDash val="solid"/>
          </a:ln>
        </p:spPr>
      </p:sp>
      <p:sp>
        <p:nvSpPr>
          <p:cNvPr id="29" name="Text 25"/>
          <p:cNvSpPr/>
          <p:nvPr/>
        </p:nvSpPr>
        <p:spPr>
          <a:xfrm>
            <a:off x="812750" y="3729038"/>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676650"/>
            <a:ext cx="5876967"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Events and cloud</a:t>
            </a:r>
            <a:endParaRPr lang="en-US" sz="1800" dirty="0"/>
          </a:p>
        </p:txBody>
      </p:sp>
      <p:sp>
        <p:nvSpPr>
          <p:cNvPr id="31" name="Text 27"/>
          <p:cNvSpPr/>
          <p:nvPr/>
        </p:nvSpPr>
        <p:spPr>
          <a:xfrm>
            <a:off x="1625501" y="3994100"/>
            <a:ext cx="5876967"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Optional. React to repository events, or run while your laptop is closed.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Anatomy of an automation</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Every automation is a saved prompt with a trigger, tools, and a place to review it.</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Programming the sequencer</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Program the pattern once. Press play when you need it.</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sequencer-automation.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2000548"/>
            <a:ext cx="3555950" cy="2221706"/>
          </a:xfrm>
          <a:prstGeom prst="roundRect">
            <a:avLst>
              <a:gd name="adj" fmla="val 4573"/>
            </a:avLst>
          </a:prstGeom>
          <a:solidFill>
            <a:srgbClr val="FFFFFF"/>
          </a:solidFill>
          <a:ln w="9525">
            <a:solidFill>
              <a:srgbClr val="D1D9E0"/>
            </a:solidFill>
          </a:ln>
        </p:spPr>
        <p:txBody>
          <a:bodyPr wrap="square" rtlCol="0" anchor="ctr"/>
          <a:lstStyle/>
          <a:p>
            <a:pPr indent="0" marL="0">
              <a:buNone/>
            </a:pPr>
            <a:endParaRPr lang="en-US" dirty="0"/>
          </a:p>
        </p:txBody>
      </p:sp>
      <p:sp>
        <p:nvSpPr>
          <p:cNvPr id="12" name="Text 7"/>
          <p:cNvSpPr/>
          <p:nvPr/>
        </p:nvSpPr>
        <p:spPr>
          <a:xfrm>
            <a:off x="5013275" y="2010073"/>
            <a:ext cx="3536900" cy="326975"/>
          </a:xfrm>
          <a:prstGeom prst="rect">
            <a:avLst/>
          </a:prstGeom>
          <a:solidFill>
            <a:srgbClr val="DDF4FF"/>
          </a:solidFill>
          <a:ln/>
        </p:spPr>
        <p:txBody>
          <a:bodyPr wrap="square" rtlCol="0" anchor="ctr"/>
          <a:lstStyle/>
          <a:p>
            <a:pPr indent="0" marL="0">
              <a:buNone/>
            </a:pPr>
            <a:endParaRPr lang="en-US" dirty="0"/>
          </a:p>
        </p:txBody>
      </p:sp>
      <p:sp>
        <p:nvSpPr>
          <p:cNvPr id="13" name="Shape 8"/>
          <p:cNvSpPr/>
          <p:nvPr/>
        </p:nvSpPr>
        <p:spPr>
          <a:xfrm>
            <a:off x="5013275" y="2332286"/>
            <a:ext cx="3536900" cy="0"/>
          </a:xfrm>
          <a:prstGeom prst="line">
            <a:avLst/>
          </a:prstGeom>
          <a:noFill/>
          <a:ln w="9525">
            <a:solidFill>
              <a:srgbClr val="9CD7FF"/>
            </a:solidFill>
            <a:prstDash val="solid"/>
          </a:ln>
        </p:spPr>
      </p:sp>
      <p:sp>
        <p:nvSpPr>
          <p:cNvPr id="14" name="Text 9"/>
          <p:cNvSpPr/>
          <p:nvPr/>
        </p:nvSpPr>
        <p:spPr>
          <a:xfrm>
            <a:off x="5165675" y="2086273"/>
            <a:ext cx="13730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SEQUENCER</a:t>
            </a:r>
            <a:endParaRPr lang="en-US" sz="1150" dirty="0"/>
          </a:p>
        </p:txBody>
      </p:sp>
      <p:sp>
        <p:nvSpPr>
          <p:cNvPr id="15" name="Text 10"/>
          <p:cNvSpPr/>
          <p:nvPr/>
        </p:nvSpPr>
        <p:spPr>
          <a:xfrm>
            <a:off x="6816626" y="2086273"/>
            <a:ext cx="163220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AUTOMATION</a:t>
            </a:r>
            <a:endParaRPr lang="en-US" sz="1150" dirty="0"/>
          </a:p>
        </p:txBody>
      </p:sp>
      <p:sp>
        <p:nvSpPr>
          <p:cNvPr id="16" name="Shape 11"/>
          <p:cNvSpPr/>
          <p:nvPr/>
        </p:nvSpPr>
        <p:spPr>
          <a:xfrm>
            <a:off x="5013275" y="2958852"/>
            <a:ext cx="3536900" cy="0"/>
          </a:xfrm>
          <a:prstGeom prst="line">
            <a:avLst/>
          </a:prstGeom>
          <a:noFill/>
          <a:ln w="9525">
            <a:solidFill>
              <a:srgbClr val="D1D9E0"/>
            </a:solidFill>
            <a:prstDash val="solid"/>
          </a:ln>
        </p:spPr>
      </p:sp>
      <p:sp>
        <p:nvSpPr>
          <p:cNvPr id="17" name="Text 12"/>
          <p:cNvSpPr/>
          <p:nvPr/>
        </p:nvSpPr>
        <p:spPr>
          <a:xfrm>
            <a:off x="5165675" y="2438549"/>
            <a:ext cx="137307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Programmed pattern</a:t>
            </a:r>
            <a:endParaRPr lang="en-US" sz="1400" dirty="0"/>
          </a:p>
        </p:txBody>
      </p:sp>
      <p:sp>
        <p:nvSpPr>
          <p:cNvPr id="18" name="Text 13"/>
          <p:cNvSpPr/>
          <p:nvPr/>
        </p:nvSpPr>
        <p:spPr>
          <a:xfrm>
            <a:off x="6816626" y="2541984"/>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Saved prompt</a:t>
            </a:r>
            <a:endParaRPr lang="en-US" sz="1400" dirty="0"/>
          </a:p>
        </p:txBody>
      </p:sp>
      <p:sp>
        <p:nvSpPr>
          <p:cNvPr id="19" name="Shape 14"/>
          <p:cNvSpPr/>
          <p:nvPr/>
        </p:nvSpPr>
        <p:spPr>
          <a:xfrm>
            <a:off x="5013275" y="3378398"/>
            <a:ext cx="3536900" cy="0"/>
          </a:xfrm>
          <a:prstGeom prst="line">
            <a:avLst/>
          </a:prstGeom>
          <a:noFill/>
          <a:ln w="9525">
            <a:solidFill>
              <a:srgbClr val="D1D9E0"/>
            </a:solidFill>
            <a:prstDash val="solid"/>
          </a:ln>
        </p:spPr>
      </p:sp>
      <p:sp>
        <p:nvSpPr>
          <p:cNvPr id="20" name="Text 15"/>
          <p:cNvSpPr/>
          <p:nvPr/>
        </p:nvSpPr>
        <p:spPr>
          <a:xfrm>
            <a:off x="5165675" y="3065115"/>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Hit play</a:t>
            </a:r>
            <a:endParaRPr lang="en-US" sz="1400" dirty="0"/>
          </a:p>
        </p:txBody>
      </p:sp>
      <p:sp>
        <p:nvSpPr>
          <p:cNvPr id="21" name="Text 16"/>
          <p:cNvSpPr/>
          <p:nvPr/>
        </p:nvSpPr>
        <p:spPr>
          <a:xfrm>
            <a:off x="6816626" y="3065115"/>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Manual trigger</a:t>
            </a:r>
            <a:endParaRPr lang="en-US" sz="1400" dirty="0"/>
          </a:p>
        </p:txBody>
      </p:sp>
      <p:sp>
        <p:nvSpPr>
          <p:cNvPr id="22" name="Shape 17"/>
          <p:cNvSpPr/>
          <p:nvPr/>
        </p:nvSpPr>
        <p:spPr>
          <a:xfrm>
            <a:off x="5013275" y="3797945"/>
            <a:ext cx="3536900" cy="0"/>
          </a:xfrm>
          <a:prstGeom prst="line">
            <a:avLst/>
          </a:prstGeom>
          <a:noFill/>
          <a:ln w="9525">
            <a:solidFill>
              <a:srgbClr val="D1D9E0"/>
            </a:solidFill>
            <a:prstDash val="solid"/>
          </a:ln>
        </p:spPr>
      </p:sp>
      <p:sp>
        <p:nvSpPr>
          <p:cNvPr id="23" name="Text 18"/>
          <p:cNvSpPr/>
          <p:nvPr/>
        </p:nvSpPr>
        <p:spPr>
          <a:xfrm>
            <a:off x="5165675" y="3484662"/>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Run on the clock</a:t>
            </a:r>
            <a:endParaRPr lang="en-US" sz="1400" dirty="0"/>
          </a:p>
        </p:txBody>
      </p:sp>
      <p:sp>
        <p:nvSpPr>
          <p:cNvPr id="24" name="Text 19"/>
          <p:cNvSpPr/>
          <p:nvPr/>
        </p:nvSpPr>
        <p:spPr>
          <a:xfrm>
            <a:off x="6816626" y="3484662"/>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Schedule</a:t>
            </a:r>
            <a:endParaRPr lang="en-US" sz="1400" dirty="0"/>
          </a:p>
        </p:txBody>
      </p:sp>
      <p:sp>
        <p:nvSpPr>
          <p:cNvPr id="25" name="Text 20"/>
          <p:cNvSpPr/>
          <p:nvPr/>
        </p:nvSpPr>
        <p:spPr>
          <a:xfrm>
            <a:off x="5165675" y="3904208"/>
            <a:ext cx="137307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the mix</a:t>
            </a:r>
            <a:endParaRPr lang="en-US" sz="1400" dirty="0"/>
          </a:p>
        </p:txBody>
      </p:sp>
      <p:sp>
        <p:nvSpPr>
          <p:cNvPr id="26" name="Text 21"/>
          <p:cNvSpPr/>
          <p:nvPr/>
        </p:nvSpPr>
        <p:spPr>
          <a:xfrm>
            <a:off x="6816626" y="3904208"/>
            <a:ext cx="1632204"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Review the result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CORE CONCEPT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Four parts of an automation</a:t>
            </a:r>
            <a:endParaRPr lang="en-US" sz="2800" dirty="0"/>
          </a:p>
        </p:txBody>
      </p:sp>
      <p:sp>
        <p:nvSpPr>
          <p:cNvPr id="8" name="Text 4"/>
          <p:cNvSpPr/>
          <p:nvPr/>
        </p:nvSpPr>
        <p:spPr>
          <a:xfrm>
            <a:off x="511076" y="1633091"/>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7-automation-trigger-to-run.jpg">    </p:cNvPr>
          <p:cNvPicPr>
            <a:picLocks noChangeAspect="1"/>
          </p:cNvPicPr>
          <p:nvPr/>
        </p:nvPicPr>
        <p:blipFill>
          <a:blip r:embed="rId4"/>
          <a:stretch>
            <a:fillRect/>
          </a:stretch>
        </p:blipFill>
        <p:spPr>
          <a:xfrm>
            <a:off x="558701" y="1680716"/>
            <a:ext cx="3454301" cy="2302371"/>
          </a:xfrm>
          <a:prstGeom prst="rect">
            <a:avLst/>
          </a:prstGeom>
        </p:spPr>
      </p:pic>
      <p:sp>
        <p:nvSpPr>
          <p:cNvPr id="10" name="Text 5"/>
          <p:cNvSpPr/>
          <p:nvPr/>
        </p:nvSpPr>
        <p:spPr>
          <a:xfrm>
            <a:off x="4419451" y="17348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Zap-0969DA.png">    </p:cNvPr>
          <p:cNvPicPr>
            <a:picLocks noChangeAspect="1"/>
          </p:cNvPicPr>
          <p:nvPr/>
        </p:nvPicPr>
        <p:blipFill>
          <a:blip r:embed="rId5"/>
          <a:stretch>
            <a:fillRect/>
          </a:stretch>
        </p:blipFill>
        <p:spPr>
          <a:xfrm>
            <a:off x="4502051" y="1817489"/>
            <a:ext cx="215801" cy="215801"/>
          </a:xfrm>
          <a:prstGeom prst="rect">
            <a:avLst/>
          </a:prstGeom>
        </p:spPr>
      </p:pic>
      <p:sp>
        <p:nvSpPr>
          <p:cNvPr id="12" name="Text 6"/>
          <p:cNvSpPr/>
          <p:nvPr/>
        </p:nvSpPr>
        <p:spPr>
          <a:xfrm>
            <a:off x="4952851" y="1699468"/>
            <a:ext cx="1117586"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Trigger</a:t>
            </a:r>
            <a:endParaRPr lang="en-US" sz="1550" dirty="0"/>
          </a:p>
        </p:txBody>
      </p:sp>
      <p:sp>
        <p:nvSpPr>
          <p:cNvPr id="13" name="Text 7"/>
          <p:cNvSpPr/>
          <p:nvPr/>
        </p:nvSpPr>
        <p:spPr>
          <a:xfrm>
            <a:off x="4952851" y="1953369"/>
            <a:ext cx="1117586"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starts it?</a:t>
            </a:r>
            <a:endParaRPr lang="en-US" sz="1350" dirty="0"/>
          </a:p>
        </p:txBody>
      </p:sp>
      <p:sp>
        <p:nvSpPr>
          <p:cNvPr id="14" name="Text 8"/>
          <p:cNvSpPr/>
          <p:nvPr/>
        </p:nvSpPr>
        <p:spPr>
          <a:xfrm>
            <a:off x="4419451" y="2390031"/>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5" name="Image 4" descr="/Users/danwahlin/.copilot/session-state/56a7a0da-def8-48d4-b5e8-0ac3878cb8dd/files/slides-build/icons/GoCopilot-0969DA.png">    </p:cNvPr>
          <p:cNvPicPr>
            <a:picLocks noChangeAspect="1"/>
          </p:cNvPicPr>
          <p:nvPr/>
        </p:nvPicPr>
        <p:blipFill>
          <a:blip r:embed="rId6"/>
          <a:stretch>
            <a:fillRect/>
          </a:stretch>
        </p:blipFill>
        <p:spPr>
          <a:xfrm>
            <a:off x="4502051" y="2472630"/>
            <a:ext cx="215801" cy="215801"/>
          </a:xfrm>
          <a:prstGeom prst="rect">
            <a:avLst/>
          </a:prstGeom>
        </p:spPr>
      </p:pic>
      <p:sp>
        <p:nvSpPr>
          <p:cNvPr id="16" name="Text 9"/>
          <p:cNvSpPr/>
          <p:nvPr/>
        </p:nvSpPr>
        <p:spPr>
          <a:xfrm>
            <a:off x="4952851" y="2354610"/>
            <a:ext cx="209035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Prompt</a:t>
            </a:r>
            <a:endParaRPr lang="en-US" sz="1550" dirty="0"/>
          </a:p>
        </p:txBody>
      </p:sp>
      <p:sp>
        <p:nvSpPr>
          <p:cNvPr id="17" name="Text 10"/>
          <p:cNvSpPr/>
          <p:nvPr/>
        </p:nvSpPr>
        <p:spPr>
          <a:xfrm>
            <a:off x="4952851" y="2608511"/>
            <a:ext cx="209035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should the agent do?</a:t>
            </a:r>
            <a:endParaRPr lang="en-US" sz="1350" dirty="0"/>
          </a:p>
        </p:txBody>
      </p:sp>
      <p:sp>
        <p:nvSpPr>
          <p:cNvPr id="18" name="Text 11"/>
          <p:cNvSpPr/>
          <p:nvPr/>
        </p:nvSpPr>
        <p:spPr>
          <a:xfrm>
            <a:off x="4419451" y="3045172"/>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9" name="Image 5" descr="/Users/danwahlin/.copilot/session-state/56a7a0da-def8-48d4-b5e8-0ac3878cb8dd/files/slides-build/icons/GoLock-0969DA.png">    </p:cNvPr>
          <p:cNvPicPr>
            <a:picLocks noChangeAspect="1"/>
          </p:cNvPicPr>
          <p:nvPr/>
        </p:nvPicPr>
        <p:blipFill>
          <a:blip r:embed="rId7"/>
          <a:stretch>
            <a:fillRect/>
          </a:stretch>
        </p:blipFill>
        <p:spPr>
          <a:xfrm>
            <a:off x="4502051" y="3127772"/>
            <a:ext cx="215801" cy="215801"/>
          </a:xfrm>
          <a:prstGeom prst="rect">
            <a:avLst/>
          </a:prstGeom>
        </p:spPr>
      </p:pic>
      <p:sp>
        <p:nvSpPr>
          <p:cNvPr id="20" name="Text 12"/>
          <p:cNvSpPr/>
          <p:nvPr/>
        </p:nvSpPr>
        <p:spPr>
          <a:xfrm>
            <a:off x="4952851" y="3009751"/>
            <a:ext cx="261498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Tools</a:t>
            </a:r>
            <a:endParaRPr lang="en-US" sz="1550" dirty="0"/>
          </a:p>
        </p:txBody>
      </p:sp>
      <p:sp>
        <p:nvSpPr>
          <p:cNvPr id="21" name="Text 13"/>
          <p:cNvSpPr/>
          <p:nvPr/>
        </p:nvSpPr>
        <p:spPr>
          <a:xfrm>
            <a:off x="4952851" y="3263652"/>
            <a:ext cx="261498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What is the least access needed?</a:t>
            </a:r>
            <a:endParaRPr lang="en-US" sz="1350" dirty="0"/>
          </a:p>
        </p:txBody>
      </p:sp>
      <p:sp>
        <p:nvSpPr>
          <p:cNvPr id="22" name="Text 14"/>
          <p:cNvSpPr/>
          <p:nvPr/>
        </p:nvSpPr>
        <p:spPr>
          <a:xfrm>
            <a:off x="4419451" y="370031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3" name="Image 6" descr="/Users/danwahlin/.copilot/session-state/56a7a0da-def8-48d4-b5e8-0ac3878cb8dd/files/slides-build/icons/GoEye-0969DA.png">    </p:cNvPr>
          <p:cNvPicPr>
            <a:picLocks noChangeAspect="1"/>
          </p:cNvPicPr>
          <p:nvPr/>
        </p:nvPicPr>
        <p:blipFill>
          <a:blip r:embed="rId8"/>
          <a:stretch>
            <a:fillRect/>
          </a:stretch>
        </p:blipFill>
        <p:spPr>
          <a:xfrm>
            <a:off x="4502051" y="3782913"/>
            <a:ext cx="215801" cy="215801"/>
          </a:xfrm>
          <a:prstGeom prst="rect">
            <a:avLst/>
          </a:prstGeom>
        </p:spPr>
      </p:pic>
      <p:sp>
        <p:nvSpPr>
          <p:cNvPr id="24" name="Text 15"/>
          <p:cNvSpPr/>
          <p:nvPr/>
        </p:nvSpPr>
        <p:spPr>
          <a:xfrm>
            <a:off x="4952851" y="3664893"/>
            <a:ext cx="222606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Review path</a:t>
            </a:r>
            <a:endParaRPr lang="en-US" sz="1550" dirty="0"/>
          </a:p>
        </p:txBody>
      </p:sp>
      <p:sp>
        <p:nvSpPr>
          <p:cNvPr id="25" name="Text 16"/>
          <p:cNvSpPr/>
          <p:nvPr/>
        </p:nvSpPr>
        <p:spPr>
          <a:xfrm>
            <a:off x="4952851" y="3918793"/>
            <a:ext cx="222606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Where do I check the result?</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START SAFE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Start manual, then expand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Test the prompt before you add a schedule or trigger.</a:t>
            </a:r>
            <a:endParaRPr lang="en-US" sz="1650" dirty="0"/>
          </a:p>
        </p:txBody>
      </p:sp>
      <p:sp>
        <p:nvSpPr>
          <p:cNvPr id="9" name="Text 5"/>
          <p:cNvSpPr/>
          <p:nvPr/>
        </p:nvSpPr>
        <p:spPr>
          <a:xfrm>
            <a:off x="511076" y="18744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manual-first-path.jpg">    </p:cNvPr>
          <p:cNvPicPr>
            <a:picLocks noChangeAspect="1"/>
          </p:cNvPicPr>
          <p:nvPr/>
        </p:nvPicPr>
        <p:blipFill>
          <a:blip r:embed="rId4"/>
          <a:stretch>
            <a:fillRect/>
          </a:stretch>
        </p:blipFill>
        <p:spPr>
          <a:xfrm>
            <a:off x="558701" y="1922115"/>
            <a:ext cx="3454301" cy="2302371"/>
          </a:xfrm>
          <a:prstGeom prst="rect">
            <a:avLst/>
          </a:prstGeom>
        </p:spPr>
      </p:pic>
      <p:sp>
        <p:nvSpPr>
          <p:cNvPr id="11" name="Text 6"/>
          <p:cNvSpPr/>
          <p:nvPr/>
        </p:nvSpPr>
        <p:spPr>
          <a:xfrm>
            <a:off x="4317802" y="1574750"/>
            <a:ext cx="4318099" cy="1409700"/>
          </a:xfrm>
          <a:prstGeom prst="roundRect">
            <a:avLst>
              <a:gd name="adj" fmla="val 9009"/>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4479727" y="1736675"/>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CheckCircle-1A7F37.png">    </p:cNvPr>
          <p:cNvPicPr>
            <a:picLocks noChangeAspect="1"/>
          </p:cNvPicPr>
          <p:nvPr/>
        </p:nvPicPr>
        <p:blipFill>
          <a:blip r:embed="rId5"/>
          <a:stretch>
            <a:fillRect/>
          </a:stretch>
        </p:blipFill>
        <p:spPr>
          <a:xfrm>
            <a:off x="4562326" y="1819275"/>
            <a:ext cx="215801" cy="215801"/>
          </a:xfrm>
          <a:prstGeom prst="rect">
            <a:avLst/>
          </a:prstGeom>
        </p:spPr>
      </p:pic>
      <p:sp>
        <p:nvSpPr>
          <p:cNvPr id="14" name="Text 8"/>
          <p:cNvSpPr/>
          <p:nvPr/>
        </p:nvSpPr>
        <p:spPr>
          <a:xfrm>
            <a:off x="4975027" y="1812875"/>
            <a:ext cx="223228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Good first automation</a:t>
            </a:r>
            <a:endParaRPr lang="en-US" sz="1650" dirty="0"/>
          </a:p>
        </p:txBody>
      </p:sp>
      <p:sp>
        <p:nvSpPr>
          <p:cNvPr id="15" name="Text 9"/>
          <p:cNvSpPr/>
          <p:nvPr/>
        </p:nvSpPr>
        <p:spPr>
          <a:xfrm>
            <a:off x="4479727" y="2193875"/>
            <a:ext cx="4074134"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 read-only report you already run by hand.</a:t>
            </a:r>
            <a:endParaRPr lang="en-US" sz="1400" dirty="0"/>
          </a:p>
        </p:txBody>
      </p:sp>
      <p:sp>
        <p:nvSpPr>
          <p:cNvPr id="16" name="Text 10"/>
          <p:cNvSpPr/>
          <p:nvPr/>
        </p:nvSpPr>
        <p:spPr>
          <a:xfrm>
            <a:off x="4317802" y="3162151"/>
            <a:ext cx="4318099" cy="1409700"/>
          </a:xfrm>
          <a:prstGeom prst="roundRect">
            <a:avLst>
              <a:gd name="adj" fmla="val 9009"/>
            </a:avLst>
          </a:prstGeom>
          <a:solidFill>
            <a:srgbClr val="FFFFFF"/>
          </a:solidFill>
          <a:ln w="9525">
            <a:solidFill>
              <a:srgbClr val="FFCECB"/>
            </a:solidFill>
          </a:ln>
        </p:spPr>
        <p:txBody>
          <a:bodyPr wrap="square" rtlCol="0" anchor="ctr"/>
          <a:lstStyle/>
          <a:p>
            <a:pPr indent="0" marL="0">
              <a:buNone/>
            </a:pPr>
            <a:endParaRPr lang="en-US" dirty="0"/>
          </a:p>
        </p:txBody>
      </p:sp>
      <p:sp>
        <p:nvSpPr>
          <p:cNvPr id="17" name="Text 11"/>
          <p:cNvSpPr/>
          <p:nvPr/>
        </p:nvSpPr>
        <p:spPr>
          <a:xfrm>
            <a:off x="4479727" y="3324076"/>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18" name="Image 4" descr="/Users/danwahlin/.copilot/session-state/56a7a0da-def8-48d4-b5e8-0ac3878cb8dd/files/slides-build/icons/GoX-CF222E.png">    </p:cNvPr>
          <p:cNvPicPr>
            <a:picLocks noChangeAspect="1"/>
          </p:cNvPicPr>
          <p:nvPr/>
        </p:nvPicPr>
        <p:blipFill>
          <a:blip r:embed="rId6"/>
          <a:stretch>
            <a:fillRect/>
          </a:stretch>
        </p:blipFill>
        <p:spPr>
          <a:xfrm>
            <a:off x="4562326" y="3406676"/>
            <a:ext cx="215801" cy="215801"/>
          </a:xfrm>
          <a:prstGeom prst="rect">
            <a:avLst/>
          </a:prstGeom>
        </p:spPr>
      </p:pic>
      <p:sp>
        <p:nvSpPr>
          <p:cNvPr id="19" name="Text 12"/>
          <p:cNvSpPr/>
          <p:nvPr/>
        </p:nvSpPr>
        <p:spPr>
          <a:xfrm>
            <a:off x="4975027" y="3400276"/>
            <a:ext cx="129853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Avoid at first</a:t>
            </a:r>
            <a:endParaRPr lang="en-US" sz="1650" dirty="0"/>
          </a:p>
        </p:txBody>
      </p:sp>
      <p:sp>
        <p:nvSpPr>
          <p:cNvPr id="20" name="Text 13"/>
          <p:cNvSpPr/>
          <p:nvPr/>
        </p:nvSpPr>
        <p:spPr>
          <a:xfrm>
            <a:off x="4479727" y="3781276"/>
            <a:ext cx="4074134"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Writing code, commenting, labeling, or merging.</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Build a review readiness report</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Which PRs are ready to merge, and what is blocking the rest?</a:t>
            </a:r>
            <a:endParaRPr lang="en-US" sz="1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Create a manual readiness report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Automations &gt;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New automation</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Set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Trigger</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to </a:t>
            </a:r>
            <a:pPr algn="l" indent="0" marL="0">
              <a:lnSpc>
                <a:spcPts val="2000"/>
              </a:lnSpc>
              <a:spcBef>
                <a:spcPts val="500"/>
              </a:spcBef>
              <a:buNone/>
            </a:pPr>
            <a:r>
              <a:rPr lang="en-US" sz="1650" b="1" dirty="0">
                <a:solidFill>
                  <a:srgbClr val="59636E"/>
                </a:solidFill>
                <a:latin typeface="Arial" pitchFamily="34" charset="0"/>
                <a:ea typeface="Arial" pitchFamily="34" charset="-122"/>
                <a:cs typeface="Arial" pitchFamily="34" charset="-120"/>
              </a:rPr>
              <a:t>Manual</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51706" y="1577876"/>
            <a:ext cx="4230291" cy="2990850"/>
          </a:xfrm>
          <a:prstGeom prst="roundRect">
            <a:avLst>
              <a:gd name="adj" fmla="val 254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new-automation-crop.png">    </p:cNvPr>
          <p:cNvPicPr>
            <a:picLocks noChangeAspect="1"/>
          </p:cNvPicPr>
          <p:nvPr/>
        </p:nvPicPr>
        <p:blipFill>
          <a:blip r:embed="rId4"/>
          <a:stretch>
            <a:fillRect/>
          </a:stretch>
        </p:blipFill>
        <p:spPr>
          <a:xfrm>
            <a:off x="599331" y="1625501"/>
            <a:ext cx="4135041" cy="2895600"/>
          </a:xfrm>
          <a:prstGeom prst="rect">
            <a:avLst/>
          </a:prstGeom>
        </p:spPr>
      </p:pic>
      <p:sp>
        <p:nvSpPr>
          <p:cNvPr id="11" name="Text 6"/>
          <p:cNvSpPr/>
          <p:nvPr/>
        </p:nvSpPr>
        <p:spPr>
          <a:xfrm>
            <a:off x="5079802" y="181168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2" name="Text 7"/>
          <p:cNvSpPr/>
          <p:nvPr/>
        </p:nvSpPr>
        <p:spPr>
          <a:xfrm>
            <a:off x="5174467" y="185603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8"/>
          <p:cNvSpPr/>
          <p:nvPr/>
        </p:nvSpPr>
        <p:spPr>
          <a:xfrm>
            <a:off x="5511552" y="1811685"/>
            <a:ext cx="2728689"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Name it</a:t>
            </a:r>
            <a:endParaRPr lang="en-US" sz="1550" dirty="0"/>
          </a:p>
        </p:txBody>
      </p:sp>
      <p:sp>
        <p:nvSpPr>
          <p:cNvPr id="14" name="Text 9"/>
          <p:cNvSpPr/>
          <p:nvPr/>
        </p:nvSpPr>
        <p:spPr>
          <a:xfrm>
            <a:off x="5511552" y="2059186"/>
            <a:ext cx="2728689"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PR review readiness report</a:t>
            </a:r>
            <a:endParaRPr lang="en-US" sz="1350" dirty="0"/>
          </a:p>
        </p:txBody>
      </p:sp>
      <p:sp>
        <p:nvSpPr>
          <p:cNvPr id="15" name="Text 10"/>
          <p:cNvSpPr/>
          <p:nvPr/>
        </p:nvSpPr>
        <p:spPr>
          <a:xfrm>
            <a:off x="5079802" y="244450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6" name="Text 11"/>
          <p:cNvSpPr/>
          <p:nvPr/>
        </p:nvSpPr>
        <p:spPr>
          <a:xfrm>
            <a:off x="5174467" y="248885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2"/>
          <p:cNvSpPr/>
          <p:nvPr/>
        </p:nvSpPr>
        <p:spPr>
          <a:xfrm>
            <a:off x="5511552" y="2444502"/>
            <a:ext cx="3186836"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Paste the read-only prompt</a:t>
            </a:r>
            <a:endParaRPr lang="en-US" sz="1550" dirty="0"/>
          </a:p>
        </p:txBody>
      </p:sp>
      <p:sp>
        <p:nvSpPr>
          <p:cNvPr id="18" name="Text 13"/>
          <p:cNvSpPr/>
          <p:nvPr/>
        </p:nvSpPr>
        <p:spPr>
          <a:xfrm>
            <a:off x="5511552" y="2692003"/>
            <a:ext cx="3186836"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CI, comments, and the next action per PR.</a:t>
            </a:r>
            <a:endParaRPr lang="en-US" sz="1350" dirty="0"/>
          </a:p>
        </p:txBody>
      </p:sp>
      <p:sp>
        <p:nvSpPr>
          <p:cNvPr id="19" name="Text 14"/>
          <p:cNvSpPr/>
          <p:nvPr/>
        </p:nvSpPr>
        <p:spPr>
          <a:xfrm>
            <a:off x="5079802" y="3265884"/>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0" name="Text 15"/>
          <p:cNvSpPr/>
          <p:nvPr/>
        </p:nvSpPr>
        <p:spPr>
          <a:xfrm>
            <a:off x="5174467" y="3310235"/>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1" name="Text 16"/>
          <p:cNvSpPr/>
          <p:nvPr/>
        </p:nvSpPr>
        <p:spPr>
          <a:xfrm>
            <a:off x="5511552" y="3265884"/>
            <a:ext cx="2654001"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Cloud off, Current checkout</a:t>
            </a:r>
            <a:endParaRPr lang="en-US" sz="1550" dirty="0"/>
          </a:p>
        </p:txBody>
      </p:sp>
      <p:sp>
        <p:nvSpPr>
          <p:cNvPr id="22" name="Text 17"/>
          <p:cNvSpPr/>
          <p:nvPr/>
        </p:nvSpPr>
        <p:spPr>
          <a:xfrm>
            <a:off x="5511552" y="3513386"/>
            <a:ext cx="265400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Runs locally. It only reads data.</a:t>
            </a:r>
            <a:endParaRPr lang="en-US" sz="1350" dirty="0"/>
          </a:p>
        </p:txBody>
      </p:sp>
      <p:sp>
        <p:nvSpPr>
          <p:cNvPr id="23" name="Text 18"/>
          <p:cNvSpPr/>
          <p:nvPr/>
        </p:nvSpPr>
        <p:spPr>
          <a:xfrm>
            <a:off x="5079802" y="388917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4" name="Text 19"/>
          <p:cNvSpPr/>
          <p:nvPr/>
        </p:nvSpPr>
        <p:spPr>
          <a:xfrm>
            <a:off x="5174467" y="393352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5" name="Text 20"/>
          <p:cNvSpPr/>
          <p:nvPr/>
        </p:nvSpPr>
        <p:spPr>
          <a:xfrm>
            <a:off x="5511552" y="3889177"/>
            <a:ext cx="240094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Create and run</a:t>
            </a:r>
            <a:endParaRPr lang="en-US" sz="1550" dirty="0"/>
          </a:p>
        </p:txBody>
      </p:sp>
      <p:sp>
        <p:nvSpPr>
          <p:cNvPr id="26" name="Text 21"/>
          <p:cNvSpPr/>
          <p:nvPr/>
        </p:nvSpPr>
        <p:spPr>
          <a:xfrm>
            <a:off x="5511552" y="4136678"/>
            <a:ext cx="240094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From the arrow next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Create</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INSPECT THE RUN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Why each PR is blocked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PR numbers, titles, and statuses may differ.</a:t>
            </a:r>
            <a:endParaRPr lang="en-US" sz="1650" dirty="0"/>
          </a:p>
        </p:txBody>
      </p:sp>
      <p:sp>
        <p:nvSpPr>
          <p:cNvPr id="9" name="Text 5"/>
          <p:cNvSpPr/>
          <p:nvPr/>
        </p:nvSpPr>
        <p:spPr>
          <a:xfrm>
            <a:off x="507950" y="2149673"/>
            <a:ext cx="8127950" cy="1923306"/>
          </a:xfrm>
          <a:prstGeom prst="roundRect">
            <a:avLst>
              <a:gd name="adj" fmla="val 5283"/>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2159198"/>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481411"/>
            <a:ext cx="8108900" cy="0"/>
          </a:xfrm>
          <a:prstGeom prst="line">
            <a:avLst/>
          </a:prstGeom>
          <a:noFill/>
          <a:ln w="9525">
            <a:solidFill>
              <a:srgbClr val="9CD7FF"/>
            </a:solidFill>
            <a:prstDash val="solid"/>
          </a:ln>
        </p:spPr>
      </p:sp>
      <p:sp>
        <p:nvSpPr>
          <p:cNvPr id="12" name="Text 8"/>
          <p:cNvSpPr/>
          <p:nvPr/>
        </p:nvSpPr>
        <p:spPr>
          <a:xfrm>
            <a:off x="669875" y="2235398"/>
            <a:ext cx="292755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PULL REQUEST</a:t>
            </a:r>
            <a:endParaRPr lang="en-US" sz="1150" dirty="0"/>
          </a:p>
        </p:txBody>
      </p:sp>
      <p:sp>
        <p:nvSpPr>
          <p:cNvPr id="13" name="Text 9"/>
          <p:cNvSpPr/>
          <p:nvPr/>
        </p:nvSpPr>
        <p:spPr>
          <a:xfrm>
            <a:off x="3844826" y="2235398"/>
            <a:ext cx="111394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CI</a:t>
            </a:r>
            <a:endParaRPr lang="en-US" sz="1150" dirty="0"/>
          </a:p>
        </p:txBody>
      </p:sp>
      <p:sp>
        <p:nvSpPr>
          <p:cNvPr id="14" name="Text 10"/>
          <p:cNvSpPr/>
          <p:nvPr/>
        </p:nvSpPr>
        <p:spPr>
          <a:xfrm>
            <a:off x="5241727" y="2235398"/>
            <a:ext cx="331617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NEXT HUMAN ACTION</a:t>
            </a:r>
            <a:endParaRPr lang="en-US" sz="1150" dirty="0"/>
          </a:p>
        </p:txBody>
      </p:sp>
      <p:sp>
        <p:nvSpPr>
          <p:cNvPr id="15" name="Shape 11"/>
          <p:cNvSpPr/>
          <p:nvPr/>
        </p:nvSpPr>
        <p:spPr>
          <a:xfrm>
            <a:off x="517475" y="3010346"/>
            <a:ext cx="8108900" cy="0"/>
          </a:xfrm>
          <a:prstGeom prst="line">
            <a:avLst/>
          </a:prstGeom>
          <a:noFill/>
          <a:ln w="9525">
            <a:solidFill>
              <a:srgbClr val="D1D9E0"/>
            </a:solidFill>
            <a:prstDash val="solid"/>
          </a:ln>
        </p:spPr>
      </p:sp>
      <p:sp>
        <p:nvSpPr>
          <p:cNvPr id="16" name="Text 12"/>
          <p:cNvSpPr/>
          <p:nvPr/>
        </p:nvSpPr>
        <p:spPr>
          <a:xfrm>
            <a:off x="669875" y="2638574"/>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#6 Improve empty-state copy</a:t>
            </a:r>
            <a:endParaRPr lang="en-US" sz="1450" dirty="0"/>
          </a:p>
        </p:txBody>
      </p:sp>
      <p:sp>
        <p:nvSpPr>
          <p:cNvPr id="17" name="Text 13"/>
          <p:cNvSpPr/>
          <p:nvPr/>
        </p:nvSpPr>
        <p:spPr>
          <a:xfrm>
            <a:off x="3844826" y="2638574"/>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1A7F37"/>
                </a:solidFill>
                <a:latin typeface="Arial" pitchFamily="34" charset="0"/>
                <a:ea typeface="Arial" pitchFamily="34" charset="-122"/>
                <a:cs typeface="Arial" pitchFamily="34" charset="-120"/>
              </a:rPr>
              <a:t>Pass</a:t>
            </a:r>
            <a:endParaRPr lang="en-US" sz="1450" dirty="0"/>
          </a:p>
        </p:txBody>
      </p:sp>
      <p:sp>
        <p:nvSpPr>
          <p:cNvPr id="18" name="Text 14"/>
          <p:cNvSpPr/>
          <p:nvPr/>
        </p:nvSpPr>
        <p:spPr>
          <a:xfrm>
            <a:off x="5241727" y="2638574"/>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Address the review comment</a:t>
            </a:r>
            <a:endParaRPr lang="en-US" sz="1450" dirty="0"/>
          </a:p>
        </p:txBody>
      </p:sp>
      <p:sp>
        <p:nvSpPr>
          <p:cNvPr id="19" name="Shape 15"/>
          <p:cNvSpPr/>
          <p:nvPr/>
        </p:nvSpPr>
        <p:spPr>
          <a:xfrm>
            <a:off x="517475" y="3539282"/>
            <a:ext cx="8108900" cy="0"/>
          </a:xfrm>
          <a:prstGeom prst="line">
            <a:avLst/>
          </a:prstGeom>
          <a:noFill/>
          <a:ln w="9525">
            <a:solidFill>
              <a:srgbClr val="D1D9E0"/>
            </a:solidFill>
            <a:prstDash val="solid"/>
          </a:ln>
        </p:spPr>
      </p:sp>
      <p:sp>
        <p:nvSpPr>
          <p:cNvPr id="20" name="Text 16"/>
          <p:cNvSpPr/>
          <p:nvPr/>
        </p:nvSpPr>
        <p:spPr>
          <a:xfrm>
            <a:off x="669875" y="3167509"/>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#7 Failing stats check practice</a:t>
            </a:r>
            <a:endParaRPr lang="en-US" sz="1450" dirty="0"/>
          </a:p>
        </p:txBody>
      </p:sp>
      <p:sp>
        <p:nvSpPr>
          <p:cNvPr id="21" name="Text 17"/>
          <p:cNvSpPr/>
          <p:nvPr/>
        </p:nvSpPr>
        <p:spPr>
          <a:xfrm>
            <a:off x="3844826" y="3167509"/>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CF222E"/>
                </a:solidFill>
                <a:latin typeface="Arial" pitchFamily="34" charset="0"/>
                <a:ea typeface="Arial" pitchFamily="34" charset="-122"/>
                <a:cs typeface="Arial" pitchFamily="34" charset="-120"/>
              </a:rPr>
              <a:t>Fail</a:t>
            </a:r>
            <a:endParaRPr lang="en-US" sz="1450" dirty="0"/>
          </a:p>
        </p:txBody>
      </p:sp>
      <p:sp>
        <p:nvSpPr>
          <p:cNvPr id="22" name="Text 18"/>
          <p:cNvSpPr/>
          <p:nvPr/>
        </p:nvSpPr>
        <p:spPr>
          <a:xfrm>
            <a:off x="5241727" y="3167509"/>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Fix the favorite count</a:t>
            </a:r>
            <a:endParaRPr lang="en-US" sz="1450" dirty="0"/>
          </a:p>
        </p:txBody>
      </p:sp>
      <p:sp>
        <p:nvSpPr>
          <p:cNvPr id="23" name="Text 19"/>
          <p:cNvSpPr/>
          <p:nvPr/>
        </p:nvSpPr>
        <p:spPr>
          <a:xfrm>
            <a:off x="669875" y="3696444"/>
            <a:ext cx="2927553" cy="214610"/>
          </a:xfrm>
          <a:prstGeom prst="rect">
            <a:avLst/>
          </a:prstGeom>
          <a:noFill/>
          <a:ln/>
        </p:spPr>
        <p:txBody>
          <a:bodyPr wrap="square" lIns="0" tIns="0" rIns="0" bIns="0" rtlCol="0" anchor="t"/>
          <a:lstStyle/>
          <a:p>
            <a:pPr algn="l" indent="0" marL="0">
              <a:lnSpc>
                <a:spcPts val="1690"/>
              </a:lnSpc>
              <a:buNone/>
            </a:pPr>
            <a:r>
              <a:rPr lang="en-US" sz="1450" b="1" dirty="0">
                <a:solidFill>
                  <a:srgbClr val="1F2328"/>
                </a:solidFill>
                <a:latin typeface="Arial" pitchFamily="34" charset="0"/>
                <a:ea typeface="Arial" pitchFamily="34" charset="-122"/>
                <a:cs typeface="Arial" pitchFamily="34" charset="-120"/>
              </a:rPr>
              <a:t>#8 Reading dashboard</a:t>
            </a:r>
            <a:endParaRPr lang="en-US" sz="1450" dirty="0"/>
          </a:p>
        </p:txBody>
      </p:sp>
      <p:sp>
        <p:nvSpPr>
          <p:cNvPr id="24" name="Text 20"/>
          <p:cNvSpPr/>
          <p:nvPr/>
        </p:nvSpPr>
        <p:spPr>
          <a:xfrm>
            <a:off x="3844826" y="3696444"/>
            <a:ext cx="1113943" cy="214610"/>
          </a:xfrm>
          <a:prstGeom prst="rect">
            <a:avLst/>
          </a:prstGeom>
          <a:noFill/>
          <a:ln/>
        </p:spPr>
        <p:txBody>
          <a:bodyPr wrap="square" lIns="0" tIns="0" rIns="0" bIns="0" rtlCol="0" anchor="t"/>
          <a:lstStyle/>
          <a:p>
            <a:pPr algn="l" indent="0" marL="0">
              <a:lnSpc>
                <a:spcPts val="1690"/>
              </a:lnSpc>
              <a:buNone/>
            </a:pPr>
            <a:r>
              <a:rPr lang="en-US" sz="1450" b="1" dirty="0">
                <a:solidFill>
                  <a:srgbClr val="1A7F37"/>
                </a:solidFill>
                <a:latin typeface="Arial" pitchFamily="34" charset="0"/>
                <a:ea typeface="Arial" pitchFamily="34" charset="-122"/>
                <a:cs typeface="Arial" pitchFamily="34" charset="-120"/>
              </a:rPr>
              <a:t>Pass</a:t>
            </a:r>
            <a:endParaRPr lang="en-US" sz="1450" dirty="0"/>
          </a:p>
        </p:txBody>
      </p:sp>
      <p:sp>
        <p:nvSpPr>
          <p:cNvPr id="25" name="Text 21"/>
          <p:cNvSpPr/>
          <p:nvPr/>
        </p:nvSpPr>
        <p:spPr>
          <a:xfrm>
            <a:off x="5241727" y="3696444"/>
            <a:ext cx="3316173" cy="214610"/>
          </a:xfrm>
          <a:prstGeom prst="rect">
            <a:avLst/>
          </a:prstGeom>
          <a:noFill/>
          <a:ln/>
        </p:spPr>
        <p:txBody>
          <a:bodyPr wrap="square" lIns="0" tIns="0" rIns="0" bIns="0" rtlCol="0" anchor="t"/>
          <a:lstStyle/>
          <a:p>
            <a:pPr algn="l" indent="0" marL="0">
              <a:lnSpc>
                <a:spcPts val="1690"/>
              </a:lnSpc>
              <a:buNone/>
            </a:pPr>
            <a:r>
              <a:rPr lang="en-US" sz="1450" dirty="0">
                <a:solidFill>
                  <a:srgbClr val="1F2328"/>
                </a:solidFill>
                <a:latin typeface="Arial" pitchFamily="34" charset="0"/>
                <a:ea typeface="Arial" pitchFamily="34" charset="-122"/>
                <a:cs typeface="Arial" pitchFamily="34" charset="-120"/>
              </a:rPr>
              <a:t>Ready to merge</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Schedule it for every morning</a:t>
            </a:r>
            <a:endParaRPr lang="en-US" sz="2800" dirty="0"/>
          </a:p>
        </p:txBody>
      </p:sp>
      <p:sp>
        <p:nvSpPr>
          <p:cNvPr id="8" name="Text 4"/>
          <p:cNvSpPr/>
          <p:nvPr/>
        </p:nvSpPr>
        <p:spPr>
          <a:xfrm>
            <a:off x="1437531" y="1450777"/>
            <a:ext cx="1950690" cy="2990850"/>
          </a:xfrm>
          <a:prstGeom prst="roundRect">
            <a:avLst>
              <a:gd name="adj" fmla="val 390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7-triggers-crop.png">    </p:cNvPr>
          <p:cNvPicPr>
            <a:picLocks noChangeAspect="1"/>
          </p:cNvPicPr>
          <p:nvPr/>
        </p:nvPicPr>
        <p:blipFill>
          <a:blip r:embed="rId4"/>
          <a:stretch>
            <a:fillRect/>
          </a:stretch>
        </p:blipFill>
        <p:spPr>
          <a:xfrm>
            <a:off x="1485156" y="1498402"/>
            <a:ext cx="1855440" cy="2895600"/>
          </a:xfrm>
          <a:prstGeom prst="rect">
            <a:avLst/>
          </a:prstGeom>
        </p:spPr>
      </p:pic>
      <p:sp>
        <p:nvSpPr>
          <p:cNvPr id="10" name="Text 5"/>
          <p:cNvSpPr/>
          <p:nvPr/>
        </p:nvSpPr>
        <p:spPr>
          <a:xfrm>
            <a:off x="4571851" y="1522214"/>
            <a:ext cx="1968550" cy="901601"/>
          </a:xfrm>
          <a:prstGeom prst="roundRect">
            <a:avLst>
              <a:gd name="adj" fmla="val 14086"/>
            </a:avLst>
          </a:prstGeom>
          <a:solidFill>
            <a:srgbClr val="DDF4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733776" y="1658689"/>
            <a:ext cx="1677594" cy="419100"/>
          </a:xfrm>
          <a:prstGeom prst="rect">
            <a:avLst/>
          </a:prstGeom>
          <a:noFill/>
          <a:ln/>
        </p:spPr>
        <p:txBody>
          <a:bodyPr wrap="square" lIns="0" tIns="0" rIns="0" bIns="0" rtlCol="0" anchor="t"/>
          <a:lstStyle/>
          <a:p>
            <a:pPr algn="l" indent="0" marL="0">
              <a:buNone/>
            </a:pPr>
            <a:r>
              <a:rPr lang="en-US" sz="1450" b="1" dirty="0">
                <a:solidFill>
                  <a:srgbClr val="1F2328"/>
                </a:solidFill>
                <a:latin typeface="Arial" pitchFamily="34" charset="0"/>
                <a:ea typeface="Arial" pitchFamily="34" charset="-122"/>
                <a:cs typeface="Arial" pitchFamily="34" charset="-120"/>
              </a:rPr>
              <a:t>Manual: "What is the status now?"</a:t>
            </a:r>
            <a:endParaRPr lang="en-US" sz="1450" dirty="0"/>
          </a:p>
        </p:txBody>
      </p:sp>
      <p:sp>
        <p:nvSpPr>
          <p:cNvPr id="12" name="Text 7"/>
          <p:cNvSpPr/>
          <p:nvPr/>
        </p:nvSpPr>
        <p:spPr>
          <a:xfrm>
            <a:off x="6667351" y="1522214"/>
            <a:ext cx="1968550" cy="901601"/>
          </a:xfrm>
          <a:prstGeom prst="roundRect">
            <a:avLst>
              <a:gd name="adj" fmla="val 14086"/>
            </a:avLst>
          </a:prstGeom>
          <a:solidFill>
            <a:srgbClr val="DAFBE1"/>
          </a:solidFill>
          <a:ln w="9525">
            <a:solidFill>
              <a:srgbClr val="8CE7A5"/>
            </a:solidFill>
          </a:ln>
        </p:spPr>
        <p:txBody>
          <a:bodyPr wrap="square" rtlCol="0" anchor="ctr"/>
          <a:lstStyle/>
          <a:p>
            <a:pPr indent="0" marL="0">
              <a:buNone/>
            </a:pPr>
            <a:endParaRPr lang="en-US" dirty="0"/>
          </a:p>
        </p:txBody>
      </p:sp>
      <p:sp>
        <p:nvSpPr>
          <p:cNvPr id="13" name="Text 8"/>
          <p:cNvSpPr/>
          <p:nvPr/>
        </p:nvSpPr>
        <p:spPr>
          <a:xfrm>
            <a:off x="6829276" y="1658689"/>
            <a:ext cx="1677594" cy="628650"/>
          </a:xfrm>
          <a:prstGeom prst="rect">
            <a:avLst/>
          </a:prstGeom>
          <a:noFill/>
          <a:ln/>
        </p:spPr>
        <p:txBody>
          <a:bodyPr wrap="square" lIns="0" tIns="0" rIns="0" bIns="0" rtlCol="0" anchor="t"/>
          <a:lstStyle/>
          <a:p>
            <a:pPr algn="l" indent="0" marL="0">
              <a:buNone/>
            </a:pPr>
            <a:r>
              <a:rPr lang="en-US" sz="1450" b="1" dirty="0">
                <a:solidFill>
                  <a:srgbClr val="1F2328"/>
                </a:solidFill>
                <a:latin typeface="Arial" pitchFamily="34" charset="0"/>
                <a:ea typeface="Arial" pitchFamily="34" charset="-122"/>
                <a:cs typeface="Arial" pitchFamily="34" charset="-120"/>
              </a:rPr>
              <a:t>Daily: "What changed since yesterday?"</a:t>
            </a:r>
            <a:endParaRPr lang="en-US" sz="1450" dirty="0"/>
          </a:p>
        </p:txBody>
      </p:sp>
      <p:sp>
        <p:nvSpPr>
          <p:cNvPr id="14" name="Text 9"/>
          <p:cNvSpPr/>
          <p:nvPr/>
        </p:nvSpPr>
        <p:spPr>
          <a:xfrm>
            <a:off x="4571851" y="2626965"/>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5" name="Text 10"/>
          <p:cNvSpPr/>
          <p:nvPr/>
        </p:nvSpPr>
        <p:spPr>
          <a:xfrm>
            <a:off x="4666516" y="2671316"/>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6" name="Text 11"/>
          <p:cNvSpPr/>
          <p:nvPr/>
        </p:nvSpPr>
        <p:spPr>
          <a:xfrm>
            <a:off x="5003602" y="2626965"/>
            <a:ext cx="205133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Edit the trigger</a:t>
            </a:r>
            <a:endParaRPr lang="en-US" sz="1550" dirty="0"/>
          </a:p>
        </p:txBody>
      </p:sp>
      <p:sp>
        <p:nvSpPr>
          <p:cNvPr id="17" name="Text 12"/>
          <p:cNvSpPr/>
          <p:nvPr/>
        </p:nvSpPr>
        <p:spPr>
          <a:xfrm>
            <a:off x="5003602" y="2874466"/>
            <a:ext cx="2051337" cy="198090"/>
          </a:xfrm>
          <a:prstGeom prst="rect">
            <a:avLst/>
          </a:prstGeom>
          <a:noFill/>
          <a:ln/>
        </p:spPr>
        <p:txBody>
          <a:bodyPr wrap="square" lIns="0" tIns="0" rIns="0" bIns="0" rtlCol="0" anchor="t"/>
          <a:lstStyle/>
          <a:p>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Manual</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to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Daily</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at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08:00</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
        <p:nvSpPr>
          <p:cNvPr id="18" name="Text 13"/>
          <p:cNvSpPr/>
          <p:nvPr/>
        </p:nvSpPr>
        <p:spPr>
          <a:xfrm>
            <a:off x="4571851" y="327570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9" name="Text 14"/>
          <p:cNvSpPr/>
          <p:nvPr/>
        </p:nvSpPr>
        <p:spPr>
          <a:xfrm>
            <a:off x="4666516" y="332005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20" name="Text 15"/>
          <p:cNvSpPr/>
          <p:nvPr/>
        </p:nvSpPr>
        <p:spPr>
          <a:xfrm>
            <a:off x="5003602" y="3275707"/>
            <a:ext cx="3257273"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Keep the app running</a:t>
            </a:r>
            <a:endParaRPr lang="en-US" sz="1550" dirty="0"/>
          </a:p>
        </p:txBody>
      </p:sp>
      <p:sp>
        <p:nvSpPr>
          <p:cNvPr id="21" name="Text 16"/>
          <p:cNvSpPr/>
          <p:nvPr/>
        </p:nvSpPr>
        <p:spPr>
          <a:xfrm>
            <a:off x="5003602" y="3523208"/>
            <a:ext cx="325727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Local runs need the app open and awake.</a:t>
            </a:r>
            <a:endParaRPr lang="en-US" sz="1350" dirty="0"/>
          </a:p>
        </p:txBody>
      </p:sp>
      <p:sp>
        <p:nvSpPr>
          <p:cNvPr id="22" name="Text 17"/>
          <p:cNvSpPr/>
          <p:nvPr/>
        </p:nvSpPr>
        <p:spPr>
          <a:xfrm>
            <a:off x="4571851" y="3924449"/>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8"/>
          <p:cNvSpPr/>
          <p:nvPr/>
        </p:nvSpPr>
        <p:spPr>
          <a:xfrm>
            <a:off x="4666516" y="396880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5003602" y="3924449"/>
            <a:ext cx="3207937" cy="222200"/>
          </a:xfrm>
          <a:prstGeom prst="rect">
            <a:avLst/>
          </a:prstGeom>
          <a:noFill/>
          <a:ln/>
        </p:spPr>
        <p:txBody>
          <a:bodyPr wrap="square" lIns="0" tIns="0" rIns="0" bIns="0" rtlCol="0" anchor="t"/>
          <a:lstStyle/>
          <a:p>
            <a:pPr algn="l" indent="0" marL="0">
              <a:lnSpc>
                <a:spcPts val="1750"/>
              </a:lnSpc>
              <a:buNone/>
            </a:pPr>
            <a:r>
              <a:rPr lang="en-US" sz="1550" b="1" dirty="0">
                <a:solidFill>
                  <a:srgbClr val="1F2328"/>
                </a:solidFill>
                <a:latin typeface="Arial" pitchFamily="34" charset="0"/>
                <a:ea typeface="Arial" pitchFamily="34" charset="-122"/>
                <a:cs typeface="Arial" pitchFamily="34" charset="-120"/>
              </a:rPr>
              <a:t>Check Recent runs</a:t>
            </a:r>
            <a:endParaRPr lang="en-US" sz="1550" dirty="0"/>
          </a:p>
        </p:txBody>
      </p:sp>
      <p:sp>
        <p:nvSpPr>
          <p:cNvPr id="25" name="Text 20"/>
          <p:cNvSpPr/>
          <p:nvPr/>
        </p:nvSpPr>
        <p:spPr>
          <a:xfrm>
            <a:off x="5003602" y="4171950"/>
            <a:ext cx="3207937"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new run appears without pressing </a:t>
            </a:r>
            <a:pPr algn="l" indent="0" marL="0">
              <a:lnSpc>
                <a:spcPts val="1560"/>
              </a:lnSpc>
              <a:buNone/>
            </a:pPr>
            <a:r>
              <a:rPr lang="en-US" sz="1350" b="1" dirty="0">
                <a:solidFill>
                  <a:srgbClr val="59636E"/>
                </a:solidFill>
                <a:latin typeface="Arial" pitchFamily="34" charset="0"/>
                <a:ea typeface="Arial" pitchFamily="34" charset="-122"/>
                <a:cs typeface="Arial" pitchFamily="34" charset="-120"/>
              </a:rPr>
              <a:t>Run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571774"/>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88282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Events and cloud</a:t>
            </a:r>
            <a:endParaRPr lang="en-US" sz="4000" dirty="0"/>
          </a:p>
        </p:txBody>
      </p:sp>
      <p:sp>
        <p:nvSpPr>
          <p:cNvPr id="11" name="Text 7"/>
          <p:cNvSpPr/>
          <p:nvPr/>
        </p:nvSpPr>
        <p:spPr>
          <a:xfrm>
            <a:off x="711101" y="267012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12" name="Text 8"/>
          <p:cNvSpPr/>
          <p:nvPr/>
        </p:nvSpPr>
        <p:spPr>
          <a:xfrm>
            <a:off x="711101" y="2936677"/>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Optional. React to repository events, or run while your laptop is closed.</a:t>
            </a:r>
            <a:endParaRPr lang="en-US" sz="1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EVENT TRIGGERS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React to repository activity, safely</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Issues, PRs, discussions, workflows, and other automations can start a run.</a:t>
            </a:r>
            <a:endParaRPr lang="en-US" sz="1650" dirty="0"/>
          </a:p>
        </p:txBody>
      </p:sp>
      <p:sp>
        <p:nvSpPr>
          <p:cNvPr id="9" name="Text 5"/>
          <p:cNvSpPr/>
          <p:nvPr/>
        </p:nvSpPr>
        <p:spPr>
          <a:xfrm>
            <a:off x="507950" y="2004268"/>
            <a:ext cx="5079950" cy="2214116"/>
          </a:xfrm>
          <a:prstGeom prst="roundRect">
            <a:avLst>
              <a:gd name="adj" fmla="val 5736"/>
            </a:avLst>
          </a:prstGeom>
          <a:solidFill>
            <a:srgbClr val="FFFFFF"/>
          </a:solidFill>
          <a:ln w="9525">
            <a:solidFill>
              <a:srgbClr val="8CE7A5"/>
            </a:solidFill>
          </a:ln>
        </p:spPr>
        <p:txBody>
          <a:bodyPr wrap="square" rtlCol="0" anchor="ctr"/>
          <a:lstStyle/>
          <a:p>
            <a:pPr indent="0" marL="0">
              <a:buNone/>
            </a:pPr>
            <a:endParaRPr lang="en-US" dirty="0"/>
          </a:p>
        </p:txBody>
      </p:sp>
      <p:sp>
        <p:nvSpPr>
          <p:cNvPr id="10" name="Shape 6"/>
          <p:cNvSpPr/>
          <p:nvPr/>
        </p:nvSpPr>
        <p:spPr>
          <a:xfrm>
            <a:off x="517475" y="2526506"/>
            <a:ext cx="5060900" cy="0"/>
          </a:xfrm>
          <a:prstGeom prst="line">
            <a:avLst/>
          </a:prstGeom>
          <a:noFill/>
          <a:ln w="9525">
            <a:solidFill>
              <a:srgbClr val="D1D9E0"/>
            </a:solidFill>
            <a:prstDash val="solid"/>
          </a:ln>
        </p:spPr>
      </p:sp>
      <p:sp>
        <p:nvSpPr>
          <p:cNvPr id="11" name="Text 7"/>
          <p:cNvSpPr/>
          <p:nvPr/>
        </p:nvSpPr>
        <p:spPr>
          <a:xfrm>
            <a:off x="695176" y="2128093"/>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2" name="Text 8"/>
          <p:cNvSpPr/>
          <p:nvPr/>
        </p:nvSpPr>
        <p:spPr>
          <a:xfrm>
            <a:off x="789841" y="217244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6038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Start read-only</a:t>
            </a:r>
            <a:endParaRPr lang="en-US" sz="1500" dirty="0"/>
          </a:p>
        </p:txBody>
      </p:sp>
      <p:sp>
        <p:nvSpPr>
          <p:cNvPr id="14" name="Text 10"/>
          <p:cNvSpPr/>
          <p:nvPr/>
        </p:nvSpPr>
        <p:spPr>
          <a:xfrm>
            <a:off x="3107829" y="2164259"/>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Summaries, not edits.</a:t>
            </a:r>
            <a:endParaRPr lang="en-US" sz="1400" dirty="0"/>
          </a:p>
        </p:txBody>
      </p:sp>
      <p:sp>
        <p:nvSpPr>
          <p:cNvPr id="15" name="Shape 11"/>
          <p:cNvSpPr/>
          <p:nvPr/>
        </p:nvSpPr>
        <p:spPr>
          <a:xfrm>
            <a:off x="517475" y="3178671"/>
            <a:ext cx="5060900" cy="0"/>
          </a:xfrm>
          <a:prstGeom prst="line">
            <a:avLst/>
          </a:prstGeom>
          <a:noFill/>
          <a:ln w="9525">
            <a:solidFill>
              <a:srgbClr val="D1D9E0"/>
            </a:solidFill>
            <a:prstDash val="solid"/>
          </a:ln>
        </p:spPr>
      </p:sp>
      <p:sp>
        <p:nvSpPr>
          <p:cNvPr id="16" name="Text 12"/>
          <p:cNvSpPr/>
          <p:nvPr/>
        </p:nvSpPr>
        <p:spPr>
          <a:xfrm>
            <a:off x="695176" y="271283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7" name="Text 13"/>
          <p:cNvSpPr/>
          <p:nvPr/>
        </p:nvSpPr>
        <p:spPr>
          <a:xfrm>
            <a:off x="789841" y="275719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45284"/>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One repository</a:t>
            </a:r>
            <a:endParaRPr lang="en-US" sz="1500" dirty="0"/>
          </a:p>
        </p:txBody>
      </p:sp>
      <p:sp>
        <p:nvSpPr>
          <p:cNvPr id="19" name="Text 15"/>
          <p:cNvSpPr/>
          <p:nvPr/>
        </p:nvSpPr>
        <p:spPr>
          <a:xfrm>
            <a:off x="3107829" y="2645569"/>
            <a:ext cx="233870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Never every repo you can access.</a:t>
            </a:r>
            <a:endParaRPr lang="en-US" sz="1400" dirty="0"/>
          </a:p>
        </p:txBody>
      </p:sp>
      <p:sp>
        <p:nvSpPr>
          <p:cNvPr id="20" name="Shape 16"/>
          <p:cNvSpPr/>
          <p:nvPr/>
        </p:nvSpPr>
        <p:spPr>
          <a:xfrm>
            <a:off x="517475" y="3696146"/>
            <a:ext cx="5060900" cy="0"/>
          </a:xfrm>
          <a:prstGeom prst="line">
            <a:avLst/>
          </a:prstGeom>
          <a:noFill/>
          <a:ln w="9525">
            <a:solidFill>
              <a:srgbClr val="D1D9E0"/>
            </a:solidFill>
            <a:prstDash val="solid"/>
          </a:ln>
        </p:spPr>
      </p:sp>
      <p:sp>
        <p:nvSpPr>
          <p:cNvPr id="21" name="Text 17"/>
          <p:cNvSpPr/>
          <p:nvPr/>
        </p:nvSpPr>
        <p:spPr>
          <a:xfrm>
            <a:off x="695176" y="3297734"/>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789841" y="334208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33002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Filter narrowly</a:t>
            </a:r>
            <a:endParaRPr lang="en-US" sz="1500" dirty="0"/>
          </a:p>
        </p:txBody>
      </p:sp>
      <p:sp>
        <p:nvSpPr>
          <p:cNvPr id="24" name="Text 20"/>
          <p:cNvSpPr/>
          <p:nvPr/>
        </p:nvSpPr>
        <p:spPr>
          <a:xfrm>
            <a:off x="3107829" y="3333899"/>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By label or search query.</a:t>
            </a:r>
            <a:endParaRPr lang="en-US" sz="1400" dirty="0"/>
          </a:p>
        </p:txBody>
      </p:sp>
      <p:sp>
        <p:nvSpPr>
          <p:cNvPr id="25" name="Text 21"/>
          <p:cNvSpPr/>
          <p:nvPr/>
        </p:nvSpPr>
        <p:spPr>
          <a:xfrm>
            <a:off x="695176" y="3815209"/>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6" name="Text 22"/>
          <p:cNvSpPr/>
          <p:nvPr/>
        </p:nvSpPr>
        <p:spPr>
          <a:xfrm>
            <a:off x="789841" y="3859560"/>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847505"/>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Hold write tools</a:t>
            </a:r>
            <a:endParaRPr lang="en-US" sz="1500" dirty="0"/>
          </a:p>
        </p:txBody>
      </p:sp>
      <p:sp>
        <p:nvSpPr>
          <p:cNvPr id="28" name="Text 24"/>
          <p:cNvSpPr/>
          <p:nvPr/>
        </p:nvSpPr>
        <p:spPr>
          <a:xfrm>
            <a:off x="3107829" y="3851374"/>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Until several runs look right.</a:t>
            </a:r>
            <a:endParaRPr lang="en-US" sz="1400" dirty="0"/>
          </a:p>
        </p:txBody>
      </p:sp>
      <p:sp>
        <p:nvSpPr>
          <p:cNvPr id="29" name="Text 25"/>
          <p:cNvSpPr/>
          <p:nvPr/>
        </p:nvSpPr>
        <p:spPr>
          <a:xfrm>
            <a:off x="5791051" y="2639467"/>
            <a:ext cx="2844701" cy="943570"/>
          </a:xfrm>
          <a:prstGeom prst="roundRect">
            <a:avLst>
              <a:gd name="adj" fmla="val 10768"/>
            </a:avLst>
          </a:prstGeom>
          <a:solidFill>
            <a:srgbClr val="FFEBE9"/>
          </a:solidFill>
          <a:ln w="9525">
            <a:solidFill>
              <a:srgbClr val="FFCECB"/>
            </a:solidFill>
          </a:ln>
        </p:spPr>
        <p:txBody>
          <a:bodyPr wrap="square" rtlCol="0" anchor="ctr"/>
          <a:lstStyle/>
          <a:p>
            <a:pPr indent="0" marL="0">
              <a:buNone/>
            </a:pPr>
            <a:endParaRPr lang="en-US" dirty="0"/>
          </a:p>
        </p:txBody>
      </p:sp>
      <p:pic>
        <p:nvPicPr>
          <p:cNvPr id="30" name="Image 2" descr="/Users/danwahlin/.copilot/session-state/56a7a0da-def8-48d4-b5e8-0ac3878cb8dd/files/slides-build/icons/GoAlert-CF222E.png">    </p:cNvPr>
          <p:cNvPicPr>
            <a:picLocks noChangeAspect="1"/>
          </p:cNvPicPr>
          <p:nvPr/>
        </p:nvPicPr>
        <p:blipFill>
          <a:blip r:embed="rId4"/>
          <a:stretch>
            <a:fillRect/>
          </a:stretch>
        </p:blipFill>
        <p:spPr>
          <a:xfrm>
            <a:off x="5978277" y="3009602"/>
            <a:ext cx="203150" cy="203150"/>
          </a:xfrm>
          <a:prstGeom prst="rect">
            <a:avLst/>
          </a:prstGeom>
        </p:spPr>
      </p:pic>
      <p:sp>
        <p:nvSpPr>
          <p:cNvPr id="31" name="Text 26"/>
          <p:cNvSpPr/>
          <p:nvPr/>
        </p:nvSpPr>
        <p:spPr>
          <a:xfrm>
            <a:off x="6308378" y="2775942"/>
            <a:ext cx="2182951" cy="67062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Hostile issue text plus write tools raises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prompt-injection</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risk.</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LOCAL OR CLOUD</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Move to the cloud only when it is proven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Cloud runs on GitHub even when your laptop is closed.</a:t>
            </a:r>
            <a:endParaRPr lang="en-US" sz="1650" dirty="0"/>
          </a:p>
        </p:txBody>
      </p:sp>
      <p:sp>
        <p:nvSpPr>
          <p:cNvPr id="9" name="Text 5"/>
          <p:cNvSpPr/>
          <p:nvPr/>
        </p:nvSpPr>
        <p:spPr>
          <a:xfrm>
            <a:off x="511076" y="2212925"/>
            <a:ext cx="2533650" cy="1720751"/>
          </a:xfrm>
          <a:prstGeom prst="roundRect">
            <a:avLst>
              <a:gd name="adj" fmla="val 442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7-local-vs-cloud-automations.jpg">    </p:cNvPr>
          <p:cNvPicPr>
            <a:picLocks noChangeAspect="1"/>
          </p:cNvPicPr>
          <p:nvPr/>
        </p:nvPicPr>
        <p:blipFill>
          <a:blip r:embed="rId4"/>
          <a:stretch>
            <a:fillRect/>
          </a:stretch>
        </p:blipFill>
        <p:spPr>
          <a:xfrm>
            <a:off x="558701" y="2260550"/>
            <a:ext cx="2438400" cy="1625501"/>
          </a:xfrm>
          <a:prstGeom prst="rect">
            <a:avLst/>
          </a:prstGeom>
        </p:spPr>
      </p:pic>
      <p:sp>
        <p:nvSpPr>
          <p:cNvPr id="11" name="Text 6"/>
          <p:cNvSpPr/>
          <p:nvPr/>
        </p:nvSpPr>
        <p:spPr>
          <a:xfrm>
            <a:off x="3251002" y="1574750"/>
            <a:ext cx="2692598" cy="2142530"/>
          </a:xfrm>
          <a:prstGeom prst="roundRect">
            <a:avLst>
              <a:gd name="adj" fmla="val 5928"/>
            </a:avLst>
          </a:prstGeom>
          <a:solidFill>
            <a:srgbClr val="FFFFFF"/>
          </a:solidFill>
          <a:ln w="9525">
            <a:solidFill>
              <a:srgbClr val="FFC49B"/>
            </a:solidFill>
          </a:ln>
        </p:spPr>
        <p:txBody>
          <a:bodyPr wrap="square" rtlCol="0" anchor="ctr"/>
          <a:lstStyle/>
          <a:p>
            <a:pPr indent="0" marL="0">
              <a:buNone/>
            </a:pPr>
            <a:endParaRPr lang="en-US" dirty="0"/>
          </a:p>
        </p:txBody>
      </p:sp>
      <p:sp>
        <p:nvSpPr>
          <p:cNvPr id="12" name="Text 7"/>
          <p:cNvSpPr/>
          <p:nvPr/>
        </p:nvSpPr>
        <p:spPr>
          <a:xfrm>
            <a:off x="3412927" y="1736675"/>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13" name="Image 3" descr="/Users/danwahlin/.copilot/session-state/56a7a0da-def8-48d4-b5e8-0ac3878cb8dd/files/slides-build/icons/GoShieldCheck-BC4C00.png">    </p:cNvPr>
          <p:cNvPicPr>
            <a:picLocks noChangeAspect="1"/>
          </p:cNvPicPr>
          <p:nvPr/>
        </p:nvPicPr>
        <p:blipFill>
          <a:blip r:embed="rId5"/>
          <a:stretch>
            <a:fillRect/>
          </a:stretch>
        </p:blipFill>
        <p:spPr>
          <a:xfrm>
            <a:off x="3495526" y="1819275"/>
            <a:ext cx="215801" cy="215801"/>
          </a:xfrm>
          <a:prstGeom prst="rect">
            <a:avLst/>
          </a:prstGeom>
        </p:spPr>
      </p:pic>
      <p:sp>
        <p:nvSpPr>
          <p:cNvPr id="14" name="Text 8"/>
          <p:cNvSpPr/>
          <p:nvPr/>
        </p:nvSpPr>
        <p:spPr>
          <a:xfrm>
            <a:off x="3908227" y="1812875"/>
            <a:ext cx="128259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Cloud needs</a:t>
            </a:r>
            <a:endParaRPr lang="en-US" sz="1650" dirty="0"/>
          </a:p>
        </p:txBody>
      </p:sp>
      <p:sp>
        <p:nvSpPr>
          <p:cNvPr id="15" name="Text 9"/>
          <p:cNvSpPr/>
          <p:nvPr/>
        </p:nvSpPr>
        <p:spPr>
          <a:xfrm>
            <a:off x="3412927" y="2273796"/>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6" name="Text 10"/>
          <p:cNvSpPr/>
          <p:nvPr/>
        </p:nvSpPr>
        <p:spPr>
          <a:xfrm>
            <a:off x="3571577" y="2193875"/>
            <a:ext cx="167334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Cloud agent enabled</a:t>
            </a:r>
            <a:endParaRPr lang="en-US" sz="1400" dirty="0"/>
          </a:p>
        </p:txBody>
      </p:sp>
      <p:sp>
        <p:nvSpPr>
          <p:cNvPr id="17" name="Text 11"/>
          <p:cNvSpPr/>
          <p:nvPr/>
        </p:nvSpPr>
        <p:spPr>
          <a:xfrm>
            <a:off x="3412927" y="254421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8" name="Text 12"/>
          <p:cNvSpPr/>
          <p:nvPr/>
        </p:nvSpPr>
        <p:spPr>
          <a:xfrm>
            <a:off x="3571577" y="2464296"/>
            <a:ext cx="197528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 private or internal repo</a:t>
            </a:r>
            <a:endParaRPr lang="en-US" sz="1400" dirty="0"/>
          </a:p>
        </p:txBody>
      </p:sp>
      <p:sp>
        <p:nvSpPr>
          <p:cNvPr id="19" name="Text 13"/>
          <p:cNvSpPr/>
          <p:nvPr/>
        </p:nvSpPr>
        <p:spPr>
          <a:xfrm>
            <a:off x="3412927" y="281463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20" name="Text 14"/>
          <p:cNvSpPr/>
          <p:nvPr/>
        </p:nvSpPr>
        <p:spPr>
          <a:xfrm>
            <a:off x="3571577" y="2734717"/>
            <a:ext cx="2254300"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Actions minutes and AI credits</a:t>
            </a:r>
            <a:endParaRPr lang="en-US" sz="1400" dirty="0"/>
          </a:p>
        </p:txBody>
      </p:sp>
      <p:sp>
        <p:nvSpPr>
          <p:cNvPr id="21" name="Text 15"/>
          <p:cNvSpPr/>
          <p:nvPr/>
        </p:nvSpPr>
        <p:spPr>
          <a:xfrm>
            <a:off x="3251002" y="3869680"/>
            <a:ext cx="2692598" cy="702171"/>
          </a:xfrm>
          <a:prstGeom prst="roundRect">
            <a:avLst>
              <a:gd name="adj" fmla="val 14469"/>
            </a:avLst>
          </a:prstGeom>
          <a:solidFill>
            <a:srgbClr val="DAFBE1"/>
          </a:solidFill>
          <a:ln w="9525">
            <a:solidFill>
              <a:srgbClr val="8CE7A5"/>
            </a:solidFill>
          </a:ln>
        </p:spPr>
        <p:txBody>
          <a:bodyPr wrap="square" rtlCol="0" anchor="ctr"/>
          <a:lstStyle/>
          <a:p>
            <a:pPr indent="0" marL="0">
              <a:buNone/>
            </a:pPr>
            <a:endParaRPr lang="en-US" dirty="0"/>
          </a:p>
        </p:txBody>
      </p:sp>
      <p:pic>
        <p:nvPicPr>
          <p:cNvPr id="22" name="Image 4" descr="/Users/danwahlin/.copilot/session-state/56a7a0da-def8-48d4-b5e8-0ac3878cb8dd/files/slides-build/icons/GoLock-1A7F37.png">    </p:cNvPr>
          <p:cNvPicPr>
            <a:picLocks noChangeAspect="1"/>
          </p:cNvPicPr>
          <p:nvPr/>
        </p:nvPicPr>
        <p:blipFill>
          <a:blip r:embed="rId6"/>
          <a:stretch>
            <a:fillRect/>
          </a:stretch>
        </p:blipFill>
        <p:spPr>
          <a:xfrm>
            <a:off x="3438227" y="4119116"/>
            <a:ext cx="203150" cy="203150"/>
          </a:xfrm>
          <a:prstGeom prst="rect">
            <a:avLst/>
          </a:prstGeom>
        </p:spPr>
      </p:pic>
      <p:sp>
        <p:nvSpPr>
          <p:cNvPr id="23" name="Text 16"/>
          <p:cNvSpPr/>
          <p:nvPr/>
        </p:nvSpPr>
        <p:spPr>
          <a:xfrm>
            <a:off x="3768328" y="4006155"/>
            <a:ext cx="2027807" cy="429220"/>
          </a:xfrm>
          <a:prstGeom prst="rect">
            <a:avLst/>
          </a:prstGeom>
          <a:noFill/>
          <a:ln/>
        </p:spPr>
        <p:txBody>
          <a:bodyPr wrap="square" lIns="0" tIns="0" rIns="0" bIns="0" rtlCol="0" anchor="t"/>
          <a:lstStyle/>
          <a:p>
            <a:pPr algn="l" indent="0" marL="0">
              <a:lnSpc>
                <a:spcPts val="1690"/>
              </a:lnSpc>
              <a:buNone/>
            </a:pPr>
            <a:r>
              <a:rPr lang="en-US" sz="1400" dirty="0">
                <a:solidFill>
                  <a:srgbClr val="1F2328"/>
                </a:solidFill>
                <a:latin typeface="Arial" pitchFamily="34" charset="0"/>
                <a:ea typeface="Arial" pitchFamily="34" charset="-122"/>
                <a:cs typeface="Arial" pitchFamily="34" charset="-120"/>
              </a:rPr>
              <a:t>Clear every tool you do not need.</a:t>
            </a:r>
            <a:endParaRPr lang="en-US" sz="1400" dirty="0"/>
          </a:p>
        </p:txBody>
      </p:sp>
      <p:sp>
        <p:nvSpPr>
          <p:cNvPr id="24" name="Text 17"/>
          <p:cNvSpPr/>
          <p:nvPr/>
        </p:nvSpPr>
        <p:spPr>
          <a:xfrm>
            <a:off x="6149876" y="1775966"/>
            <a:ext cx="2482751" cy="2594521"/>
          </a:xfrm>
          <a:prstGeom prst="roundRect">
            <a:avLst>
              <a:gd name="adj" fmla="val 3069"/>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25" name="Image 5" descr="/Users/danwahlin/.copilot/session-state/56a7a0da-def8-48d4-b5e8-0ac3878cb8dd/files/slides-build/img/07-cloud-tools-crop.png">    </p:cNvPr>
          <p:cNvPicPr>
            <a:picLocks noChangeAspect="1"/>
          </p:cNvPicPr>
          <p:nvPr/>
        </p:nvPicPr>
        <p:blipFill>
          <a:blip r:embed="rId7"/>
          <a:stretch>
            <a:fillRect/>
          </a:stretch>
        </p:blipFill>
        <p:spPr>
          <a:xfrm>
            <a:off x="6197501" y="1823591"/>
            <a:ext cx="2387501" cy="249927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Automate one task from your own work</a:t>
            </a:r>
            <a:endParaRPr lang="en-US" sz="2800" dirty="0"/>
          </a:p>
        </p:txBody>
      </p:sp>
      <p:sp>
        <p:nvSpPr>
          <p:cNvPr id="8" name="Text 4"/>
          <p:cNvSpPr/>
          <p:nvPr/>
        </p:nvSpPr>
        <p:spPr>
          <a:xfrm>
            <a:off x="507950" y="1839218"/>
            <a:ext cx="5079950" cy="2214116"/>
          </a:xfrm>
          <a:prstGeom prst="roundRect">
            <a:avLst>
              <a:gd name="adj" fmla="val 5736"/>
            </a:avLst>
          </a:prstGeom>
          <a:solidFill>
            <a:srgbClr val="FFFFFF"/>
          </a:solidFill>
          <a:ln w="9525">
            <a:solidFill>
              <a:srgbClr val="FFC49B"/>
            </a:solidFill>
          </a:ln>
        </p:spPr>
        <p:txBody>
          <a:bodyPr wrap="square" rtlCol="0" anchor="ctr"/>
          <a:lstStyle/>
          <a:p>
            <a:pPr indent="0" marL="0">
              <a:buNone/>
            </a:pPr>
            <a:endParaRPr lang="en-US" dirty="0"/>
          </a:p>
        </p:txBody>
      </p:sp>
      <p:sp>
        <p:nvSpPr>
          <p:cNvPr id="9" name="Shape 5"/>
          <p:cNvSpPr/>
          <p:nvPr/>
        </p:nvSpPr>
        <p:spPr>
          <a:xfrm>
            <a:off x="517475" y="2361456"/>
            <a:ext cx="5060900" cy="0"/>
          </a:xfrm>
          <a:prstGeom prst="line">
            <a:avLst/>
          </a:prstGeom>
          <a:noFill/>
          <a:ln w="9525">
            <a:solidFill>
              <a:srgbClr val="D1D9E0"/>
            </a:solidFill>
            <a:prstDash val="solid"/>
          </a:ln>
        </p:spPr>
      </p:sp>
      <p:sp>
        <p:nvSpPr>
          <p:cNvPr id="10" name="Text 6"/>
          <p:cNvSpPr/>
          <p:nvPr/>
        </p:nvSpPr>
        <p:spPr>
          <a:xfrm>
            <a:off x="695176" y="196304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1" name="Text 7"/>
          <p:cNvSpPr/>
          <p:nvPr/>
        </p:nvSpPr>
        <p:spPr>
          <a:xfrm>
            <a:off x="789841" y="200739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2" name="Text 8"/>
          <p:cNvSpPr/>
          <p:nvPr/>
        </p:nvSpPr>
        <p:spPr>
          <a:xfrm>
            <a:off x="1152227" y="199533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Name it clearly</a:t>
            </a:r>
            <a:endParaRPr lang="en-US" sz="1500" dirty="0"/>
          </a:p>
        </p:txBody>
      </p:sp>
      <p:sp>
        <p:nvSpPr>
          <p:cNvPr id="13" name="Text 9"/>
          <p:cNvSpPr/>
          <p:nvPr/>
        </p:nvSpPr>
        <p:spPr>
          <a:xfrm>
            <a:off x="3107829" y="1999208"/>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Anyone knows what it does.</a:t>
            </a:r>
            <a:endParaRPr lang="en-US" sz="1400" dirty="0"/>
          </a:p>
        </p:txBody>
      </p:sp>
      <p:sp>
        <p:nvSpPr>
          <p:cNvPr id="14" name="Shape 10"/>
          <p:cNvSpPr/>
          <p:nvPr/>
        </p:nvSpPr>
        <p:spPr>
          <a:xfrm>
            <a:off x="517475" y="3013621"/>
            <a:ext cx="5060900" cy="0"/>
          </a:xfrm>
          <a:prstGeom prst="line">
            <a:avLst/>
          </a:prstGeom>
          <a:noFill/>
          <a:ln w="9525">
            <a:solidFill>
              <a:srgbClr val="D1D9E0"/>
            </a:solidFill>
            <a:prstDash val="solid"/>
          </a:ln>
        </p:spPr>
      </p:sp>
      <p:sp>
        <p:nvSpPr>
          <p:cNvPr id="15" name="Text 11"/>
          <p:cNvSpPr/>
          <p:nvPr/>
        </p:nvSpPr>
        <p:spPr>
          <a:xfrm>
            <a:off x="695176" y="254778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6" name="Text 12"/>
          <p:cNvSpPr/>
          <p:nvPr/>
        </p:nvSpPr>
        <p:spPr>
          <a:xfrm>
            <a:off x="789841" y="259213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7" name="Text 13"/>
          <p:cNvSpPr/>
          <p:nvPr/>
        </p:nvSpPr>
        <p:spPr>
          <a:xfrm>
            <a:off x="1152227" y="2580233"/>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Keep it manual</a:t>
            </a:r>
            <a:endParaRPr lang="en-US" sz="1500" dirty="0"/>
          </a:p>
        </p:txBody>
      </p:sp>
      <p:sp>
        <p:nvSpPr>
          <p:cNvPr id="18" name="Text 14"/>
          <p:cNvSpPr/>
          <p:nvPr/>
        </p:nvSpPr>
        <p:spPr>
          <a:xfrm>
            <a:off x="3107829" y="2480518"/>
            <a:ext cx="2338703"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One bounded task. Say what not to do.</a:t>
            </a:r>
            <a:endParaRPr lang="en-US" sz="1400" dirty="0"/>
          </a:p>
        </p:txBody>
      </p:sp>
      <p:sp>
        <p:nvSpPr>
          <p:cNvPr id="19" name="Shape 15"/>
          <p:cNvSpPr/>
          <p:nvPr/>
        </p:nvSpPr>
        <p:spPr>
          <a:xfrm>
            <a:off x="517475" y="3531096"/>
            <a:ext cx="5060900" cy="0"/>
          </a:xfrm>
          <a:prstGeom prst="line">
            <a:avLst/>
          </a:prstGeom>
          <a:noFill/>
          <a:ln w="9525">
            <a:solidFill>
              <a:srgbClr val="D1D9E0"/>
            </a:solidFill>
            <a:prstDash val="solid"/>
          </a:ln>
        </p:spPr>
      </p:sp>
      <p:sp>
        <p:nvSpPr>
          <p:cNvPr id="20" name="Text 16"/>
          <p:cNvSpPr/>
          <p:nvPr/>
        </p:nvSpPr>
        <p:spPr>
          <a:xfrm>
            <a:off x="695176" y="313268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1" name="Text 17"/>
          <p:cNvSpPr/>
          <p:nvPr/>
        </p:nvSpPr>
        <p:spPr>
          <a:xfrm>
            <a:off x="789841" y="31770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2" name="Text 18"/>
          <p:cNvSpPr/>
          <p:nvPr/>
        </p:nvSpPr>
        <p:spPr>
          <a:xfrm>
            <a:off x="1152227" y="3164979"/>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Run it once</a:t>
            </a:r>
            <a:endParaRPr lang="en-US" sz="1500" dirty="0"/>
          </a:p>
        </p:txBody>
      </p:sp>
      <p:sp>
        <p:nvSpPr>
          <p:cNvPr id="23" name="Text 19"/>
          <p:cNvSpPr/>
          <p:nvPr/>
        </p:nvSpPr>
        <p:spPr>
          <a:xfrm>
            <a:off x="3107829" y="3168848"/>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Then open the run history.</a:t>
            </a:r>
            <a:endParaRPr lang="en-US" sz="1400" dirty="0"/>
          </a:p>
        </p:txBody>
      </p:sp>
      <p:sp>
        <p:nvSpPr>
          <p:cNvPr id="24" name="Text 20"/>
          <p:cNvSpPr/>
          <p:nvPr/>
        </p:nvSpPr>
        <p:spPr>
          <a:xfrm>
            <a:off x="695176" y="3650159"/>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5" name="Text 21"/>
          <p:cNvSpPr/>
          <p:nvPr/>
        </p:nvSpPr>
        <p:spPr>
          <a:xfrm>
            <a:off x="789841" y="369450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6" name="Text 22"/>
          <p:cNvSpPr/>
          <p:nvPr/>
        </p:nvSpPr>
        <p:spPr>
          <a:xfrm>
            <a:off x="1152227" y="3682454"/>
            <a:ext cx="181345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Revise the prompt</a:t>
            </a:r>
            <a:endParaRPr lang="en-US" sz="1500" dirty="0"/>
          </a:p>
        </p:txBody>
      </p:sp>
      <p:sp>
        <p:nvSpPr>
          <p:cNvPr id="27" name="Text 23"/>
          <p:cNvSpPr/>
          <p:nvPr/>
        </p:nvSpPr>
        <p:spPr>
          <a:xfrm>
            <a:off x="3107829" y="3686324"/>
            <a:ext cx="233870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Tighten scope and noise.</a:t>
            </a:r>
            <a:endParaRPr lang="en-US" sz="1400" dirty="0"/>
          </a:p>
        </p:txBody>
      </p:sp>
      <p:sp>
        <p:nvSpPr>
          <p:cNvPr id="28" name="Text 24"/>
          <p:cNvSpPr/>
          <p:nvPr/>
        </p:nvSpPr>
        <p:spPr>
          <a:xfrm>
            <a:off x="5791051" y="1839218"/>
            <a:ext cx="2844850" cy="2214116"/>
          </a:xfrm>
          <a:prstGeom prst="roundRect">
            <a:avLst>
              <a:gd name="adj" fmla="val 5736"/>
            </a:avLst>
          </a:prstGeom>
          <a:solidFill>
            <a:srgbClr val="FFFFFF"/>
          </a:solidFill>
          <a:ln w="9525">
            <a:solidFill>
              <a:srgbClr val="FFC49B"/>
            </a:solidFill>
          </a:ln>
        </p:spPr>
        <p:txBody>
          <a:bodyPr wrap="square" rtlCol="0" anchor="ctr"/>
          <a:lstStyle/>
          <a:p>
            <a:pPr indent="0" marL="0">
              <a:buNone/>
            </a:pPr>
            <a:endParaRPr lang="en-US" dirty="0"/>
          </a:p>
        </p:txBody>
      </p:sp>
      <p:sp>
        <p:nvSpPr>
          <p:cNvPr id="29" name="Text 25"/>
          <p:cNvSpPr/>
          <p:nvPr/>
        </p:nvSpPr>
        <p:spPr>
          <a:xfrm>
            <a:off x="5978277" y="202644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0" name="Image 2" descr="/Users/danwahlin/.copilot/session-state/56a7a0da-def8-48d4-b5e8-0ac3878cb8dd/files/slides-build/icons/GoGoal-BC4C00.png">    </p:cNvPr>
          <p:cNvPicPr>
            <a:picLocks noChangeAspect="1"/>
          </p:cNvPicPr>
          <p:nvPr/>
        </p:nvPicPr>
        <p:blipFill>
          <a:blip r:embed="rId4"/>
          <a:stretch>
            <a:fillRect/>
          </a:stretch>
        </p:blipFill>
        <p:spPr>
          <a:xfrm>
            <a:off x="6060877" y="2109043"/>
            <a:ext cx="215801" cy="215801"/>
          </a:xfrm>
          <a:prstGeom prst="rect">
            <a:avLst/>
          </a:prstGeom>
        </p:spPr>
      </p:pic>
      <p:sp>
        <p:nvSpPr>
          <p:cNvPr id="31" name="Text 26"/>
          <p:cNvSpPr/>
          <p:nvPr/>
        </p:nvSpPr>
        <p:spPr>
          <a:xfrm>
            <a:off x="6473577" y="210264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2" name="Text 27"/>
          <p:cNvSpPr/>
          <p:nvPr/>
        </p:nvSpPr>
        <p:spPr>
          <a:xfrm>
            <a:off x="5978277" y="2483644"/>
            <a:ext cx="2519806"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You can explain why it is safe to run again.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COURSE COMPLETE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Human judgment stays in the loop</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decide at every control point.</a:t>
            </a:r>
            <a:endParaRPr lang="en-US" sz="1650" dirty="0"/>
          </a:p>
        </p:txBody>
      </p:sp>
      <p:sp>
        <p:nvSpPr>
          <p:cNvPr id="9" name="Text 5"/>
          <p:cNvSpPr/>
          <p:nvPr/>
        </p:nvSpPr>
        <p:spPr>
          <a:xfrm>
            <a:off x="507950" y="1924050"/>
            <a:ext cx="2590800"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0" name="Text 6"/>
          <p:cNvSpPr/>
          <p:nvPr/>
        </p:nvSpPr>
        <p:spPr>
          <a:xfrm>
            <a:off x="695176" y="22636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Checklist-1A7F37.png">    </p:cNvPr>
          <p:cNvPicPr>
            <a:picLocks noChangeAspect="1"/>
          </p:cNvPicPr>
          <p:nvPr/>
        </p:nvPicPr>
        <p:blipFill>
          <a:blip r:embed="rId4"/>
          <a:stretch>
            <a:fillRect/>
          </a:stretch>
        </p:blipFill>
        <p:spPr>
          <a:xfrm>
            <a:off x="777776" y="2346275"/>
            <a:ext cx="215801" cy="215801"/>
          </a:xfrm>
          <a:prstGeom prst="rect">
            <a:avLst/>
          </a:prstGeom>
        </p:spPr>
      </p:pic>
      <p:sp>
        <p:nvSpPr>
          <p:cNvPr id="12" name="Text 7"/>
          <p:cNvSpPr/>
          <p:nvPr/>
        </p:nvSpPr>
        <p:spPr>
          <a:xfrm>
            <a:off x="1190476" y="2111276"/>
            <a:ext cx="1755469" cy="6858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implementation starts</a:t>
            </a:r>
            <a:endParaRPr lang="en-US" sz="1650" dirty="0"/>
          </a:p>
        </p:txBody>
      </p:sp>
      <p:sp>
        <p:nvSpPr>
          <p:cNvPr id="13" name="Text 8"/>
          <p:cNvSpPr/>
          <p:nvPr/>
        </p:nvSpPr>
        <p:spPr>
          <a:xfrm>
            <a:off x="3276451" y="1924050"/>
            <a:ext cx="2590949"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4" name="Text 9"/>
          <p:cNvSpPr/>
          <p:nvPr/>
        </p:nvSpPr>
        <p:spPr>
          <a:xfrm>
            <a:off x="3463677" y="21493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5" name="Image 3" descr="/Users/danwahlin/.copilot/session-state/56a7a0da-def8-48d4-b5e8-0ac3878cb8dd/files/slides-build/icons/GoGitPullRequest-1A7F37.png">    </p:cNvPr>
          <p:cNvPicPr>
            <a:picLocks noChangeAspect="1"/>
          </p:cNvPicPr>
          <p:nvPr/>
        </p:nvPicPr>
        <p:blipFill>
          <a:blip r:embed="rId5"/>
          <a:stretch>
            <a:fillRect/>
          </a:stretch>
        </p:blipFill>
        <p:spPr>
          <a:xfrm>
            <a:off x="3546277" y="2231975"/>
            <a:ext cx="215801" cy="215801"/>
          </a:xfrm>
          <a:prstGeom prst="rect">
            <a:avLst/>
          </a:prstGeom>
        </p:spPr>
      </p:pic>
      <p:sp>
        <p:nvSpPr>
          <p:cNvPr id="16" name="Text 10"/>
          <p:cNvSpPr/>
          <p:nvPr/>
        </p:nvSpPr>
        <p:spPr>
          <a:xfrm>
            <a:off x="3958977" y="2111276"/>
            <a:ext cx="1755621"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a pull request opens</a:t>
            </a:r>
            <a:endParaRPr lang="en-US" sz="1650" dirty="0"/>
          </a:p>
        </p:txBody>
      </p:sp>
      <p:sp>
        <p:nvSpPr>
          <p:cNvPr id="17" name="Text 11"/>
          <p:cNvSpPr/>
          <p:nvPr/>
        </p:nvSpPr>
        <p:spPr>
          <a:xfrm>
            <a:off x="6045101" y="1924050"/>
            <a:ext cx="2590800" cy="1060252"/>
          </a:xfrm>
          <a:prstGeom prst="roundRect">
            <a:avLst>
              <a:gd name="adj" fmla="val 11978"/>
            </a:avLst>
          </a:prstGeom>
          <a:solidFill>
            <a:srgbClr val="FFFFFF"/>
          </a:solidFill>
          <a:ln w="9525">
            <a:solidFill>
              <a:srgbClr val="8CE7A5"/>
            </a:solidFill>
          </a:ln>
        </p:spPr>
        <p:txBody>
          <a:bodyPr wrap="square" rtlCol="0" anchor="ctr"/>
          <a:lstStyle/>
          <a:p>
            <a:pPr indent="0" marL="0">
              <a:buNone/>
            </a:pPr>
            <a:endParaRPr lang="en-US" dirty="0"/>
          </a:p>
        </p:txBody>
      </p:sp>
      <p:sp>
        <p:nvSpPr>
          <p:cNvPr id="18" name="Text 12"/>
          <p:cNvSpPr/>
          <p:nvPr/>
        </p:nvSpPr>
        <p:spPr>
          <a:xfrm>
            <a:off x="6232327" y="2263676"/>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9" name="Image 4" descr="/Users/danwahlin/.copilot/session-state/56a7a0da-def8-48d4-b5e8-0ac3878cb8dd/files/slides-build/icons/GoGitMerge-1A7F37.png">    </p:cNvPr>
          <p:cNvPicPr>
            <a:picLocks noChangeAspect="1"/>
          </p:cNvPicPr>
          <p:nvPr/>
        </p:nvPicPr>
        <p:blipFill>
          <a:blip r:embed="rId6"/>
          <a:stretch>
            <a:fillRect/>
          </a:stretch>
        </p:blipFill>
        <p:spPr>
          <a:xfrm>
            <a:off x="6314926" y="2346275"/>
            <a:ext cx="215801" cy="215801"/>
          </a:xfrm>
          <a:prstGeom prst="rect">
            <a:avLst/>
          </a:prstGeom>
        </p:spPr>
      </p:pic>
      <p:sp>
        <p:nvSpPr>
          <p:cNvPr id="20" name="Text 13"/>
          <p:cNvSpPr/>
          <p:nvPr/>
        </p:nvSpPr>
        <p:spPr>
          <a:xfrm>
            <a:off x="6727627" y="2111276"/>
            <a:ext cx="1755469" cy="6858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Before any merge automation</a:t>
            </a:r>
            <a:endParaRPr lang="en-US" sz="1650" dirty="0"/>
          </a:p>
        </p:txBody>
      </p:sp>
      <p:sp>
        <p:nvSpPr>
          <p:cNvPr id="21" name="Text 14"/>
          <p:cNvSpPr/>
          <p:nvPr/>
        </p:nvSpPr>
        <p:spPr>
          <a:xfrm>
            <a:off x="507950" y="3263652"/>
            <a:ext cx="8290509" cy="515541"/>
          </a:xfrm>
          <a:prstGeom prst="rect">
            <a:avLst/>
          </a:prstGeom>
          <a:noFill/>
          <a:ln/>
        </p:spPr>
        <p:txBody>
          <a:bodyPr wrap="square" lIns="0" tIns="0" rIns="0" bIns="0" rtlCol="0" anchor="t"/>
          <a:lstStyle/>
          <a:p>
            <a:pPr algn="l" indent="0" marL="0">
              <a:lnSpc>
                <a:spcPts val="2030"/>
              </a:lnSpc>
              <a:buNone/>
            </a:pPr>
            <a:r>
              <a:rPr lang="en-US" sz="1650" dirty="0">
                <a:solidFill>
                  <a:srgbClr val="1F2328"/>
                </a:solidFill>
                <a:latin typeface="Arial" pitchFamily="34" charset="0"/>
                <a:ea typeface="Arial" pitchFamily="34" charset="-122"/>
                <a:cs typeface="Arial" pitchFamily="34" charset="-120"/>
              </a:rPr>
              <a:t>Practice on small, real issues first. Add advanced workflows as the work stays validated and reviewable.</a:t>
            </a:r>
            <a:endParaRPr lang="en-US" sz="1650" dirty="0"/>
          </a:p>
        </p:txBody>
      </p:sp>
      <p:sp>
        <p:nvSpPr>
          <p:cNvPr id="22" name="Text 15"/>
          <p:cNvSpPr/>
          <p:nvPr/>
        </p:nvSpPr>
        <p:spPr>
          <a:xfrm>
            <a:off x="507950" y="4058543"/>
            <a:ext cx="8290509" cy="240060"/>
          </a:xfrm>
          <a:prstGeom prst="rect">
            <a:avLst/>
          </a:prstGeom>
          <a:noFill/>
          <a:ln/>
        </p:spPr>
        <p:txBody>
          <a:bodyPr wrap="square" lIns="0" tIns="0" rIns="0" bIns="0" rtlCol="0" anchor="t"/>
          <a:lstStyle/>
          <a:p>
            <a:pPr algn="l" indent="0" marL="0">
              <a:lnSpc>
                <a:spcPts val="1890"/>
              </a:lnSpc>
              <a:buNone/>
            </a:pPr>
            <a:r>
              <a:rPr lang="en-US" sz="1550" dirty="0">
                <a:solidFill>
                  <a:srgbClr val="59636E"/>
                </a:solidFill>
                <a:latin typeface="Arial" pitchFamily="34" charset="0"/>
                <a:ea typeface="Arial" pitchFamily="34" charset="-122"/>
                <a:cs typeface="Arial" pitchFamily="34" charset="-120"/>
              </a:rPr>
              <a:t>Keep learning: </a:t>
            </a:r>
            <a:pPr algn="l" indent="0" marL="0">
              <a:lnSpc>
                <a:spcPts val="1890"/>
              </a:lnSpc>
              <a:buNone/>
            </a:pPr>
            <a:r>
              <a:rPr lang="en-US" sz="1550" b="1" u="sng" dirty="0">
                <a:solidFill>
                  <a:srgbClr val="0969DA"/>
                </a:solidFill>
                <a:latin typeface="Arial" pitchFamily="34" charset="0"/>
                <a:ea typeface="Arial" pitchFamily="34" charset="-122"/>
                <a:cs typeface="Arial" pitchFamily="34" charset="-120"/>
                <a:hlinkClick r:id="rId7" invalidUrl="" action="" tgtFrame="" tooltip="https://github.com/github/copilot-app-for-beginners" history="1" highlightClick="0" endSnd="0">
                  <a:extLst>
                    <a:ext uri="{A12FA001-AC4F-418D-AE19-62706E023703}">
                      <ahyp:hlinkClr xmlns:ahyp="http://schemas.microsoft.com/office/drawing/2018/hyperlinkcolor" val="tx"/>
                    </a:ext>
                  </a:extLst>
                </a:hlinkClick>
              </a:rPr>
              <a:t>github.com/github/copilot-app-for-beginners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07</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7-automation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An automation is a saved prompt, trigger, tool set, and review path.</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Start manual. Test the prompt before you add a schedule.</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Event triggers and cloud come later. Keep them read-only and narrow.</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read-only report adds analysis the Pull requests view does not.</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7-automations" history="1" highlightClick="0" endSnd="0">
                  <a:extLst>
                    <a:ext uri="{A12FA001-AC4F-418D-AE19-62706E023703}">
                      <ahyp:hlinkClr xmlns:ahyp="http://schemas.microsoft.com/office/drawing/2018/hyperlinkcolor" val="tx"/>
                    </a:ext>
                  </a:extLst>
                </a:hlinkClick>
              </a:rPr>
              <a:t>Open Chapter 07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COURSE HOME</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 history="1" highlightClick="0" endSnd="0">
                  <a:extLst>
                    <a:ext uri="{A12FA001-AC4F-418D-AE19-62706E023703}">
                      <ahyp:hlinkClr xmlns:ahyp="http://schemas.microsoft.com/office/drawing/2018/hyperlinkcolor" val="tx"/>
                    </a:ext>
                  </a:extLst>
                </a:hlinkClick>
              </a:rPr>
              <a:t>GitHub Copilot app for Beginners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07: Automations</dc:title>
  <dc:subject>PptxGenJS Presentation</dc:subject>
  <dc:creator>GitHub Copilot app for Beginners</dc:creator>
  <cp:lastModifiedBy>GitHub Copilot app for Beginners</cp:lastModifiedBy>
  <cp:revision>1</cp:revision>
  <dcterms:created xsi:type="dcterms:W3CDTF">2026-10-06T02:26:29Z</dcterms:created>
  <dcterms:modified xsi:type="dcterms:W3CDTF">2026-10-06T02:26:29Z</dcterms:modified>
</cp:coreProperties>
</file>