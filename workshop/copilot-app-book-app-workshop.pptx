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pic>
        <p:nvPicPr>
          <p:cNvPr id="3" name="QA:rail" descr="/Users/ekyritsi/copilot-worktrees/my-pptx-generator/ekyritsi-super-journey/assets/rails/2026-rail-defaul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232000" cy="6858000"/>
          </a:xfrm>
          <a:prstGeom prst="rect">
            <a:avLst/>
          </a:prstGeom>
        </p:spPr>
      </p:pic>
      <p:sp>
        <p:nvSpPr>
          <p:cNvPr id="4" name="QA:title"/>
          <p:cNvSpPr/>
          <p:nvPr/>
        </p:nvSpPr>
        <p:spPr>
          <a:xfrm>
            <a:off x="2433168" y="2252980"/>
            <a:ext cx="9209887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From one idea to</a:t>
            </a:r>
            <a:endParaRPr lang="en-US" sz="5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coordinated work</a:t>
            </a:r>
            <a:endParaRPr lang="en-US" sz="5400" dirty="0"/>
          </a:p>
        </p:txBody>
      </p:sp>
      <p:sp>
        <p:nvSpPr>
          <p:cNvPr id="5" name="QA:subtitle"/>
          <p:cNvSpPr/>
          <p:nvPr/>
        </p:nvSpPr>
        <p:spPr>
          <a:xfrm>
            <a:off x="2433168" y="3930904"/>
            <a:ext cx="920988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 90-minute, hands-on GitHub Copilot app workshop using the Book App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2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What makes the app different?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61729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2617292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Separate sessions: run focused tasks in parallel, each in its own worktree.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320352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3203524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See the work: keep plans, diffs, terminal output, and browser preview in one session.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78975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3789756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Specialize help: use a custom agent for a defined role and a skill for reusable task guidance.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437598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4375988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Share state: use a canvas to keep decisions and validation evidence visible beside the work.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3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rule"/>
          <p:cNvSpPr/>
          <p:nvPr/>
        </p:nvSpPr>
        <p:spPr>
          <a:xfrm>
            <a:off x="548640" y="2734945"/>
            <a:ext cx="1097280" cy="508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8" name="QA:title"/>
          <p:cNvSpPr/>
          <p:nvPr/>
        </p:nvSpPr>
        <p:spPr>
          <a:xfrm>
            <a:off x="548640" y="3014345"/>
            <a:ext cx="8534187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Wednesday participant preflight</a:t>
            </a:r>
            <a:endParaRPr lang="en-US" sz="4200" dirty="0"/>
          </a:p>
        </p:txBody>
      </p:sp>
      <p:sp>
        <p:nvSpPr>
          <p:cNvPr id="9" name="QA:subtitle"/>
          <p:cNvSpPr/>
          <p:nvPr/>
        </p:nvSpPr>
        <p:spPr>
          <a:xfrm>
            <a:off x="548640" y="3803015"/>
            <a:ext cx="85341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Use slides 3–5 in the short setup call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4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Preflight call · 20 minutes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32417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2324176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0–3 min · Explain the goal, public-repo access, and setup checklist.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291040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2910408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3–8 min · Confirm app installation and sign-in.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496640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3496640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8–13 min · Confirm repo access and add the course repo as a project.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408287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4082872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13–18 min · Confirm Git and Node.js/npm; run sample checks.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48640" y="466910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04672" y="4669104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18–20 min · Resolve blockers and confirm readiness.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5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Participant setup before class</a:t>
            </a:r>
            <a:endParaRPr lang="en-US" sz="2800" dirty="0"/>
          </a:p>
        </p:txBody>
      </p:sp>
      <p:sp>
        <p:nvSpPr>
          <p:cNvPr id="8" name="QA:card"/>
          <p:cNvSpPr/>
          <p:nvPr/>
        </p:nvSpPr>
        <p:spPr>
          <a:xfrm>
            <a:off x="548640" y="1005840"/>
            <a:ext cx="11094415" cy="5311800"/>
          </a:xfrm>
          <a:prstGeom prst="roundRect">
            <a:avLst>
              <a:gd name="adj" fmla="val 2754"/>
            </a:avLst>
          </a:prstGeom>
          <a:solidFill>
            <a:srgbClr val="20262C"/>
          </a:solidFill>
          <a:ln w="9525">
            <a:solidFill>
              <a:srgbClr val="5A615C"/>
            </a:solidFill>
            <a:prstDash val="solid"/>
          </a:ln>
        </p:spPr>
      </p:sp>
      <p:sp>
        <p:nvSpPr>
          <p:cNvPr id="9" name="QA:check:0"/>
          <p:cNvSpPr/>
          <p:nvPr/>
        </p:nvSpPr>
        <p:spPr>
          <a:xfrm>
            <a:off x="914400" y="1450644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0" name="QA:heading:0"/>
          <p:cNvSpPr/>
          <p:nvPr/>
        </p:nvSpPr>
        <p:spPr>
          <a:xfrm>
            <a:off x="1645920" y="1471980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GitHub account with Copilot access; organization policy allows the app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914400" y="2025502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2" name="QA:check:1"/>
          <p:cNvSpPr/>
          <p:nvPr/>
        </p:nvSpPr>
        <p:spPr>
          <a:xfrm>
            <a:off x="914400" y="2265588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3" name="QA:heading:1"/>
          <p:cNvSpPr/>
          <p:nvPr/>
        </p:nvSpPr>
        <p:spPr>
          <a:xfrm>
            <a:off x="1645920" y="2286924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Copilot app installed and signed in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914400" y="2840446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5" name="QA:check:2"/>
          <p:cNvSpPr/>
          <p:nvPr/>
        </p:nvSpPr>
        <p:spPr>
          <a:xfrm>
            <a:off x="914400" y="3080532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6" name="QA:heading:2"/>
          <p:cNvSpPr/>
          <p:nvPr/>
        </p:nvSpPr>
        <p:spPr>
          <a:xfrm>
            <a:off x="1645920" y="3101868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Clone the public course repo and add it as a Copilot app project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914400" y="3655390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8" name="QA:check:3"/>
          <p:cNvSpPr/>
          <p:nvPr/>
        </p:nvSpPr>
        <p:spPr>
          <a:xfrm>
            <a:off x="914400" y="3895476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9" name="QA:heading:3"/>
          <p:cNvSpPr/>
          <p:nvPr/>
        </p:nvSpPr>
        <p:spPr>
          <a:xfrm>
            <a:off x="1645920" y="3916812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Git available; Node.js LTS and npm installed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914400" y="4470334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21" name="QA:check:4"/>
          <p:cNvSpPr/>
          <p:nvPr/>
        </p:nvSpPr>
        <p:spPr>
          <a:xfrm>
            <a:off x="914400" y="4710420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22" name="QA:heading:4"/>
          <p:cNvSpPr/>
          <p:nvPr/>
        </p:nvSpPr>
        <p:spPr>
          <a:xfrm>
            <a:off x="1645920" y="4731756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Book App tests and build pass; preview opens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914400" y="5285278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24" name="QA:check:5"/>
          <p:cNvSpPr/>
          <p:nvPr/>
        </p:nvSpPr>
        <p:spPr>
          <a:xfrm>
            <a:off x="914400" y="5525364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25" name="QA:heading:5"/>
          <p:cNvSpPr/>
          <p:nvPr/>
        </p:nvSpPr>
        <p:spPr>
          <a:xfrm>
            <a:off x="1645920" y="5546700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GitHub CLI is not required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6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rule"/>
          <p:cNvSpPr/>
          <p:nvPr/>
        </p:nvSpPr>
        <p:spPr>
          <a:xfrm>
            <a:off x="548640" y="2734945"/>
            <a:ext cx="1097280" cy="508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8" name="QA:title"/>
          <p:cNvSpPr/>
          <p:nvPr/>
        </p:nvSpPr>
        <p:spPr>
          <a:xfrm>
            <a:off x="548640" y="3014345"/>
            <a:ext cx="8534187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90-minute hands-on workshop</a:t>
            </a:r>
            <a:endParaRPr lang="en-US" sz="4200" dirty="0"/>
          </a:p>
        </p:txBody>
      </p:sp>
      <p:sp>
        <p:nvSpPr>
          <p:cNvPr id="9" name="QA:subtitle"/>
          <p:cNvSpPr/>
          <p:nvPr/>
        </p:nvSpPr>
        <p:spPr>
          <a:xfrm>
            <a:off x="548640" y="3803015"/>
            <a:ext cx="85341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app is the control room; the Book App is the work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7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GitHub + Copilot: from code to collaboration</a:t>
            </a:r>
            <a:endParaRPr lang="en-US" sz="2800" dirty="0"/>
          </a:p>
        </p:txBody>
      </p:sp>
      <p:graphicFrame>
        <p:nvGraphicFramePr>
          <p:cNvPr id="8" name="QA: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Part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EB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Role in the work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EB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GitHub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Shared repositories, issues, branches, pull requests, and reviews.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Copilot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Understand code, explore options, draft changes, and create tests.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Agents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Take defined tasks; people direct, review, and decide what ships.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Teams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Reduce repetitive work while staying accountable for quality.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8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What is the GitHub Copilot app?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28709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2287092"/>
            <a:ext cx="1083838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 desktop workspace for working with Copilot agents across software tasks—not just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another chat window.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320352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3203524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Each session keeps a task's conversation and work together; worktrees can isolate changes.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78975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3789756"/>
            <a:ext cx="1083838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See and manage work in context: plans, file changes, terminal, browser preview, and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canvases.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470618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4706188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Coordinate multiple tasks, then inspect the evidence and decide what is ready to share.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9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Skills and agents: guidance meets a focused role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12199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2121992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 skill packages reusable instructions and resources for a task that comes up repeatedly.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270822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2708224"/>
            <a:ext cx="1083838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Example: book-app-reviewer gives Copilot a consistent checklist for filters, stats, and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accessibility.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62465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3624656"/>
            <a:ext cx="1083838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 custom agent is a named role with focused instructions and selected tools—not a newly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trained model.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454108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4541088"/>
            <a:ext cx="1083838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Example: Book App Reviewer is read-only; it reports findings, while a person decides what to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change and verifies the result.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10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GitHub work loop</a:t>
            </a:r>
            <a:endParaRPr lang="en-US" sz="2800" dirty="0"/>
          </a:p>
        </p:txBody>
      </p:sp>
      <p:graphicFrame>
        <p:nvGraphicFramePr>
          <p:cNvPr id="11" name="QA: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Stage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EB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What happens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EB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Describe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State the need and what success looks like.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Plan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Review the approach before implementation.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Build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Make a focused change in an isolated worktree.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Prove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Review the diff, checks, and behavior.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11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90 minutes · the learning path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144482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1444828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0–6 · Orient: what the app adds beyond a single chat.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2031060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2031060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6–15 · Explore the Book App and define a small user need.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261729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2617292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15–25 · Instructor demo: sessions, worktrees, and reviewing a plan.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320352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3203524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25–45 · Hands-on: plan and implement Clear filters in an isolated session.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48640" y="378975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04672" y="3789756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45–68 · See a reviewer agent find an edge case; create and test your own agent.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48640" y="437598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04672" y="4375988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68–74 · Instructor demo: connect an external tool with WorkIQ MCP.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48640" y="4962220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04672" y="4962220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74–85 · Prove the work: inspect the diff, run checks, and test in Browser.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48640" y="554845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804672" y="5548452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85–90 · Debrief and choose a three-day experiment.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12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Start with the Book App</a:t>
            </a:r>
            <a:endParaRPr lang="en-US" sz="2800" dirty="0"/>
          </a:p>
        </p:txBody>
      </p:sp>
      <p:graphicFrame>
        <p:nvGraphicFramePr>
          <p:cNvPr id="13" name="QA: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Feature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EB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Show learners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EB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Search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Find books by title or author.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Filters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Narrow by genre and reading status.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Reading stats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See totals for books currently shown.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Empty state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Search/filter combination with no results.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13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challenge · Clear filters</a:t>
            </a:r>
            <a:endParaRPr lang="en-US" sz="2800" dirty="0"/>
          </a:p>
        </p:txBody>
      </p:sp>
      <p:sp>
        <p:nvSpPr>
          <p:cNvPr id="8" name="QA:card"/>
          <p:cNvSpPr/>
          <p:nvPr/>
        </p:nvSpPr>
        <p:spPr>
          <a:xfrm>
            <a:off x="548640" y="1005840"/>
            <a:ext cx="11094415" cy="5311800"/>
          </a:xfrm>
          <a:prstGeom prst="roundRect">
            <a:avLst>
              <a:gd name="adj" fmla="val 2754"/>
            </a:avLst>
          </a:prstGeom>
          <a:solidFill>
            <a:srgbClr val="20262C"/>
          </a:solidFill>
          <a:ln w="9525">
            <a:solidFill>
              <a:srgbClr val="5A615C"/>
            </a:solidFill>
            <a:prstDash val="solid"/>
          </a:ln>
        </p:spPr>
      </p:sp>
      <p:sp>
        <p:nvSpPr>
          <p:cNvPr id="9" name="QA:check:0"/>
          <p:cNvSpPr/>
          <p:nvPr/>
        </p:nvSpPr>
        <p:spPr>
          <a:xfrm>
            <a:off x="914400" y="1605554"/>
            <a:ext cx="411480" cy="411480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0" name="QA:heading:0"/>
          <p:cNvSpPr/>
          <p:nvPr/>
        </p:nvSpPr>
        <p:spPr>
          <a:xfrm>
            <a:off x="1645920" y="1658894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Show the control only when search, genre, or reading status is active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914400" y="2421759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2" name="QA:check:1"/>
          <p:cNvSpPr/>
          <p:nvPr/>
        </p:nvSpPr>
        <p:spPr>
          <a:xfrm>
            <a:off x="914400" y="2839185"/>
            <a:ext cx="411480" cy="411480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3" name="QA:heading:1"/>
          <p:cNvSpPr/>
          <p:nvPr/>
        </p:nvSpPr>
        <p:spPr>
          <a:xfrm>
            <a:off x="1645920" y="2892525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Selecting it resets all three filters to their defaults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914400" y="3655390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5" name="QA:check:2"/>
          <p:cNvSpPr/>
          <p:nvPr/>
        </p:nvSpPr>
        <p:spPr>
          <a:xfrm>
            <a:off x="914400" y="4072815"/>
            <a:ext cx="411480" cy="411480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6" name="QA:heading:2"/>
          <p:cNvSpPr/>
          <p:nvPr/>
        </p:nvSpPr>
        <p:spPr>
          <a:xfrm>
            <a:off x="1645920" y="4126155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full book list and its reading stats return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914400" y="4889021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8" name="QA:check:3"/>
          <p:cNvSpPr/>
          <p:nvPr/>
        </p:nvSpPr>
        <p:spPr>
          <a:xfrm>
            <a:off x="914400" y="5306446"/>
            <a:ext cx="411480" cy="411480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9" name="QA:heading:3"/>
          <p:cNvSpPr/>
          <p:nvPr/>
        </p:nvSpPr>
        <p:spPr>
          <a:xfrm>
            <a:off x="1645920" y="5359786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Keep the change small; preserve existing behavior and dependencies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14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Show the app, not just chat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61729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2617292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New and project sessions start the right kind of work.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320352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3203524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Plan mode lets you review an approach before implementation.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78975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3789756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Changes, Terminal, and Browser keep code and evidence in context.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437598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4375988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Customize and Canvas manage reusable help and visible work state.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15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Describe → plan → build → prove</a:t>
            </a:r>
            <a:endParaRPr lang="en-US" sz="2800" dirty="0"/>
          </a:p>
        </p:txBody>
      </p:sp>
      <p:graphicFrame>
        <p:nvGraphicFramePr>
          <p:cNvPr id="16" name="QA: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Stage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EB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What the learner does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EB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Describe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State the user need and observable acceptance criteria.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Plan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Inspect the approach before allowing implementation.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Build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Build in an isolated worktree; review with a custom agent.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Prove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Check the diff, tests, build, browser behavior, and canvas evidence.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16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Hands-on 1 · Build session</a:t>
            </a:r>
            <a:endParaRPr lang="en-US" sz="2800" dirty="0"/>
          </a:p>
        </p:txBody>
      </p:sp>
      <p:sp>
        <p:nvSpPr>
          <p:cNvPr id="8" name="QA:card"/>
          <p:cNvSpPr/>
          <p:nvPr/>
        </p:nvSpPr>
        <p:spPr>
          <a:xfrm>
            <a:off x="548640" y="1005840"/>
            <a:ext cx="11094415" cy="5311800"/>
          </a:xfrm>
          <a:prstGeom prst="roundRect">
            <a:avLst>
              <a:gd name="adj" fmla="val 2754"/>
            </a:avLst>
          </a:prstGeom>
          <a:solidFill>
            <a:srgbClr val="20262C"/>
          </a:solidFill>
          <a:ln w="9525">
            <a:solidFill>
              <a:srgbClr val="5A615C"/>
            </a:solidFill>
            <a:prstDash val="solid"/>
          </a:ln>
        </p:spPr>
      </p:sp>
      <p:sp>
        <p:nvSpPr>
          <p:cNvPr id="9" name="QA:check:0"/>
          <p:cNvSpPr/>
          <p:nvPr/>
        </p:nvSpPr>
        <p:spPr>
          <a:xfrm>
            <a:off x="914400" y="1525000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0" name="QA:heading:0"/>
          <p:cNvSpPr/>
          <p:nvPr/>
        </p:nvSpPr>
        <p:spPr>
          <a:xfrm>
            <a:off x="1645920" y="1393936"/>
            <a:ext cx="96313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Create Session A from the default branch in a new worktree; name it Clear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filters build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914400" y="2183137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2" name="QA:check:1"/>
          <p:cNvSpPr/>
          <p:nvPr/>
        </p:nvSpPr>
        <p:spPr>
          <a:xfrm>
            <a:off x="914400" y="2506502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3" name="QA:heading:1"/>
          <p:cNvSpPr/>
          <p:nvPr/>
        </p:nvSpPr>
        <p:spPr>
          <a:xfrm>
            <a:off x="1645920" y="2527838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Use Plan mode and request a small implementation and validation plan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914400" y="3164639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5" name="QA:check:2"/>
          <p:cNvSpPr/>
          <p:nvPr/>
        </p:nvSpPr>
        <p:spPr>
          <a:xfrm>
            <a:off x="914400" y="3488004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6" name="QA:heading:2"/>
          <p:cNvSpPr/>
          <p:nvPr/>
        </p:nvSpPr>
        <p:spPr>
          <a:xfrm>
            <a:off x="1645920" y="3509340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Check the plan against the criteria; approve only when it fits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914400" y="4146141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8" name="QA:check:3"/>
          <p:cNvSpPr/>
          <p:nvPr/>
        </p:nvSpPr>
        <p:spPr>
          <a:xfrm>
            <a:off x="914400" y="4469506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9" name="QA:heading:3"/>
          <p:cNvSpPr/>
          <p:nvPr/>
        </p:nvSpPr>
        <p:spPr>
          <a:xfrm>
            <a:off x="1645920" y="4490842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Switch to Interactive and ask the agent to implement the approved plan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914400" y="5127643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21" name="QA:check:4"/>
          <p:cNvSpPr/>
          <p:nvPr/>
        </p:nvSpPr>
        <p:spPr>
          <a:xfrm>
            <a:off x="914400" y="5451008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22" name="QA:heading:4"/>
          <p:cNvSpPr/>
          <p:nvPr/>
        </p:nvSpPr>
        <p:spPr>
          <a:xfrm>
            <a:off x="1645920" y="5472344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Do not merge or push during the workshop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17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Agent example · a role with boundaries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28709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2287092"/>
            <a:ext cx="1083838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Book App Reviewer is a repository-defined custom agent: a focused role, instructions,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and selected tools.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320352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3203524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It is not a new model; its read-only tools let it inspect and report without editing the app.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78975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3789756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Run it against the Clear filters implementation and show its whitespace-only search finding.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437598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4375988"/>
            <a:ext cx="1083838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reviewer identifies a concern; the coding agent makes the fix, and people verify the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outcome.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18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Choose a focused job for your agent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173794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1737944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Code reviewer: find behavior gaps and cite code evidence; read-only.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232417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2324176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Test designer: suggest edge cases, or write focused tests when allowed.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291040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2910408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Bug investigator: trace a symptom to likely causes; show evidence.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3496640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3496640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Accessibility helper: audit labels and keyboard use, or make an approved fix.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48640" y="408287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04672" y="4082872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Code explainer: teach where a feature or behavior lives; read-only.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48640" y="466910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04672" y="4669104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Feature builder: implement one small change after a plan; inspect the diff.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48640" y="525533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04672" y="5255336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Documentation helper: draft or update one named document.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19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Hands-on 2 · Create and test your agent</a:t>
            </a:r>
            <a:endParaRPr lang="en-US" sz="2800" dirty="0"/>
          </a:p>
        </p:txBody>
      </p:sp>
      <p:sp>
        <p:nvSpPr>
          <p:cNvPr id="8" name="QA:card"/>
          <p:cNvSpPr/>
          <p:nvPr/>
        </p:nvSpPr>
        <p:spPr>
          <a:xfrm>
            <a:off x="548640" y="1005840"/>
            <a:ext cx="11094415" cy="5311800"/>
          </a:xfrm>
          <a:prstGeom prst="roundRect">
            <a:avLst>
              <a:gd name="adj" fmla="val 2754"/>
            </a:avLst>
          </a:prstGeom>
          <a:solidFill>
            <a:srgbClr val="20262C"/>
          </a:solidFill>
          <a:ln w="9525">
            <a:solidFill>
              <a:srgbClr val="5A615C"/>
            </a:solidFill>
            <a:prstDash val="solid"/>
          </a:ln>
        </p:spPr>
      </p:sp>
      <p:sp>
        <p:nvSpPr>
          <p:cNvPr id="9" name="QA:check:0"/>
          <p:cNvSpPr/>
          <p:nvPr/>
        </p:nvSpPr>
        <p:spPr>
          <a:xfrm>
            <a:off x="914400" y="1525000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0" name="QA:heading:0"/>
          <p:cNvSpPr/>
          <p:nvPr/>
        </p:nvSpPr>
        <p:spPr>
          <a:xfrm>
            <a:off x="1645920" y="1546336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Inspect the Book App Reviewer definition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914400" y="2183137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2" name="QA:check:1"/>
          <p:cNvSpPr/>
          <p:nvPr/>
        </p:nvSpPr>
        <p:spPr>
          <a:xfrm>
            <a:off x="914400" y="2506502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3" name="QA:heading:1"/>
          <p:cNvSpPr/>
          <p:nvPr/>
        </p:nvSpPr>
        <p:spPr>
          <a:xfrm>
            <a:off x="1645920" y="2527838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Choose a role and decide what tools it needs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914400" y="3164639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5" name="QA:check:2"/>
          <p:cNvSpPr/>
          <p:nvPr/>
        </p:nvSpPr>
        <p:spPr>
          <a:xfrm>
            <a:off x="914400" y="3488004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6" name="QA:heading:2"/>
          <p:cNvSpPr/>
          <p:nvPr/>
        </p:nvSpPr>
        <p:spPr>
          <a:xfrm>
            <a:off x="1645920" y="3509340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Create a separate agent file under .github/agents/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914400" y="4146141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8" name="QA:check:3"/>
          <p:cNvSpPr/>
          <p:nvPr/>
        </p:nvSpPr>
        <p:spPr>
          <a:xfrm>
            <a:off x="914400" y="4469506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9" name="QA:heading:3"/>
          <p:cNvSpPr/>
          <p:nvPr/>
        </p:nvSpPr>
        <p:spPr>
          <a:xfrm>
            <a:off x="1645920" y="4490842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Reload if needed; select it and try its role on Clear filters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914400" y="5127643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21" name="QA:check:4"/>
          <p:cNvSpPr/>
          <p:nvPr/>
        </p:nvSpPr>
        <p:spPr>
          <a:xfrm>
            <a:off x="914400" y="5451008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22" name="QA:heading:4"/>
          <p:cNvSpPr/>
          <p:nvPr/>
        </p:nvSpPr>
        <p:spPr>
          <a:xfrm>
            <a:off x="1645920" y="5472344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Check its evidence and inspect any changes it made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20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Mini-teach · Keep the work in context</a:t>
            </a:r>
            <a:endParaRPr lang="en-US" sz="2800" dirty="0"/>
          </a:p>
        </p:txBody>
      </p:sp>
      <p:graphicFrame>
        <p:nvGraphicFramePr>
          <p:cNvPr id="21" name="QA: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Part of the workflow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EB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Why it matters in the app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EB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Prompt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Describe this task and the outcome you need now.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Repository context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Ground work in the project files and existing patterns.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Session + worktree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Keep task history visible and changes isolated.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Canvas + checks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Track status, then verify with the diff, tests, and browser.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21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Instructor demo · WorkIQ through MCP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15907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2159076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MCP connects an agent session to tools and information beyond the repository.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274530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2745308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Watch the facilitator use a preconfigured WorkIQ server for one safe, authorized example.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331540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3331540"/>
            <a:ext cx="1083838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Notice when the agent calls the tool, what information it receives, and how the result helps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task.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424797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4247972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Participants observe only; no WorkIQ setup or account access is required.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48640" y="483420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04672" y="4834204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Treat tool output as context to review, not as proof that code or a decision is correct.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22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Mini-teach · Canvas as the shared board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45219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2452192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Create or open a compact work board in the session side panel.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303842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3038424"/>
            <a:ext cx="1083838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Track the feature plan, implementation, chosen agent role and work, and verification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evidence.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95485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3954856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canvas makes status visible; it does not replace reviewing the diff or running checks.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454108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4541088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Use the board to tell what needs attention without searching a long chat.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23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Hands-on 3 · Record and verify</a:t>
            </a:r>
            <a:endParaRPr lang="en-US" sz="2800" dirty="0"/>
          </a:p>
        </p:txBody>
      </p:sp>
      <p:sp>
        <p:nvSpPr>
          <p:cNvPr id="8" name="QA:card"/>
          <p:cNvSpPr/>
          <p:nvPr/>
        </p:nvSpPr>
        <p:spPr>
          <a:xfrm>
            <a:off x="548640" y="1005840"/>
            <a:ext cx="11094415" cy="5311800"/>
          </a:xfrm>
          <a:prstGeom prst="roundRect">
            <a:avLst>
              <a:gd name="adj" fmla="val 2754"/>
            </a:avLst>
          </a:prstGeom>
          <a:solidFill>
            <a:srgbClr val="20262C"/>
          </a:solidFill>
          <a:ln w="9525">
            <a:solidFill>
              <a:srgbClr val="5A615C"/>
            </a:solidFill>
            <a:prstDash val="solid"/>
          </a:ln>
        </p:spPr>
      </p:sp>
      <p:sp>
        <p:nvSpPr>
          <p:cNvPr id="9" name="QA:check:0"/>
          <p:cNvSpPr/>
          <p:nvPr/>
        </p:nvSpPr>
        <p:spPr>
          <a:xfrm>
            <a:off x="914400" y="1525000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0" name="QA:heading:0"/>
          <p:cNvSpPr/>
          <p:nvPr/>
        </p:nvSpPr>
        <p:spPr>
          <a:xfrm>
            <a:off x="1645920" y="1393936"/>
            <a:ext cx="96313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Put acceptance criteria on the canvas; update build and agent-work status</a:t>
            </a:r>
            <a:endParaRPr lang="en-US" sz="2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from what actually happened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914400" y="2183137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2" name="QA:check:1"/>
          <p:cNvSpPr/>
          <p:nvPr/>
        </p:nvSpPr>
        <p:spPr>
          <a:xfrm>
            <a:off x="914400" y="2506502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3" name="QA:heading:1"/>
          <p:cNvSpPr/>
          <p:nvPr/>
        </p:nvSpPr>
        <p:spPr>
          <a:xfrm>
            <a:off x="1645920" y="2527838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Inspect the agent's output and any edits; compare them with the task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914400" y="3164639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5" name="QA:check:2"/>
          <p:cNvSpPr/>
          <p:nvPr/>
        </p:nvSpPr>
        <p:spPr>
          <a:xfrm>
            <a:off x="914400" y="3488004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6" name="QA:heading:2"/>
          <p:cNvSpPr/>
          <p:nvPr/>
        </p:nvSpPr>
        <p:spPr>
          <a:xfrm>
            <a:off x="1645920" y="3509340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Run npm test -- --run and npm run build in samples/book-app-web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914400" y="4146141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18" name="QA:check:3"/>
          <p:cNvSpPr/>
          <p:nvPr/>
        </p:nvSpPr>
        <p:spPr>
          <a:xfrm>
            <a:off x="914400" y="4469506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19" name="QA:heading:3"/>
          <p:cNvSpPr/>
          <p:nvPr/>
        </p:nvSpPr>
        <p:spPr>
          <a:xfrm>
            <a:off x="1645920" y="4490842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In Browser, test no filters, each active filter, and reset behavior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914400" y="5127643"/>
            <a:ext cx="10362895" cy="12700"/>
          </a:xfrm>
          <a:prstGeom prst="rect">
            <a:avLst/>
          </a:prstGeom>
          <a:solidFill>
            <a:srgbClr val="5A615C"/>
          </a:solidFill>
          <a:ln/>
        </p:spPr>
      </p:sp>
      <p:sp>
        <p:nvSpPr>
          <p:cNvPr id="21" name="QA:check:4"/>
          <p:cNvSpPr/>
          <p:nvPr/>
        </p:nvSpPr>
        <p:spPr>
          <a:xfrm>
            <a:off x="914400" y="5451008"/>
            <a:ext cx="347472" cy="347472"/>
          </a:xfrm>
          <a:prstGeom prst="roundRect">
            <a:avLst>
              <a:gd name="adj" fmla="val 50000"/>
            </a:avLst>
          </a:prstGeom>
          <a:ln w="19050">
            <a:solidFill>
              <a:srgbClr val="909692"/>
            </a:solidFill>
            <a:prstDash val="solid"/>
          </a:ln>
        </p:spPr>
      </p:sp>
      <p:sp>
        <p:nvSpPr>
          <p:cNvPr id="22" name="QA:heading:4"/>
          <p:cNvSpPr/>
          <p:nvPr/>
        </p:nvSpPr>
        <p:spPr>
          <a:xfrm>
            <a:off x="1645920" y="5472344"/>
            <a:ext cx="963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Record only checks you personally observed; mark blocked checks as not run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24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Validate Clear filters</a:t>
            </a:r>
            <a:endParaRPr lang="en-US" sz="2800" dirty="0"/>
          </a:p>
        </p:txBody>
      </p:sp>
      <p:graphicFrame>
        <p:nvGraphicFramePr>
          <p:cNvPr id="25" name="QA: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State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EB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Expected result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EBE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1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No active filters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Control hidden; full list and stats show.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Search, genre, or status active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Control is visible.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Select Clear filters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All filters reset; full list and stats return.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Spaces-only search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Treated as no effective filter; Clear filters stays hidden.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8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Automated checks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0BAC3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Tests and build pass; inspect actual output.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37160" marR="13716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F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25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Compare the evidence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61729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2617292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Build session · What files changed? Does the diff match the plan? Did tests and build pass?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320352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3203524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Custom agent · Did it do the selected job? Is its output grounded in evidence?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78975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3789756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Browser · What behavior did you personally observe?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437598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4375988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Canvas · Does the board reflect actual status, including anything not run?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sp>
        <p:nvSpPr>
          <p:cNvPr id="3" name="QA:chrome"/>
          <p:cNvSpPr/>
          <p:nvPr/>
        </p:nvSpPr>
        <p:spPr>
          <a:xfrm>
            <a:off x="0" y="6454800"/>
            <a:ext cx="12191695" cy="18000"/>
          </a:xfrm>
          <a:prstGeom prst="rect">
            <a:avLst/>
          </a:prstGeom>
          <a:solidFill>
            <a:srgbClr val="0EBE3D"/>
          </a:solidFill>
          <a:ln/>
        </p:spPr>
      </p:sp>
      <p:sp>
        <p:nvSpPr>
          <p:cNvPr id="4" name="QA:chrome"/>
          <p:cNvSpPr/>
          <p:nvPr/>
        </p:nvSpPr>
        <p:spPr>
          <a:xfrm>
            <a:off x="548640" y="6526800"/>
            <a:ext cx="4572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09692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26</a:t>
            </a:r>
            <a:endParaRPr lang="en-US" sz="1200" dirty="0"/>
          </a:p>
        </p:txBody>
      </p:sp>
      <p:pic>
        <p:nvPicPr>
          <p:cNvPr id="5" name="QA:chrome" descr="/Users/ekyritsi/copilot-worktrees/my-pptx-generator/ekyritsi-super-journey/assets/logos/GitHub_Invertoc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2495" y="6530400"/>
            <a:ext cx="259200" cy="252000"/>
          </a:xfrm>
          <a:prstGeom prst="rect">
            <a:avLst/>
          </a:prstGeom>
        </p:spPr>
      </p:pic>
      <p:sp>
        <p:nvSpPr>
          <p:cNvPr id="6" name="QA:chrome"/>
          <p:cNvSpPr/>
          <p:nvPr/>
        </p:nvSpPr>
        <p:spPr>
          <a:xfrm>
            <a:off x="11669695" y="6472800"/>
            <a:ext cx="10800" cy="385200"/>
          </a:xfrm>
          <a:prstGeom prst="rect">
            <a:avLst/>
          </a:prstGeom>
          <a:solidFill>
            <a:srgbClr val="909692"/>
          </a:solidFill>
          <a:ln/>
        </p:spPr>
      </p:sp>
      <p:sp>
        <p:nvSpPr>
          <p:cNvPr id="7" name="QA:slide_title"/>
          <p:cNvSpPr/>
          <p:nvPr/>
        </p:nvSpPr>
        <p:spPr>
          <a:xfrm>
            <a:off x="548640" y="2286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2324176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4672" y="2324176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app is a place to coordinate work, not only ask for code.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2910408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4672" y="2910408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Separate sessions make concurrent tasks visible and isolated.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3496640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4672" y="3496640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Skills and custom agents shape how help is delivered; MCP adds tools and information.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48640" y="4082872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04672" y="4082872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 canvas keeps status visible; people still inspect diffs and evidence.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48640" y="4669104"/>
            <a:ext cx="1645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0EBE3D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04672" y="4669104"/>
            <a:ext cx="1083838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B0BAC3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Use the next three days to experiment with the app and workshop repository.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A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1"/>
          </a:solidFill>
          <a:ln/>
        </p:spPr>
      </p:sp>
      <p:pic>
        <p:nvPicPr>
          <p:cNvPr id="3" name="QA:bg" descr="/Users/ekyritsi/copilot-worktrees/my-pptx-generator/ekyritsi-super-journey/assets/backgrounds/2026-mona-pixel-dark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QA:title"/>
          <p:cNvSpPr/>
          <p:nvPr/>
        </p:nvSpPr>
        <p:spPr>
          <a:xfrm>
            <a:off x="548640" y="2758440"/>
            <a:ext cx="6705432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Describe. Coordinate.</a:t>
            </a:r>
            <a:endParaRPr lang="en-US" sz="4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Verify.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2026-10-13T14:45:15Z</dcterms:created>
  <dcterms:modified xsi:type="dcterms:W3CDTF">2026-10-13T14:45:15Z</dcterms:modified>
</cp:coreProperties>
</file>